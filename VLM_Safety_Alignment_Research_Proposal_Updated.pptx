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6926"/>
  </p:normalViewPr>
  <p:slideViewPr>
    <p:cSldViewPr snapToGrid="0" snapToObjects="1">
      <p:cViewPr varScale="1">
        <p:scale>
          <a:sx n="96" d="100"/>
          <a:sy n="96" d="100"/>
        </p:scale>
        <p:origin x="1704"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1092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presentation is a reset of the research framing. We are not assuming that the previous LLM continual-gradient method can simply be moved into a vision-language model. Instead, I audited what VLM safety-alignment research is doing now, how it tests its claims, and what study remains valuable for small open models.”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vision-language model receives more than a text prompt. The user can put text inside an image, communicate through visual semantics, or distribute meaning across the image and text. The goal is not merely to ask whether an attack works. We need to know which channel produces the failure, whether the model still answers benign requests, and whether the test genuinely requires visual understanding. That leads to our research question: can multimodal alignment improve robustness to held-out attacks in small open models without damaging safe answerability and grounding?”</a:t>
            </a:r>
          </a:p>
          <a:p>
            <a:endParaRPr/>
          </a:p>
          <a:p>
            <a:r>
              <a:t>Citations on slide: [5], [7], [10], [11], [16]</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separate three outcomes because one number cannot describe alignment. First is harmful compliance: did the output materially enable the disallowed goal? Second is benign utility: did it still help with an allowed request that may share vocabulary or imagery with a harmful one? Third is grounding: did it interpret the image accurately? A system can look safer because it refuses everything, or because it stops looking at the image. Both would be poor outcomes. We should say ‘alignment’ when describing the training objective and ‘safety’ when describing measured system behavior.”</a:t>
            </a:r>
          </a:p>
          <a:p>
            <a:endParaRPr/>
          </a:p>
          <a:p>
            <a:r>
              <a:t>Citations on slide: [5], [10], [16]</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are four reasons this is a separate research problem. Vision tuning can disturb safety behavior from the language backbone. Visual text can expose an OCR route around text-only safeguards. Joint image-text interpretation can create risk that neither channel expresses alone. And benchmark prompts can accidentally state the risk in text, allowing the model to pass without reading the image. The protocol therefore needs channel ablations, compositional cases, leakage controls, and matched safe examples.”</a:t>
            </a:r>
          </a:p>
          <a:p>
            <a:endParaRPr/>
          </a:p>
          <a:p>
            <a:r>
              <a:t>Citations on slide: [5], [8], [9], [11]</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timeline shows how the questions evolved. Early work such as FigStep, HADES, MM-SafetyBench, and JailBreakV established attack channels and datasets. Work in 2025 added preference training, representation-gap explanations, and safety calibration. In 2026, benchmarks like USB and MMJailBench place more emphasis on modality factors and over-refusal; methods include prompt rewriting, label-free visual alignment, and selective decoding interventions. This is a broad, active field, not an empty space waiting for an LLM method to be ported.”</a:t>
            </a:r>
          </a:p>
          <a:p>
            <a:endParaRPr/>
          </a:p>
          <a:p>
            <a:r>
              <a:t>Context if asked: The literature is not one linear leaderboard. It spans (i) attack construction, (ii) safety datasets and preference alignment, (iii) explanations of why safety degrades across modalities, (iv) training-time and inference-time defenses, and (v) evaluation validity and calibration. In the audit, see Section 2 for the family map and timeline; Section 3 for paper-level protocols. The 2026 entries are not all equivalent in maturity: USB, VSFA, and VLMGuard-R1 are peer-reviewed proceedings, while MMJailBench and SafeRI are preprints in this snapshot.</a:t>
            </a:r>
          </a:p>
          <a:p>
            <a:endParaRPr/>
          </a:p>
          <a:p>
            <a:r>
              <a:t>Citations on slide: [1], [2], [3], [4], [12], [15], [16], [23]</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taxonomy is organized by where the intervention acts. Training-time methods change data or objective: SFT, preference optimization, and adversarial DPO. Representation methods act on internal states. Input guards inspect or rewrite the prompt before the target model. Reasoning methods explicitly interpret risk or use threat-image exposure to shape behavior. Decode-time methods alter generation or activate a safety module only on risky trajectories. These are not interchangeable: a preprocessor can improve the system while leaving the target model unchanged, and its latency and failure modes must be counted.”</a:t>
            </a:r>
          </a:p>
          <a:p>
            <a:endParaRPr/>
          </a:p>
          <a:p>
            <a:r>
              <a:t>Method-family detail:</a:t>
            </a:r>
          </a:p>
          <a:p>
            <a:r>
              <a:t>- Data and objective: VLGuard uses multimodal safety-instruction tuning; SafeVLM adds a safety projector/tokens/head; SPA-VL supplies chosen/rejected multimodal preference pairs; ADPO explicitly trains with adversarial preferences. VSFA is a different training hypothesis: neutral VQA examples around threat-related images, without explicit safety labels.</a:t>
            </a:r>
          </a:p>
          <a:p>
            <a:r>
              <a:t>- Representation and activation: CMRM diagnoses and corrects cross-modal representation mismatch at inference; MMAligner calibrates unsafe multimodal representations toward a refusal region. These intervene at a different layer from preference training.</a:t>
            </a:r>
          </a:p>
          <a:p>
            <a:r>
              <a:t>- Input and reasoning: VLMGuard-R1 uses an upstream reasoning-guided rewriter; GuardAlign combines unsafe-region detection and attention calibration. Think in Safety studies safety reasoning, with additional token cost and possible reasoning leakage.</a:t>
            </a:r>
          </a:p>
          <a:p>
            <a:r>
              <a:t>- Generation-time controls: SafetyReminder uses a safety reminder/soft-prompt intervention; SafeSteer changes decoding; SafeRI proposes a streaming recognizer with gated LoRA activation. Treat SafeRI as a preprint at the snapshot date. These runtime approaches are not direct apples-to-apples training baselines.</a:t>
            </a:r>
          </a:p>
          <a:p>
            <a:endParaRPr/>
          </a:p>
          <a:p>
            <a:r>
              <a:t>Comparison rule: Label each result as model-intrinsic training or a system-level defense. Record changed target weights, extra models, trainable parameters, additional tokens/calls, latency, and whether the intervention runs on every request. See audit Sections 2–3; for continual-learning alternatives and trade-offs, see [methodology_comparison.md](../docs/methodology_comparison.md), especially its taxonomy and comparison tables.</a:t>
            </a:r>
          </a:p>
          <a:p>
            <a:endParaRPr/>
          </a:p>
          <a:p>
            <a:r>
              <a:t>Citations on slide: [5], [7], [8], [12], [15], [16], [21], [23], [24], [25]</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“VLGuard gives us a natural multimodal safety-SFT baseline; SafeVLM adds an architectural safety module. SPA-VL contributes preference examples across multiple safety domains, so it is a data resource and a route to DPO. ADPO is especially important: it is already a direct adversarial preference-alignment method, combining an adversarially trained reference model with an adversary-aware preference objective. VSFA, published at ACL 2026, offers a different hypothesis: neutral VQA around threat-related images may induce caution without explicit safety labels. We must include or at least discuss it before proposing a training novelty.”</a:t>
            </a:r>
          </a:p>
          <a:p>
            <a:endParaRPr/>
          </a:p>
          <a:p>
            <a:r>
              <a:t>What the comparison means: These methods change different things. Separate (1) safety data plus ordinary SFT, (2) preference data plus standard DPO, (3) adversarial preference optimization, (4) architectural safety components, and (5) label-free/neutral-VQA training. ADPO is the clearest direct adversarial-training comparator; it reports white-box VisualAdv and MMPGDBlank plus black-box MultiTrust subsets and a HarmBench classifier, alongside utility tests. SPA-VL is primarily a preference dataset/resource, not an attack algorithm. VSFA is a newer peer-reviewed, label-free alignment alternative. SafeVLM's safety module is architectural and should not be described as plain SFT. Full protocols and caveats are in audit Section 3 and Addendum A.2–A.4.</a:t>
            </a:r>
          </a:p>
          <a:p>
            <a:endParaRPr/>
          </a:p>
          <a:p>
            <a:r>
              <a:t>Citations on slide: [5], [6], [7], [12], [15]</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“CMRM and MMAligner are representation interventions. VLMGuard-R1 adds an upstream reasoning-based rewriting component. SafetyReminder and SafeSteer work at the prompt or decoding level; SafeRI is a very recent preprint proposing a token-level recognizer and gated LoRA. A fair comparison must state whether the target model weights changed, whether a second model was added, whether the method operates every token, and how latency and trigger mistakes affect safe examples. These distinctions matter especially for small deployment.”</a:t>
            </a:r>
          </a:p>
          <a:p>
            <a:endParaRPr/>
          </a:p>
          <a:p>
            <a:r>
              <a:t>Newer methods to keep in the account: GuardAlign is an input/internal hybrid (unsafe-region detection plus attention calibration), not simply a prompt filter. Think in Safety is a reasoning/data approach. SafeSteer is decoding-level intervention; SafeRI is a September 2026 arXiv preprint and must be labeled as emerging. These additions belong in the related-work/methodology comparison even when the 20-minute narrative cannot give each a full slide. See audit Section 2 and [methodology_comparison.md](../docs/methodology_comparison.md).</a:t>
            </a:r>
          </a:p>
          <a:p>
            <a:endParaRPr/>
          </a:p>
          <a:p>
            <a:r>
              <a:t>Citations on slide: [8], [15], [20], [21], [22], [23], [24], [25]</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attacks are selected to isolate different phenomena. Direct text is our control. FigStep carries the request in image text. SIUO-style cases test joint interpretation, while HADES is a semantic visual exploit. A held-out adaptive method such as PolyJailbreak tests whether a model generalizes beyond fixed templates. White-box pixel attacks and JailBound are optional diagnostics because they require additional access and represent different threat models. We should report each family separately, not combine everything into a single opaque attack score.”</a:t>
            </a:r>
          </a:p>
          <a:p>
            <a:endParaRPr/>
          </a:p>
          <a:p>
            <a:r>
              <a:t>Citations on slide: [1], [3], [4], [18], [19]</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primary benchmark choices are complementary. USB is broad risk-by-modality coverage and includes over-refusal. VSCBench measures paired safe and unsafe behavior. VLSBench addresses visual safety information leakage: does the test require the image? SIUO is smaller but directly examines safe inputs whose combination creates a risk. MMJailBench is a 2026 preprint that factorizes intent, framing, visual semantics, and carrier. It is an excellent design reference, but its preprint status should be visible in the talk.”</a:t>
            </a:r>
          </a:p>
          <a:p>
            <a:endParaRPr/>
          </a:p>
          <a:p>
            <a:r>
              <a:t>Selection logic: Use a broad benchmark for coverage, paired safe/unsafe cases for calibration, a leakage-controlled set for visual dependence, and a targeted composition set for interaction risk. MM-SafetyBench and JailBreakV are useful attack-suite sources but are not substitutes for safe-neighbor evaluation. MemeSafetyBench adds ecological real-meme cases but has marked class imbalance; report balanced/class-specific metrics. Capability and hallucination diagnostics should be reported separately from harmful-compliance benchmarks. Do not average unlike measures into one score. Dataset sizes, examples, roles, and caveats are in audit Section 5 and Addendum B.1.</a:t>
            </a:r>
          </a:p>
          <a:p>
            <a:endParaRPr/>
          </a:p>
          <a:p>
            <a:r>
              <a:t>Citations on slide: [9], [10], [11], [16], [17]</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“ADPO is a good example of what a useful protocol description looks like. It names its model panel and LoRA approach; it tests two optimization-based attacks and the typographic, multimodal, and cross-modal portions of MultiTrust; it uses the HarmBench classifier to label harmful responses; and it measures utility on four visual benchmarks. It also compares against SFT, standard DPO, a training-free defense, and direct adversarial training, plus component ablations. The result is not just a claimed safety gain: the paper also reports utility trade-offs. Our protocol audit asks the same questions for every paper.”</a:t>
            </a:r>
          </a:p>
          <a:p>
            <a:endParaRPr/>
          </a:p>
          <a:p>
            <a:r>
              <a:t>Audit checklist applied across papers: What is the intervention and system boundary? Which base checkpoints, processors, and chat templates? What training data and split? Which attack families and attacker access/query budget? What judge, rubric, and human validation? Which benign utility tests? What ablations and compute? The protocol audit table records these for direct alignment methods; a separate attack-paper table records attack construction and access. Do not treat a number as reproducible if model version, judge, or decoding details are missing. See audit Section 3 and its “Attack-paper protocol audit.”</a:t>
            </a:r>
          </a:p>
          <a:p>
            <a:endParaRPr/>
          </a:p>
          <a:p>
            <a:r>
              <a:t>Citations on slide: [12]</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should not claim that no one has aligned VLMs or that no one has trained against adversarial attacks. Those claims are disproven by work such as ADPO, SPA-VL, and recent label-free approaches. The more careful gap is a controlled small-model comparison: does alignment transfer across unseen visual carriers, does it preserve calibration, and what is the compute cost? Our contribution can be a reproducible answer rather than an overclaimed new defense.”</a:t>
            </a:r>
          </a:p>
          <a:p>
            <a:endParaRPr/>
          </a:p>
          <a:p>
            <a:r>
              <a:t>Positioning guardrail: Existing work already covers multimodal SFT, preference data, adversarial preference alignment, representation correction, prompt rewriting, label-free training, safety reasoning, and generation-time interventions. Novelty should therefore be framed around a controlled small/open-model evaluation, held-out attack-family generalization, safe-neighbor calibration, visual-grounding controls, or resource-aware comparisons only if the experiment actually tests those claims. The audit's Sections 2, 3, 7, and Addendum C.4–C.5 lay out the field and limits on defensible claims.</a:t>
            </a:r>
          </a:p>
          <a:p>
            <a:endParaRPr/>
          </a:p>
          <a:p>
            <a:r>
              <a:t>Citations on slide: [7], [8], [12], [15], [16], [17]</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“H1 tests whether matched multimodal alignment beats the unmodified model and text-only safety tuning on held-out attacks while preserving benign utility. H2 tests whether gains on seen patterns overstate robustness by comparing them with attack families held out entirely. H3 is exploratory: we ask whether a text-versus-image safety gap explains variation across small models beyond parameter count. The suggested margins shown here are design proposals, not established standards; choose them with the advisor and preregister them before test runs.”</a:t>
            </a:r>
          </a:p>
          <a:p>
            <a:endParaRPr/>
          </a:p>
          <a:p>
            <a:r>
              <a:t>Citations on slide: [10], [11], [12], [16], [17]</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six required cells are the minimum suite: direct text, image-carried text, joint-context risk, a leakage-controlled test, benign matched pairs, and one adaptive held-out attack. That gives coverage over baseline safety, OCR, compositional reasoning, benchmark validity, over-refusal, and generalization. If compute and model access permit, add one fixed-budget white-box perturbation and optionally a representation-boundary diagnostic. Keep those results separate from the deployment-realistic black-box tests.”</a:t>
            </a:r>
          </a:p>
          <a:p>
            <a:endParaRPr/>
          </a:p>
          <a:p>
            <a:r>
              <a:t>Citations on slide: [1], [9], [10], [11], [14], [16], [17], [18], [19]</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baseline sequence is designed to make each comparison interpretable. B0 is the native checkpoint. B1 asks how far text safety transfers. B2 is multimodal SFT. B3 is standard preference alignment. B4 is ADPO, if we can reproduce it or use a compatible release. B5 is our proposed matched cross-modal condition. As current candidates, compare Qwen3-VL 2B and 4B within a family, and use SmolVLM2 2.2B only as an external replication. The exact model revisions, processors, and chat templates must be frozen at experiment start. Use the same base model, preprocessing, data size or a transparent data-size curve, tuning policy, and held-out evaluation.”</a:t>
            </a:r>
          </a:p>
          <a:p>
            <a:endParaRPr/>
          </a:p>
          <a:p>
            <a:r>
              <a:t>Citations on slide: [5], [7], [8], [12]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primary safety outcome is harmful-compliance rate by family, with confidence intervals. The benign side includes refusal rate and answer quality. Utility includes a compact VQA/OCR set before and after alignment. We also compare text-only, image-only, and joint-input behavior to quantify the modality gap. Evaluation reliability matters: use a blind classifier, validate a stratified subset with human review, and publish judge disagreement. Finally, measure training and runtime cost, especially if adding a guard model or reasoning step.”</a:t>
            </a:r>
          </a:p>
          <a:p>
            <a:endParaRPr/>
          </a:p>
          <a:p>
            <a:r>
              <a:t>Citations on slide: [10], [12], [16], [17]</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should produce four things: a protocol that identifies the attack carrier; a small-model comparison that tests held-out generalization and safe near-neighbors; a paper-by-paper audit of threat model, benchmark, judge, and utility; and an empirical answer about whether additional multimodal alignment helps beyond text-only tuning. The immediate next steps are to freeze model checkpoints and the harm rubric, reproduce the simplest baselines first, validate the evaluator, and only then run the held-out attacks. That order protects us from spending the whole project debugging a novel method before we know whether the measurement works.”</a:t>
            </a:r>
          </a:p>
          <a:p>
            <a:endParaRPr/>
          </a:p>
          <a:p>
            <a:r>
              <a:t>Citations on slide: [12], [15], [16], [17], [18]</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bracketed citations on each slide point to the IEEE-style numbered bibliography at the end. We deliberately distinguish peer-reviewed proceedings from arXiv preprints, and we keep each paper’s reported score attached to its own model and evaluation protocol. The audit remains the detailed lookup document; you do not need to read it aloud.”</a:t>
            </a:r>
          </a:p>
          <a:p>
            <a:endParaRPr/>
          </a:p>
          <a:p>
            <a:r>
              <a:t>## Evidence appendix (slides 19–27; use for questions, not in the 20-minute run)</a:t>
            </a:r>
          </a:p>
          <a:p>
            <a:endParaRPr/>
          </a:p>
          <a:p>
            <a:r>
              <a:t>These slides are backup material. Present only the table relevant to a question. The values are transcribed from each paper and are not a common leaderboard: the datasets, target versions, judges, decoding, and metric definitions differ.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reviewed the files attached to the project. The two SafeVLM PDFs are copies of one paper. The VLMGuard-R1 PDF is an earlier arXiv version of the later Findings ACL paper. The gradient-selection paper and its write-up address language-only models, so they are project history and not VLM result evidence. The old presentation also is not an academic source. That leaves two unique direct VLM-safety papers among the local attachments; the wider literature review adds the other published studies.”</a:t>
            </a:r>
          </a:p>
          <a:p>
            <a:endParaRPr/>
          </a:p>
          <a:p>
            <a:r>
              <a:t>Citations on slide: [6], [15], [26]</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“SafeVLM reports a rise in GPT-judged RTVLM average from 6.39 for LLaVA to 8.18 or 8.26 for its two variants. Its separate risk-set average also rises. This is evidence for its own method and test setup, not a cross-paper rank. The capability scores move in different directions: MMBench and SEEDBench rise, while MME perception and aggregate MME fall. Keep those metrics visible rather than hiding the trade-off in a composite.”</a:t>
            </a:r>
          </a:p>
          <a:p>
            <a:endParaRPr/>
          </a:p>
          <a:p>
            <a:r>
              <a:t>Citations on slide: [6]</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attack table is text-only: AdvBench vanilla and suffix prompts, plus XSTest safe and unsafe instructions. SafeVLM lowers unsafe compliance, but its safe-instruction pass rate falls from 91.20% to about 77–78%. That is a meaningful calibration cost. It is also why our experiment needs visual safe near-neighbors and false-refusal reporting. This table does not establish visual-jailbreak robustness.”</a:t>
            </a:r>
          </a:p>
          <a:p>
            <a:endParaRPr/>
          </a:p>
          <a:p>
            <a:r>
              <a:t>Citations on slide: [6]</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“VLMGuard-R1 is a trained upstream rewriter. It sees image and prompt, rewrites the prompt, and calls the target model with the original image. The downstream VLM weights are not what the method aligns. Several GPT-4o safety and helpfulness cells improve, but Qwen2-VL helpfulness on SIUO falls from 60.24 to 53.61. That counterexample is important: improvements are not guaranteed on every cell. Also count the rewriter’s compute, calls, and latency.”</a:t>
            </a:r>
          </a:p>
          <a:p>
            <a:endParaRPr/>
          </a:p>
          <a:p>
            <a:r>
              <a:t>Citations on slide: [15]</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supplementary defense-success-rate table favors VLMGuard-R1, but DSR here detects a set of refusal strings. It is not interchangeable with a semantic judgment that the answer materially enables harm. A model can score well by refusing formulaically. Read DSR beside the GPT-4o safety/helpfulness evaluation, and in our work audit refusal quality and false refusals directly.”</a:t>
            </a:r>
          </a:p>
          <a:p>
            <a:endParaRPr/>
          </a:p>
          <a:p>
            <a:r>
              <a:t>Citations on slide: [15]</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“ADPO is direct prior art for adversarial safety alignment, so our novelty cannot be that nobody has trained against VLM attacks. The selected rows show sizeable attack-rate drops for LLaVA and Qwen2-VL under the authors’ VisualAdv, MMPGDBlank, and MultiTrust test subsets. Utility scores also move, with some decreases. The correct conclusion is that ADPO works strongly in its reported protocol and deserves reproduction or comparison; it is not proof of universal robustness.”</a:t>
            </a:r>
          </a:p>
          <a:p>
            <a:endParaRPr/>
          </a:p>
          <a:p>
            <a:r>
              <a:t>Citations on slide: [12]</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benchmark has a distinct job. MM-SafetyBench provides broad synthetic risk scenarios and image-carrier variants. SIUO targets composition but is only 167 examples. VLSBench controls leakage to test whether the image matters. VSCBench pairs under-safety with over-safety. USB has broad risk-by-modality coverage, while MMJailBench factorizes input attributes and is a preprint at this literature snapshot. Select slices based on the research question and preserve their original metrics.”</a:t>
            </a:r>
          </a:p>
          <a:p>
            <a:endParaRPr/>
          </a:p>
          <a:p>
            <a:r>
              <a:t>Citations on slide: [2], [9], [10], [11], [16], [17]</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experiment design, not a paper’s result. A0 anchors text-only safety; A1 tests OCR-carried requests; A2 tests joint image-text composition; A3 checks leakage and grounding; A4 tests safe counterpart requests; A5 is an adaptive held-out evaluation with a fixed query budget. We separate optional white-box pixel attacks and internal boundary probing from the black-box deployment suite. The prompts, intents, templates, and budgets must be split and logged before running.”</a:t>
            </a:r>
          </a:p>
          <a:p>
            <a:endParaRPr/>
          </a:p>
          <a:p>
            <a:r>
              <a:t>Citations on slide: [1], [9], [10], [11], [18]</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every method, report what was trained, on what data, and at what cost; the attacker’s access and query budget; the safety judge and its audit; per-family harmful compliance with uncertainty; benign false refusal and useful answer quality; capability before and after; and runtime costs. This allows readers to tell whether a method improves safety, refuses more broadly, ignores the image, or merely changes the system boundary.”</a:t>
            </a:r>
          </a:p>
          <a:p>
            <a:endParaRPr/>
          </a:p>
          <a:p>
            <a:r>
              <a:t>Citations on slide: [5], [10], [12], [16], [17]</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references cover the foundational attacks and datasets, the first direct alignment baselines, preference data, representation-gap work, and leakage-controlled evaluation. The arXiv number or DOI provides a stable way to retrieve each paper.”</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group contains safety calibration and compositional benchmarks, adversarial preference optimization, safety reasoning, ecological meme evaluation, recent reasoning-driven prompt rewriting, label-free visual alignment, and the unified benchmark. The venue and DOI identify the archival published work; MMJailBench is clearly marked as a preprint.”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final references cover adaptive and internal-boundary attacks, recent test-time and decoding defenses, and representation calibration. Reference 26 is the prior LLM-only gradient-selection paper. It is included to document project history and is explicitly not treated as VLM-safety evidence.”</a:t>
            </a:r>
          </a:p>
          <a:p>
            <a:endParaRPr/>
          </a:p>
          <a:p>
            <a:r>
              <a:t>## Likely questions and concise answers</a:t>
            </a:r>
          </a:p>
          <a:p>
            <a:endParaRPr/>
          </a:p>
          <a:p>
            <a:r>
              <a:t>Is the novelty just extending an LLM method to VLMs?  </a:t>
            </a:r>
          </a:p>
          <a:p>
            <a:r>
              <a:t>No. The proposed study is grounded in VLM-specific threats and compares existing multimodal alignment families. The prior LLM method is not assumed to transfer.</a:t>
            </a:r>
          </a:p>
          <a:p>
            <a:endParaRPr/>
          </a:p>
          <a:p>
            <a:r>
              <a:t>Why not use only MM-SafetyBench?  </a:t>
            </a:r>
          </a:p>
          <a:p>
            <a:r>
              <a:t>It is useful broad coverage, but a single benchmark cannot distinguish image reading, prompt leakage, cross-modal composition, adaptive generalization, and over-refusal. We add targeted controls.</a:t>
            </a:r>
          </a:p>
          <a:p>
            <a:endParaRPr/>
          </a:p>
          <a:p>
            <a:r>
              <a:t>Why include attacks and benign cases together?  </a:t>
            </a:r>
          </a:p>
          <a:p>
            <a:r>
              <a:t>Because refusal-only optimization can look safe while destroying helpfulness. Safety and utility must be measured jointly.</a:t>
            </a:r>
          </a:p>
          <a:p>
            <a:endParaRPr/>
          </a:p>
          <a:p>
            <a:r>
              <a:t>Is ADPO already the answer?  </a:t>
            </a:r>
          </a:p>
          <a:p>
            <a:r>
              <a:t>It is a strong directly relevant baseline, not proof of universal robustness. It uses specific models, attacks, training, and evaluation choices; the proposed study asks about small-model transfer under a common held-out protocol.</a:t>
            </a:r>
          </a:p>
          <a:p>
            <a:endParaRPr/>
          </a:p>
          <a:p>
            <a:r>
              <a:t>What if we cannot reproduce ADPO?  </a:t>
            </a:r>
          </a:p>
          <a:p>
            <a:r>
              <a:t>Report that limitation, retain B0–B3, and use a published compatible checkpoint only if its base model, license, and protocol match. Do not label an unreproduced paper number as our result.</a:t>
            </a:r>
          </a:p>
          <a:p>
            <a:endParaRPr/>
          </a:p>
          <a:p>
            <a:r>
              <a:t>Why include SafeRI?  </a:t>
            </a:r>
          </a:p>
          <a:p>
            <a:r>
              <a:t>It is a September 2026 preprint that signals current direction toward selective token-level intervention. Mention it as emerging work, not established peer-reviewed SOTA.</a:t>
            </a:r>
          </a:p>
          <a:p>
            <a:endParaRPr/>
          </a:p>
          <a:p>
            <a:r>
              <a:t>What is the minimum viable experiment?  </a:t>
            </a:r>
          </a:p>
          <a:p>
            <a:r>
              <a:t>One model family at two sizes, B0–B3, the A0–A5 suite, a validated evaluator, and cost reporting. Add methods only after this core protocol works.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3493008"/>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86384" y="950976"/>
            <a:ext cx="3474720" cy="320040"/>
          </a:xfrm>
          <a:prstGeom prst="rect">
            <a:avLst/>
          </a:prstGeom>
          <a:noFill/>
        </p:spPr>
        <p:txBody>
          <a:bodyPr wrap="square" lIns="18288" tIns="18288" rIns="18288" bIns="18288" anchor="t">
            <a:spAutoFit/>
          </a:bodyPr>
          <a:lstStyle/>
          <a:p>
            <a:pPr algn="l"/>
            <a:r>
              <a:rPr sz="1200" b="1">
                <a:solidFill>
                  <a:srgbClr val="C1D8E1"/>
                </a:solidFill>
                <a:latin typeface="Aptos"/>
              </a:rPr>
              <a:t>RESEARCH PROPOSAL</a:t>
            </a:r>
          </a:p>
        </p:txBody>
      </p:sp>
      <p:sp>
        <p:nvSpPr>
          <p:cNvPr id="4" name="TextBox 3"/>
          <p:cNvSpPr txBox="1"/>
          <p:nvPr/>
        </p:nvSpPr>
        <p:spPr>
          <a:xfrm>
            <a:off x="786384" y="1481328"/>
            <a:ext cx="10241280" cy="1417320"/>
          </a:xfrm>
          <a:prstGeom prst="rect">
            <a:avLst/>
          </a:prstGeom>
          <a:noFill/>
        </p:spPr>
        <p:txBody>
          <a:bodyPr wrap="square" lIns="18288" tIns="18288" rIns="18288" bIns="18288" anchor="t">
            <a:spAutoFit/>
          </a:bodyPr>
          <a:lstStyle/>
          <a:p>
            <a:pPr algn="l"/>
            <a:r>
              <a:rPr sz="3300" b="1">
                <a:solidFill>
                  <a:srgbClr val="FFFFFF"/>
                </a:solidFill>
                <a:latin typeface="Aptos"/>
              </a:rPr>
              <a:t>Safety Alignment
for Small Vision-Language Models</a:t>
            </a:r>
          </a:p>
        </p:txBody>
      </p:sp>
      <p:sp>
        <p:nvSpPr>
          <p:cNvPr id="5" name="TextBox 4"/>
          <p:cNvSpPr txBox="1"/>
          <p:nvPr/>
        </p:nvSpPr>
        <p:spPr>
          <a:xfrm>
            <a:off x="822960" y="4023360"/>
            <a:ext cx="10058400" cy="822960"/>
          </a:xfrm>
          <a:prstGeom prst="rect">
            <a:avLst/>
          </a:prstGeom>
          <a:noFill/>
        </p:spPr>
        <p:txBody>
          <a:bodyPr wrap="square" lIns="18288" tIns="18288" rIns="18288" bIns="18288" anchor="t">
            <a:spAutoFit/>
          </a:bodyPr>
          <a:lstStyle/>
          <a:p>
            <a:pPr algn="l"/>
            <a:r>
              <a:rPr sz="1900" b="0" dirty="0">
                <a:solidFill>
                  <a:srgbClr val="1C2A39"/>
                </a:solidFill>
                <a:latin typeface="Aptos"/>
              </a:rPr>
              <a:t>A literature-grounded problem formulation, paper-by-paper protocol audit, and proposed evaluation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RESEARCH QUESTION</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The question is not whether images create risk</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[5], [7], [10], [11], [16]</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02</a:t>
            </a:r>
          </a:p>
        </p:txBody>
      </p:sp>
      <p:sp>
        <p:nvSpPr>
          <p:cNvPr id="7" name="Rectangle 6"/>
          <p:cNvSpPr/>
          <p:nvPr/>
        </p:nvSpPr>
        <p:spPr>
          <a:xfrm>
            <a:off x="749808" y="1691640"/>
            <a:ext cx="3429000" cy="19202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49808" y="1691640"/>
            <a:ext cx="73152" cy="19202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1856232"/>
            <a:ext cx="3063240" cy="347472"/>
          </a:xfrm>
          <a:prstGeom prst="rect">
            <a:avLst/>
          </a:prstGeom>
          <a:noFill/>
        </p:spPr>
        <p:txBody>
          <a:bodyPr wrap="square" lIns="18288" tIns="18288" rIns="18288" bIns="18288" anchor="t">
            <a:spAutoFit/>
          </a:bodyPr>
          <a:lstStyle/>
          <a:p>
            <a:pPr algn="l"/>
            <a:r>
              <a:rPr sz="1600" b="1">
                <a:solidFill>
                  <a:srgbClr val="276B7E"/>
                </a:solidFill>
                <a:latin typeface="Aptos"/>
              </a:rPr>
              <a:t>CARRIER</a:t>
            </a:r>
          </a:p>
        </p:txBody>
      </p:sp>
      <p:sp>
        <p:nvSpPr>
          <p:cNvPr id="10" name="TextBox 9"/>
          <p:cNvSpPr txBox="1"/>
          <p:nvPr/>
        </p:nvSpPr>
        <p:spPr>
          <a:xfrm>
            <a:off x="950976" y="2258568"/>
            <a:ext cx="3063240" cy="1234440"/>
          </a:xfrm>
          <a:prstGeom prst="rect">
            <a:avLst/>
          </a:prstGeom>
          <a:noFill/>
        </p:spPr>
        <p:txBody>
          <a:bodyPr wrap="square" lIns="18288" tIns="18288" rIns="18288" bIns="18288" anchor="t">
            <a:spAutoFit/>
          </a:bodyPr>
          <a:lstStyle/>
          <a:p>
            <a:pPr algn="l"/>
            <a:r>
              <a:rPr sz="1700" b="0">
                <a:solidFill>
                  <a:srgbClr val="1C2A39"/>
                </a:solidFill>
                <a:latin typeface="Aptos"/>
              </a:rPr>
              <a:t>The same intent can arrive as text, image text, visual semantics, or a combination.</a:t>
            </a:r>
          </a:p>
        </p:txBody>
      </p:sp>
      <p:sp>
        <p:nvSpPr>
          <p:cNvPr id="11" name="Rectangle 10"/>
          <p:cNvSpPr/>
          <p:nvPr/>
        </p:nvSpPr>
        <p:spPr>
          <a:xfrm>
            <a:off x="4389120" y="1691640"/>
            <a:ext cx="3429000" cy="19202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691640"/>
            <a:ext cx="73152" cy="19202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1856232"/>
            <a:ext cx="3063240" cy="347472"/>
          </a:xfrm>
          <a:prstGeom prst="rect">
            <a:avLst/>
          </a:prstGeom>
          <a:noFill/>
        </p:spPr>
        <p:txBody>
          <a:bodyPr wrap="square" lIns="18288" tIns="18288" rIns="18288" bIns="18288" anchor="t">
            <a:spAutoFit/>
          </a:bodyPr>
          <a:lstStyle/>
          <a:p>
            <a:pPr algn="l"/>
            <a:r>
              <a:rPr sz="1600" b="1">
                <a:solidFill>
                  <a:srgbClr val="276B7E"/>
                </a:solidFill>
                <a:latin typeface="Aptos"/>
              </a:rPr>
              <a:t>COMPOSITION</a:t>
            </a:r>
          </a:p>
        </p:txBody>
      </p:sp>
      <p:sp>
        <p:nvSpPr>
          <p:cNvPr id="14" name="TextBox 13"/>
          <p:cNvSpPr txBox="1"/>
          <p:nvPr/>
        </p:nvSpPr>
        <p:spPr>
          <a:xfrm>
            <a:off x="4590288" y="2258568"/>
            <a:ext cx="3063240" cy="1234440"/>
          </a:xfrm>
          <a:prstGeom prst="rect">
            <a:avLst/>
          </a:prstGeom>
          <a:noFill/>
        </p:spPr>
        <p:txBody>
          <a:bodyPr wrap="square" lIns="18288" tIns="18288" rIns="18288" bIns="18288" anchor="t">
            <a:spAutoFit/>
          </a:bodyPr>
          <a:lstStyle/>
          <a:p>
            <a:pPr algn="l"/>
            <a:r>
              <a:rPr sz="1700" b="0">
                <a:solidFill>
                  <a:srgbClr val="1C2A39"/>
                </a:solidFill>
                <a:latin typeface="Aptos"/>
              </a:rPr>
              <a:t>Safe-looking image + safe-looking text can become risky only when interpreted together.</a:t>
            </a:r>
          </a:p>
        </p:txBody>
      </p:sp>
      <p:sp>
        <p:nvSpPr>
          <p:cNvPr id="15" name="Rectangle 14"/>
          <p:cNvSpPr/>
          <p:nvPr/>
        </p:nvSpPr>
        <p:spPr>
          <a:xfrm>
            <a:off x="8028431" y="1691640"/>
            <a:ext cx="3429000" cy="19202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28431" y="1691640"/>
            <a:ext cx="73152" cy="19202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0" y="1856232"/>
            <a:ext cx="3063240" cy="347472"/>
          </a:xfrm>
          <a:prstGeom prst="rect">
            <a:avLst/>
          </a:prstGeom>
          <a:noFill/>
        </p:spPr>
        <p:txBody>
          <a:bodyPr wrap="square" lIns="18288" tIns="18288" rIns="18288" bIns="18288" anchor="t">
            <a:spAutoFit/>
          </a:bodyPr>
          <a:lstStyle/>
          <a:p>
            <a:pPr algn="l"/>
            <a:r>
              <a:rPr sz="1600" b="1">
                <a:solidFill>
                  <a:srgbClr val="276B7E"/>
                </a:solidFill>
                <a:latin typeface="Aptos"/>
              </a:rPr>
              <a:t>CALIBRATION</a:t>
            </a:r>
          </a:p>
        </p:txBody>
      </p:sp>
      <p:sp>
        <p:nvSpPr>
          <p:cNvPr id="18" name="TextBox 17"/>
          <p:cNvSpPr txBox="1"/>
          <p:nvPr/>
        </p:nvSpPr>
        <p:spPr>
          <a:xfrm>
            <a:off x="8229600" y="2258568"/>
            <a:ext cx="3063240" cy="1234440"/>
          </a:xfrm>
          <a:prstGeom prst="rect">
            <a:avLst/>
          </a:prstGeom>
          <a:noFill/>
        </p:spPr>
        <p:txBody>
          <a:bodyPr wrap="square" lIns="18288" tIns="18288" rIns="18288" bIns="18288" anchor="t">
            <a:spAutoFit/>
          </a:bodyPr>
          <a:lstStyle/>
          <a:p>
            <a:pPr algn="l"/>
            <a:r>
              <a:rPr sz="1700" b="0">
                <a:solidFill>
                  <a:srgbClr val="1C2A39"/>
                </a:solidFill>
                <a:latin typeface="Aptos"/>
              </a:rPr>
              <a:t>A system that refuses every uncertain image is not usefully aligned.</a:t>
            </a:r>
          </a:p>
        </p:txBody>
      </p:sp>
      <p:sp>
        <p:nvSpPr>
          <p:cNvPr id="19" name="TextBox 18"/>
          <p:cNvSpPr txBox="1"/>
          <p:nvPr/>
        </p:nvSpPr>
        <p:spPr>
          <a:xfrm>
            <a:off x="914400" y="4297680"/>
            <a:ext cx="10241280" cy="960120"/>
          </a:xfrm>
          <a:prstGeom prst="rect">
            <a:avLst/>
          </a:prstGeom>
          <a:noFill/>
        </p:spPr>
        <p:txBody>
          <a:bodyPr wrap="square" lIns="18288" tIns="18288" rIns="18288" bIns="18288" anchor="t">
            <a:spAutoFit/>
          </a:bodyPr>
          <a:lstStyle/>
          <a:p>
            <a:pPr algn="l"/>
            <a:r>
              <a:rPr sz="1600" b="1">
                <a:solidFill>
                  <a:srgbClr val="276B7E"/>
                </a:solidFill>
                <a:latin typeface="Aptos"/>
              </a:rPr>
              <a:t>Research question</a:t>
            </a:r>
          </a:p>
        </p:txBody>
      </p:sp>
      <p:sp>
        <p:nvSpPr>
          <p:cNvPr id="20" name="TextBox 19"/>
          <p:cNvSpPr txBox="1"/>
          <p:nvPr/>
        </p:nvSpPr>
        <p:spPr>
          <a:xfrm>
            <a:off x="914400" y="4736592"/>
            <a:ext cx="10058400" cy="914400"/>
          </a:xfrm>
          <a:prstGeom prst="rect">
            <a:avLst/>
          </a:prstGeom>
          <a:noFill/>
        </p:spPr>
        <p:txBody>
          <a:bodyPr wrap="square" lIns="18288" tIns="18288" rIns="18288" bIns="18288" anchor="t">
            <a:spAutoFit/>
          </a:bodyPr>
          <a:lstStyle/>
          <a:p>
            <a:pPr algn="l"/>
            <a:r>
              <a:rPr sz="2300" b="1">
                <a:solidFill>
                  <a:srgbClr val="1C2A39"/>
                </a:solidFill>
                <a:latin typeface="Aptos"/>
              </a:rPr>
              <a:t>Can multimodal safety alignment improve held-out visual jailbreak resistance in small open VLMs without sacrificing safe answerability and grounding?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PROBLEM FORMULATION</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Operationalize safety as three outcomes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[5], [10], [16]</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03</a:t>
            </a:r>
          </a:p>
        </p:txBody>
      </p:sp>
      <p:sp>
        <p:nvSpPr>
          <p:cNvPr id="7" name="Rectangle 6"/>
          <p:cNvSpPr/>
          <p:nvPr/>
        </p:nvSpPr>
        <p:spPr>
          <a:xfrm>
            <a:off x="822960" y="1737360"/>
            <a:ext cx="3383280" cy="251460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1737360"/>
            <a:ext cx="73152" cy="251460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4128" y="1901952"/>
            <a:ext cx="3017520" cy="347472"/>
          </a:xfrm>
          <a:prstGeom prst="rect">
            <a:avLst/>
          </a:prstGeom>
          <a:noFill/>
        </p:spPr>
        <p:txBody>
          <a:bodyPr wrap="square" lIns="18288" tIns="18288" rIns="18288" bIns="18288" anchor="t">
            <a:spAutoFit/>
          </a:bodyPr>
          <a:lstStyle/>
          <a:p>
            <a:pPr algn="l"/>
            <a:r>
              <a:rPr sz="1600" b="1">
                <a:solidFill>
                  <a:srgbClr val="276B7E"/>
                </a:solidFill>
                <a:latin typeface="Aptos"/>
              </a:rPr>
              <a:t>1  HARM PREVENTION</a:t>
            </a:r>
          </a:p>
        </p:txBody>
      </p:sp>
      <p:sp>
        <p:nvSpPr>
          <p:cNvPr id="10" name="TextBox 9"/>
          <p:cNvSpPr txBox="1"/>
          <p:nvPr/>
        </p:nvSpPr>
        <p:spPr>
          <a:xfrm>
            <a:off x="1024128" y="2304288"/>
            <a:ext cx="3017520" cy="1828800"/>
          </a:xfrm>
          <a:prstGeom prst="rect">
            <a:avLst/>
          </a:prstGeom>
          <a:noFill/>
        </p:spPr>
        <p:txBody>
          <a:bodyPr wrap="square" lIns="18288" tIns="18288" rIns="18288" bIns="18288" anchor="t">
            <a:spAutoFit/>
          </a:bodyPr>
          <a:lstStyle/>
          <a:p>
            <a:pPr algn="l"/>
            <a:r>
              <a:rPr sz="1600" b="0">
                <a:solidFill>
                  <a:srgbClr val="1C2A39"/>
                </a:solidFill>
                <a:latin typeface="Aptos"/>
              </a:rPr>
              <a:t>Does the response materially enable disallowed harm?
Measure: harmful-compliance rate by attack family.</a:t>
            </a:r>
          </a:p>
        </p:txBody>
      </p:sp>
      <p:sp>
        <p:nvSpPr>
          <p:cNvPr id="11" name="Rectangle 10"/>
          <p:cNvSpPr/>
          <p:nvPr/>
        </p:nvSpPr>
        <p:spPr>
          <a:xfrm>
            <a:off x="4407408" y="1737360"/>
            <a:ext cx="3383280" cy="251460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07408" y="1737360"/>
            <a:ext cx="73152" cy="251460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08576" y="1901952"/>
            <a:ext cx="3017520" cy="347472"/>
          </a:xfrm>
          <a:prstGeom prst="rect">
            <a:avLst/>
          </a:prstGeom>
          <a:noFill/>
        </p:spPr>
        <p:txBody>
          <a:bodyPr wrap="square" lIns="18288" tIns="18288" rIns="18288" bIns="18288" anchor="t">
            <a:spAutoFit/>
          </a:bodyPr>
          <a:lstStyle/>
          <a:p>
            <a:pPr algn="l"/>
            <a:r>
              <a:rPr sz="1600" b="1">
                <a:solidFill>
                  <a:srgbClr val="276B7E"/>
                </a:solidFill>
                <a:latin typeface="Aptos"/>
              </a:rPr>
              <a:t>2  BENIGN UTILITY</a:t>
            </a:r>
          </a:p>
        </p:txBody>
      </p:sp>
      <p:sp>
        <p:nvSpPr>
          <p:cNvPr id="14" name="TextBox 13"/>
          <p:cNvSpPr txBox="1"/>
          <p:nvPr/>
        </p:nvSpPr>
        <p:spPr>
          <a:xfrm>
            <a:off x="4608576" y="2304288"/>
            <a:ext cx="3017520" cy="1828800"/>
          </a:xfrm>
          <a:prstGeom prst="rect">
            <a:avLst/>
          </a:prstGeom>
          <a:noFill/>
        </p:spPr>
        <p:txBody>
          <a:bodyPr wrap="square" lIns="18288" tIns="18288" rIns="18288" bIns="18288" anchor="t">
            <a:spAutoFit/>
          </a:bodyPr>
          <a:lstStyle/>
          <a:p>
            <a:pPr algn="l"/>
            <a:r>
              <a:rPr sz="1600" b="0">
                <a:solidFill>
                  <a:srgbClr val="1C2A39"/>
                </a:solidFill>
                <a:latin typeface="Aptos"/>
              </a:rPr>
              <a:t>Does it answer allowed requests, including safe near-neighbors?
Measure: false refusal + task quality.</a:t>
            </a:r>
          </a:p>
        </p:txBody>
      </p:sp>
      <p:sp>
        <p:nvSpPr>
          <p:cNvPr id="15" name="Rectangle 14"/>
          <p:cNvSpPr/>
          <p:nvPr/>
        </p:nvSpPr>
        <p:spPr>
          <a:xfrm>
            <a:off x="7991856" y="1737360"/>
            <a:ext cx="3383280" cy="251460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91856" y="1737360"/>
            <a:ext cx="73152" cy="251460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93024" y="1901952"/>
            <a:ext cx="3017520" cy="347472"/>
          </a:xfrm>
          <a:prstGeom prst="rect">
            <a:avLst/>
          </a:prstGeom>
          <a:noFill/>
        </p:spPr>
        <p:txBody>
          <a:bodyPr wrap="square" lIns="18288" tIns="18288" rIns="18288" bIns="18288" anchor="t">
            <a:spAutoFit/>
          </a:bodyPr>
          <a:lstStyle/>
          <a:p>
            <a:pPr algn="l"/>
            <a:r>
              <a:rPr sz="1600" b="1">
                <a:solidFill>
                  <a:srgbClr val="276B7E"/>
                </a:solidFill>
                <a:latin typeface="Aptos"/>
              </a:rPr>
              <a:t>3  VISUAL GROUNDING</a:t>
            </a:r>
          </a:p>
        </p:txBody>
      </p:sp>
      <p:sp>
        <p:nvSpPr>
          <p:cNvPr id="18" name="TextBox 17"/>
          <p:cNvSpPr txBox="1"/>
          <p:nvPr/>
        </p:nvSpPr>
        <p:spPr>
          <a:xfrm>
            <a:off x="8193024" y="2304288"/>
            <a:ext cx="3017520" cy="1828800"/>
          </a:xfrm>
          <a:prstGeom prst="rect">
            <a:avLst/>
          </a:prstGeom>
          <a:noFill/>
        </p:spPr>
        <p:txBody>
          <a:bodyPr wrap="square" lIns="18288" tIns="18288" rIns="18288" bIns="18288" anchor="t">
            <a:spAutoFit/>
          </a:bodyPr>
          <a:lstStyle/>
          <a:p>
            <a:pPr algn="l"/>
            <a:r>
              <a:rPr sz="1600" b="0">
                <a:solidFill>
                  <a:srgbClr val="1C2A39"/>
                </a:solidFill>
                <a:latin typeface="Aptos"/>
              </a:rPr>
              <a:t>Does it use relevant image evidence rather than ignore or invent it?
Measure: VQA and image-ablation controls.</a:t>
            </a:r>
          </a:p>
        </p:txBody>
      </p:sp>
      <p:sp>
        <p:nvSpPr>
          <p:cNvPr id="19" name="TextBox 18"/>
          <p:cNvSpPr txBox="1"/>
          <p:nvPr/>
        </p:nvSpPr>
        <p:spPr>
          <a:xfrm>
            <a:off x="914400" y="4892040"/>
            <a:ext cx="10515600" cy="640080"/>
          </a:xfrm>
          <a:prstGeom prst="rect">
            <a:avLst/>
          </a:prstGeom>
          <a:noFill/>
        </p:spPr>
        <p:txBody>
          <a:bodyPr wrap="square" lIns="18288" tIns="18288" rIns="18288" bIns="18288" anchor="t">
            <a:spAutoFit/>
          </a:bodyPr>
          <a:lstStyle/>
          <a:p>
            <a:pPr algn="l"/>
            <a:r>
              <a:rPr sz="1900" b="1">
                <a:solidFill>
                  <a:srgbClr val="1C2A39"/>
                </a:solidFill>
                <a:latin typeface="Aptos"/>
              </a:rPr>
              <a:t>Alignment is a training objective; safety is observed behavior under a specified protocol.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WHY VLMS DIFFER</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Text alignment does not guarantee multimodal safety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[5], [8], [9], [11]</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04</a:t>
            </a:r>
          </a:p>
        </p:txBody>
      </p:sp>
      <p:sp>
        <p:nvSpPr>
          <p:cNvPr id="7" name="Oval 6"/>
          <p:cNvSpPr/>
          <p:nvPr/>
        </p:nvSpPr>
        <p:spPr>
          <a:xfrm>
            <a:off x="804672" y="1810512"/>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60704" y="1691640"/>
            <a:ext cx="10351008" cy="758952"/>
          </a:xfrm>
          <a:prstGeom prst="rect">
            <a:avLst/>
          </a:prstGeom>
          <a:noFill/>
        </p:spPr>
        <p:txBody>
          <a:bodyPr wrap="square" lIns="18288" tIns="18288" rIns="18288" bIns="18288" anchor="t">
            <a:spAutoFit/>
          </a:bodyPr>
          <a:lstStyle/>
          <a:p>
            <a:pPr algn="l"/>
            <a:r>
              <a:rPr sz="1900" b="0">
                <a:solidFill>
                  <a:srgbClr val="1C2A39"/>
                </a:solidFill>
                <a:latin typeface="Aptos"/>
              </a:rPr>
              <a:t>Vision tuning can degrade safety inherited from an aligned language backbone.</a:t>
            </a:r>
          </a:p>
        </p:txBody>
      </p:sp>
      <p:sp>
        <p:nvSpPr>
          <p:cNvPr id="9" name="Oval 8"/>
          <p:cNvSpPr/>
          <p:nvPr/>
        </p:nvSpPr>
        <p:spPr>
          <a:xfrm>
            <a:off x="804672" y="2615184"/>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2496312"/>
            <a:ext cx="10351008" cy="758952"/>
          </a:xfrm>
          <a:prstGeom prst="rect">
            <a:avLst/>
          </a:prstGeom>
          <a:noFill/>
        </p:spPr>
        <p:txBody>
          <a:bodyPr wrap="square" lIns="18288" tIns="18288" rIns="18288" bIns="18288" anchor="t">
            <a:spAutoFit/>
          </a:bodyPr>
          <a:lstStyle/>
          <a:p>
            <a:pPr algn="l"/>
            <a:r>
              <a:rPr sz="1900" b="0">
                <a:solidFill>
                  <a:srgbClr val="1C2A39"/>
                </a:solidFill>
                <a:latin typeface="Aptos"/>
              </a:rPr>
              <a:t>Image OCR and image semantics create carriers that text-only safeguards may not recognize.</a:t>
            </a:r>
          </a:p>
        </p:txBody>
      </p:sp>
      <p:sp>
        <p:nvSpPr>
          <p:cNvPr id="11" name="Oval 10"/>
          <p:cNvSpPr/>
          <p:nvPr/>
        </p:nvSpPr>
        <p:spPr>
          <a:xfrm>
            <a:off x="804672" y="3419856"/>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0704" y="3300984"/>
            <a:ext cx="10351008" cy="758952"/>
          </a:xfrm>
          <a:prstGeom prst="rect">
            <a:avLst/>
          </a:prstGeom>
          <a:noFill/>
        </p:spPr>
        <p:txBody>
          <a:bodyPr wrap="square" lIns="18288" tIns="18288" rIns="18288" bIns="18288" anchor="t">
            <a:spAutoFit/>
          </a:bodyPr>
          <a:lstStyle/>
          <a:p>
            <a:pPr algn="l"/>
            <a:r>
              <a:rPr sz="1900" b="0">
                <a:solidFill>
                  <a:srgbClr val="1C2A39"/>
                </a:solidFill>
                <a:latin typeface="Aptos"/>
              </a:rPr>
              <a:t>Risk can emerge from image–text interaction even when each input looks safe alone.</a:t>
            </a:r>
          </a:p>
        </p:txBody>
      </p:sp>
      <p:sp>
        <p:nvSpPr>
          <p:cNvPr id="13" name="Oval 12"/>
          <p:cNvSpPr/>
          <p:nvPr/>
        </p:nvSpPr>
        <p:spPr>
          <a:xfrm>
            <a:off x="804672" y="4224528"/>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0704" y="4105656"/>
            <a:ext cx="10351008" cy="758952"/>
          </a:xfrm>
          <a:prstGeom prst="rect">
            <a:avLst/>
          </a:prstGeom>
          <a:noFill/>
        </p:spPr>
        <p:txBody>
          <a:bodyPr wrap="square" lIns="18288" tIns="18288" rIns="18288" bIns="18288" anchor="t">
            <a:spAutoFit/>
          </a:bodyPr>
          <a:lstStyle/>
          <a:p>
            <a:pPr algn="l"/>
            <a:r>
              <a:rPr sz="1900" b="0">
                <a:solidFill>
                  <a:srgbClr val="1C2A39"/>
                </a:solidFill>
                <a:latin typeface="Aptos"/>
              </a:rPr>
              <a:t>Benchmark text can leak the risk; safety scores may not require seeing the image.</a:t>
            </a:r>
          </a:p>
        </p:txBody>
      </p:sp>
      <p:sp>
        <p:nvSpPr>
          <p:cNvPr id="15" name="TextBox 14"/>
          <p:cNvSpPr txBox="1"/>
          <p:nvPr/>
        </p:nvSpPr>
        <p:spPr>
          <a:xfrm>
            <a:off x="1078992" y="5257800"/>
            <a:ext cx="9875520" cy="502920"/>
          </a:xfrm>
          <a:prstGeom prst="rect">
            <a:avLst/>
          </a:prstGeom>
          <a:noFill/>
        </p:spPr>
        <p:txBody>
          <a:bodyPr wrap="square" lIns="18288" tIns="18288" rIns="18288" bIns="18288" anchor="t">
            <a:spAutoFit/>
          </a:bodyPr>
          <a:lstStyle/>
          <a:p>
            <a:pPr algn="l"/>
            <a:r>
              <a:rPr sz="2000" b="1">
                <a:solidFill>
                  <a:srgbClr val="276B7E"/>
                </a:solidFill>
                <a:latin typeface="Aptos"/>
              </a:rPr>
              <a:t>So test carriers, composition, leakage, and benign near-neighbors separately.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FIELD EVOLUTION</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The field has shifted from finding failures to attributing them</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[1], [2], [3], [4], [12], [15], [16], [23]</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05</a:t>
            </a:r>
          </a:p>
        </p:txBody>
      </p:sp>
      <p:sp>
        <p:nvSpPr>
          <p:cNvPr id="7" name="Rectangle 6"/>
          <p:cNvSpPr/>
          <p:nvPr/>
        </p:nvSpPr>
        <p:spPr>
          <a:xfrm>
            <a:off x="777240" y="1755648"/>
            <a:ext cx="3493008" cy="33375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755648"/>
            <a:ext cx="73152" cy="33375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1920240"/>
            <a:ext cx="3127248" cy="347472"/>
          </a:xfrm>
          <a:prstGeom prst="rect">
            <a:avLst/>
          </a:prstGeom>
          <a:noFill/>
        </p:spPr>
        <p:txBody>
          <a:bodyPr wrap="square" lIns="18288" tIns="18288" rIns="18288" bIns="18288" anchor="t">
            <a:spAutoFit/>
          </a:bodyPr>
          <a:lstStyle/>
          <a:p>
            <a:pPr algn="l"/>
            <a:r>
              <a:rPr sz="1600" b="1">
                <a:solidFill>
                  <a:srgbClr val="276B7E"/>
                </a:solidFill>
                <a:latin typeface="Aptos"/>
              </a:rPr>
              <a:t>2023–24  |  EXPOSE</a:t>
            </a:r>
          </a:p>
        </p:txBody>
      </p:sp>
      <p:sp>
        <p:nvSpPr>
          <p:cNvPr id="10" name="TextBox 9"/>
          <p:cNvSpPr txBox="1"/>
          <p:nvPr/>
        </p:nvSpPr>
        <p:spPr>
          <a:xfrm>
            <a:off x="978408" y="2322576"/>
            <a:ext cx="3127248" cy="2651760"/>
          </a:xfrm>
          <a:prstGeom prst="rect">
            <a:avLst/>
          </a:prstGeom>
          <a:noFill/>
        </p:spPr>
        <p:txBody>
          <a:bodyPr wrap="square" lIns="18288" tIns="18288" rIns="18288" bIns="18288" anchor="t">
            <a:spAutoFit/>
          </a:bodyPr>
          <a:lstStyle/>
          <a:p>
            <a:pPr algn="l"/>
            <a:r>
              <a:rPr sz="1600" b="0">
                <a:solidFill>
                  <a:srgbClr val="1C2A39"/>
                </a:solidFill>
                <a:latin typeface="Aptos"/>
              </a:rPr>
              <a:t>Visual jailbreak channels
FigStep • MM-SafetyBench • HADES • JailBreakV
Question: can image inputs bypass text alignment?</a:t>
            </a:r>
          </a:p>
        </p:txBody>
      </p:sp>
      <p:sp>
        <p:nvSpPr>
          <p:cNvPr id="11" name="Rectangle 10"/>
          <p:cNvSpPr/>
          <p:nvPr/>
        </p:nvSpPr>
        <p:spPr>
          <a:xfrm>
            <a:off x="4352544" y="1755648"/>
            <a:ext cx="3493008" cy="33375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52544" y="1755648"/>
            <a:ext cx="73152" cy="33375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3712" y="1920240"/>
            <a:ext cx="3127248" cy="347472"/>
          </a:xfrm>
          <a:prstGeom prst="rect">
            <a:avLst/>
          </a:prstGeom>
          <a:noFill/>
        </p:spPr>
        <p:txBody>
          <a:bodyPr wrap="square" lIns="18288" tIns="18288" rIns="18288" bIns="18288" anchor="t">
            <a:spAutoFit/>
          </a:bodyPr>
          <a:lstStyle/>
          <a:p>
            <a:pPr algn="l"/>
            <a:r>
              <a:rPr sz="1600" b="1">
                <a:solidFill>
                  <a:srgbClr val="276B7E"/>
                </a:solidFill>
                <a:latin typeface="Aptos"/>
              </a:rPr>
              <a:t>2025  |  MEASURE + ALIGN</a:t>
            </a:r>
          </a:p>
        </p:txBody>
      </p:sp>
      <p:sp>
        <p:nvSpPr>
          <p:cNvPr id="14" name="TextBox 13"/>
          <p:cNvSpPr txBox="1"/>
          <p:nvPr/>
        </p:nvSpPr>
        <p:spPr>
          <a:xfrm>
            <a:off x="4553712" y="2322576"/>
            <a:ext cx="3127248" cy="2651760"/>
          </a:xfrm>
          <a:prstGeom prst="rect">
            <a:avLst/>
          </a:prstGeom>
          <a:noFill/>
        </p:spPr>
        <p:txBody>
          <a:bodyPr wrap="square" lIns="18288" tIns="18288" rIns="18288" bIns="18288" anchor="t">
            <a:spAutoFit/>
          </a:bodyPr>
          <a:lstStyle/>
          <a:p>
            <a:pPr algn="l"/>
            <a:r>
              <a:rPr sz="1500" b="0">
                <a:solidFill>
                  <a:srgbClr val="1C2A39"/>
                </a:solidFill>
                <a:latin typeface="Aptos"/>
              </a:rPr>
              <a:t>Preference training, representation gaps, calibration
SPA-VL • ADPO • CMRM • SIUO • VSCBench • VLSBench
Question: what degrades, and what trade-off follows?</a:t>
            </a:r>
          </a:p>
        </p:txBody>
      </p:sp>
      <p:sp>
        <p:nvSpPr>
          <p:cNvPr id="15" name="Rectangle 14"/>
          <p:cNvSpPr/>
          <p:nvPr/>
        </p:nvSpPr>
        <p:spPr>
          <a:xfrm>
            <a:off x="7927848" y="1755648"/>
            <a:ext cx="3493008" cy="33375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27848" y="1755648"/>
            <a:ext cx="73152" cy="33375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29016" y="1920240"/>
            <a:ext cx="3127248" cy="347472"/>
          </a:xfrm>
          <a:prstGeom prst="rect">
            <a:avLst/>
          </a:prstGeom>
          <a:noFill/>
        </p:spPr>
        <p:txBody>
          <a:bodyPr wrap="square" lIns="18288" tIns="18288" rIns="18288" bIns="18288" anchor="t">
            <a:spAutoFit/>
          </a:bodyPr>
          <a:lstStyle/>
          <a:p>
            <a:pPr algn="l"/>
            <a:r>
              <a:rPr sz="1600" b="1">
                <a:solidFill>
                  <a:srgbClr val="276B7E"/>
                </a:solidFill>
                <a:latin typeface="Aptos"/>
              </a:rPr>
              <a:t>2026  |  FACTOR + INTERVENE</a:t>
            </a:r>
          </a:p>
        </p:txBody>
      </p:sp>
      <p:sp>
        <p:nvSpPr>
          <p:cNvPr id="18" name="TextBox 17"/>
          <p:cNvSpPr txBox="1"/>
          <p:nvPr/>
        </p:nvSpPr>
        <p:spPr>
          <a:xfrm>
            <a:off x="8129016" y="2322576"/>
            <a:ext cx="3127248" cy="2651760"/>
          </a:xfrm>
          <a:prstGeom prst="rect">
            <a:avLst/>
          </a:prstGeom>
          <a:noFill/>
        </p:spPr>
        <p:txBody>
          <a:bodyPr wrap="square" lIns="18288" tIns="18288" rIns="18288" bIns="18288" anchor="t">
            <a:spAutoFit/>
          </a:bodyPr>
          <a:lstStyle/>
          <a:p>
            <a:pPr algn="l"/>
            <a:r>
              <a:rPr sz="1500" b="0">
                <a:solidFill>
                  <a:srgbClr val="1C2A39"/>
                </a:solidFill>
                <a:latin typeface="Aptos"/>
              </a:rPr>
              <a:t>Factorized tests and selective or label-free defenses
MMJailBench • USB • VSFA • VLMGuard-R1 • SafeRI
Question: which factor/when should trigger safety?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SOTA METHOD MAP</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Current methods intervene at different system layers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[5], [7], [8], [12], [15], [16], [21], [23], [24], [25]</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06</a:t>
            </a:r>
          </a:p>
        </p:txBody>
      </p:sp>
      <p:graphicFrame>
        <p:nvGraphicFramePr>
          <p:cNvPr id="7" name="Table 6"/>
          <p:cNvGraphicFramePr>
            <a:graphicFrameLocks noGrp="1"/>
          </p:cNvGraphicFramePr>
          <p:nvPr/>
        </p:nvGraphicFramePr>
        <p:xfrm>
          <a:off x="749808" y="1664208"/>
          <a:ext cx="10716768" cy="4187952"/>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5779008">
                  <a:extLst>
                    <a:ext uri="{9D8B030D-6E8A-4147-A177-3AD203B41FA5}">
                      <a16:colId xmlns:a16="http://schemas.microsoft.com/office/drawing/2014/main" val="20002"/>
                    </a:ext>
                  </a:extLst>
                </a:gridCol>
              </a:tblGrid>
              <a:tr h="697992">
                <a:tc>
                  <a:txBody>
                    <a:bodyPr/>
                    <a:lstStyle/>
                    <a:p>
                      <a:pPr>
                        <a:spcAft>
                          <a:spcPts val="0"/>
                        </a:spcAft>
                      </a:pPr>
                      <a:r>
                        <a:rPr sz="1400" b="1">
                          <a:solidFill>
                            <a:srgbClr val="FFFFFF"/>
                          </a:solidFill>
                          <a:latin typeface="Aptos"/>
                        </a:rPr>
                        <a:t>Intervention layer</a:t>
                      </a:r>
                    </a:p>
                  </a:txBody>
                  <a:tcPr marL="73152" marR="54864" marT="36576" marB="27432" anchor="ctr">
                    <a:solidFill>
                      <a:srgbClr val="122A42"/>
                    </a:solidFill>
                  </a:tcPr>
                </a:tc>
                <a:tc>
                  <a:txBody>
                    <a:bodyPr/>
                    <a:lstStyle/>
                    <a:p>
                      <a:pPr>
                        <a:spcAft>
                          <a:spcPts val="0"/>
                        </a:spcAft>
                      </a:pPr>
                      <a:r>
                        <a:rPr sz="1400" b="1">
                          <a:solidFill>
                            <a:srgbClr val="FFFFFF"/>
                          </a:solidFill>
                          <a:latin typeface="Aptos"/>
                        </a:rPr>
                        <a:t>Representative work</a:t>
                      </a:r>
                    </a:p>
                  </a:txBody>
                  <a:tcPr marL="73152" marR="54864" marT="36576" marB="27432" anchor="ctr">
                    <a:solidFill>
                      <a:srgbClr val="122A42"/>
                    </a:solidFill>
                  </a:tcPr>
                </a:tc>
                <a:tc>
                  <a:txBody>
                    <a:bodyPr/>
                    <a:lstStyle/>
                    <a:p>
                      <a:pPr>
                        <a:spcAft>
                          <a:spcPts val="0"/>
                        </a:spcAft>
                      </a:pPr>
                      <a:r>
                        <a:rPr sz="1400" b="1">
                          <a:solidFill>
                            <a:srgbClr val="FFFFFF"/>
                          </a:solidFill>
                          <a:latin typeface="Aptos"/>
                        </a:rPr>
                        <a:t>Core idea</a:t>
                      </a:r>
                    </a:p>
                  </a:txBody>
                  <a:tcPr marL="73152" marR="54864" marT="36576" marB="27432" anchor="ctr">
                    <a:solidFill>
                      <a:srgbClr val="122A42"/>
                    </a:solidFill>
                  </a:tcPr>
                </a:tc>
                <a:extLst>
                  <a:ext uri="{0D108BD9-81ED-4DB2-BD59-A6C34878D82A}">
                    <a16:rowId xmlns:a16="http://schemas.microsoft.com/office/drawing/2014/main" val="10000"/>
                  </a:ext>
                </a:extLst>
              </a:tr>
              <a:tr h="697992">
                <a:tc>
                  <a:txBody>
                    <a:bodyPr/>
                    <a:lstStyle/>
                    <a:p>
                      <a:pPr>
                        <a:spcAft>
                          <a:spcPts val="0"/>
                        </a:spcAft>
                      </a:pPr>
                      <a:r>
                        <a:rPr sz="1500" b="1">
                          <a:solidFill>
                            <a:srgbClr val="1C2A39"/>
                          </a:solidFill>
                          <a:latin typeface="Aptos"/>
                        </a:rPr>
                        <a:t>Training data/objective</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VLGuard, SPA-VL, ADPO</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SFT, preference optimization, adversarial preference</a:t>
                      </a:r>
                    </a:p>
                  </a:txBody>
                  <a:tcPr marL="73152" marR="54864" marT="36576" marB="27432" anchor="ctr">
                    <a:solidFill>
                      <a:srgbClr val="FFFFFF"/>
                    </a:solidFill>
                  </a:tcPr>
                </a:tc>
                <a:extLst>
                  <a:ext uri="{0D108BD9-81ED-4DB2-BD59-A6C34878D82A}">
                    <a16:rowId xmlns:a16="http://schemas.microsoft.com/office/drawing/2014/main" val="10001"/>
                  </a:ext>
                </a:extLst>
              </a:tr>
              <a:tr h="697992">
                <a:tc>
                  <a:txBody>
                    <a:bodyPr/>
                    <a:lstStyle/>
                    <a:p>
                      <a:pPr>
                        <a:spcAft>
                          <a:spcPts val="0"/>
                        </a:spcAft>
                      </a:pPr>
                      <a:r>
                        <a:rPr sz="1500" b="1">
                          <a:solidFill>
                            <a:srgbClr val="1C2A39"/>
                          </a:solidFill>
                          <a:latin typeface="Aptos"/>
                        </a:rPr>
                        <a:t>Representation / inference</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CMRM, MMAligner</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Correct/calibrate multimodal hidden representations</a:t>
                      </a:r>
                    </a:p>
                  </a:txBody>
                  <a:tcPr marL="73152" marR="54864" marT="36576" marB="27432" anchor="ctr">
                    <a:solidFill>
                      <a:srgbClr val="EFF3F6"/>
                    </a:solidFill>
                  </a:tcPr>
                </a:tc>
                <a:extLst>
                  <a:ext uri="{0D108BD9-81ED-4DB2-BD59-A6C34878D82A}">
                    <a16:rowId xmlns:a16="http://schemas.microsoft.com/office/drawing/2014/main" val="10002"/>
                  </a:ext>
                </a:extLst>
              </a:tr>
              <a:tr h="697992">
                <a:tc>
                  <a:txBody>
                    <a:bodyPr/>
                    <a:lstStyle/>
                    <a:p>
                      <a:pPr>
                        <a:spcAft>
                          <a:spcPts val="0"/>
                        </a:spcAft>
                      </a:pPr>
                      <a:r>
                        <a:rPr sz="1500" b="1">
                          <a:solidFill>
                            <a:srgbClr val="1C2A39"/>
                          </a:solidFill>
                          <a:latin typeface="Aptos"/>
                        </a:rPr>
                        <a:t>Input guard / rewrite</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VLMGuard-R1, GuardAlign</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Inspect/transform input before target model</a:t>
                      </a:r>
                    </a:p>
                  </a:txBody>
                  <a:tcPr marL="73152" marR="54864" marT="36576" marB="27432" anchor="ctr">
                    <a:solidFill>
                      <a:srgbClr val="FFFFFF"/>
                    </a:solidFill>
                  </a:tcPr>
                </a:tc>
                <a:extLst>
                  <a:ext uri="{0D108BD9-81ED-4DB2-BD59-A6C34878D82A}">
                    <a16:rowId xmlns:a16="http://schemas.microsoft.com/office/drawing/2014/main" val="10003"/>
                  </a:ext>
                </a:extLst>
              </a:tr>
              <a:tr h="697992">
                <a:tc>
                  <a:txBody>
                    <a:bodyPr/>
                    <a:lstStyle/>
                    <a:p>
                      <a:pPr>
                        <a:spcAft>
                          <a:spcPts val="0"/>
                        </a:spcAft>
                      </a:pPr>
                      <a:r>
                        <a:rPr sz="1500" b="1">
                          <a:solidFill>
                            <a:srgbClr val="1C2A39"/>
                          </a:solidFill>
                          <a:latin typeface="Aptos"/>
                        </a:rPr>
                        <a:t>Reasoning / persona</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Think in Safety, VSFA</a:t>
                      </a:r>
                    </a:p>
                  </a:txBody>
                  <a:tcPr marL="73152" marR="54864" marT="36576" marB="27432" anchor="ctr">
                    <a:solidFill>
                      <a:srgbClr val="EFF3F6"/>
                    </a:solidFill>
                  </a:tcPr>
                </a:tc>
                <a:tc>
                  <a:txBody>
                    <a:bodyPr/>
                    <a:lstStyle/>
                    <a:p>
                      <a:pPr>
                        <a:spcAft>
                          <a:spcPts val="0"/>
                        </a:spcAft>
                      </a:pPr>
                      <a:r>
                        <a:rPr sz="1500" b="0">
                          <a:solidFill>
                            <a:srgbClr val="1C2A39"/>
                          </a:solidFill>
                          <a:latin typeface="Aptos"/>
                        </a:rPr>
                        <a:t>Reason about risk or learn from threat-image VQA</a:t>
                      </a:r>
                    </a:p>
                  </a:txBody>
                  <a:tcPr marL="73152" marR="54864" marT="36576" marB="27432" anchor="ctr">
                    <a:solidFill>
                      <a:srgbClr val="EFF3F6"/>
                    </a:solidFill>
                  </a:tcPr>
                </a:tc>
                <a:extLst>
                  <a:ext uri="{0D108BD9-81ED-4DB2-BD59-A6C34878D82A}">
                    <a16:rowId xmlns:a16="http://schemas.microsoft.com/office/drawing/2014/main" val="10004"/>
                  </a:ext>
                </a:extLst>
              </a:tr>
              <a:tr h="697992">
                <a:tc>
                  <a:txBody>
                    <a:bodyPr/>
                    <a:lstStyle/>
                    <a:p>
                      <a:pPr>
                        <a:spcAft>
                          <a:spcPts val="0"/>
                        </a:spcAft>
                      </a:pPr>
                      <a:r>
                        <a:rPr sz="1500" b="1">
                          <a:solidFill>
                            <a:srgbClr val="1C2A39"/>
                          </a:solidFill>
                          <a:latin typeface="Aptos"/>
                        </a:rPr>
                        <a:t>Decode-time / token gate</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SafetyReminder, SafeSteer, SafeRI*</a:t>
                      </a:r>
                    </a:p>
                  </a:txBody>
                  <a:tcPr marL="73152" marR="54864" marT="36576" marB="27432" anchor="ctr">
                    <a:solidFill>
                      <a:srgbClr val="FFFFFF"/>
                    </a:solidFill>
                  </a:tcPr>
                </a:tc>
                <a:tc>
                  <a:txBody>
                    <a:bodyPr/>
                    <a:lstStyle/>
                    <a:p>
                      <a:pPr>
                        <a:spcAft>
                          <a:spcPts val="0"/>
                        </a:spcAft>
                      </a:pPr>
                      <a:r>
                        <a:rPr sz="1500" b="0">
                          <a:solidFill>
                            <a:srgbClr val="1C2A39"/>
                          </a:solidFill>
                          <a:latin typeface="Aptos"/>
                        </a:rPr>
                        <a:t>Steer or activate safety selectively during generation</a:t>
                      </a:r>
                    </a:p>
                  </a:txBody>
                  <a:tcPr marL="73152" marR="54864" marT="36576" marB="27432"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822960" y="5943600"/>
            <a:ext cx="10515600" cy="320040"/>
          </a:xfrm>
          <a:prstGeom prst="rect">
            <a:avLst/>
          </a:prstGeom>
          <a:noFill/>
        </p:spPr>
        <p:txBody>
          <a:bodyPr wrap="square" lIns="18288" tIns="18288" rIns="18288" bIns="18288" anchor="t">
            <a:spAutoFit/>
          </a:bodyPr>
          <a:lstStyle/>
          <a:p>
            <a:pPr algn="l"/>
            <a:r>
              <a:rPr sz="1100" b="0">
                <a:solidFill>
                  <a:srgbClr val="64707B"/>
                </a:solidFill>
                <a:latin typeface="Aptos"/>
              </a:rPr>
              <a:t>*SafeRI is a September 2026 preprint, not yet a peer-reviewed result.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PAPER AUDIT: TRAINING</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Training-time papers are not interchangeable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[5], [6], [7], [12], [15]</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07</a:t>
            </a:r>
          </a:p>
        </p:txBody>
      </p:sp>
      <p:graphicFrame>
        <p:nvGraphicFramePr>
          <p:cNvPr id="7" name="Table 6"/>
          <p:cNvGraphicFramePr>
            <a:graphicFrameLocks noGrp="1"/>
          </p:cNvGraphicFramePr>
          <p:nvPr/>
        </p:nvGraphicFramePr>
        <p:xfrm>
          <a:off x="749808" y="1664208"/>
          <a:ext cx="10716768" cy="4315968"/>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5321808">
                  <a:extLst>
                    <a:ext uri="{9D8B030D-6E8A-4147-A177-3AD203B41FA5}">
                      <a16:colId xmlns:a16="http://schemas.microsoft.com/office/drawing/2014/main" val="20002"/>
                    </a:ext>
                  </a:extLst>
                </a:gridCol>
              </a:tblGrid>
              <a:tr h="719328">
                <a:tc>
                  <a:txBody>
                    <a:bodyPr/>
                    <a:lstStyle/>
                    <a:p>
                      <a:pPr>
                        <a:spcAft>
                          <a:spcPts val="0"/>
                        </a:spcAft>
                      </a:pPr>
                      <a:r>
                        <a:rPr sz="1300" b="1">
                          <a:solidFill>
                            <a:srgbClr val="FFFFFF"/>
                          </a:solidFill>
                          <a:latin typeface="Aptos"/>
                        </a:rPr>
                        <a:t>Paper</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Method</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Protocol lesson for our study</a:t>
                      </a:r>
                    </a:p>
                  </a:txBody>
                  <a:tcPr marL="73152" marR="54864" marT="36576" marB="27432" anchor="ctr">
                    <a:solidFill>
                      <a:srgbClr val="122A42"/>
                    </a:solidFill>
                  </a:tcPr>
                </a:tc>
                <a:extLst>
                  <a:ext uri="{0D108BD9-81ED-4DB2-BD59-A6C34878D82A}">
                    <a16:rowId xmlns:a16="http://schemas.microsoft.com/office/drawing/2014/main" val="10000"/>
                  </a:ext>
                </a:extLst>
              </a:tr>
              <a:tr h="719328">
                <a:tc>
                  <a:txBody>
                    <a:bodyPr/>
                    <a:lstStyle/>
                    <a:p>
                      <a:pPr>
                        <a:spcAft>
                          <a:spcPts val="0"/>
                        </a:spcAft>
                      </a:pPr>
                      <a:r>
                        <a:rPr sz="1400" b="1">
                          <a:solidFill>
                            <a:srgbClr val="1C2A39"/>
                          </a:solidFill>
                          <a:latin typeface="Aptos"/>
                        </a:rPr>
                        <a:t>VLGuard</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Safety instruction data + SFT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Data baseline; monitor forgetting and utility</a:t>
                      </a:r>
                    </a:p>
                  </a:txBody>
                  <a:tcPr marL="73152" marR="54864" marT="36576" marB="27432" anchor="ctr">
                    <a:solidFill>
                      <a:srgbClr val="FFFFFF"/>
                    </a:solidFill>
                  </a:tcPr>
                </a:tc>
                <a:extLst>
                  <a:ext uri="{0D108BD9-81ED-4DB2-BD59-A6C34878D82A}">
                    <a16:rowId xmlns:a16="http://schemas.microsoft.com/office/drawing/2014/main" val="10001"/>
                  </a:ext>
                </a:extLst>
              </a:tr>
              <a:tr h="719328">
                <a:tc>
                  <a:txBody>
                    <a:bodyPr/>
                    <a:lstStyle/>
                    <a:p>
                      <a:pPr>
                        <a:spcAft>
                          <a:spcPts val="0"/>
                        </a:spcAft>
                      </a:pPr>
                      <a:r>
                        <a:rPr sz="1400" b="1">
                          <a:solidFill>
                            <a:srgbClr val="1C2A39"/>
                          </a:solidFill>
                          <a:latin typeface="Aptos"/>
                        </a:rPr>
                        <a:t>SafeVLM</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Projector, safety tokens/head; two-stage</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Architectural comparator; separate from SFT</a:t>
                      </a:r>
                    </a:p>
                  </a:txBody>
                  <a:tcPr marL="73152" marR="54864" marT="36576" marB="27432" anchor="ctr">
                    <a:solidFill>
                      <a:srgbClr val="EFF3F6"/>
                    </a:solidFill>
                  </a:tcPr>
                </a:tc>
                <a:extLst>
                  <a:ext uri="{0D108BD9-81ED-4DB2-BD59-A6C34878D82A}">
                    <a16:rowId xmlns:a16="http://schemas.microsoft.com/office/drawing/2014/main" val="10002"/>
                  </a:ext>
                </a:extLst>
              </a:tr>
              <a:tr h="719328">
                <a:tc>
                  <a:txBody>
                    <a:bodyPr/>
                    <a:lstStyle/>
                    <a:p>
                      <a:pPr>
                        <a:spcAft>
                          <a:spcPts val="0"/>
                        </a:spcAft>
                      </a:pPr>
                      <a:r>
                        <a:rPr sz="1400" b="1">
                          <a:solidFill>
                            <a:srgbClr val="1C2A39"/>
                          </a:solidFill>
                          <a:latin typeface="Aptos"/>
                        </a:rPr>
                        <a:t>SPA-VL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100K-scale image–question preference tuples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DPO data source; six harm domains</a:t>
                      </a:r>
                    </a:p>
                  </a:txBody>
                  <a:tcPr marL="73152" marR="54864" marT="36576" marB="27432" anchor="ctr">
                    <a:solidFill>
                      <a:srgbClr val="FFFFFF"/>
                    </a:solidFill>
                  </a:tcPr>
                </a:tc>
                <a:extLst>
                  <a:ext uri="{0D108BD9-81ED-4DB2-BD59-A6C34878D82A}">
                    <a16:rowId xmlns:a16="http://schemas.microsoft.com/office/drawing/2014/main" val="10003"/>
                  </a:ext>
                </a:extLst>
              </a:tr>
              <a:tr h="719328">
                <a:tc>
                  <a:txBody>
                    <a:bodyPr/>
                    <a:lstStyle/>
                    <a:p>
                      <a:pPr>
                        <a:spcAft>
                          <a:spcPts val="0"/>
                        </a:spcAft>
                      </a:pPr>
                      <a:r>
                        <a:rPr sz="1400" b="1">
                          <a:solidFill>
                            <a:srgbClr val="1C2A39"/>
                          </a:solidFill>
                          <a:latin typeface="Aptos"/>
                        </a:rPr>
                        <a:t>ADPO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Adversarial reference + adversary-aware DPO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Direct adversarial-alignment prior art</a:t>
                      </a:r>
                    </a:p>
                  </a:txBody>
                  <a:tcPr marL="73152" marR="54864" marT="36576" marB="27432" anchor="ctr">
                    <a:solidFill>
                      <a:srgbClr val="EFF3F6"/>
                    </a:solidFill>
                  </a:tcPr>
                </a:tc>
                <a:extLst>
                  <a:ext uri="{0D108BD9-81ED-4DB2-BD59-A6C34878D82A}">
                    <a16:rowId xmlns:a16="http://schemas.microsoft.com/office/drawing/2014/main" val="10004"/>
                  </a:ext>
                </a:extLst>
              </a:tr>
              <a:tr h="719328">
                <a:tc>
                  <a:txBody>
                    <a:bodyPr/>
                    <a:lstStyle/>
                    <a:p>
                      <a:pPr>
                        <a:spcAft>
                          <a:spcPts val="0"/>
                        </a:spcAft>
                      </a:pPr>
                      <a:r>
                        <a:rPr sz="1400" b="1">
                          <a:solidFill>
                            <a:srgbClr val="1C2A39"/>
                          </a:solidFill>
                          <a:latin typeface="Aptos"/>
                        </a:rPr>
                        <a:t>VSFA</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Neutral VQA on threat-related images; no safety labels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ACL 2026 label-free alternative; reproduce under matched budget</a:t>
                      </a:r>
                    </a:p>
                  </a:txBody>
                  <a:tcPr marL="73152" marR="54864" marT="36576"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PAPER AUDIT: INFERENCE</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Runtime defenses change the system boundary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[8], [15], [20], [21], [22], [23], [24], [25]</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08</a:t>
            </a:r>
          </a:p>
        </p:txBody>
      </p:sp>
      <p:sp>
        <p:nvSpPr>
          <p:cNvPr id="7" name="Rectangle 6"/>
          <p:cNvSpPr/>
          <p:nvPr/>
        </p:nvSpPr>
        <p:spPr>
          <a:xfrm>
            <a:off x="777240" y="1737360"/>
            <a:ext cx="3438144" cy="28803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737360"/>
            <a:ext cx="73152" cy="28803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1901952"/>
            <a:ext cx="3072384" cy="347472"/>
          </a:xfrm>
          <a:prstGeom prst="rect">
            <a:avLst/>
          </a:prstGeom>
          <a:noFill/>
        </p:spPr>
        <p:txBody>
          <a:bodyPr wrap="square" lIns="18288" tIns="18288" rIns="18288" bIns="18288" anchor="t">
            <a:spAutoFit/>
          </a:bodyPr>
          <a:lstStyle/>
          <a:p>
            <a:pPr algn="l"/>
            <a:r>
              <a:rPr sz="1600" b="1">
                <a:solidFill>
                  <a:srgbClr val="276B7E"/>
                </a:solidFill>
                <a:latin typeface="Aptos"/>
              </a:rPr>
              <a:t>REPRESENTATION</a:t>
            </a:r>
          </a:p>
        </p:txBody>
      </p:sp>
      <p:sp>
        <p:nvSpPr>
          <p:cNvPr id="10" name="TextBox 9"/>
          <p:cNvSpPr txBox="1"/>
          <p:nvPr/>
        </p:nvSpPr>
        <p:spPr>
          <a:xfrm>
            <a:off x="978408" y="2304288"/>
            <a:ext cx="3072384" cy="2194560"/>
          </a:xfrm>
          <a:prstGeom prst="rect">
            <a:avLst/>
          </a:prstGeom>
          <a:noFill/>
        </p:spPr>
        <p:txBody>
          <a:bodyPr wrap="square" lIns="18288" tIns="18288" rIns="18288" bIns="18288" anchor="t">
            <a:spAutoFit/>
          </a:bodyPr>
          <a:lstStyle/>
          <a:p>
            <a:pPr algn="l"/>
            <a:r>
              <a:rPr sz="1500" b="0">
                <a:solidFill>
                  <a:srgbClr val="1C2A39"/>
                </a:solidFill>
                <a:latin typeface="Aptos"/>
              </a:rPr>
              <a:t>CMRM and MMAligner act on internal multimodal representations.
Question: does safety improve without shifting safe examples into refusal?</a:t>
            </a:r>
          </a:p>
        </p:txBody>
      </p:sp>
      <p:sp>
        <p:nvSpPr>
          <p:cNvPr id="11" name="Rectangle 10"/>
          <p:cNvSpPr/>
          <p:nvPr/>
        </p:nvSpPr>
        <p:spPr>
          <a:xfrm>
            <a:off x="4379976" y="1737360"/>
            <a:ext cx="3438144" cy="28803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79976" y="1737360"/>
            <a:ext cx="73152" cy="28803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81144" y="1901952"/>
            <a:ext cx="3072384" cy="347472"/>
          </a:xfrm>
          <a:prstGeom prst="rect">
            <a:avLst/>
          </a:prstGeom>
          <a:noFill/>
        </p:spPr>
        <p:txBody>
          <a:bodyPr wrap="square" lIns="18288" tIns="18288" rIns="18288" bIns="18288" anchor="t">
            <a:spAutoFit/>
          </a:bodyPr>
          <a:lstStyle/>
          <a:p>
            <a:pPr algn="l"/>
            <a:r>
              <a:rPr sz="1600" b="1">
                <a:solidFill>
                  <a:srgbClr val="276B7E"/>
                </a:solidFill>
                <a:latin typeface="Aptos"/>
              </a:rPr>
              <a:t>INPUT GUARD</a:t>
            </a:r>
          </a:p>
        </p:txBody>
      </p:sp>
      <p:sp>
        <p:nvSpPr>
          <p:cNvPr id="14" name="TextBox 13"/>
          <p:cNvSpPr txBox="1"/>
          <p:nvPr/>
        </p:nvSpPr>
        <p:spPr>
          <a:xfrm>
            <a:off x="4581144" y="2304288"/>
            <a:ext cx="3072384" cy="2194560"/>
          </a:xfrm>
          <a:prstGeom prst="rect">
            <a:avLst/>
          </a:prstGeom>
          <a:noFill/>
        </p:spPr>
        <p:txBody>
          <a:bodyPr wrap="square" lIns="18288" tIns="18288" rIns="18288" bIns="18288" anchor="t">
            <a:spAutoFit/>
          </a:bodyPr>
          <a:lstStyle/>
          <a:p>
            <a:pPr algn="l"/>
            <a:r>
              <a:rPr sz="1500" b="0">
                <a:solidFill>
                  <a:srgbClr val="1C2A39"/>
                </a:solidFill>
                <a:latin typeface="Aptos"/>
              </a:rPr>
              <a:t>VLMGuard-R1 reasons over and rewrites multimodal input before the target VLM.
Report extra model, calls, cost, latency, and rewrite behavior.</a:t>
            </a:r>
          </a:p>
        </p:txBody>
      </p:sp>
      <p:sp>
        <p:nvSpPr>
          <p:cNvPr id="15" name="Rectangle 14"/>
          <p:cNvSpPr/>
          <p:nvPr/>
        </p:nvSpPr>
        <p:spPr>
          <a:xfrm>
            <a:off x="7982712" y="1737360"/>
            <a:ext cx="3438144" cy="288036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82712" y="1737360"/>
            <a:ext cx="73152" cy="288036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80" y="1901952"/>
            <a:ext cx="3072384" cy="347472"/>
          </a:xfrm>
          <a:prstGeom prst="rect">
            <a:avLst/>
          </a:prstGeom>
          <a:noFill/>
        </p:spPr>
        <p:txBody>
          <a:bodyPr wrap="square" lIns="18288" tIns="18288" rIns="18288" bIns="18288" anchor="t">
            <a:spAutoFit/>
          </a:bodyPr>
          <a:lstStyle/>
          <a:p>
            <a:pPr algn="l"/>
            <a:r>
              <a:rPr sz="1600" b="1">
                <a:solidFill>
                  <a:srgbClr val="276B7E"/>
                </a:solidFill>
                <a:latin typeface="Aptos"/>
              </a:rPr>
              <a:t>GENERATION GATE</a:t>
            </a:r>
          </a:p>
        </p:txBody>
      </p:sp>
      <p:sp>
        <p:nvSpPr>
          <p:cNvPr id="18" name="TextBox 17"/>
          <p:cNvSpPr txBox="1"/>
          <p:nvPr/>
        </p:nvSpPr>
        <p:spPr>
          <a:xfrm>
            <a:off x="8183880" y="2304288"/>
            <a:ext cx="3072384" cy="2194560"/>
          </a:xfrm>
          <a:prstGeom prst="rect">
            <a:avLst/>
          </a:prstGeom>
          <a:noFill/>
        </p:spPr>
        <p:txBody>
          <a:bodyPr wrap="square" lIns="18288" tIns="18288" rIns="18288" bIns="18288" anchor="t">
            <a:spAutoFit/>
          </a:bodyPr>
          <a:lstStyle/>
          <a:p>
            <a:pPr algn="l"/>
            <a:r>
              <a:rPr sz="1500" b="0">
                <a:solidFill>
                  <a:srgbClr val="1C2A39"/>
                </a:solidFill>
                <a:latin typeface="Aptos"/>
              </a:rPr>
              <a:t>SafetyReminder / SafeSteer / SafeRI intervene during generation. SafeSteer here is the ACL 2026 decoding-level paper.
Report trigger errors, token overhead, and safe-task effects.</a:t>
            </a:r>
          </a:p>
        </p:txBody>
      </p:sp>
      <p:sp>
        <p:nvSpPr>
          <p:cNvPr id="19" name="TextBox 18"/>
          <p:cNvSpPr txBox="1"/>
          <p:nvPr/>
        </p:nvSpPr>
        <p:spPr>
          <a:xfrm>
            <a:off x="914400" y="5074920"/>
            <a:ext cx="10058400" cy="594360"/>
          </a:xfrm>
          <a:prstGeom prst="rect">
            <a:avLst/>
          </a:prstGeom>
          <a:noFill/>
        </p:spPr>
        <p:txBody>
          <a:bodyPr wrap="square" lIns="18288" tIns="18288" rIns="18288" bIns="18288" anchor="t">
            <a:spAutoFit/>
          </a:bodyPr>
          <a:lstStyle/>
          <a:p>
            <a:pPr algn="l"/>
            <a:r>
              <a:rPr sz="1900" b="1">
                <a:solidFill>
                  <a:srgbClr val="1C2A39"/>
                </a:solidFill>
                <a:latin typeface="Aptos"/>
              </a:rPr>
              <a:t>A defense comparison must name what is being aligned: the model, the input pipeline, or the full deployed 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ATTACK PROTOCOL</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A jailbreak suite must vary the carrier, not just the wording</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[1], [3], [4], [18], [19]</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09</a:t>
            </a:r>
          </a:p>
        </p:txBody>
      </p:sp>
      <p:graphicFrame>
        <p:nvGraphicFramePr>
          <p:cNvPr id="7" name="Table 6"/>
          <p:cNvGraphicFramePr>
            <a:graphicFrameLocks noGrp="1"/>
          </p:cNvGraphicFramePr>
          <p:nvPr/>
        </p:nvGraphicFramePr>
        <p:xfrm>
          <a:off x="749808" y="1664208"/>
          <a:ext cx="10716768" cy="41148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24528">
                  <a:extLst>
                    <a:ext uri="{9D8B030D-6E8A-4147-A177-3AD203B41FA5}">
                      <a16:colId xmlns:a16="http://schemas.microsoft.com/office/drawing/2014/main" val="20002"/>
                    </a:ext>
                  </a:extLst>
                </a:gridCol>
              </a:tblGrid>
              <a:tr h="685800">
                <a:tc>
                  <a:txBody>
                    <a:bodyPr/>
                    <a:lstStyle/>
                    <a:p>
                      <a:pPr>
                        <a:spcAft>
                          <a:spcPts val="0"/>
                        </a:spcAft>
                      </a:pPr>
                      <a:r>
                        <a:rPr sz="1300" b="1">
                          <a:solidFill>
                            <a:srgbClr val="FFFFFF"/>
                          </a:solidFill>
                          <a:latin typeface="Aptos"/>
                        </a:rPr>
                        <a:t>Attack family</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What changes</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Question answered</a:t>
                      </a:r>
                    </a:p>
                  </a:txBody>
                  <a:tcPr marL="73152" marR="54864" marT="36576" marB="27432" anchor="ctr">
                    <a:solidFill>
                      <a:srgbClr val="122A42"/>
                    </a:solidFill>
                  </a:tcPr>
                </a:tc>
                <a:extLst>
                  <a:ext uri="{0D108BD9-81ED-4DB2-BD59-A6C34878D82A}">
                    <a16:rowId xmlns:a16="http://schemas.microsoft.com/office/drawing/2014/main" val="10000"/>
                  </a:ext>
                </a:extLst>
              </a:tr>
              <a:tr h="685800">
                <a:tc>
                  <a:txBody>
                    <a:bodyPr/>
                    <a:lstStyle/>
                    <a:p>
                      <a:pPr>
                        <a:spcAft>
                          <a:spcPts val="0"/>
                        </a:spcAft>
                      </a:pPr>
                      <a:r>
                        <a:rPr sz="1400" b="1">
                          <a:solidFill>
                            <a:srgbClr val="1C2A39"/>
                          </a:solidFill>
                          <a:latin typeface="Aptos"/>
                        </a:rPr>
                        <a:t>Direct text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Control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Does text-only safety already fail?</a:t>
                      </a:r>
                    </a:p>
                  </a:txBody>
                  <a:tcPr marL="73152" marR="54864" marT="36576" marB="27432" anchor="ctr">
                    <a:solidFill>
                      <a:srgbClr val="FFFFFF"/>
                    </a:solidFill>
                  </a:tcPr>
                </a:tc>
                <a:extLst>
                  <a:ext uri="{0D108BD9-81ED-4DB2-BD59-A6C34878D82A}">
                    <a16:rowId xmlns:a16="http://schemas.microsoft.com/office/drawing/2014/main" val="10001"/>
                  </a:ext>
                </a:extLst>
              </a:tr>
              <a:tr h="685800">
                <a:tc>
                  <a:txBody>
                    <a:bodyPr/>
                    <a:lstStyle/>
                    <a:p>
                      <a:pPr>
                        <a:spcAft>
                          <a:spcPts val="0"/>
                        </a:spcAft>
                      </a:pPr>
                      <a:r>
                        <a:rPr sz="1400" b="1">
                          <a:solidFill>
                            <a:srgbClr val="1C2A39"/>
                          </a:solidFill>
                          <a:latin typeface="Aptos"/>
                        </a:rPr>
                        <a:t>FigStep</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Instruction as image text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Can the OCR/image pathway bypass?</a:t>
                      </a:r>
                    </a:p>
                  </a:txBody>
                  <a:tcPr marL="73152" marR="54864" marT="36576" marB="27432" anchor="ctr">
                    <a:solidFill>
                      <a:srgbClr val="EFF3F6"/>
                    </a:solidFill>
                  </a:tcPr>
                </a:tc>
                <a:extLst>
                  <a:ext uri="{0D108BD9-81ED-4DB2-BD59-A6C34878D82A}">
                    <a16:rowId xmlns:a16="http://schemas.microsoft.com/office/drawing/2014/main" val="10002"/>
                  </a:ext>
                </a:extLst>
              </a:tr>
              <a:tr h="685800">
                <a:tc>
                  <a:txBody>
                    <a:bodyPr/>
                    <a:lstStyle/>
                    <a:p>
                      <a:pPr>
                        <a:spcAft>
                          <a:spcPts val="0"/>
                        </a:spcAft>
                      </a:pPr>
                      <a:r>
                        <a:rPr sz="1400" b="1">
                          <a:solidFill>
                            <a:srgbClr val="1C2A39"/>
                          </a:solidFill>
                          <a:latin typeface="Aptos"/>
                        </a:rPr>
                        <a:t>SIUO / HADES-like</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Benign-looking inputs; risk in joint meaning</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Can it reason safely across modalities?</a:t>
                      </a:r>
                    </a:p>
                  </a:txBody>
                  <a:tcPr marL="73152" marR="54864" marT="36576" marB="27432" anchor="ctr">
                    <a:solidFill>
                      <a:srgbClr val="FFFFFF"/>
                    </a:solidFill>
                  </a:tcPr>
                </a:tc>
                <a:extLst>
                  <a:ext uri="{0D108BD9-81ED-4DB2-BD59-A6C34878D82A}">
                    <a16:rowId xmlns:a16="http://schemas.microsoft.com/office/drawing/2014/main" val="10003"/>
                  </a:ext>
                </a:extLst>
              </a:tr>
              <a:tr h="685800">
                <a:tc>
                  <a:txBody>
                    <a:bodyPr/>
                    <a:lstStyle/>
                    <a:p>
                      <a:pPr>
                        <a:spcAft>
                          <a:spcPts val="0"/>
                        </a:spcAft>
                      </a:pPr>
                      <a:r>
                        <a:rPr sz="1400" b="1">
                          <a:solidFill>
                            <a:srgbClr val="1C2A39"/>
                          </a:solidFill>
                          <a:latin typeface="Aptos"/>
                        </a:rPr>
                        <a:t>Adaptive held-out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PolyJailbreak at fixed query budget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Does defense generalize beyond templates?</a:t>
                      </a:r>
                    </a:p>
                  </a:txBody>
                  <a:tcPr marL="73152" marR="54864" marT="36576" marB="27432" anchor="ctr">
                    <a:solidFill>
                      <a:srgbClr val="EFF3F6"/>
                    </a:solidFill>
                  </a:tcPr>
                </a:tc>
                <a:extLst>
                  <a:ext uri="{0D108BD9-81ED-4DB2-BD59-A6C34878D82A}">
                    <a16:rowId xmlns:a16="http://schemas.microsoft.com/office/drawing/2014/main" val="10004"/>
                  </a:ext>
                </a:extLst>
              </a:tr>
              <a:tr h="685800">
                <a:tc>
                  <a:txBody>
                    <a:bodyPr/>
                    <a:lstStyle/>
                    <a:p>
                      <a:pPr>
                        <a:spcAft>
                          <a:spcPts val="0"/>
                        </a:spcAft>
                      </a:pPr>
                      <a:r>
                        <a:rPr sz="1400" b="1">
                          <a:solidFill>
                            <a:srgbClr val="1C2A39"/>
                          </a:solidFill>
                          <a:latin typeface="Aptos"/>
                        </a:rPr>
                        <a:t>White-box optional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VisualAdv/MMPGD; JailBound separately</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Do perturbations or internal boundary probes break it?</a:t>
                      </a:r>
                    </a:p>
                  </a:txBody>
                  <a:tcPr marL="73152" marR="54864" marT="36576" marB="27432"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822960" y="5943600"/>
            <a:ext cx="10515600" cy="320040"/>
          </a:xfrm>
          <a:prstGeom prst="rect">
            <a:avLst/>
          </a:prstGeom>
          <a:noFill/>
        </p:spPr>
        <p:txBody>
          <a:bodyPr wrap="square" lIns="18288" tIns="18288" rIns="18288" bIns="18288" anchor="t">
            <a:spAutoFit/>
          </a:bodyPr>
          <a:lstStyle/>
          <a:p>
            <a:pPr algn="l"/>
            <a:r>
              <a:rPr sz="1100" b="0">
                <a:solidFill>
                  <a:srgbClr val="64707B"/>
                </a:solidFill>
                <a:latin typeface="Aptos"/>
              </a:rPr>
              <a:t>Slide examples should be abstracted; do not display operational harmful instructions.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BENCHMARK AUDIT</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Benchmarks answer different questions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[9], [10], [11], [16], [17]</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10</a:t>
            </a:r>
          </a:p>
        </p:txBody>
      </p:sp>
      <p:graphicFrame>
        <p:nvGraphicFramePr>
          <p:cNvPr id="7" name="Table 6"/>
          <p:cNvGraphicFramePr>
            <a:graphicFrameLocks noGrp="1"/>
          </p:cNvGraphicFramePr>
          <p:nvPr/>
        </p:nvGraphicFramePr>
        <p:xfrm>
          <a:off x="749808" y="1664208"/>
          <a:ext cx="10716767" cy="4297680"/>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4617720">
                  <a:extLst>
                    <a:ext uri="{9D8B030D-6E8A-4147-A177-3AD203B41FA5}">
                      <a16:colId xmlns:a16="http://schemas.microsoft.com/office/drawing/2014/main" val="20001"/>
                    </a:ext>
                  </a:extLst>
                </a:gridCol>
                <a:gridCol w="4224528">
                  <a:extLst>
                    <a:ext uri="{9D8B030D-6E8A-4147-A177-3AD203B41FA5}">
                      <a16:colId xmlns:a16="http://schemas.microsoft.com/office/drawing/2014/main" val="20002"/>
                    </a:ext>
                  </a:extLst>
                </a:gridCol>
              </a:tblGrid>
              <a:tr h="716280">
                <a:tc>
                  <a:txBody>
                    <a:bodyPr/>
                    <a:lstStyle/>
                    <a:p>
                      <a:pPr>
                        <a:spcAft>
                          <a:spcPts val="0"/>
                        </a:spcAft>
                      </a:pPr>
                      <a:r>
                        <a:rPr sz="1300" b="1">
                          <a:solidFill>
                            <a:srgbClr val="FFFFFF"/>
                          </a:solidFill>
                          <a:latin typeface="Aptos"/>
                        </a:rPr>
                        <a:t>Benchmark</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What it measures</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Best role</a:t>
                      </a:r>
                    </a:p>
                  </a:txBody>
                  <a:tcPr marL="73152" marR="54864" marT="36576" marB="27432" anchor="ctr">
                    <a:solidFill>
                      <a:srgbClr val="122A42"/>
                    </a:solidFill>
                  </a:tcPr>
                </a:tc>
                <a:extLst>
                  <a:ext uri="{0D108BD9-81ED-4DB2-BD59-A6C34878D82A}">
                    <a16:rowId xmlns:a16="http://schemas.microsoft.com/office/drawing/2014/main" val="10000"/>
                  </a:ext>
                </a:extLst>
              </a:tr>
              <a:tr h="716280">
                <a:tc>
                  <a:txBody>
                    <a:bodyPr/>
                    <a:lstStyle/>
                    <a:p>
                      <a:pPr>
                        <a:spcAft>
                          <a:spcPts val="0"/>
                        </a:spcAft>
                      </a:pPr>
                      <a:r>
                        <a:rPr sz="1400" b="1">
                          <a:solidFill>
                            <a:srgbClr val="1C2A39"/>
                          </a:solidFill>
                          <a:latin typeface="Aptos"/>
                        </a:rPr>
                        <a:t>USB</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61 risk types × 4 modality interactions; includes over-refusal</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Broad, slice by image/cross-modal cells</a:t>
                      </a:r>
                    </a:p>
                  </a:txBody>
                  <a:tcPr marL="73152" marR="54864" marT="36576" marB="27432" anchor="ctr">
                    <a:solidFill>
                      <a:srgbClr val="FFFFFF"/>
                    </a:solidFill>
                  </a:tcPr>
                </a:tc>
                <a:extLst>
                  <a:ext uri="{0D108BD9-81ED-4DB2-BD59-A6C34878D82A}">
                    <a16:rowId xmlns:a16="http://schemas.microsoft.com/office/drawing/2014/main" val="10001"/>
                  </a:ext>
                </a:extLst>
              </a:tr>
              <a:tr h="716280">
                <a:tc>
                  <a:txBody>
                    <a:bodyPr/>
                    <a:lstStyle/>
                    <a:p>
                      <a:pPr>
                        <a:spcAft>
                          <a:spcPts val="0"/>
                        </a:spcAft>
                      </a:pPr>
                      <a:r>
                        <a:rPr sz="1400" b="1">
                          <a:solidFill>
                            <a:srgbClr val="1C2A39"/>
                          </a:solidFill>
                          <a:latin typeface="Aptos"/>
                        </a:rPr>
                        <a:t>VSCBench</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3,600 paired safety-calibration examples</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Under-safety AND over-safety</a:t>
                      </a:r>
                    </a:p>
                  </a:txBody>
                  <a:tcPr marL="73152" marR="54864" marT="36576" marB="27432" anchor="ctr">
                    <a:solidFill>
                      <a:srgbClr val="EFF3F6"/>
                    </a:solidFill>
                  </a:tcPr>
                </a:tc>
                <a:extLst>
                  <a:ext uri="{0D108BD9-81ED-4DB2-BD59-A6C34878D82A}">
                    <a16:rowId xmlns:a16="http://schemas.microsoft.com/office/drawing/2014/main" val="10002"/>
                  </a:ext>
                </a:extLst>
              </a:tr>
              <a:tr h="716280">
                <a:tc>
                  <a:txBody>
                    <a:bodyPr/>
                    <a:lstStyle/>
                    <a:p>
                      <a:pPr>
                        <a:spcAft>
                          <a:spcPts val="0"/>
                        </a:spcAft>
                      </a:pPr>
                      <a:r>
                        <a:rPr sz="1400" b="1">
                          <a:solidFill>
                            <a:srgbClr val="1C2A39"/>
                          </a:solidFill>
                          <a:latin typeface="Aptos"/>
                        </a:rPr>
                        <a:t>VLSBench</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~2.2K leakage-controlled examples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Does model need the image?</a:t>
                      </a:r>
                    </a:p>
                  </a:txBody>
                  <a:tcPr marL="73152" marR="54864" marT="36576" marB="27432" anchor="ctr">
                    <a:solidFill>
                      <a:srgbClr val="FFFFFF"/>
                    </a:solidFill>
                  </a:tcPr>
                </a:tc>
                <a:extLst>
                  <a:ext uri="{0D108BD9-81ED-4DB2-BD59-A6C34878D82A}">
                    <a16:rowId xmlns:a16="http://schemas.microsoft.com/office/drawing/2014/main" val="10003"/>
                  </a:ext>
                </a:extLst>
              </a:tr>
              <a:tr h="716280">
                <a:tc>
                  <a:txBody>
                    <a:bodyPr/>
                    <a:lstStyle/>
                    <a:p>
                      <a:pPr>
                        <a:spcAft>
                          <a:spcPts val="0"/>
                        </a:spcAft>
                      </a:pPr>
                      <a:r>
                        <a:rPr sz="1400" b="1">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167 cases, 9 domains; safe inputs jointly risky</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Composition-focused, small targeted set</a:t>
                      </a:r>
                    </a:p>
                  </a:txBody>
                  <a:tcPr marL="73152" marR="54864" marT="36576" marB="27432" anchor="ctr">
                    <a:solidFill>
                      <a:srgbClr val="EFF3F6"/>
                    </a:solidFill>
                  </a:tcPr>
                </a:tc>
                <a:extLst>
                  <a:ext uri="{0D108BD9-81ED-4DB2-BD59-A6C34878D82A}">
                    <a16:rowId xmlns:a16="http://schemas.microsoft.com/office/drawing/2014/main" val="10004"/>
                  </a:ext>
                </a:extLst>
              </a:tr>
              <a:tr h="716280">
                <a:tc>
                  <a:txBody>
                    <a:bodyPr/>
                    <a:lstStyle/>
                    <a:p>
                      <a:pPr>
                        <a:spcAft>
                          <a:spcPts val="0"/>
                        </a:spcAft>
                      </a:pPr>
                      <a:r>
                        <a:rPr sz="1400" b="1">
                          <a:solidFill>
                            <a:srgbClr val="1C2A39"/>
                          </a:solidFill>
                          <a:latin typeface="Aptos"/>
                        </a:rPr>
                        <a:t>MMJailBench</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Factorizes framing, semantics, carrier, intent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Attribute source of vulnerability; preprint</a:t>
                      </a:r>
                    </a:p>
                  </a:txBody>
                  <a:tcPr marL="73152" marR="54864" marT="36576"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PAPER PROTOCOL AUDIT</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Protocol audit: ADPO is a useful reproduction template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[12]</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11</a:t>
            </a:r>
          </a:p>
        </p:txBody>
      </p:sp>
      <p:sp>
        <p:nvSpPr>
          <p:cNvPr id="7" name="Oval 6"/>
          <p:cNvSpPr/>
          <p:nvPr/>
        </p:nvSpPr>
        <p:spPr>
          <a:xfrm>
            <a:off x="804672" y="1764792"/>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60704" y="1645920"/>
            <a:ext cx="10351008" cy="749808"/>
          </a:xfrm>
          <a:prstGeom prst="rect">
            <a:avLst/>
          </a:prstGeom>
          <a:noFill/>
        </p:spPr>
        <p:txBody>
          <a:bodyPr wrap="square" lIns="18288" tIns="18288" rIns="18288" bIns="18288" anchor="t">
            <a:spAutoFit/>
          </a:bodyPr>
          <a:lstStyle/>
          <a:p>
            <a:pPr algn="l"/>
            <a:r>
              <a:rPr sz="1600" b="0">
                <a:solidFill>
                  <a:srgbClr val="1C2A39"/>
                </a:solidFill>
                <a:latin typeface="Aptos"/>
              </a:rPr>
              <a:t>Models: LLaVA-1.5/1.6-7B, Qwen2-VL-7B, InternVL2-8B, Qwen2.5-VL-7B; LoRA fine-tuning.</a:t>
            </a:r>
          </a:p>
        </p:txBody>
      </p:sp>
      <p:sp>
        <p:nvSpPr>
          <p:cNvPr id="9" name="Oval 8"/>
          <p:cNvSpPr/>
          <p:nvPr/>
        </p:nvSpPr>
        <p:spPr>
          <a:xfrm>
            <a:off x="804672" y="2560320"/>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2441448"/>
            <a:ext cx="10351008" cy="749808"/>
          </a:xfrm>
          <a:prstGeom prst="rect">
            <a:avLst/>
          </a:prstGeom>
          <a:noFill/>
        </p:spPr>
        <p:txBody>
          <a:bodyPr wrap="square" lIns="18288" tIns="18288" rIns="18288" bIns="18288" anchor="t">
            <a:spAutoFit/>
          </a:bodyPr>
          <a:lstStyle/>
          <a:p>
            <a:pPr algn="l"/>
            <a:r>
              <a:rPr sz="1600" b="0">
                <a:solidFill>
                  <a:srgbClr val="1C2A39"/>
                </a:solidFill>
                <a:latin typeface="Aptos"/>
              </a:rPr>
              <a:t>Attacks: white-box VisualAdv + MMPGDBlank; MultiTrust typo, multimodal, and cross-modal jailbreak subsets.</a:t>
            </a:r>
          </a:p>
        </p:txBody>
      </p:sp>
      <p:sp>
        <p:nvSpPr>
          <p:cNvPr id="11" name="Oval 10"/>
          <p:cNvSpPr/>
          <p:nvPr/>
        </p:nvSpPr>
        <p:spPr>
          <a:xfrm>
            <a:off x="804672" y="3355848"/>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0704" y="3236976"/>
            <a:ext cx="10351008" cy="749808"/>
          </a:xfrm>
          <a:prstGeom prst="rect">
            <a:avLst/>
          </a:prstGeom>
          <a:noFill/>
        </p:spPr>
        <p:txBody>
          <a:bodyPr wrap="square" lIns="18288" tIns="18288" rIns="18288" bIns="18288" anchor="t">
            <a:spAutoFit/>
          </a:bodyPr>
          <a:lstStyle/>
          <a:p>
            <a:pPr algn="l"/>
            <a:r>
              <a:rPr sz="1600" b="0">
                <a:solidFill>
                  <a:srgbClr val="1C2A39"/>
                </a:solidFill>
                <a:latin typeface="Aptos"/>
              </a:rPr>
              <a:t>Safety evaluator: HarmBench classifier; outcome is ASR per attack, not an undifferentiated score.</a:t>
            </a:r>
          </a:p>
        </p:txBody>
      </p:sp>
      <p:sp>
        <p:nvSpPr>
          <p:cNvPr id="13" name="Oval 12"/>
          <p:cNvSpPr/>
          <p:nvPr/>
        </p:nvSpPr>
        <p:spPr>
          <a:xfrm>
            <a:off x="804672" y="4151376"/>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0704" y="4032504"/>
            <a:ext cx="10351008" cy="749808"/>
          </a:xfrm>
          <a:prstGeom prst="rect">
            <a:avLst/>
          </a:prstGeom>
          <a:noFill/>
        </p:spPr>
        <p:txBody>
          <a:bodyPr wrap="square" lIns="18288" tIns="18288" rIns="18288" bIns="18288" anchor="t">
            <a:spAutoFit/>
          </a:bodyPr>
          <a:lstStyle/>
          <a:p>
            <a:pPr algn="l"/>
            <a:r>
              <a:rPr sz="1600" b="0">
                <a:solidFill>
                  <a:srgbClr val="1C2A39"/>
                </a:solidFill>
                <a:latin typeface="Aptos"/>
              </a:rPr>
              <a:t>Utility: MMStar, OCRBench, MM-Vet, LLaVABench; reported safety gains can trade off against VQA quality.</a:t>
            </a:r>
          </a:p>
        </p:txBody>
      </p:sp>
      <p:sp>
        <p:nvSpPr>
          <p:cNvPr id="15" name="Oval 14"/>
          <p:cNvSpPr/>
          <p:nvPr/>
        </p:nvSpPr>
        <p:spPr>
          <a:xfrm>
            <a:off x="804672" y="4946904"/>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60704" y="4828032"/>
            <a:ext cx="10351008" cy="749808"/>
          </a:xfrm>
          <a:prstGeom prst="rect">
            <a:avLst/>
          </a:prstGeom>
          <a:noFill/>
        </p:spPr>
        <p:txBody>
          <a:bodyPr wrap="square" lIns="18288" tIns="18288" rIns="18288" bIns="18288" anchor="t">
            <a:spAutoFit/>
          </a:bodyPr>
          <a:lstStyle/>
          <a:p>
            <a:pPr algn="l"/>
            <a:r>
              <a:rPr sz="1600" b="0">
                <a:solidFill>
                  <a:srgbClr val="1C2A39"/>
                </a:solidFill>
                <a:latin typeface="Aptos"/>
              </a:rPr>
              <a:t>Baselines/ablations: SFT, DPO, ESCO, direct adversarial training, adversarial-reference-only, loss-only.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GAP AND CONTRIBUTION</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The defensible gap is a controlled small-model study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[7], [8], [12], [15], [16], [17]</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12</a:t>
            </a:r>
          </a:p>
        </p:txBody>
      </p:sp>
      <p:sp>
        <p:nvSpPr>
          <p:cNvPr id="7" name="Rectangle 6"/>
          <p:cNvSpPr/>
          <p:nvPr/>
        </p:nvSpPr>
        <p:spPr>
          <a:xfrm>
            <a:off x="777240" y="1737360"/>
            <a:ext cx="3438144" cy="27889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737360"/>
            <a:ext cx="73152" cy="27889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1901952"/>
            <a:ext cx="3072384" cy="347472"/>
          </a:xfrm>
          <a:prstGeom prst="rect">
            <a:avLst/>
          </a:prstGeom>
          <a:noFill/>
        </p:spPr>
        <p:txBody>
          <a:bodyPr wrap="square" lIns="18288" tIns="18288" rIns="18288" bIns="18288" anchor="t">
            <a:spAutoFit/>
          </a:bodyPr>
          <a:lstStyle/>
          <a:p>
            <a:pPr algn="l"/>
            <a:r>
              <a:rPr sz="1600" b="1">
                <a:solidFill>
                  <a:srgbClr val="276B7E"/>
                </a:solidFill>
                <a:latin typeface="Aptos"/>
              </a:rPr>
              <a:t>NOT THE GAP</a:t>
            </a:r>
          </a:p>
        </p:txBody>
      </p:sp>
      <p:sp>
        <p:nvSpPr>
          <p:cNvPr id="10" name="TextBox 9"/>
          <p:cNvSpPr txBox="1"/>
          <p:nvPr/>
        </p:nvSpPr>
        <p:spPr>
          <a:xfrm>
            <a:off x="978408" y="2304288"/>
            <a:ext cx="3072384" cy="2103120"/>
          </a:xfrm>
          <a:prstGeom prst="rect">
            <a:avLst/>
          </a:prstGeom>
          <a:noFill/>
        </p:spPr>
        <p:txBody>
          <a:bodyPr wrap="square" lIns="18288" tIns="18288" rIns="18288" bIns="18288" anchor="t">
            <a:spAutoFit/>
          </a:bodyPr>
          <a:lstStyle/>
          <a:p>
            <a:pPr algn="l"/>
            <a:r>
              <a:rPr sz="1600" b="0">
                <a:solidFill>
                  <a:srgbClr val="1C2A39"/>
                </a:solidFill>
                <a:latin typeface="Aptos"/>
              </a:rPr>
              <a:t>“Nobody has aligned VLMs” is false.
ADPO, SPA-VL, VLGuard, VSFA and inference defenses already exist.</a:t>
            </a:r>
          </a:p>
        </p:txBody>
      </p:sp>
      <p:sp>
        <p:nvSpPr>
          <p:cNvPr id="11" name="Rectangle 10"/>
          <p:cNvSpPr/>
          <p:nvPr/>
        </p:nvSpPr>
        <p:spPr>
          <a:xfrm>
            <a:off x="4379976" y="1737360"/>
            <a:ext cx="3438144" cy="27889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79976" y="1737360"/>
            <a:ext cx="73152" cy="27889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81144" y="1901952"/>
            <a:ext cx="3072384" cy="347472"/>
          </a:xfrm>
          <a:prstGeom prst="rect">
            <a:avLst/>
          </a:prstGeom>
          <a:noFill/>
        </p:spPr>
        <p:txBody>
          <a:bodyPr wrap="square" lIns="18288" tIns="18288" rIns="18288" bIns="18288" anchor="t">
            <a:spAutoFit/>
          </a:bodyPr>
          <a:lstStyle/>
          <a:p>
            <a:pPr algn="l"/>
            <a:r>
              <a:rPr sz="1600" b="1">
                <a:solidFill>
                  <a:srgbClr val="276B7E"/>
                </a:solidFill>
                <a:latin typeface="Aptos"/>
              </a:rPr>
              <a:t>THE GAP TO TEST</a:t>
            </a:r>
          </a:p>
        </p:txBody>
      </p:sp>
      <p:sp>
        <p:nvSpPr>
          <p:cNvPr id="14" name="TextBox 13"/>
          <p:cNvSpPr txBox="1"/>
          <p:nvPr/>
        </p:nvSpPr>
        <p:spPr>
          <a:xfrm>
            <a:off x="4581144" y="2304288"/>
            <a:ext cx="3072384" cy="2103120"/>
          </a:xfrm>
          <a:prstGeom prst="rect">
            <a:avLst/>
          </a:prstGeom>
          <a:noFill/>
        </p:spPr>
        <p:txBody>
          <a:bodyPr wrap="square" lIns="18288" tIns="18288" rIns="18288" bIns="18288" anchor="t">
            <a:spAutoFit/>
          </a:bodyPr>
          <a:lstStyle/>
          <a:p>
            <a:pPr algn="l"/>
            <a:r>
              <a:rPr sz="1600" b="0">
                <a:solidFill>
                  <a:srgbClr val="1C2A39"/>
                </a:solidFill>
                <a:latin typeface="Aptos"/>
              </a:rPr>
              <a:t>Do these alignment choices transfer across unseen visual carriers in small models under a common protocol?
And at what calibration/cost trade-off?</a:t>
            </a:r>
          </a:p>
        </p:txBody>
      </p:sp>
      <p:sp>
        <p:nvSpPr>
          <p:cNvPr id="15" name="Rectangle 14"/>
          <p:cNvSpPr/>
          <p:nvPr/>
        </p:nvSpPr>
        <p:spPr>
          <a:xfrm>
            <a:off x="7982712" y="1737360"/>
            <a:ext cx="3438144" cy="27889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82712" y="1737360"/>
            <a:ext cx="73152" cy="27889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80" y="1901952"/>
            <a:ext cx="3072384" cy="347472"/>
          </a:xfrm>
          <a:prstGeom prst="rect">
            <a:avLst/>
          </a:prstGeom>
          <a:noFill/>
        </p:spPr>
        <p:txBody>
          <a:bodyPr wrap="square" lIns="18288" tIns="18288" rIns="18288" bIns="18288" anchor="t">
            <a:spAutoFit/>
          </a:bodyPr>
          <a:lstStyle/>
          <a:p>
            <a:pPr algn="l"/>
            <a:r>
              <a:rPr sz="1600" b="1">
                <a:solidFill>
                  <a:srgbClr val="276B7E"/>
                </a:solidFill>
                <a:latin typeface="Aptos"/>
              </a:rPr>
              <a:t>OUR CONTRIBUTION</a:t>
            </a:r>
          </a:p>
        </p:txBody>
      </p:sp>
      <p:sp>
        <p:nvSpPr>
          <p:cNvPr id="18" name="TextBox 17"/>
          <p:cNvSpPr txBox="1"/>
          <p:nvPr/>
        </p:nvSpPr>
        <p:spPr>
          <a:xfrm>
            <a:off x="8183880" y="2304288"/>
            <a:ext cx="3072384" cy="2103120"/>
          </a:xfrm>
          <a:prstGeom prst="rect">
            <a:avLst/>
          </a:prstGeom>
          <a:noFill/>
        </p:spPr>
        <p:txBody>
          <a:bodyPr wrap="square" lIns="18288" tIns="18288" rIns="18288" bIns="18288" anchor="t">
            <a:spAutoFit/>
          </a:bodyPr>
          <a:lstStyle/>
          <a:p>
            <a:pPr algn="l"/>
            <a:r>
              <a:rPr sz="1600" b="0">
                <a:solidFill>
                  <a:srgbClr val="1C2A39"/>
                </a:solidFill>
                <a:latin typeface="Aptos"/>
              </a:rPr>
              <a:t>A reproducible protocol plus a matched-budget comparison.
Novel method claim only after baseline reproduction and literature refresh.</a:t>
            </a:r>
          </a:p>
        </p:txBody>
      </p:sp>
      <p:sp>
        <p:nvSpPr>
          <p:cNvPr id="19" name="TextBox 18"/>
          <p:cNvSpPr txBox="1"/>
          <p:nvPr/>
        </p:nvSpPr>
        <p:spPr>
          <a:xfrm>
            <a:off x="914400" y="5029200"/>
            <a:ext cx="10149840" cy="731520"/>
          </a:xfrm>
          <a:prstGeom prst="rect">
            <a:avLst/>
          </a:prstGeom>
          <a:noFill/>
        </p:spPr>
        <p:txBody>
          <a:bodyPr wrap="square" lIns="18288" tIns="18288" rIns="18288" bIns="18288" anchor="t">
            <a:spAutoFit/>
          </a:bodyPr>
          <a:lstStyle/>
          <a:p>
            <a:pPr algn="l"/>
            <a:r>
              <a:rPr sz="1900" b="1">
                <a:solidFill>
                  <a:srgbClr val="1C2A39"/>
                </a:solidFill>
                <a:latin typeface="Aptos"/>
              </a:rPr>
              <a:t>Frame novelty as “systematic comparison under controlled, held-out attacks,” not “first adversarial VLM alignment.”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HYPOTHESES</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Three falsifiable hypotheses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[10], [11], [12], [16], [17]</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13</a:t>
            </a:r>
          </a:p>
        </p:txBody>
      </p:sp>
      <p:sp>
        <p:nvSpPr>
          <p:cNvPr id="7" name="Rectangle 6"/>
          <p:cNvSpPr/>
          <p:nvPr/>
        </p:nvSpPr>
        <p:spPr>
          <a:xfrm>
            <a:off x="777240" y="1719072"/>
            <a:ext cx="3438144" cy="32918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719072"/>
            <a:ext cx="73152" cy="32918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1883664"/>
            <a:ext cx="3072384" cy="347472"/>
          </a:xfrm>
          <a:prstGeom prst="rect">
            <a:avLst/>
          </a:prstGeom>
          <a:noFill/>
        </p:spPr>
        <p:txBody>
          <a:bodyPr wrap="square" lIns="18288" tIns="18288" rIns="18288" bIns="18288" anchor="t">
            <a:spAutoFit/>
          </a:bodyPr>
          <a:lstStyle/>
          <a:p>
            <a:pPr algn="l"/>
            <a:r>
              <a:rPr sz="1600" b="1">
                <a:solidFill>
                  <a:srgbClr val="276B7E"/>
                </a:solidFill>
                <a:latin typeface="Aptos"/>
              </a:rPr>
              <a:t>H1  ROBUSTNESS + UTILITY</a:t>
            </a:r>
          </a:p>
        </p:txBody>
      </p:sp>
      <p:sp>
        <p:nvSpPr>
          <p:cNvPr id="10" name="TextBox 9"/>
          <p:cNvSpPr txBox="1"/>
          <p:nvPr/>
        </p:nvSpPr>
        <p:spPr>
          <a:xfrm>
            <a:off x="978408" y="2286000"/>
            <a:ext cx="3072384" cy="2606040"/>
          </a:xfrm>
          <a:prstGeom prst="rect">
            <a:avLst/>
          </a:prstGeom>
          <a:noFill/>
        </p:spPr>
        <p:txBody>
          <a:bodyPr wrap="square" lIns="18288" tIns="18288" rIns="18288" bIns="18288" anchor="t">
            <a:spAutoFit/>
          </a:bodyPr>
          <a:lstStyle/>
          <a:p>
            <a:pPr algn="l"/>
            <a:r>
              <a:rPr sz="1600" b="0">
                <a:solidFill>
                  <a:srgbClr val="1C2A39"/>
                </a:solidFill>
                <a:latin typeface="Aptos"/>
              </a:rPr>
              <a:t>Matched multimodal alignment reduces held-out attack HCR more than no intervention and text-only SFT, while staying within pre-registered FRR and VQA margins.</a:t>
            </a:r>
          </a:p>
        </p:txBody>
      </p:sp>
      <p:sp>
        <p:nvSpPr>
          <p:cNvPr id="11" name="Rectangle 10"/>
          <p:cNvSpPr/>
          <p:nvPr/>
        </p:nvSpPr>
        <p:spPr>
          <a:xfrm>
            <a:off x="4379976" y="1719072"/>
            <a:ext cx="3438144" cy="32918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79976" y="1719072"/>
            <a:ext cx="73152" cy="32918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81144" y="1883664"/>
            <a:ext cx="3072384" cy="347472"/>
          </a:xfrm>
          <a:prstGeom prst="rect">
            <a:avLst/>
          </a:prstGeom>
          <a:noFill/>
        </p:spPr>
        <p:txBody>
          <a:bodyPr wrap="square" lIns="18288" tIns="18288" rIns="18288" bIns="18288" anchor="t">
            <a:spAutoFit/>
          </a:bodyPr>
          <a:lstStyle/>
          <a:p>
            <a:pPr algn="l"/>
            <a:r>
              <a:rPr sz="1600" b="1">
                <a:solidFill>
                  <a:srgbClr val="276B7E"/>
                </a:solidFill>
                <a:latin typeface="Aptos"/>
              </a:rPr>
              <a:t>H2  GENERALIZATION</a:t>
            </a:r>
          </a:p>
        </p:txBody>
      </p:sp>
      <p:sp>
        <p:nvSpPr>
          <p:cNvPr id="14" name="TextBox 13"/>
          <p:cNvSpPr txBox="1"/>
          <p:nvPr/>
        </p:nvSpPr>
        <p:spPr>
          <a:xfrm>
            <a:off x="4581144" y="2286000"/>
            <a:ext cx="3072384" cy="2606040"/>
          </a:xfrm>
          <a:prstGeom prst="rect">
            <a:avLst/>
          </a:prstGeom>
          <a:noFill/>
        </p:spPr>
        <p:txBody>
          <a:bodyPr wrap="square" lIns="18288" tIns="18288" rIns="18288" bIns="18288" anchor="t">
            <a:spAutoFit/>
          </a:bodyPr>
          <a:lstStyle/>
          <a:p>
            <a:pPr algn="l"/>
            <a:r>
              <a:rPr sz="1600" b="0">
                <a:solidFill>
                  <a:srgbClr val="1C2A39"/>
                </a:solidFill>
                <a:latin typeface="Aptos"/>
              </a:rPr>
              <a:t>Performance gains on seen templates exceed gains on held-out adaptive attacks; train/test split by attack family exposes the difference.</a:t>
            </a:r>
          </a:p>
        </p:txBody>
      </p:sp>
      <p:sp>
        <p:nvSpPr>
          <p:cNvPr id="15" name="Rectangle 14"/>
          <p:cNvSpPr/>
          <p:nvPr/>
        </p:nvSpPr>
        <p:spPr>
          <a:xfrm>
            <a:off x="7982712" y="1719072"/>
            <a:ext cx="3438144" cy="329184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82712" y="1719072"/>
            <a:ext cx="73152" cy="329184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80" y="1883664"/>
            <a:ext cx="3072384" cy="347472"/>
          </a:xfrm>
          <a:prstGeom prst="rect">
            <a:avLst/>
          </a:prstGeom>
          <a:noFill/>
        </p:spPr>
        <p:txBody>
          <a:bodyPr wrap="square" lIns="18288" tIns="18288" rIns="18288" bIns="18288" anchor="t">
            <a:spAutoFit/>
          </a:bodyPr>
          <a:lstStyle/>
          <a:p>
            <a:pPr algn="l"/>
            <a:r>
              <a:rPr sz="1600" b="1">
                <a:solidFill>
                  <a:srgbClr val="276B7E"/>
                </a:solidFill>
                <a:latin typeface="Aptos"/>
              </a:rPr>
              <a:t>H3  MECHANISM (EXPLORATORY)</a:t>
            </a:r>
          </a:p>
        </p:txBody>
      </p:sp>
      <p:sp>
        <p:nvSpPr>
          <p:cNvPr id="18" name="TextBox 17"/>
          <p:cNvSpPr txBox="1"/>
          <p:nvPr/>
        </p:nvSpPr>
        <p:spPr>
          <a:xfrm>
            <a:off x="8183880" y="2286000"/>
            <a:ext cx="3072384" cy="2606040"/>
          </a:xfrm>
          <a:prstGeom prst="rect">
            <a:avLst/>
          </a:prstGeom>
          <a:noFill/>
        </p:spPr>
        <p:txBody>
          <a:bodyPr wrap="square" lIns="18288" tIns="18288" rIns="18288" bIns="18288" anchor="t">
            <a:spAutoFit/>
          </a:bodyPr>
          <a:lstStyle/>
          <a:p>
            <a:pPr algn="l"/>
            <a:r>
              <a:rPr sz="1600" b="0">
                <a:solidFill>
                  <a:srgbClr val="1C2A39"/>
                </a:solidFill>
                <a:latin typeface="Aptos"/>
              </a:rPr>
              <a:t>Text–image safety gap relates to safety outcomes across small models beyond parameter count alone.</a:t>
            </a:r>
          </a:p>
        </p:txBody>
      </p:sp>
      <p:sp>
        <p:nvSpPr>
          <p:cNvPr id="19" name="TextBox 18"/>
          <p:cNvSpPr txBox="1"/>
          <p:nvPr/>
        </p:nvSpPr>
        <p:spPr>
          <a:xfrm>
            <a:off x="877824" y="5440680"/>
            <a:ext cx="10332720" cy="502920"/>
          </a:xfrm>
          <a:prstGeom prst="rect">
            <a:avLst/>
          </a:prstGeom>
          <a:noFill/>
        </p:spPr>
        <p:txBody>
          <a:bodyPr wrap="square" lIns="18288" tIns="18288" rIns="18288" bIns="18288" anchor="t">
            <a:spAutoFit/>
          </a:bodyPr>
          <a:lstStyle/>
          <a:p>
            <a:pPr algn="l"/>
            <a:r>
              <a:rPr sz="1400" b="0">
                <a:solidFill>
                  <a:srgbClr val="64707B"/>
                </a:solidFill>
                <a:latin typeface="Aptos"/>
              </a:rPr>
              <a:t>Candidate guardrails: FRR increase ≤ 3 points; VQA decrease ≤ 2 points (choose and preregister before experiments).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EXPERIMENTAL DESIGN</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Final attack suite: six required cells, two optional diagnostics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[1], [9], [10], [11], [14], [16], [17], [18], [19]</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14</a:t>
            </a:r>
          </a:p>
        </p:txBody>
      </p:sp>
      <p:graphicFrame>
        <p:nvGraphicFramePr>
          <p:cNvPr id="7" name="Table 6"/>
          <p:cNvGraphicFramePr>
            <a:graphicFrameLocks noGrp="1"/>
          </p:cNvGraphicFramePr>
          <p:nvPr/>
        </p:nvGraphicFramePr>
        <p:xfrm>
          <a:off x="749808" y="1664208"/>
          <a:ext cx="10716768" cy="4178808"/>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5138928">
                  <a:extLst>
                    <a:ext uri="{9D8B030D-6E8A-4147-A177-3AD203B41FA5}">
                      <a16:colId xmlns:a16="http://schemas.microsoft.com/office/drawing/2014/main" val="20002"/>
                    </a:ext>
                  </a:extLst>
                </a:gridCol>
              </a:tblGrid>
              <a:tr h="596972">
                <a:tc>
                  <a:txBody>
                    <a:bodyPr/>
                    <a:lstStyle/>
                    <a:p>
                      <a:pPr>
                        <a:spcAft>
                          <a:spcPts val="0"/>
                        </a:spcAft>
                      </a:pPr>
                      <a:r>
                        <a:rPr sz="1300" b="1">
                          <a:solidFill>
                            <a:srgbClr val="FFFFFF"/>
                          </a:solidFill>
                          <a:latin typeface="Aptos"/>
                        </a:rPr>
                        <a:t>Cell</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Test</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Purpose</a:t>
                      </a:r>
                    </a:p>
                  </a:txBody>
                  <a:tcPr marL="73152" marR="54864" marT="36576" marB="27432" anchor="ctr">
                    <a:solidFill>
                      <a:srgbClr val="122A42"/>
                    </a:solidFill>
                  </a:tcPr>
                </a:tc>
                <a:extLst>
                  <a:ext uri="{0D108BD9-81ED-4DB2-BD59-A6C34878D82A}">
                    <a16:rowId xmlns:a16="http://schemas.microsoft.com/office/drawing/2014/main" val="10000"/>
                  </a:ext>
                </a:extLst>
              </a:tr>
              <a:tr h="596972">
                <a:tc>
                  <a:txBody>
                    <a:bodyPr/>
                    <a:lstStyle/>
                    <a:p>
                      <a:pPr>
                        <a:spcAft>
                          <a:spcPts val="0"/>
                        </a:spcAft>
                      </a:pPr>
                      <a:r>
                        <a:rPr sz="1400" b="1">
                          <a:solidFill>
                            <a:srgbClr val="1C2A39"/>
                          </a:solidFill>
                          <a:latin typeface="Aptos"/>
                        </a:rPr>
                        <a:t>A0</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Direct text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Baseline language safety</a:t>
                      </a:r>
                    </a:p>
                  </a:txBody>
                  <a:tcPr marL="73152" marR="54864" marT="36576" marB="27432" anchor="ctr">
                    <a:solidFill>
                      <a:srgbClr val="FFFFFF"/>
                    </a:solidFill>
                  </a:tcPr>
                </a:tc>
                <a:extLst>
                  <a:ext uri="{0D108BD9-81ED-4DB2-BD59-A6C34878D82A}">
                    <a16:rowId xmlns:a16="http://schemas.microsoft.com/office/drawing/2014/main" val="10001"/>
                  </a:ext>
                </a:extLst>
              </a:tr>
              <a:tr h="596972">
                <a:tc>
                  <a:txBody>
                    <a:bodyPr/>
                    <a:lstStyle/>
                    <a:p>
                      <a:pPr>
                        <a:spcAft>
                          <a:spcPts val="0"/>
                        </a:spcAft>
                      </a:pPr>
                      <a:r>
                        <a:rPr sz="1400" b="1">
                          <a:solidFill>
                            <a:srgbClr val="1C2A39"/>
                          </a:solidFill>
                          <a:latin typeface="Aptos"/>
                        </a:rPr>
                        <a:t>A1</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FigStep image-text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OCR / visual carrier</a:t>
                      </a:r>
                    </a:p>
                  </a:txBody>
                  <a:tcPr marL="73152" marR="54864" marT="36576" marB="27432" anchor="ctr">
                    <a:solidFill>
                      <a:srgbClr val="EFF3F6"/>
                    </a:solidFill>
                  </a:tcPr>
                </a:tc>
                <a:extLst>
                  <a:ext uri="{0D108BD9-81ED-4DB2-BD59-A6C34878D82A}">
                    <a16:rowId xmlns:a16="http://schemas.microsoft.com/office/drawing/2014/main" val="10002"/>
                  </a:ext>
                </a:extLst>
              </a:tr>
              <a:tr h="596972">
                <a:tc>
                  <a:txBody>
                    <a:bodyPr/>
                    <a:lstStyle/>
                    <a:p>
                      <a:pPr>
                        <a:spcAft>
                          <a:spcPts val="0"/>
                        </a:spcAft>
                      </a:pPr>
                      <a:r>
                        <a:rPr sz="1400" b="1">
                          <a:solidFill>
                            <a:srgbClr val="1C2A39"/>
                          </a:solidFill>
                          <a:latin typeface="Aptos"/>
                        </a:rPr>
                        <a:t>A2</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SIUO-style joint context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Cross-modal composition</a:t>
                      </a:r>
                    </a:p>
                  </a:txBody>
                  <a:tcPr marL="73152" marR="54864" marT="36576" marB="27432" anchor="ctr">
                    <a:solidFill>
                      <a:srgbClr val="FFFFFF"/>
                    </a:solidFill>
                  </a:tcPr>
                </a:tc>
                <a:extLst>
                  <a:ext uri="{0D108BD9-81ED-4DB2-BD59-A6C34878D82A}">
                    <a16:rowId xmlns:a16="http://schemas.microsoft.com/office/drawing/2014/main" val="10003"/>
                  </a:ext>
                </a:extLst>
              </a:tr>
              <a:tr h="596972">
                <a:tc>
                  <a:txBody>
                    <a:bodyPr/>
                    <a:lstStyle/>
                    <a:p>
                      <a:pPr>
                        <a:spcAft>
                          <a:spcPts val="0"/>
                        </a:spcAft>
                      </a:pPr>
                      <a:r>
                        <a:rPr sz="1400" b="1">
                          <a:solidFill>
                            <a:srgbClr val="1C2A39"/>
                          </a:solidFill>
                          <a:latin typeface="Aptos"/>
                        </a:rPr>
                        <a:t>A3</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VLSBench + text-only ablation</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Visual leakage validity control</a:t>
                      </a:r>
                    </a:p>
                  </a:txBody>
                  <a:tcPr marL="73152" marR="54864" marT="36576" marB="27432" anchor="ctr">
                    <a:solidFill>
                      <a:srgbClr val="EFF3F6"/>
                    </a:solidFill>
                  </a:tcPr>
                </a:tc>
                <a:extLst>
                  <a:ext uri="{0D108BD9-81ED-4DB2-BD59-A6C34878D82A}">
                    <a16:rowId xmlns:a16="http://schemas.microsoft.com/office/drawing/2014/main" val="10004"/>
                  </a:ext>
                </a:extLst>
              </a:tr>
              <a:tr h="596972">
                <a:tc>
                  <a:txBody>
                    <a:bodyPr/>
                    <a:lstStyle/>
                    <a:p>
                      <a:pPr>
                        <a:spcAft>
                          <a:spcPts val="0"/>
                        </a:spcAft>
                      </a:pPr>
                      <a:r>
                        <a:rPr sz="1400" b="1">
                          <a:solidFill>
                            <a:srgbClr val="1C2A39"/>
                          </a:solidFill>
                          <a:latin typeface="Aptos"/>
                        </a:rPr>
                        <a:t>A4</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VSCBench/USB benign pairs</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False refusal + calibration</a:t>
                      </a:r>
                    </a:p>
                  </a:txBody>
                  <a:tcPr marL="73152" marR="54864" marT="36576" marB="27432" anchor="ctr">
                    <a:solidFill>
                      <a:srgbClr val="FFFFFF"/>
                    </a:solidFill>
                  </a:tcPr>
                </a:tc>
                <a:extLst>
                  <a:ext uri="{0D108BD9-81ED-4DB2-BD59-A6C34878D82A}">
                    <a16:rowId xmlns:a16="http://schemas.microsoft.com/office/drawing/2014/main" val="10005"/>
                  </a:ext>
                </a:extLst>
              </a:tr>
              <a:tr h="596976">
                <a:tc>
                  <a:txBody>
                    <a:bodyPr/>
                    <a:lstStyle/>
                    <a:p>
                      <a:pPr>
                        <a:spcAft>
                          <a:spcPts val="0"/>
                        </a:spcAft>
                      </a:pPr>
                      <a:r>
                        <a:rPr sz="1400" b="1">
                          <a:solidFill>
                            <a:srgbClr val="1C2A39"/>
                          </a:solidFill>
                          <a:latin typeface="Aptos"/>
                        </a:rPr>
                        <a:t>A5</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Held-out PolyJailbreak</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Adaptive robustness at fixed query budget</a:t>
                      </a:r>
                    </a:p>
                  </a:txBody>
                  <a:tcPr marL="73152" marR="54864" marT="36576" marB="27432" anchor="ctr">
                    <a:solidFill>
                      <a:srgbClr val="EFF3F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822960" y="5943600"/>
            <a:ext cx="10515600" cy="320040"/>
          </a:xfrm>
          <a:prstGeom prst="rect">
            <a:avLst/>
          </a:prstGeom>
          <a:noFill/>
        </p:spPr>
        <p:txBody>
          <a:bodyPr wrap="square" lIns="18288" tIns="18288" rIns="18288" bIns="18288" anchor="t">
            <a:spAutoFit/>
          </a:bodyPr>
          <a:lstStyle/>
          <a:p>
            <a:pPr algn="l"/>
            <a:r>
              <a:rPr sz="1100" b="0">
                <a:solidFill>
                  <a:srgbClr val="64707B"/>
                </a:solidFill>
                <a:latin typeface="Aptos"/>
              </a:rPr>
              <a:t>Optional: fixed-budget white-box pixel perturbation; JailBound representation probing kept as a separate diagnostic.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BASELINE PLAN</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Compare methods on the same model and same budget</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[5], [7], [8], [12]</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15</a:t>
            </a:r>
          </a:p>
        </p:txBody>
      </p:sp>
      <p:graphicFrame>
        <p:nvGraphicFramePr>
          <p:cNvPr id="7" name="Table 6"/>
          <p:cNvGraphicFramePr>
            <a:graphicFrameLocks noGrp="1"/>
          </p:cNvGraphicFramePr>
          <p:nvPr/>
        </p:nvGraphicFramePr>
        <p:xfrm>
          <a:off x="749808" y="1664208"/>
          <a:ext cx="10716768" cy="4133087"/>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5093208">
                  <a:extLst>
                    <a:ext uri="{9D8B030D-6E8A-4147-A177-3AD203B41FA5}">
                      <a16:colId xmlns:a16="http://schemas.microsoft.com/office/drawing/2014/main" val="20002"/>
                    </a:ext>
                  </a:extLst>
                </a:gridCol>
              </a:tblGrid>
              <a:tr h="590441">
                <a:tc>
                  <a:txBody>
                    <a:bodyPr/>
                    <a:lstStyle/>
                    <a:p>
                      <a:pPr>
                        <a:spcAft>
                          <a:spcPts val="0"/>
                        </a:spcAft>
                      </a:pPr>
                      <a:r>
                        <a:rPr sz="1300" b="1">
                          <a:solidFill>
                            <a:srgbClr val="FFFFFF"/>
                          </a:solidFill>
                          <a:latin typeface="Aptos"/>
                        </a:rPr>
                        <a:t>ID</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Condition</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What it isolates</a:t>
                      </a:r>
                    </a:p>
                  </a:txBody>
                  <a:tcPr marL="73152" marR="54864" marT="36576" marB="27432" anchor="ctr">
                    <a:solidFill>
                      <a:srgbClr val="122A42"/>
                    </a:solidFill>
                  </a:tcPr>
                </a:tc>
                <a:extLst>
                  <a:ext uri="{0D108BD9-81ED-4DB2-BD59-A6C34878D82A}">
                    <a16:rowId xmlns:a16="http://schemas.microsoft.com/office/drawing/2014/main" val="10000"/>
                  </a:ext>
                </a:extLst>
              </a:tr>
              <a:tr h="590441">
                <a:tc>
                  <a:txBody>
                    <a:bodyPr/>
                    <a:lstStyle/>
                    <a:p>
                      <a:pPr>
                        <a:spcAft>
                          <a:spcPts val="0"/>
                        </a:spcAft>
                      </a:pPr>
                      <a:r>
                        <a:rPr sz="1400" b="1">
                          <a:solidFill>
                            <a:srgbClr val="1C2A39"/>
                          </a:solidFill>
                          <a:latin typeface="Aptos"/>
                        </a:rPr>
                        <a:t>B0</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Original checkpoint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Native behavior</a:t>
                      </a:r>
                    </a:p>
                  </a:txBody>
                  <a:tcPr marL="73152" marR="54864" marT="36576" marB="27432" anchor="ctr">
                    <a:solidFill>
                      <a:srgbClr val="FFFFFF"/>
                    </a:solidFill>
                  </a:tcPr>
                </a:tc>
                <a:extLst>
                  <a:ext uri="{0D108BD9-81ED-4DB2-BD59-A6C34878D82A}">
                    <a16:rowId xmlns:a16="http://schemas.microsoft.com/office/drawing/2014/main" val="10001"/>
                  </a:ext>
                </a:extLst>
              </a:tr>
              <a:tr h="590441">
                <a:tc>
                  <a:txBody>
                    <a:bodyPr/>
                    <a:lstStyle/>
                    <a:p>
                      <a:pPr>
                        <a:spcAft>
                          <a:spcPts val="0"/>
                        </a:spcAft>
                      </a:pPr>
                      <a:r>
                        <a:rPr sz="1400" b="1">
                          <a:solidFill>
                            <a:srgbClr val="1C2A39"/>
                          </a:solidFill>
                          <a:latin typeface="Aptos"/>
                        </a:rPr>
                        <a:t>B1</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Text-only safety SFT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Modality transfer control</a:t>
                      </a:r>
                    </a:p>
                  </a:txBody>
                  <a:tcPr marL="73152" marR="54864" marT="36576" marB="27432" anchor="ctr">
                    <a:solidFill>
                      <a:srgbClr val="EFF3F6"/>
                    </a:solidFill>
                  </a:tcPr>
                </a:tc>
                <a:extLst>
                  <a:ext uri="{0D108BD9-81ED-4DB2-BD59-A6C34878D82A}">
                    <a16:rowId xmlns:a16="http://schemas.microsoft.com/office/drawing/2014/main" val="10002"/>
                  </a:ext>
                </a:extLst>
              </a:tr>
              <a:tr h="590441">
                <a:tc>
                  <a:txBody>
                    <a:bodyPr/>
                    <a:lstStyle/>
                    <a:p>
                      <a:pPr>
                        <a:spcAft>
                          <a:spcPts val="0"/>
                        </a:spcAft>
                      </a:pPr>
                      <a:r>
                        <a:rPr sz="1400" b="1">
                          <a:solidFill>
                            <a:srgbClr val="1C2A39"/>
                          </a:solidFill>
                          <a:latin typeface="Aptos"/>
                        </a:rPr>
                        <a:t>B2</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VLGuard-style multimodal SFT</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Data alignment baseline</a:t>
                      </a:r>
                    </a:p>
                  </a:txBody>
                  <a:tcPr marL="73152" marR="54864" marT="36576" marB="27432" anchor="ctr">
                    <a:solidFill>
                      <a:srgbClr val="FFFFFF"/>
                    </a:solidFill>
                  </a:tcPr>
                </a:tc>
                <a:extLst>
                  <a:ext uri="{0D108BD9-81ED-4DB2-BD59-A6C34878D82A}">
                    <a16:rowId xmlns:a16="http://schemas.microsoft.com/office/drawing/2014/main" val="10003"/>
                  </a:ext>
                </a:extLst>
              </a:tr>
              <a:tr h="590441">
                <a:tc>
                  <a:txBody>
                    <a:bodyPr/>
                    <a:lstStyle/>
                    <a:p>
                      <a:pPr>
                        <a:spcAft>
                          <a:spcPts val="0"/>
                        </a:spcAft>
                      </a:pPr>
                      <a:r>
                        <a:rPr sz="1400" b="1">
                          <a:solidFill>
                            <a:srgbClr val="1C2A39"/>
                          </a:solidFill>
                          <a:latin typeface="Aptos"/>
                        </a:rPr>
                        <a:t>B3</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SPA-VL-style standard DPO</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Preference baseline</a:t>
                      </a:r>
                    </a:p>
                  </a:txBody>
                  <a:tcPr marL="73152" marR="54864" marT="36576" marB="27432" anchor="ctr">
                    <a:solidFill>
                      <a:srgbClr val="EFF3F6"/>
                    </a:solidFill>
                  </a:tcPr>
                </a:tc>
                <a:extLst>
                  <a:ext uri="{0D108BD9-81ED-4DB2-BD59-A6C34878D82A}">
                    <a16:rowId xmlns:a16="http://schemas.microsoft.com/office/drawing/2014/main" val="10004"/>
                  </a:ext>
                </a:extLst>
              </a:tr>
              <a:tr h="590441">
                <a:tc>
                  <a:txBody>
                    <a:bodyPr/>
                    <a:lstStyle/>
                    <a:p>
                      <a:pPr>
                        <a:spcAft>
                          <a:spcPts val="0"/>
                        </a:spcAft>
                      </a:pPr>
                      <a:r>
                        <a:rPr sz="1400" b="1">
                          <a:solidFill>
                            <a:srgbClr val="1C2A39"/>
                          </a:solidFill>
                          <a:latin typeface="Aptos"/>
                        </a:rPr>
                        <a:t>B4</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ADPO or compatible reproduction</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Adversarial alignment baseline</a:t>
                      </a:r>
                    </a:p>
                  </a:txBody>
                  <a:tcPr marL="73152" marR="54864" marT="36576" marB="27432" anchor="ctr">
                    <a:solidFill>
                      <a:srgbClr val="FFFFFF"/>
                    </a:solidFill>
                  </a:tcPr>
                </a:tc>
                <a:extLst>
                  <a:ext uri="{0D108BD9-81ED-4DB2-BD59-A6C34878D82A}">
                    <a16:rowId xmlns:a16="http://schemas.microsoft.com/office/drawing/2014/main" val="10005"/>
                  </a:ext>
                </a:extLst>
              </a:tr>
              <a:tr h="590441">
                <a:tc>
                  <a:txBody>
                    <a:bodyPr/>
                    <a:lstStyle/>
                    <a:p>
                      <a:pPr>
                        <a:spcAft>
                          <a:spcPts val="0"/>
                        </a:spcAft>
                      </a:pPr>
                      <a:r>
                        <a:rPr sz="1400" b="1">
                          <a:solidFill>
                            <a:srgbClr val="1C2A39"/>
                          </a:solidFill>
                          <a:latin typeface="Aptos"/>
                        </a:rPr>
                        <a:t>B5</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Proposed matched cross-modal condition</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Test the hypothesis</a:t>
                      </a:r>
                    </a:p>
                  </a:txBody>
                  <a:tcPr marL="73152" marR="54864" marT="36576" marB="27432" anchor="ctr">
                    <a:solidFill>
                      <a:srgbClr val="EFF3F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822960" y="5925312"/>
            <a:ext cx="10515600" cy="365760"/>
          </a:xfrm>
          <a:prstGeom prst="rect">
            <a:avLst/>
          </a:prstGeom>
          <a:noFill/>
        </p:spPr>
        <p:txBody>
          <a:bodyPr wrap="square" lIns="18288" tIns="18288" rIns="18288" bIns="18288" anchor="t">
            <a:spAutoFit/>
          </a:bodyPr>
          <a:lstStyle/>
          <a:p>
            <a:pPr algn="l"/>
            <a:r>
              <a:rPr sz="1300" b="1">
                <a:solidFill>
                  <a:srgbClr val="276B7E"/>
                </a:solidFill>
                <a:latin typeface="Aptos"/>
              </a:rPr>
              <a:t>Candidates: Qwen3-VL 2B/4B; SmolVLM2 2.2B as an external replication (lock revisions).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METRICS AND CONTROLS</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Report safety, utility, calibration, and cost together</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[10], [12], [16], [17]</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16</a:t>
            </a:r>
          </a:p>
        </p:txBody>
      </p:sp>
      <p:sp>
        <p:nvSpPr>
          <p:cNvPr id="7" name="Rectangle 6"/>
          <p:cNvSpPr/>
          <p:nvPr/>
        </p:nvSpPr>
        <p:spPr>
          <a:xfrm>
            <a:off x="777240" y="1700784"/>
            <a:ext cx="3438144" cy="32461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700784"/>
            <a:ext cx="73152" cy="32461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1865376"/>
            <a:ext cx="3072384" cy="347472"/>
          </a:xfrm>
          <a:prstGeom prst="rect">
            <a:avLst/>
          </a:prstGeom>
          <a:noFill/>
        </p:spPr>
        <p:txBody>
          <a:bodyPr wrap="square" lIns="18288" tIns="18288" rIns="18288" bIns="18288" anchor="t">
            <a:spAutoFit/>
          </a:bodyPr>
          <a:lstStyle/>
          <a:p>
            <a:pPr algn="l"/>
            <a:r>
              <a:rPr sz="1600" b="1">
                <a:solidFill>
                  <a:srgbClr val="276B7E"/>
                </a:solidFill>
                <a:latin typeface="Aptos"/>
              </a:rPr>
              <a:t>SAFETY</a:t>
            </a:r>
          </a:p>
        </p:txBody>
      </p:sp>
      <p:sp>
        <p:nvSpPr>
          <p:cNvPr id="10" name="TextBox 9"/>
          <p:cNvSpPr txBox="1"/>
          <p:nvPr/>
        </p:nvSpPr>
        <p:spPr>
          <a:xfrm>
            <a:off x="978408" y="2267712"/>
            <a:ext cx="3072384" cy="2560320"/>
          </a:xfrm>
          <a:prstGeom prst="rect">
            <a:avLst/>
          </a:prstGeom>
          <a:noFill/>
        </p:spPr>
        <p:txBody>
          <a:bodyPr wrap="square" lIns="18288" tIns="18288" rIns="18288" bIns="18288" anchor="t">
            <a:spAutoFit/>
          </a:bodyPr>
          <a:lstStyle/>
          <a:p>
            <a:pPr algn="l"/>
            <a:r>
              <a:rPr sz="1500" b="0">
                <a:solidFill>
                  <a:srgbClr val="1C2A39"/>
                </a:solidFill>
                <a:latin typeface="Aptos"/>
              </a:rPr>
              <a:t>Harmful-compliance rate by attack family
Macro-average across attack families
Confidence intervals + fixed decoding</a:t>
            </a:r>
          </a:p>
        </p:txBody>
      </p:sp>
      <p:sp>
        <p:nvSpPr>
          <p:cNvPr id="11" name="Rectangle 10"/>
          <p:cNvSpPr/>
          <p:nvPr/>
        </p:nvSpPr>
        <p:spPr>
          <a:xfrm>
            <a:off x="4379976" y="1700784"/>
            <a:ext cx="3438144" cy="32461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79976" y="1700784"/>
            <a:ext cx="73152" cy="32461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81144" y="1865376"/>
            <a:ext cx="3072384" cy="347472"/>
          </a:xfrm>
          <a:prstGeom prst="rect">
            <a:avLst/>
          </a:prstGeom>
          <a:noFill/>
        </p:spPr>
        <p:txBody>
          <a:bodyPr wrap="square" lIns="18288" tIns="18288" rIns="18288" bIns="18288" anchor="t">
            <a:spAutoFit/>
          </a:bodyPr>
          <a:lstStyle/>
          <a:p>
            <a:pPr algn="l"/>
            <a:r>
              <a:rPr sz="1600" b="1">
                <a:solidFill>
                  <a:srgbClr val="276B7E"/>
                </a:solidFill>
                <a:latin typeface="Aptos"/>
              </a:rPr>
              <a:t>UTILITY / CALIBRATION</a:t>
            </a:r>
          </a:p>
        </p:txBody>
      </p:sp>
      <p:sp>
        <p:nvSpPr>
          <p:cNvPr id="14" name="TextBox 13"/>
          <p:cNvSpPr txBox="1"/>
          <p:nvPr/>
        </p:nvSpPr>
        <p:spPr>
          <a:xfrm>
            <a:off x="4581144" y="2267712"/>
            <a:ext cx="3072384" cy="2560320"/>
          </a:xfrm>
          <a:prstGeom prst="rect">
            <a:avLst/>
          </a:prstGeom>
          <a:noFill/>
        </p:spPr>
        <p:txBody>
          <a:bodyPr wrap="square" lIns="18288" tIns="18288" rIns="18288" bIns="18288" anchor="t">
            <a:spAutoFit/>
          </a:bodyPr>
          <a:lstStyle/>
          <a:p>
            <a:pPr algn="l"/>
            <a:r>
              <a:rPr sz="1500" b="0">
                <a:solidFill>
                  <a:srgbClr val="1C2A39"/>
                </a:solidFill>
                <a:latin typeface="Aptos"/>
              </a:rPr>
              <a:t>Benign false-refusal rate
Safe-answer quality
VQA/OCR before–after
Text/image/joint gap</a:t>
            </a:r>
          </a:p>
        </p:txBody>
      </p:sp>
      <p:sp>
        <p:nvSpPr>
          <p:cNvPr id="15" name="Rectangle 14"/>
          <p:cNvSpPr/>
          <p:nvPr/>
        </p:nvSpPr>
        <p:spPr>
          <a:xfrm>
            <a:off x="7982712" y="1700784"/>
            <a:ext cx="3438144" cy="32461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82712" y="1700784"/>
            <a:ext cx="73152" cy="32461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80" y="1865376"/>
            <a:ext cx="3072384" cy="347472"/>
          </a:xfrm>
          <a:prstGeom prst="rect">
            <a:avLst/>
          </a:prstGeom>
          <a:noFill/>
        </p:spPr>
        <p:txBody>
          <a:bodyPr wrap="square" lIns="18288" tIns="18288" rIns="18288" bIns="18288" anchor="t">
            <a:spAutoFit/>
          </a:bodyPr>
          <a:lstStyle/>
          <a:p>
            <a:pPr algn="l"/>
            <a:r>
              <a:rPr sz="1600" b="1">
                <a:solidFill>
                  <a:srgbClr val="276B7E"/>
                </a:solidFill>
                <a:latin typeface="Aptos"/>
              </a:rPr>
              <a:t>RELIABILITY / COST</a:t>
            </a:r>
          </a:p>
        </p:txBody>
      </p:sp>
      <p:sp>
        <p:nvSpPr>
          <p:cNvPr id="18" name="TextBox 17"/>
          <p:cNvSpPr txBox="1"/>
          <p:nvPr/>
        </p:nvSpPr>
        <p:spPr>
          <a:xfrm>
            <a:off x="8183880" y="2267712"/>
            <a:ext cx="3072384" cy="2560320"/>
          </a:xfrm>
          <a:prstGeom prst="rect">
            <a:avLst/>
          </a:prstGeom>
          <a:noFill/>
        </p:spPr>
        <p:txBody>
          <a:bodyPr wrap="square" lIns="18288" tIns="18288" rIns="18288" bIns="18288" anchor="t">
            <a:spAutoFit/>
          </a:bodyPr>
          <a:lstStyle/>
          <a:p>
            <a:pPr algn="l"/>
            <a:r>
              <a:rPr sz="1500" b="0">
                <a:solidFill>
                  <a:srgbClr val="1C2A39"/>
                </a:solidFill>
                <a:latin typeface="Aptos"/>
              </a:rPr>
              <a:t>Blind evaluator + human-audited subset
Judge agreement and ambiguity
Training GPU-hours, latency, memory, extra calls</a:t>
            </a:r>
          </a:p>
        </p:txBody>
      </p:sp>
      <p:sp>
        <p:nvSpPr>
          <p:cNvPr id="19" name="TextBox 18"/>
          <p:cNvSpPr txBox="1"/>
          <p:nvPr/>
        </p:nvSpPr>
        <p:spPr>
          <a:xfrm>
            <a:off x="868680" y="5349240"/>
            <a:ext cx="10058400" cy="548640"/>
          </a:xfrm>
          <a:prstGeom prst="rect">
            <a:avLst/>
          </a:prstGeom>
          <a:noFill/>
        </p:spPr>
        <p:txBody>
          <a:bodyPr wrap="square" lIns="18288" tIns="18288" rIns="18288" bIns="18288" anchor="t">
            <a:spAutoFit/>
          </a:bodyPr>
          <a:lstStyle/>
          <a:p>
            <a:pPr algn="l"/>
            <a:r>
              <a:rPr sz="1700" b="1">
                <a:solidFill>
                  <a:srgbClr val="1C2A39"/>
                </a:solidFill>
                <a:latin typeface="Aptos"/>
              </a:rPr>
              <a:t>Keep privacy, fairness, misinformation, and harmful assistance as separate outcome families.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TAKEAWAY</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What we expect to contribute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[12], [15], [16], [17], [18]</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17</a:t>
            </a:r>
          </a:p>
        </p:txBody>
      </p:sp>
      <p:sp>
        <p:nvSpPr>
          <p:cNvPr id="7" name="Oval 6"/>
          <p:cNvSpPr/>
          <p:nvPr/>
        </p:nvSpPr>
        <p:spPr>
          <a:xfrm>
            <a:off x="804672" y="1856231"/>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60704" y="1737360"/>
            <a:ext cx="10351008" cy="822959"/>
          </a:xfrm>
          <a:prstGeom prst="rect">
            <a:avLst/>
          </a:prstGeom>
          <a:noFill/>
        </p:spPr>
        <p:txBody>
          <a:bodyPr wrap="square" lIns="18288" tIns="18288" rIns="18288" bIns="18288" anchor="t">
            <a:spAutoFit/>
          </a:bodyPr>
          <a:lstStyle/>
          <a:p>
            <a:pPr algn="l"/>
            <a:r>
              <a:rPr sz="1900" b="0">
                <a:solidFill>
                  <a:srgbClr val="1C2A39"/>
                </a:solidFill>
                <a:latin typeface="Aptos"/>
              </a:rPr>
              <a:t>A protocol that makes attack carrier and modality interaction explicit.</a:t>
            </a:r>
          </a:p>
        </p:txBody>
      </p:sp>
      <p:sp>
        <p:nvSpPr>
          <p:cNvPr id="9" name="Oval 8"/>
          <p:cNvSpPr/>
          <p:nvPr/>
        </p:nvSpPr>
        <p:spPr>
          <a:xfrm>
            <a:off x="804672" y="2724911"/>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2606039"/>
            <a:ext cx="10351008" cy="822959"/>
          </a:xfrm>
          <a:prstGeom prst="rect">
            <a:avLst/>
          </a:prstGeom>
          <a:noFill/>
        </p:spPr>
        <p:txBody>
          <a:bodyPr wrap="square" lIns="18288" tIns="18288" rIns="18288" bIns="18288" anchor="t">
            <a:spAutoFit/>
          </a:bodyPr>
          <a:lstStyle/>
          <a:p>
            <a:pPr algn="l"/>
            <a:r>
              <a:rPr sz="1900" b="0">
                <a:solidFill>
                  <a:srgbClr val="1C2A39"/>
                </a:solidFill>
                <a:latin typeface="Aptos"/>
              </a:rPr>
              <a:t>A small-VLM comparison that includes both unseen attack robustness and safe near-neighbor behavior.</a:t>
            </a:r>
          </a:p>
        </p:txBody>
      </p:sp>
      <p:sp>
        <p:nvSpPr>
          <p:cNvPr id="11" name="Oval 10"/>
          <p:cNvSpPr/>
          <p:nvPr/>
        </p:nvSpPr>
        <p:spPr>
          <a:xfrm>
            <a:off x="804672" y="3593591"/>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0704" y="3474720"/>
            <a:ext cx="10351008" cy="822959"/>
          </a:xfrm>
          <a:prstGeom prst="rect">
            <a:avLst/>
          </a:prstGeom>
          <a:noFill/>
        </p:spPr>
        <p:txBody>
          <a:bodyPr wrap="square" lIns="18288" tIns="18288" rIns="18288" bIns="18288" anchor="t">
            <a:spAutoFit/>
          </a:bodyPr>
          <a:lstStyle/>
          <a:p>
            <a:pPr algn="l"/>
            <a:r>
              <a:rPr sz="1900" b="0">
                <a:solidFill>
                  <a:srgbClr val="1C2A39"/>
                </a:solidFill>
                <a:latin typeface="Aptos"/>
              </a:rPr>
              <a:t>A paper-by-paper audit linking each claimed defense to its real threat model, judge, benchmark, and utility test.</a:t>
            </a:r>
          </a:p>
        </p:txBody>
      </p:sp>
      <p:sp>
        <p:nvSpPr>
          <p:cNvPr id="13" name="Oval 12"/>
          <p:cNvSpPr/>
          <p:nvPr/>
        </p:nvSpPr>
        <p:spPr>
          <a:xfrm>
            <a:off x="804672" y="4462272"/>
            <a:ext cx="109728" cy="109728"/>
          </a:xfrm>
          <a:prstGeom prst="ellipse">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0704" y="4343400"/>
            <a:ext cx="10351008" cy="822959"/>
          </a:xfrm>
          <a:prstGeom prst="rect">
            <a:avLst/>
          </a:prstGeom>
          <a:noFill/>
        </p:spPr>
        <p:txBody>
          <a:bodyPr wrap="square" lIns="18288" tIns="18288" rIns="18288" bIns="18288" anchor="t">
            <a:spAutoFit/>
          </a:bodyPr>
          <a:lstStyle/>
          <a:p>
            <a:pPr algn="l"/>
            <a:r>
              <a:rPr sz="1900" b="0">
                <a:solidFill>
                  <a:srgbClr val="1C2A39"/>
                </a:solidFill>
                <a:latin typeface="Aptos"/>
              </a:rPr>
              <a:t>An honest answer to whether additional multimodal alignment helps beyond text-only tuning—and what it costs.</a:t>
            </a:r>
          </a:p>
        </p:txBody>
      </p:sp>
      <p:sp>
        <p:nvSpPr>
          <p:cNvPr id="15" name="TextBox 14"/>
          <p:cNvSpPr txBox="1"/>
          <p:nvPr/>
        </p:nvSpPr>
        <p:spPr>
          <a:xfrm>
            <a:off x="914400" y="5623560"/>
            <a:ext cx="10241280" cy="502920"/>
          </a:xfrm>
          <a:prstGeom prst="rect">
            <a:avLst/>
          </a:prstGeom>
          <a:noFill/>
        </p:spPr>
        <p:txBody>
          <a:bodyPr wrap="square" lIns="18288" tIns="18288" rIns="18288" bIns="18288" anchor="t">
            <a:spAutoFit/>
          </a:bodyPr>
          <a:lstStyle/>
          <a:p>
            <a:pPr algn="l"/>
            <a:r>
              <a:rPr sz="1700" b="1">
                <a:solidFill>
                  <a:srgbClr val="276B7E"/>
                </a:solidFill>
                <a:latin typeface="Aptos"/>
              </a:rPr>
              <a:t>Next: freeze checkpoints + policy rubric → reproduce B0–B3 → validate judge → run held-out A0–A5.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REFERENCES</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Primary literature and source conventions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IEEE-style numbered citations appear on each slide; full entries are at the end</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18</a:t>
            </a:r>
          </a:p>
        </p:txBody>
      </p:sp>
      <p:sp>
        <p:nvSpPr>
          <p:cNvPr id="7" name="Rectangle 6"/>
          <p:cNvSpPr/>
          <p:nvPr/>
        </p:nvSpPr>
        <p:spPr>
          <a:xfrm>
            <a:off x="822960" y="1755648"/>
            <a:ext cx="3383280" cy="23317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1755648"/>
            <a:ext cx="73152" cy="23317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4128" y="1920240"/>
            <a:ext cx="3017520" cy="347472"/>
          </a:xfrm>
          <a:prstGeom prst="rect">
            <a:avLst/>
          </a:prstGeom>
          <a:noFill/>
        </p:spPr>
        <p:txBody>
          <a:bodyPr wrap="square" lIns="18288" tIns="18288" rIns="18288" bIns="18288" anchor="t">
            <a:spAutoFit/>
          </a:bodyPr>
          <a:lstStyle/>
          <a:p>
            <a:pPr algn="l"/>
            <a:r>
              <a:rPr sz="1600" b="1">
                <a:solidFill>
                  <a:srgbClr val="276B7E"/>
                </a:solidFill>
                <a:latin typeface="Aptos"/>
              </a:rPr>
              <a:t>VLM SAFETY METHODS</a:t>
            </a:r>
          </a:p>
        </p:txBody>
      </p:sp>
      <p:sp>
        <p:nvSpPr>
          <p:cNvPr id="10" name="TextBox 9"/>
          <p:cNvSpPr txBox="1"/>
          <p:nvPr/>
        </p:nvSpPr>
        <p:spPr>
          <a:xfrm>
            <a:off x="1024128" y="2322576"/>
            <a:ext cx="3017520" cy="1645919"/>
          </a:xfrm>
          <a:prstGeom prst="rect">
            <a:avLst/>
          </a:prstGeom>
          <a:noFill/>
        </p:spPr>
        <p:txBody>
          <a:bodyPr wrap="square" lIns="18288" tIns="18288" rIns="18288" bIns="18288" anchor="t">
            <a:spAutoFit/>
          </a:bodyPr>
          <a:lstStyle/>
          <a:p>
            <a:pPr algn="l"/>
            <a:r>
              <a:rPr sz="1600" b="0">
                <a:solidFill>
                  <a:srgbClr val="1C2A39"/>
                </a:solidFill>
                <a:latin typeface="Aptos"/>
              </a:rPr>
              <a:t>VLGuard [5] • SafeVLM [6] • SPA-VL [7] • ADPO [12] • VSFA [16]</a:t>
            </a:r>
          </a:p>
        </p:txBody>
      </p:sp>
      <p:sp>
        <p:nvSpPr>
          <p:cNvPr id="11" name="Rectangle 10"/>
          <p:cNvSpPr/>
          <p:nvPr/>
        </p:nvSpPr>
        <p:spPr>
          <a:xfrm>
            <a:off x="4407408" y="1755648"/>
            <a:ext cx="3383280" cy="23317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07408" y="1755648"/>
            <a:ext cx="73152" cy="23317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08576" y="1920240"/>
            <a:ext cx="3017520" cy="347472"/>
          </a:xfrm>
          <a:prstGeom prst="rect">
            <a:avLst/>
          </a:prstGeom>
          <a:noFill/>
        </p:spPr>
        <p:txBody>
          <a:bodyPr wrap="square" lIns="18288" tIns="18288" rIns="18288" bIns="18288" anchor="t">
            <a:spAutoFit/>
          </a:bodyPr>
          <a:lstStyle/>
          <a:p>
            <a:pPr algn="l"/>
            <a:r>
              <a:rPr sz="1600" b="1">
                <a:solidFill>
                  <a:srgbClr val="276B7E"/>
                </a:solidFill>
                <a:latin typeface="Aptos"/>
              </a:rPr>
              <a:t>EVALUATION + ATTACKS</a:t>
            </a:r>
          </a:p>
        </p:txBody>
      </p:sp>
      <p:sp>
        <p:nvSpPr>
          <p:cNvPr id="14" name="TextBox 13"/>
          <p:cNvSpPr txBox="1"/>
          <p:nvPr/>
        </p:nvSpPr>
        <p:spPr>
          <a:xfrm>
            <a:off x="4608576" y="2322576"/>
            <a:ext cx="3017520" cy="1645919"/>
          </a:xfrm>
          <a:prstGeom prst="rect">
            <a:avLst/>
          </a:prstGeom>
          <a:noFill/>
        </p:spPr>
        <p:txBody>
          <a:bodyPr wrap="square" lIns="18288" tIns="18288" rIns="18288" bIns="18288" anchor="t">
            <a:spAutoFit/>
          </a:bodyPr>
          <a:lstStyle/>
          <a:p>
            <a:pPr algn="l"/>
            <a:r>
              <a:rPr sz="1600" b="0">
                <a:solidFill>
                  <a:srgbClr val="1C2A39"/>
                </a:solidFill>
                <a:latin typeface="Aptos"/>
              </a:rPr>
              <a:t>FigStep [1] • MM-SafetyBench [2] • SIUO [11] • USB [17] • MMJailBench [18]</a:t>
            </a:r>
          </a:p>
        </p:txBody>
      </p:sp>
      <p:sp>
        <p:nvSpPr>
          <p:cNvPr id="15" name="Rectangle 14"/>
          <p:cNvSpPr/>
          <p:nvPr/>
        </p:nvSpPr>
        <p:spPr>
          <a:xfrm>
            <a:off x="7991856" y="1755648"/>
            <a:ext cx="3383280" cy="2331720"/>
          </a:xfrm>
          <a:prstGeom prst="rect">
            <a:avLst/>
          </a:prstGeom>
          <a:solidFill>
            <a:srgbClr val="FFFFFF"/>
          </a:solidFill>
          <a:ln>
            <a:solidFill>
              <a:srgbClr val="DEE6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91856" y="1755648"/>
            <a:ext cx="73152" cy="2331720"/>
          </a:xfrm>
          <a:prstGeom prst="rect">
            <a:avLst/>
          </a:prstGeom>
          <a:solidFill>
            <a:srgbClr val="276B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93024" y="1920240"/>
            <a:ext cx="3017520" cy="347472"/>
          </a:xfrm>
          <a:prstGeom prst="rect">
            <a:avLst/>
          </a:prstGeom>
          <a:noFill/>
        </p:spPr>
        <p:txBody>
          <a:bodyPr wrap="square" lIns="18288" tIns="18288" rIns="18288" bIns="18288" anchor="t">
            <a:spAutoFit/>
          </a:bodyPr>
          <a:lstStyle/>
          <a:p>
            <a:pPr algn="l"/>
            <a:r>
              <a:rPr sz="1600" b="1">
                <a:solidFill>
                  <a:srgbClr val="276B7E"/>
                </a:solidFill>
                <a:latin typeface="Aptos"/>
              </a:rPr>
              <a:t>RECENT DEFENSES</a:t>
            </a:r>
          </a:p>
        </p:txBody>
      </p:sp>
      <p:sp>
        <p:nvSpPr>
          <p:cNvPr id="18" name="TextBox 17"/>
          <p:cNvSpPr txBox="1"/>
          <p:nvPr/>
        </p:nvSpPr>
        <p:spPr>
          <a:xfrm>
            <a:off x="8193024" y="2322576"/>
            <a:ext cx="3017520" cy="1645919"/>
          </a:xfrm>
          <a:prstGeom prst="rect">
            <a:avLst/>
          </a:prstGeom>
          <a:noFill/>
        </p:spPr>
        <p:txBody>
          <a:bodyPr wrap="square" lIns="18288" tIns="18288" rIns="18288" bIns="18288" anchor="t">
            <a:spAutoFit/>
          </a:bodyPr>
          <a:lstStyle/>
          <a:p>
            <a:pPr algn="l"/>
            <a:r>
              <a:rPr sz="1600" b="0">
                <a:solidFill>
                  <a:srgbClr val="1C2A39"/>
                </a:solidFill>
                <a:latin typeface="Aptos"/>
              </a:rPr>
              <a:t>CMRM [8] • VLMGuard-R1 [15] • GuardAlign [21] • SafeSteer [22] • SafeRI [23]</a:t>
            </a:r>
          </a:p>
        </p:txBody>
      </p:sp>
      <p:sp>
        <p:nvSpPr>
          <p:cNvPr id="19" name="TextBox 18"/>
          <p:cNvSpPr txBox="1"/>
          <p:nvPr/>
        </p:nvSpPr>
        <p:spPr>
          <a:xfrm>
            <a:off x="914400" y="4709160"/>
            <a:ext cx="10149840" cy="822960"/>
          </a:xfrm>
          <a:prstGeom prst="rect">
            <a:avLst/>
          </a:prstGeom>
          <a:noFill/>
        </p:spPr>
        <p:txBody>
          <a:bodyPr wrap="square" lIns="18288" tIns="18288" rIns="18288" bIns="18288" anchor="t">
            <a:spAutoFit/>
          </a:bodyPr>
          <a:lstStyle/>
          <a:p>
            <a:pPr algn="l"/>
            <a:r>
              <a:rPr sz="1700" b="0">
                <a:solidFill>
                  <a:srgbClr val="1C2A39"/>
                </a:solidFill>
                <a:latin typeface="Aptos"/>
              </a:rPr>
              <a:t>Bracketed numbers refer to the IEEE-style bibliography at the end. Peer-reviewed proceedings and arXiv preprints are distinguished in each entry; reported scores remain tied to each paper’s own protocol.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EVIDENCE APPENDIX</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Attachment audit: what is and is not VLM-safety evidence</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[6], [15], [26]</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19</a:t>
            </a:r>
          </a:p>
        </p:txBody>
      </p:sp>
      <p:graphicFrame>
        <p:nvGraphicFramePr>
          <p:cNvPr id="7" name="Table 6"/>
          <p:cNvGraphicFramePr>
            <a:graphicFrameLocks noGrp="1"/>
          </p:cNvGraphicFramePr>
          <p:nvPr/>
        </p:nvGraphicFramePr>
        <p:xfrm>
          <a:off x="749808" y="1664208"/>
          <a:ext cx="10716768" cy="3611880"/>
        </p:xfrm>
        <a:graphic>
          <a:graphicData uri="http://schemas.openxmlformats.org/drawingml/2006/table">
            <a:tbl>
              <a:tblPr firstRow="1" bandRow="1">
                <a:tableStyleId>{5C22544A-7EE6-4342-B048-85BDC9FD1C3A}</a:tableStyleId>
              </a:tblPr>
              <a:tblGrid>
                <a:gridCol w="288036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3950208">
                  <a:extLst>
                    <a:ext uri="{9D8B030D-6E8A-4147-A177-3AD203B41FA5}">
                      <a16:colId xmlns:a16="http://schemas.microsoft.com/office/drawing/2014/main" val="20002"/>
                    </a:ext>
                  </a:extLst>
                </a:gridCol>
              </a:tblGrid>
              <a:tr h="722376">
                <a:tc>
                  <a:txBody>
                    <a:bodyPr/>
                    <a:lstStyle/>
                    <a:p>
                      <a:pPr>
                        <a:spcAft>
                          <a:spcPts val="0"/>
                        </a:spcAft>
                      </a:pPr>
                      <a:r>
                        <a:rPr sz="1300" b="1">
                          <a:solidFill>
                            <a:srgbClr val="FFFFFF"/>
                          </a:solidFill>
                          <a:latin typeface="Aptos"/>
                        </a:rPr>
                        <a:t>Attachment(s)</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Identification</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How used in this work</a:t>
                      </a:r>
                    </a:p>
                  </a:txBody>
                  <a:tcPr marL="73152" marR="54864" marT="36576" marB="27432" anchor="ctr">
                    <a:solidFill>
                      <a:srgbClr val="122A42"/>
                    </a:solidFill>
                  </a:tcPr>
                </a:tc>
                <a:extLst>
                  <a:ext uri="{0D108BD9-81ED-4DB2-BD59-A6C34878D82A}">
                    <a16:rowId xmlns:a16="http://schemas.microsoft.com/office/drawing/2014/main" val="10000"/>
                  </a:ext>
                </a:extLst>
              </a:tr>
              <a:tr h="722376">
                <a:tc>
                  <a:txBody>
                    <a:bodyPr/>
                    <a:lstStyle/>
                    <a:p>
                      <a:pPr>
                        <a:spcAft>
                          <a:spcPts val="0"/>
                        </a:spcAft>
                      </a:pPr>
                      <a:r>
                        <a:rPr sz="1400" b="1">
                          <a:solidFill>
                            <a:srgbClr val="1C2A39"/>
                          </a:solidFill>
                          <a:latin typeface="Aptos"/>
                        </a:rPr>
                        <a:t>SafeVLM.pdf + annotated copy</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Same SafeVLM work; one unique VLM alignment paper</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Direct VLM-safety evidence; duplicate attachment, count once</a:t>
                      </a:r>
                    </a:p>
                  </a:txBody>
                  <a:tcPr marL="73152" marR="54864" marT="36576" marB="27432" anchor="ctr">
                    <a:solidFill>
                      <a:srgbClr val="FFFFFF"/>
                    </a:solidFill>
                  </a:tcPr>
                </a:tc>
                <a:extLst>
                  <a:ext uri="{0D108BD9-81ED-4DB2-BD59-A6C34878D82A}">
                    <a16:rowId xmlns:a16="http://schemas.microsoft.com/office/drawing/2014/main" val="10001"/>
                  </a:ext>
                </a:extLst>
              </a:tr>
              <a:tr h="722376">
                <a:tc>
                  <a:txBody>
                    <a:bodyPr/>
                    <a:lstStyle/>
                    <a:p>
                      <a:pPr>
                        <a:spcAft>
                          <a:spcPts val="0"/>
                        </a:spcAft>
                      </a:pPr>
                      <a:r>
                        <a:rPr sz="1400" b="1">
                          <a:solidFill>
                            <a:srgbClr val="1C2A39"/>
                          </a:solidFill>
                          <a:latin typeface="Aptos"/>
                        </a:rPr>
                        <a:t>VLMGuard-R1 annotated PDF</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2025 arXiv version of paper published Findings ACL 2026</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Direct VLM safety system defense; external input rewriter, not target-weight alignment</a:t>
                      </a:r>
                    </a:p>
                  </a:txBody>
                  <a:tcPr marL="73152" marR="54864" marT="36576" marB="27432" anchor="ctr">
                    <a:solidFill>
                      <a:srgbClr val="EFF3F6"/>
                    </a:solidFill>
                  </a:tcPr>
                </a:tc>
                <a:extLst>
                  <a:ext uri="{0D108BD9-81ED-4DB2-BD59-A6C34878D82A}">
                    <a16:rowId xmlns:a16="http://schemas.microsoft.com/office/drawing/2014/main" val="10002"/>
                  </a:ext>
                </a:extLst>
              </a:tr>
              <a:tr h="722376">
                <a:tc>
                  <a:txBody>
                    <a:bodyPr/>
                    <a:lstStyle/>
                    <a:p>
                      <a:pPr>
                        <a:spcAft>
                          <a:spcPts val="0"/>
                        </a:spcAft>
                      </a:pPr>
                      <a:r>
                        <a:rPr sz="1400" b="1">
                          <a:solidFill>
                            <a:srgbClr val="1C2A39"/>
                          </a:solidFill>
                          <a:latin typeface="Aptos"/>
                        </a:rPr>
                        <a:t>2604.17215v1.pdf + Continual_Safety_Alignment.pdf</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LLM-only gradient selection / prior write-up</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Historical motivation only; no VLM results</a:t>
                      </a:r>
                    </a:p>
                  </a:txBody>
                  <a:tcPr marL="73152" marR="54864" marT="36576" marB="27432" anchor="ctr">
                    <a:solidFill>
                      <a:srgbClr val="FFFFFF"/>
                    </a:solidFill>
                  </a:tcPr>
                </a:tc>
                <a:extLst>
                  <a:ext uri="{0D108BD9-81ED-4DB2-BD59-A6C34878D82A}">
                    <a16:rowId xmlns:a16="http://schemas.microsoft.com/office/drawing/2014/main" val="10003"/>
                  </a:ext>
                </a:extLst>
              </a:tr>
              <a:tr h="722376">
                <a:tc>
                  <a:txBody>
                    <a:bodyPr/>
                    <a:lstStyle/>
                    <a:p>
                      <a:pPr>
                        <a:spcAft>
                          <a:spcPts val="0"/>
                        </a:spcAft>
                      </a:pPr>
                      <a:r>
                        <a:rPr sz="1400" b="1">
                          <a:solidFill>
                            <a:srgbClr val="1C2A39"/>
                          </a:solidFill>
                          <a:latin typeface="Aptos"/>
                        </a:rPr>
                        <a:t>Presentation1.pdf</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Earlier LLM-to-VLM adaptation deck</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Not evidence; superseded research framing</a:t>
                      </a:r>
                    </a:p>
                  </a:txBody>
                  <a:tcPr marL="73152" marR="54864" marT="36576" marB="27432" anchor="ctr">
                    <a:solidFill>
                      <a:srgbClr val="EFF3F6"/>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868680" y="5532120"/>
            <a:ext cx="10424160" cy="594360"/>
          </a:xfrm>
          <a:prstGeom prst="rect">
            <a:avLst/>
          </a:prstGeom>
          <a:noFill/>
        </p:spPr>
        <p:txBody>
          <a:bodyPr wrap="square" lIns="18288" tIns="18288" rIns="18288" bIns="18288" anchor="t">
            <a:spAutoFit/>
          </a:bodyPr>
          <a:lstStyle/>
          <a:p>
            <a:pPr algn="l"/>
            <a:r>
              <a:rPr sz="1600" b="1">
                <a:solidFill>
                  <a:srgbClr val="1C2A39"/>
                </a:solidFill>
                <a:latin typeface="Aptos"/>
              </a:rPr>
              <a:t>The local paper bundle contains two unique direct VLM-safety papers, not a complete survey. The wider review adds independently sourced work.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SafeVLM: reported safety scores improve, but task-level trade-offs remain</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[6]</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20</a:t>
            </a:r>
          </a:p>
        </p:txBody>
      </p:sp>
      <p:graphicFrame>
        <p:nvGraphicFramePr>
          <p:cNvPr id="7" name="Table 6"/>
          <p:cNvGraphicFramePr>
            <a:graphicFrameLocks noGrp="1"/>
          </p:cNvGraphicFramePr>
          <p:nvPr/>
        </p:nvGraphicFramePr>
        <p:xfrm>
          <a:off x="685800" y="1627632"/>
          <a:ext cx="10835640" cy="315468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gridCol w="2788920">
                  <a:extLst>
                    <a:ext uri="{9D8B030D-6E8A-4147-A177-3AD203B41FA5}">
                      <a16:colId xmlns:a16="http://schemas.microsoft.com/office/drawing/2014/main" val="20004"/>
                    </a:ext>
                  </a:extLst>
                </a:gridCol>
              </a:tblGrid>
              <a:tr h="630936">
                <a:tc>
                  <a:txBody>
                    <a:bodyPr/>
                    <a:lstStyle/>
                    <a:p>
                      <a:pPr>
                        <a:spcAft>
                          <a:spcPts val="0"/>
                        </a:spcAft>
                      </a:pPr>
                      <a:r>
                        <a:rPr sz="1200" b="1">
                          <a:solidFill>
                            <a:srgbClr val="FFFFFF"/>
                          </a:solidFill>
                          <a:latin typeface="Aptos"/>
                        </a:rPr>
                        <a:t>Model</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RTVLM avg</a:t>
                      </a:r>
                    </a:p>
                    <a:p>
                      <a:pPr>
                        <a:spcAft>
                          <a:spcPts val="0"/>
                        </a:spcAft>
                      </a:pPr>
                      <a:r>
                        <a:rPr sz="1200" b="1">
                          <a:solidFill>
                            <a:srgbClr val="FFFFFF"/>
                          </a:solidFill>
                          <a:latin typeface="Aptos"/>
                        </a:rPr>
                        <a:t>(0–10)</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Risk-set avg</a:t>
                      </a:r>
                    </a:p>
                    <a:p>
                      <a:pPr>
                        <a:spcAft>
                          <a:spcPts val="0"/>
                        </a:spcAft>
                      </a:pPr>
                      <a:r>
                        <a:rPr sz="1200" b="1">
                          <a:solidFill>
                            <a:srgbClr val="FFFFFF"/>
                          </a:solidFill>
                          <a:latin typeface="Aptos"/>
                        </a:rPr>
                        <a:t>(0–10)</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MMBench /</a:t>
                      </a:r>
                    </a:p>
                    <a:p>
                      <a:pPr>
                        <a:spcAft>
                          <a:spcPts val="0"/>
                        </a:spcAft>
                      </a:pPr>
                      <a:r>
                        <a:rPr sz="1200" b="1">
                          <a:solidFill>
                            <a:srgbClr val="FFFFFF"/>
                          </a:solidFill>
                          <a:latin typeface="Aptos"/>
                        </a:rPr>
                        <a:t>SEEDBench</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MMEp / MME</a:t>
                      </a:r>
                    </a:p>
                  </a:txBody>
                  <a:tcPr marL="73152" marR="54864" marT="36576" marB="27432" anchor="ctr">
                    <a:solidFill>
                      <a:srgbClr val="122A42"/>
                    </a:solidFill>
                  </a:tcPr>
                </a:tc>
                <a:extLst>
                  <a:ext uri="{0D108BD9-81ED-4DB2-BD59-A6C34878D82A}">
                    <a16:rowId xmlns:a16="http://schemas.microsoft.com/office/drawing/2014/main" val="10000"/>
                  </a:ext>
                </a:extLst>
              </a:tr>
              <a:tr h="630936">
                <a:tc>
                  <a:txBody>
                    <a:bodyPr/>
                    <a:lstStyle/>
                    <a:p>
                      <a:pPr>
                        <a:spcAft>
                          <a:spcPts val="0"/>
                        </a:spcAft>
                      </a:pPr>
                      <a:r>
                        <a:rPr sz="1300" b="1">
                          <a:solidFill>
                            <a:srgbClr val="1C2A39"/>
                          </a:solidFill>
                          <a:latin typeface="Aptos"/>
                        </a:rPr>
                        <a:t>LLaVA-v1.5-7B</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6.39</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5.06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64.3 / 61.6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1487.9 / 1773.6</a:t>
                      </a:r>
                    </a:p>
                  </a:txBody>
                  <a:tcPr marL="73152" marR="54864" marT="36576" marB="27432" anchor="ctr">
                    <a:solidFill>
                      <a:srgbClr val="FFFFFF"/>
                    </a:solidFill>
                  </a:tcPr>
                </a:tc>
                <a:extLst>
                  <a:ext uri="{0D108BD9-81ED-4DB2-BD59-A6C34878D82A}">
                    <a16:rowId xmlns:a16="http://schemas.microsoft.com/office/drawing/2014/main" val="10001"/>
                  </a:ext>
                </a:extLst>
              </a:tr>
              <a:tr h="630936">
                <a:tc>
                  <a:txBody>
                    <a:bodyPr/>
                    <a:lstStyle/>
                    <a:p>
                      <a:pPr>
                        <a:spcAft>
                          <a:spcPts val="0"/>
                        </a:spcAft>
                      </a:pPr>
                      <a:r>
                        <a:rPr sz="1300" b="1">
                          <a:solidFill>
                            <a:srgbClr val="1C2A39"/>
                          </a:solidFill>
                          <a:latin typeface="Aptos"/>
                        </a:rPr>
                        <a:t>SafeVLM</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8.18</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7.78</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66.8 / 65.3</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1479.5 / 1762.7</a:t>
                      </a:r>
                    </a:p>
                  </a:txBody>
                  <a:tcPr marL="73152" marR="54864" marT="36576" marB="27432" anchor="ctr">
                    <a:solidFill>
                      <a:srgbClr val="EFF3F6"/>
                    </a:solidFill>
                  </a:tcPr>
                </a:tc>
                <a:extLst>
                  <a:ext uri="{0D108BD9-81ED-4DB2-BD59-A6C34878D82A}">
                    <a16:rowId xmlns:a16="http://schemas.microsoft.com/office/drawing/2014/main" val="10002"/>
                  </a:ext>
                </a:extLst>
              </a:tr>
              <a:tr h="630936">
                <a:tc>
                  <a:txBody>
                    <a:bodyPr/>
                    <a:lstStyle/>
                    <a:p>
                      <a:pPr>
                        <a:spcAft>
                          <a:spcPts val="0"/>
                        </a:spcAft>
                      </a:pPr>
                      <a:r>
                        <a:rPr sz="1300" b="1">
                          <a:solidFill>
                            <a:srgbClr val="1C2A39"/>
                          </a:solidFill>
                          <a:latin typeface="Aptos"/>
                        </a:rPr>
                        <a:t>SafeVLM (+LoRA)</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8.26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7.80</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68.5 / 63.7</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1458.8 / 1753.8</a:t>
                      </a:r>
                    </a:p>
                  </a:txBody>
                  <a:tcPr marL="73152" marR="54864" marT="36576" marB="27432" anchor="ctr">
                    <a:solidFill>
                      <a:srgbClr val="FFFFFF"/>
                    </a:solidFill>
                  </a:tcPr>
                </a:tc>
                <a:extLst>
                  <a:ext uri="{0D108BD9-81ED-4DB2-BD59-A6C34878D82A}">
                    <a16:rowId xmlns:a16="http://schemas.microsoft.com/office/drawing/2014/main" val="10003"/>
                  </a:ext>
                </a:extLst>
              </a:tr>
              <a:tr h="630936">
                <a:tc>
                  <a:txBody>
                    <a:bodyPr/>
                    <a:lstStyle/>
                    <a:p>
                      <a:pPr>
                        <a:spcAft>
                          <a:spcPts val="0"/>
                        </a:spcAft>
                      </a:pPr>
                      <a:r>
                        <a:rPr sz="1300" b="1">
                          <a:solidFill>
                            <a:srgbClr val="1C2A39"/>
                          </a:solidFill>
                          <a:latin typeface="Aptos"/>
                        </a:rPr>
                        <a:t>GPT-4V reference</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7.92</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a:t>
                      </a:r>
                    </a:p>
                  </a:txBody>
                  <a:tcPr marL="73152" marR="54864" marT="36576" marB="27432" anchor="ctr">
                    <a:solidFill>
                      <a:srgbClr val="EFF3F6"/>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822960" y="5010912"/>
            <a:ext cx="10652760" cy="868680"/>
          </a:xfrm>
          <a:prstGeom prst="rect">
            <a:avLst/>
          </a:prstGeom>
          <a:noFill/>
        </p:spPr>
        <p:txBody>
          <a:bodyPr wrap="square" lIns="18288" tIns="18288" rIns="18288" bIns="18288" anchor="t">
            <a:spAutoFit/>
          </a:bodyPr>
          <a:lstStyle/>
          <a:p>
            <a:pPr algn="l"/>
            <a:r>
              <a:rPr sz="1500" b="0">
                <a:solidFill>
                  <a:srgbClr val="1C2A39"/>
                </a:solidFill>
                <a:latin typeface="Aptos"/>
              </a:rPr>
              <a:t>Reading the table: reported safety improves over LLaVA in these GPT-judged tests; capability movement is mixed (MMBench rises, while MME metrics fall). Do not compare these numbers to other papers’ scales or judges.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SafeVLM: text jailbreak results reveal a utility-calibration warning</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[6]</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21</a:t>
            </a:r>
          </a:p>
        </p:txBody>
      </p:sp>
      <p:graphicFrame>
        <p:nvGraphicFramePr>
          <p:cNvPr id="7" name="Table 6"/>
          <p:cNvGraphicFramePr>
            <a:graphicFrameLocks noGrp="1"/>
          </p:cNvGraphicFramePr>
          <p:nvPr/>
        </p:nvGraphicFramePr>
        <p:xfrm>
          <a:off x="777240" y="1737360"/>
          <a:ext cx="10561318" cy="2743200"/>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gridCol w="2240280">
                  <a:extLst>
                    <a:ext uri="{9D8B030D-6E8A-4147-A177-3AD203B41FA5}">
                      <a16:colId xmlns:a16="http://schemas.microsoft.com/office/drawing/2014/main" val="20004"/>
                    </a:ext>
                  </a:extLst>
                </a:gridCol>
              </a:tblGrid>
              <a:tr h="685800">
                <a:tc>
                  <a:txBody>
                    <a:bodyPr/>
                    <a:lstStyle/>
                    <a:p>
                      <a:pPr>
                        <a:spcAft>
                          <a:spcPts val="0"/>
                        </a:spcAft>
                      </a:pPr>
                      <a:r>
                        <a:rPr sz="1200" b="1">
                          <a:solidFill>
                            <a:srgbClr val="FFFFFF"/>
                          </a:solidFill>
                          <a:latin typeface="Aptos"/>
                        </a:rPr>
                        <a:t>Model</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AdvBench</a:t>
                      </a:r>
                    </a:p>
                    <a:p>
                      <a:pPr>
                        <a:spcAft>
                          <a:spcPts val="0"/>
                        </a:spcAft>
                      </a:pPr>
                      <a:r>
                        <a:rPr sz="1200" b="1">
                          <a:solidFill>
                            <a:srgbClr val="FFFFFF"/>
                          </a:solidFill>
                          <a:latin typeface="Aptos"/>
                        </a:rPr>
                        <a:t>vanilla ASR % ↓</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AdvBench</a:t>
                      </a:r>
                    </a:p>
                    <a:p>
                      <a:pPr>
                        <a:spcAft>
                          <a:spcPts val="0"/>
                        </a:spcAft>
                      </a:pPr>
                      <a:r>
                        <a:rPr sz="1200" b="1">
                          <a:solidFill>
                            <a:srgbClr val="FFFFFF"/>
                          </a:solidFill>
                          <a:latin typeface="Aptos"/>
                        </a:rPr>
                        <a:t>suffix ASR % ↓</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XSTest safe</a:t>
                      </a:r>
                    </a:p>
                    <a:p>
                      <a:pPr>
                        <a:spcAft>
                          <a:spcPts val="0"/>
                        </a:spcAft>
                      </a:pPr>
                      <a:r>
                        <a:rPr sz="1200" b="1">
                          <a:solidFill>
                            <a:srgbClr val="FFFFFF"/>
                          </a:solidFill>
                          <a:latin typeface="Aptos"/>
                        </a:rPr>
                        <a:t>instruction % ↑</a:t>
                      </a:r>
                    </a:p>
                  </a:txBody>
                  <a:tcPr marL="73152" marR="54864" marT="36576" marB="27432" anchor="ctr">
                    <a:solidFill>
                      <a:srgbClr val="122A42"/>
                    </a:solidFill>
                  </a:tcPr>
                </a:tc>
                <a:tc>
                  <a:txBody>
                    <a:bodyPr/>
                    <a:lstStyle/>
                    <a:p>
                      <a:pPr>
                        <a:spcAft>
                          <a:spcPts val="0"/>
                        </a:spcAft>
                      </a:pPr>
                      <a:r>
                        <a:rPr sz="1200" b="1">
                          <a:solidFill>
                            <a:srgbClr val="FFFFFF"/>
                          </a:solidFill>
                          <a:latin typeface="Aptos"/>
                        </a:rPr>
                        <a:t>XSTest unsafe</a:t>
                      </a:r>
                    </a:p>
                    <a:p>
                      <a:pPr>
                        <a:spcAft>
                          <a:spcPts val="0"/>
                        </a:spcAft>
                      </a:pPr>
                      <a:r>
                        <a:rPr sz="1200" b="1">
                          <a:solidFill>
                            <a:srgbClr val="FFFFFF"/>
                          </a:solidFill>
                          <a:latin typeface="Aptos"/>
                        </a:rPr>
                        <a:t>instruction % ↓</a:t>
                      </a:r>
                    </a:p>
                  </a:txBody>
                  <a:tcPr marL="73152" marR="54864" marT="36576" marB="27432" anchor="ctr">
                    <a:solidFill>
                      <a:srgbClr val="122A42"/>
                    </a:solidFill>
                  </a:tcPr>
                </a:tc>
                <a:extLst>
                  <a:ext uri="{0D108BD9-81ED-4DB2-BD59-A6C34878D82A}">
                    <a16:rowId xmlns:a16="http://schemas.microsoft.com/office/drawing/2014/main" val="10000"/>
                  </a:ext>
                </a:extLst>
              </a:tr>
              <a:tr h="685800">
                <a:tc>
                  <a:txBody>
                    <a:bodyPr/>
                    <a:lstStyle/>
                    <a:p>
                      <a:pPr>
                        <a:spcAft>
                          <a:spcPts val="0"/>
                        </a:spcAft>
                      </a:pPr>
                      <a:r>
                        <a:rPr sz="1300" b="1">
                          <a:solidFill>
                            <a:srgbClr val="1C2A39"/>
                          </a:solidFill>
                          <a:latin typeface="Aptos"/>
                        </a:rPr>
                        <a:t>LLaVA-v1.5-7B</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6.45</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78.27</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91.20</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26.50</a:t>
                      </a:r>
                    </a:p>
                  </a:txBody>
                  <a:tcPr marL="73152" marR="54864" marT="36576" marB="27432" anchor="ctr">
                    <a:solidFill>
                      <a:srgbClr val="FFFFFF"/>
                    </a:solidFill>
                  </a:tcPr>
                </a:tc>
                <a:extLst>
                  <a:ext uri="{0D108BD9-81ED-4DB2-BD59-A6C34878D82A}">
                    <a16:rowId xmlns:a16="http://schemas.microsoft.com/office/drawing/2014/main" val="10001"/>
                  </a:ext>
                </a:extLst>
              </a:tr>
              <a:tr h="685800">
                <a:tc>
                  <a:txBody>
                    <a:bodyPr/>
                    <a:lstStyle/>
                    <a:p>
                      <a:pPr>
                        <a:spcAft>
                          <a:spcPts val="0"/>
                        </a:spcAft>
                      </a:pPr>
                      <a:r>
                        <a:rPr sz="1300" b="1">
                          <a:solidFill>
                            <a:srgbClr val="1C2A39"/>
                          </a:solidFill>
                          <a:latin typeface="Aptos"/>
                        </a:rPr>
                        <a:t>SafeVLM</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1.72</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67.56</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76.89</a:t>
                      </a:r>
                    </a:p>
                  </a:txBody>
                  <a:tcPr marL="73152" marR="54864" marT="36576" marB="27432" anchor="ctr">
                    <a:solidFill>
                      <a:srgbClr val="EFF3F6"/>
                    </a:solidFill>
                  </a:tcPr>
                </a:tc>
                <a:tc>
                  <a:txBody>
                    <a:bodyPr/>
                    <a:lstStyle/>
                    <a:p>
                      <a:pPr>
                        <a:spcAft>
                          <a:spcPts val="0"/>
                        </a:spcAft>
                      </a:pPr>
                      <a:r>
                        <a:rPr sz="1300" b="0">
                          <a:solidFill>
                            <a:srgbClr val="1C2A39"/>
                          </a:solidFill>
                          <a:latin typeface="Aptos"/>
                        </a:rPr>
                        <a:t>7.46</a:t>
                      </a:r>
                    </a:p>
                  </a:txBody>
                  <a:tcPr marL="73152" marR="54864" marT="36576" marB="27432" anchor="ctr">
                    <a:solidFill>
                      <a:srgbClr val="EFF3F6"/>
                    </a:solidFill>
                  </a:tcPr>
                </a:tc>
                <a:extLst>
                  <a:ext uri="{0D108BD9-81ED-4DB2-BD59-A6C34878D82A}">
                    <a16:rowId xmlns:a16="http://schemas.microsoft.com/office/drawing/2014/main" val="10002"/>
                  </a:ext>
                </a:extLst>
              </a:tr>
              <a:tr h="685800">
                <a:tc>
                  <a:txBody>
                    <a:bodyPr/>
                    <a:lstStyle/>
                    <a:p>
                      <a:pPr>
                        <a:spcAft>
                          <a:spcPts val="0"/>
                        </a:spcAft>
                      </a:pPr>
                      <a:r>
                        <a:rPr sz="1300" b="1">
                          <a:solidFill>
                            <a:srgbClr val="1C2A39"/>
                          </a:solidFill>
                          <a:latin typeface="Aptos"/>
                        </a:rPr>
                        <a:t>SafeVLM (+LoRA)</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1.90</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69.86</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78.09</a:t>
                      </a:r>
                    </a:p>
                  </a:txBody>
                  <a:tcPr marL="73152" marR="54864" marT="36576" marB="27432" anchor="ctr">
                    <a:solidFill>
                      <a:srgbClr val="FFFFFF"/>
                    </a:solidFill>
                  </a:tcPr>
                </a:tc>
                <a:tc>
                  <a:txBody>
                    <a:bodyPr/>
                    <a:lstStyle/>
                    <a:p>
                      <a:pPr>
                        <a:spcAft>
                          <a:spcPts val="0"/>
                        </a:spcAft>
                      </a:pPr>
                      <a:r>
                        <a:rPr sz="1300" b="0">
                          <a:solidFill>
                            <a:srgbClr val="1C2A39"/>
                          </a:solidFill>
                          <a:latin typeface="Aptos"/>
                        </a:rPr>
                        <a:t>6.96</a:t>
                      </a:r>
                    </a:p>
                  </a:txBody>
                  <a:tcPr marL="73152" marR="54864" marT="36576" marB="27432"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868680" y="4892040"/>
            <a:ext cx="10424160" cy="960120"/>
          </a:xfrm>
          <a:prstGeom prst="rect">
            <a:avLst/>
          </a:prstGeom>
          <a:noFill/>
        </p:spPr>
        <p:txBody>
          <a:bodyPr wrap="square" lIns="18288" tIns="18288" rIns="18288" bIns="18288" anchor="t">
            <a:spAutoFit/>
          </a:bodyPr>
          <a:lstStyle/>
          <a:p>
            <a:pPr algn="l"/>
            <a:r>
              <a:rPr sz="1500" b="1">
                <a:solidFill>
                  <a:srgbClr val="276B7E"/>
                </a:solidFill>
                <a:latin typeface="Aptos"/>
              </a:rPr>
              <a:t>Critical interpretation: the paper reports lower attack success, but the safe-instruction pass rate also drops from 91.20% to about 77–78%. These are text attacks and safe-text controls, not a visual-jailbreak evaluation. This is exactly why our VLM protocol measures over-refusal.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VLMGuard-R1: prompt rewriting helps many cells, not every cell</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[15]</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22</a:t>
            </a:r>
          </a:p>
        </p:txBody>
      </p:sp>
      <p:graphicFrame>
        <p:nvGraphicFramePr>
          <p:cNvPr id="7" name="Table 6"/>
          <p:cNvGraphicFramePr>
            <a:graphicFrameLocks noGrp="1"/>
          </p:cNvGraphicFramePr>
          <p:nvPr/>
        </p:nvGraphicFramePr>
        <p:xfrm>
          <a:off x="685800" y="1627632"/>
          <a:ext cx="10835640" cy="3584448"/>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tblGrid>
              <a:tr h="597408">
                <a:tc>
                  <a:txBody>
                    <a:bodyPr/>
                    <a:lstStyle/>
                    <a:p>
                      <a:pPr>
                        <a:spcAft>
                          <a:spcPts val="0"/>
                        </a:spcAft>
                      </a:pPr>
                      <a:r>
                        <a:rPr sz="1150" b="1">
                          <a:solidFill>
                            <a:srgbClr val="FFFFFF"/>
                          </a:solidFill>
                          <a:latin typeface="Aptos"/>
                        </a:rPr>
                        <a:t>Target VLM</a:t>
                      </a:r>
                    </a:p>
                  </a:txBody>
                  <a:tcPr marL="73152" marR="54864" marT="36576" marB="27432" anchor="ctr">
                    <a:solidFill>
                      <a:srgbClr val="122A42"/>
                    </a:solidFill>
                  </a:tcPr>
                </a:tc>
                <a:tc>
                  <a:txBody>
                    <a:bodyPr/>
                    <a:lstStyle/>
                    <a:p>
                      <a:pPr>
                        <a:spcAft>
                          <a:spcPts val="0"/>
                        </a:spcAft>
                      </a:pPr>
                      <a:r>
                        <a:rPr sz="1150" b="1">
                          <a:solidFill>
                            <a:srgbClr val="FFFFFF"/>
                          </a:solidFill>
                          <a:latin typeface="Aptos"/>
                        </a:rPr>
                        <a:t>Evaluation slice</a:t>
                      </a:r>
                    </a:p>
                  </a:txBody>
                  <a:tcPr marL="73152" marR="54864" marT="36576" marB="27432" anchor="ctr">
                    <a:solidFill>
                      <a:srgbClr val="122A42"/>
                    </a:solidFill>
                  </a:tcPr>
                </a:tc>
                <a:tc>
                  <a:txBody>
                    <a:bodyPr/>
                    <a:lstStyle/>
                    <a:p>
                      <a:pPr>
                        <a:spcAft>
                          <a:spcPts val="0"/>
                        </a:spcAft>
                      </a:pPr>
                      <a:r>
                        <a:rPr sz="1150" b="1">
                          <a:solidFill>
                            <a:srgbClr val="FFFFFF"/>
                          </a:solidFill>
                          <a:latin typeface="Aptos"/>
                        </a:rPr>
                        <a:t>Base: safety / helpfulness</a:t>
                      </a:r>
                    </a:p>
                  </a:txBody>
                  <a:tcPr marL="73152" marR="54864" marT="36576" marB="27432" anchor="ctr">
                    <a:solidFill>
                      <a:srgbClr val="122A42"/>
                    </a:solidFill>
                  </a:tcPr>
                </a:tc>
                <a:tc>
                  <a:txBody>
                    <a:bodyPr/>
                    <a:lstStyle/>
                    <a:p>
                      <a:pPr>
                        <a:spcAft>
                          <a:spcPts val="0"/>
                        </a:spcAft>
                      </a:pPr>
                      <a:r>
                        <a:rPr sz="1150" b="1">
                          <a:solidFill>
                            <a:srgbClr val="FFFFFF"/>
                          </a:solidFill>
                          <a:latin typeface="Aptos"/>
                        </a:rPr>
                        <a:t>+ VLMGuard-R1: safety / helpfulness</a:t>
                      </a:r>
                    </a:p>
                  </a:txBody>
                  <a:tcPr marL="73152" marR="54864" marT="36576" marB="27432" anchor="ctr">
                    <a:solidFill>
                      <a:srgbClr val="122A42"/>
                    </a:solidFill>
                  </a:tcPr>
                </a:tc>
                <a:extLst>
                  <a:ext uri="{0D108BD9-81ED-4DB2-BD59-A6C34878D82A}">
                    <a16:rowId xmlns:a16="http://schemas.microsoft.com/office/drawing/2014/main" val="10000"/>
                  </a:ext>
                </a:extLst>
              </a:tr>
              <a:tr h="597408">
                <a:tc>
                  <a:txBody>
                    <a:bodyPr/>
                    <a:lstStyle/>
                    <a:p>
                      <a:pPr>
                        <a:spcAft>
                          <a:spcPts val="0"/>
                        </a:spcAft>
                      </a:pPr>
                      <a:r>
                        <a:rPr sz="1250" b="1">
                          <a:solidFill>
                            <a:srgbClr val="1C2A39"/>
                          </a:solidFill>
                          <a:latin typeface="Aptos"/>
                        </a:rPr>
                        <a:t>LLaVA-1.5-7B</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VLGuard-Unsafe</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3.71 / 20.92</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6.70 / 59.30</a:t>
                      </a:r>
                    </a:p>
                  </a:txBody>
                  <a:tcPr marL="73152" marR="54864" marT="36576" marB="27432" anchor="ctr">
                    <a:solidFill>
                      <a:srgbClr val="FFFFFF"/>
                    </a:solidFill>
                  </a:tcPr>
                </a:tc>
                <a:extLst>
                  <a:ext uri="{0D108BD9-81ED-4DB2-BD59-A6C34878D82A}">
                    <a16:rowId xmlns:a16="http://schemas.microsoft.com/office/drawing/2014/main" val="10001"/>
                  </a:ext>
                </a:extLst>
              </a:tr>
              <a:tr h="597408">
                <a:tc>
                  <a:txBody>
                    <a:bodyPr/>
                    <a:lstStyle/>
                    <a:p>
                      <a:pPr>
                        <a:spcAft>
                          <a:spcPts val="0"/>
                        </a:spcAft>
                      </a:pPr>
                      <a:r>
                        <a:rPr sz="1250" b="1">
                          <a:solidFill>
                            <a:srgbClr val="1C2A39"/>
                          </a:solidFill>
                          <a:latin typeface="Aptos"/>
                        </a:rPr>
                        <a:t>LLaVA-1.5-7B</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3.80 / 44.85</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6.77 / 58.43</a:t>
                      </a:r>
                    </a:p>
                  </a:txBody>
                  <a:tcPr marL="73152" marR="54864" marT="36576" marB="27432" anchor="ctr">
                    <a:solidFill>
                      <a:srgbClr val="EFF3F6"/>
                    </a:solidFill>
                  </a:tcPr>
                </a:tc>
                <a:extLst>
                  <a:ext uri="{0D108BD9-81ED-4DB2-BD59-A6C34878D82A}">
                    <a16:rowId xmlns:a16="http://schemas.microsoft.com/office/drawing/2014/main" val="10002"/>
                  </a:ext>
                </a:extLst>
              </a:tr>
              <a:tr h="597408">
                <a:tc>
                  <a:txBody>
                    <a:bodyPr/>
                    <a:lstStyle/>
                    <a:p>
                      <a:pPr>
                        <a:spcAft>
                          <a:spcPts val="0"/>
                        </a:spcAft>
                      </a:pPr>
                      <a:r>
                        <a:rPr sz="1250" b="1">
                          <a:solidFill>
                            <a:srgbClr val="1C2A39"/>
                          </a:solidFill>
                          <a:latin typeface="Aptos"/>
                        </a:rPr>
                        <a:t>Qwen2-VL-7B</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VLGuard-Unsafe</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6.10 / 49.50</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7.65 / 64.82</a:t>
                      </a:r>
                    </a:p>
                  </a:txBody>
                  <a:tcPr marL="73152" marR="54864" marT="36576" marB="27432" anchor="ctr">
                    <a:solidFill>
                      <a:srgbClr val="FFFFFF"/>
                    </a:solidFill>
                  </a:tcPr>
                </a:tc>
                <a:extLst>
                  <a:ext uri="{0D108BD9-81ED-4DB2-BD59-A6C34878D82A}">
                    <a16:rowId xmlns:a16="http://schemas.microsoft.com/office/drawing/2014/main" val="10003"/>
                  </a:ext>
                </a:extLst>
              </a:tr>
              <a:tr h="597408">
                <a:tc>
                  <a:txBody>
                    <a:bodyPr/>
                    <a:lstStyle/>
                    <a:p>
                      <a:pPr>
                        <a:spcAft>
                          <a:spcPts val="0"/>
                        </a:spcAft>
                      </a:pPr>
                      <a:r>
                        <a:rPr sz="1250" b="1">
                          <a:solidFill>
                            <a:srgbClr val="1C2A39"/>
                          </a:solidFill>
                          <a:latin typeface="Aptos"/>
                        </a:rPr>
                        <a:t>Qwen2-VL-7B</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4.26 / 60.24</a:t>
                      </a:r>
                    </a:p>
                  </a:txBody>
                  <a:tcPr marL="73152" marR="54864" marT="36576" marB="27432" anchor="ctr">
                    <a:solidFill>
                      <a:srgbClr val="EFF3F6"/>
                    </a:solidFill>
                  </a:tcPr>
                </a:tc>
                <a:tc>
                  <a:txBody>
                    <a:bodyPr/>
                    <a:lstStyle/>
                    <a:p>
                      <a:pPr>
                        <a:spcAft>
                          <a:spcPts val="0"/>
                        </a:spcAft>
                      </a:pPr>
                      <a:r>
                        <a:rPr sz="1250" b="0">
                          <a:solidFill>
                            <a:srgbClr val="1C2A39"/>
                          </a:solidFill>
                          <a:latin typeface="Aptos"/>
                        </a:rPr>
                        <a:t>6.11 / 53.61</a:t>
                      </a:r>
                    </a:p>
                  </a:txBody>
                  <a:tcPr marL="73152" marR="54864" marT="36576" marB="27432" anchor="ctr">
                    <a:solidFill>
                      <a:srgbClr val="EFF3F6"/>
                    </a:solidFill>
                  </a:tcPr>
                </a:tc>
                <a:extLst>
                  <a:ext uri="{0D108BD9-81ED-4DB2-BD59-A6C34878D82A}">
                    <a16:rowId xmlns:a16="http://schemas.microsoft.com/office/drawing/2014/main" val="10004"/>
                  </a:ext>
                </a:extLst>
              </a:tr>
              <a:tr h="597408">
                <a:tc>
                  <a:txBody>
                    <a:bodyPr/>
                    <a:lstStyle/>
                    <a:p>
                      <a:pPr>
                        <a:spcAft>
                          <a:spcPts val="0"/>
                        </a:spcAft>
                      </a:pPr>
                      <a:r>
                        <a:rPr sz="1250" b="1">
                          <a:solidFill>
                            <a:srgbClr val="1C2A39"/>
                          </a:solidFill>
                          <a:latin typeface="Aptos"/>
                        </a:rPr>
                        <a:t>Qwen2-VL-7B</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MM-SafetyBench TYPO</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6.08 / 83.08</a:t>
                      </a:r>
                    </a:p>
                  </a:txBody>
                  <a:tcPr marL="73152" marR="54864" marT="36576" marB="27432" anchor="ctr">
                    <a:solidFill>
                      <a:srgbClr val="FFFFFF"/>
                    </a:solidFill>
                  </a:tcPr>
                </a:tc>
                <a:tc>
                  <a:txBody>
                    <a:bodyPr/>
                    <a:lstStyle/>
                    <a:p>
                      <a:pPr>
                        <a:spcAft>
                          <a:spcPts val="0"/>
                        </a:spcAft>
                      </a:pPr>
                      <a:r>
                        <a:rPr sz="1250" b="0">
                          <a:solidFill>
                            <a:srgbClr val="1C2A39"/>
                          </a:solidFill>
                          <a:latin typeface="Aptos"/>
                        </a:rPr>
                        <a:t>8.98 / 86.05</a:t>
                      </a:r>
                    </a:p>
                  </a:txBody>
                  <a:tcPr marL="73152" marR="54864" marT="36576" marB="27432"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822960" y="5440680"/>
            <a:ext cx="10561320" cy="621792"/>
          </a:xfrm>
          <a:prstGeom prst="rect">
            <a:avLst/>
          </a:prstGeom>
          <a:noFill/>
        </p:spPr>
        <p:txBody>
          <a:bodyPr wrap="square" lIns="18288" tIns="18288" rIns="18288" bIns="18288" anchor="t">
            <a:spAutoFit/>
          </a:bodyPr>
          <a:lstStyle/>
          <a:p>
            <a:pPr algn="l"/>
            <a:r>
              <a:rPr sz="1400" b="0">
                <a:solidFill>
                  <a:srgbClr val="1C2A39"/>
                </a:solidFill>
                <a:latin typeface="Aptos"/>
              </a:rPr>
              <a:t>The SIUO helpfulness decrease on Qwen2-VL (60.24→53.61) is a counterexample to “all metrics improve.” The guard is an external Qwen2-VL-7B rewriter; count its extra model, training and latency.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ATTACHED PAPER RESULTS</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VLMGuard-R1: its own refusal-rate table is not the whole safety story</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[15]</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23</a:t>
            </a:r>
          </a:p>
        </p:txBody>
      </p:sp>
      <p:graphicFrame>
        <p:nvGraphicFramePr>
          <p:cNvPr id="7" name="Table 6"/>
          <p:cNvGraphicFramePr>
            <a:graphicFrameLocks noGrp="1"/>
          </p:cNvGraphicFramePr>
          <p:nvPr/>
        </p:nvGraphicFramePr>
        <p:xfrm>
          <a:off x="658368" y="1664208"/>
          <a:ext cx="10881360" cy="34747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579120">
                <a:tc>
                  <a:txBody>
                    <a:bodyPr/>
                    <a:lstStyle/>
                    <a:p>
                      <a:pPr>
                        <a:spcAft>
                          <a:spcPts val="0"/>
                        </a:spcAft>
                      </a:pPr>
                      <a:r>
                        <a:rPr sz="1100" b="1">
                          <a:solidFill>
                            <a:srgbClr val="FFFFFF"/>
                          </a:solidFill>
                          <a:latin typeface="Aptos"/>
                        </a:rPr>
                        <a:t>Method</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SD</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SD+TYPO</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TYPO</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SIUO</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VLGuard-U</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Overall</a:t>
                      </a:r>
                    </a:p>
                  </a:txBody>
                  <a:tcPr marL="73152" marR="54864" marT="36576" marB="27432" anchor="ctr">
                    <a:solidFill>
                      <a:srgbClr val="122A42"/>
                    </a:solidFill>
                  </a:tcPr>
                </a:tc>
                <a:extLst>
                  <a:ext uri="{0D108BD9-81ED-4DB2-BD59-A6C34878D82A}">
                    <a16:rowId xmlns:a16="http://schemas.microsoft.com/office/drawing/2014/main" val="10000"/>
                  </a:ext>
                </a:extLst>
              </a:tr>
              <a:tr h="579120">
                <a:tc>
                  <a:txBody>
                    <a:bodyPr/>
                    <a:lstStyle/>
                    <a:p>
                      <a:pPr>
                        <a:spcAft>
                          <a:spcPts val="0"/>
                        </a:spcAft>
                      </a:pPr>
                      <a:r>
                        <a:rPr sz="1200" b="1">
                          <a:solidFill>
                            <a:srgbClr val="1C2A39"/>
                          </a:solidFill>
                          <a:latin typeface="Aptos"/>
                        </a:rPr>
                        <a:t>VLMGuard-R1</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53.1</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50.8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65.4</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56.0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55.3</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56.1</a:t>
                      </a:r>
                    </a:p>
                  </a:txBody>
                  <a:tcPr marL="73152" marR="54864" marT="36576" marB="27432" anchor="ctr">
                    <a:solidFill>
                      <a:srgbClr val="FFFFFF"/>
                    </a:solidFill>
                  </a:tcPr>
                </a:tc>
                <a:extLst>
                  <a:ext uri="{0D108BD9-81ED-4DB2-BD59-A6C34878D82A}">
                    <a16:rowId xmlns:a16="http://schemas.microsoft.com/office/drawing/2014/main" val="10001"/>
                  </a:ext>
                </a:extLst>
              </a:tr>
              <a:tr h="579120">
                <a:tc>
                  <a:txBody>
                    <a:bodyPr/>
                    <a:lstStyle/>
                    <a:p>
                      <a:pPr>
                        <a:spcAft>
                          <a:spcPts val="0"/>
                        </a:spcAft>
                      </a:pPr>
                      <a:r>
                        <a:rPr sz="1200" b="1">
                          <a:solidFill>
                            <a:srgbClr val="1C2A39"/>
                          </a:solidFill>
                          <a:latin typeface="Aptos"/>
                        </a:rPr>
                        <a:t>ETA</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22.3</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46.9</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51.5</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15.0</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57.0</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38.5</a:t>
                      </a:r>
                    </a:p>
                  </a:txBody>
                  <a:tcPr marL="73152" marR="54864" marT="36576" marB="27432" anchor="ctr">
                    <a:solidFill>
                      <a:srgbClr val="EFF3F6"/>
                    </a:solidFill>
                  </a:tcPr>
                </a:tc>
                <a:extLst>
                  <a:ext uri="{0D108BD9-81ED-4DB2-BD59-A6C34878D82A}">
                    <a16:rowId xmlns:a16="http://schemas.microsoft.com/office/drawing/2014/main" val="10002"/>
                  </a:ext>
                </a:extLst>
              </a:tr>
              <a:tr h="579120">
                <a:tc>
                  <a:txBody>
                    <a:bodyPr/>
                    <a:lstStyle/>
                    <a:p>
                      <a:pPr>
                        <a:spcAft>
                          <a:spcPts val="0"/>
                        </a:spcAft>
                      </a:pPr>
                      <a:r>
                        <a:rPr sz="1200" b="1">
                          <a:solidFill>
                            <a:srgbClr val="1C2A39"/>
                          </a:solidFill>
                          <a:latin typeface="Aptos"/>
                        </a:rPr>
                        <a:t>MLLM-Protector</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30.8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28.5</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27.7</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26.3</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48.0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32.3</a:t>
                      </a:r>
                    </a:p>
                  </a:txBody>
                  <a:tcPr marL="73152" marR="54864" marT="36576" marB="27432" anchor="ctr">
                    <a:solidFill>
                      <a:srgbClr val="FFFFFF"/>
                    </a:solidFill>
                  </a:tcPr>
                </a:tc>
                <a:extLst>
                  <a:ext uri="{0D108BD9-81ED-4DB2-BD59-A6C34878D82A}">
                    <a16:rowId xmlns:a16="http://schemas.microsoft.com/office/drawing/2014/main" val="10003"/>
                  </a:ext>
                </a:extLst>
              </a:tr>
              <a:tr h="579120">
                <a:tc>
                  <a:txBody>
                    <a:bodyPr/>
                    <a:lstStyle/>
                    <a:p>
                      <a:pPr>
                        <a:spcAft>
                          <a:spcPts val="0"/>
                        </a:spcAft>
                      </a:pPr>
                      <a:r>
                        <a:rPr sz="1200" b="1">
                          <a:solidFill>
                            <a:srgbClr val="1C2A39"/>
                          </a:solidFill>
                          <a:latin typeface="Aptos"/>
                        </a:rPr>
                        <a:t>FigStep defense</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23.1</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15.4</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16.2</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22.2</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43.0</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24.0</a:t>
                      </a:r>
                    </a:p>
                  </a:txBody>
                  <a:tcPr marL="73152" marR="54864" marT="36576" marB="27432" anchor="ctr">
                    <a:solidFill>
                      <a:srgbClr val="EFF3F6"/>
                    </a:solidFill>
                  </a:tcPr>
                </a:tc>
                <a:extLst>
                  <a:ext uri="{0D108BD9-81ED-4DB2-BD59-A6C34878D82A}">
                    <a16:rowId xmlns:a16="http://schemas.microsoft.com/office/drawing/2014/main" val="10004"/>
                  </a:ext>
                </a:extLst>
              </a:tr>
              <a:tr h="579120">
                <a:tc>
                  <a:txBody>
                    <a:bodyPr/>
                    <a:lstStyle/>
                    <a:p>
                      <a:pPr>
                        <a:spcAft>
                          <a:spcPts val="0"/>
                        </a:spcAft>
                      </a:pPr>
                      <a:r>
                        <a:rPr sz="1200" b="1">
                          <a:solidFill>
                            <a:srgbClr val="1C2A39"/>
                          </a:solidFill>
                          <a:latin typeface="Aptos"/>
                        </a:rPr>
                        <a:t>ECSO</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3.8</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7.7</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9.0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11.0</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7.1</a:t>
                      </a:r>
                    </a:p>
                  </a:txBody>
                  <a:tcPr marL="73152" marR="54864" marT="36576" marB="27432"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822960" y="5349240"/>
            <a:ext cx="10561320" cy="685800"/>
          </a:xfrm>
          <a:prstGeom prst="rect">
            <a:avLst/>
          </a:prstGeom>
          <a:noFill/>
        </p:spPr>
        <p:txBody>
          <a:bodyPr wrap="square" lIns="18288" tIns="18288" rIns="18288" bIns="18288" anchor="t">
            <a:spAutoFit/>
          </a:bodyPr>
          <a:lstStyle/>
          <a:p>
            <a:pPr algn="l"/>
            <a:r>
              <a:rPr sz="1400" b="1">
                <a:solidFill>
                  <a:srgbClr val="276B7E"/>
                </a:solidFill>
                <a:latin typeface="Aptos"/>
              </a:rPr>
              <a:t>DSR is defined by detection of listed refusal strings, so it is not equivalent to a semantic harmful-compliance judge and can reward formulaic refusal. Interpret alongside the paper’s GPT-4o safety/helpfulness results.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EXTERNAL PAPER RESULTS</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ADPO: strong adversarial-training results under a specific protocol</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[12]</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24</a:t>
            </a:r>
          </a:p>
        </p:txBody>
      </p:sp>
      <p:graphicFrame>
        <p:nvGraphicFramePr>
          <p:cNvPr id="7" name="Table 6"/>
          <p:cNvGraphicFramePr>
            <a:graphicFrameLocks noGrp="1"/>
          </p:cNvGraphicFramePr>
          <p:nvPr/>
        </p:nvGraphicFramePr>
        <p:xfrm>
          <a:off x="566928" y="1572768"/>
          <a:ext cx="11045952" cy="3886200"/>
        </p:xfrm>
        <a:graphic>
          <a:graphicData uri="http://schemas.openxmlformats.org/drawingml/2006/table">
            <a:tbl>
              <a:tblPr firstRow="1" bandRow="1">
                <a:tableStyleId>{5C22544A-7EE6-4342-B048-85BDC9FD1C3A}</a:tableStyleId>
              </a:tblPr>
              <a:tblGrid>
                <a:gridCol w="16916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3639312">
                  <a:extLst>
                    <a:ext uri="{9D8B030D-6E8A-4147-A177-3AD203B41FA5}">
                      <a16:colId xmlns:a16="http://schemas.microsoft.com/office/drawing/2014/main" val="20006"/>
                    </a:ext>
                  </a:extLst>
                </a:gridCol>
              </a:tblGrid>
              <a:tr h="647700">
                <a:tc>
                  <a:txBody>
                    <a:bodyPr/>
                    <a:lstStyle/>
                    <a:p>
                      <a:pPr>
                        <a:spcAft>
                          <a:spcPts val="0"/>
                        </a:spcAft>
                      </a:pPr>
                      <a:r>
                        <a:rPr sz="950" b="1">
                          <a:solidFill>
                            <a:srgbClr val="FFFFFF"/>
                          </a:solidFill>
                          <a:latin typeface="Aptos"/>
                        </a:rPr>
                        <a:t>Model</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VisualAdv</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MMPGD</a:t>
                      </a:r>
                    </a:p>
                    <a:p>
                      <a:pPr>
                        <a:spcAft>
                          <a:spcPts val="0"/>
                        </a:spcAft>
                      </a:pPr>
                      <a:r>
                        <a:rPr sz="950" b="1">
                          <a:solidFill>
                            <a:srgbClr val="FFFFFF"/>
                          </a:solidFill>
                          <a:latin typeface="Aptos"/>
                        </a:rPr>
                        <a:t>Blank</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MultiTrust</a:t>
                      </a:r>
                    </a:p>
                    <a:p>
                      <a:pPr>
                        <a:spcAft>
                          <a:spcPts val="0"/>
                        </a:spcAft>
                      </a:pPr>
                      <a:r>
                        <a:rPr sz="950" b="1">
                          <a:solidFill>
                            <a:srgbClr val="FFFFFF"/>
                          </a:solidFill>
                          <a:latin typeface="Aptos"/>
                        </a:rPr>
                        <a:t>Typo</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MultiTrust</a:t>
                      </a:r>
                    </a:p>
                    <a:p>
                      <a:pPr>
                        <a:spcAft>
                          <a:spcPts val="0"/>
                        </a:spcAft>
                      </a:pPr>
                      <a:r>
                        <a:rPr sz="950" b="1">
                          <a:solidFill>
                            <a:srgbClr val="FFFFFF"/>
                          </a:solidFill>
                          <a:latin typeface="Aptos"/>
                        </a:rPr>
                        <a:t>Multimodal</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MultiTrust</a:t>
                      </a:r>
                    </a:p>
                    <a:p>
                      <a:pPr>
                        <a:spcAft>
                          <a:spcPts val="0"/>
                        </a:spcAft>
                      </a:pPr>
                      <a:r>
                        <a:rPr sz="950" b="1">
                          <a:solidFill>
                            <a:srgbClr val="FFFFFF"/>
                          </a:solidFill>
                          <a:latin typeface="Aptos"/>
                        </a:rPr>
                        <a:t>Cross-modal</a:t>
                      </a:r>
                    </a:p>
                  </a:txBody>
                  <a:tcPr marL="73152" marR="54864" marT="36576" marB="27432" anchor="ctr">
                    <a:solidFill>
                      <a:srgbClr val="122A42"/>
                    </a:solidFill>
                  </a:tcPr>
                </a:tc>
                <a:tc>
                  <a:txBody>
                    <a:bodyPr/>
                    <a:lstStyle/>
                    <a:p>
                      <a:pPr>
                        <a:spcAft>
                          <a:spcPts val="0"/>
                        </a:spcAft>
                      </a:pPr>
                      <a:r>
                        <a:rPr sz="950" b="1">
                          <a:solidFill>
                            <a:srgbClr val="FFFFFF"/>
                          </a:solidFill>
                          <a:latin typeface="Aptos"/>
                        </a:rPr>
                        <a:t>MMStar / OCRBench / MM-Vet / LLaVABench</a:t>
                      </a:r>
                    </a:p>
                  </a:txBody>
                  <a:tcPr marL="73152" marR="54864" marT="36576" marB="27432" anchor="ctr">
                    <a:solidFill>
                      <a:srgbClr val="122A42"/>
                    </a:solidFill>
                  </a:tcPr>
                </a:tc>
                <a:extLst>
                  <a:ext uri="{0D108BD9-81ED-4DB2-BD59-A6C34878D82A}">
                    <a16:rowId xmlns:a16="http://schemas.microsoft.com/office/drawing/2014/main" val="10000"/>
                  </a:ext>
                </a:extLst>
              </a:tr>
              <a:tr h="647700">
                <a:tc>
                  <a:txBody>
                    <a:bodyPr/>
                    <a:lstStyle/>
                    <a:p>
                      <a:pPr>
                        <a:spcAft>
                          <a:spcPts val="0"/>
                        </a:spcAft>
                      </a:pPr>
                      <a:r>
                        <a:rPr sz="1050" b="1">
                          <a:solidFill>
                            <a:srgbClr val="1C2A39"/>
                          </a:solidFill>
                          <a:latin typeface="Aptos"/>
                        </a:rPr>
                        <a:t>LLaVA-1.5-7B base</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64.5</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84.0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22.2</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55.1</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42.0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32.7 / 202 / 29.9 / 59.5</a:t>
                      </a:r>
                    </a:p>
                  </a:txBody>
                  <a:tcPr marL="73152" marR="54864" marT="36576" marB="27432" anchor="ctr">
                    <a:solidFill>
                      <a:srgbClr val="FFFFFF"/>
                    </a:solidFill>
                  </a:tcPr>
                </a:tc>
                <a:extLst>
                  <a:ext uri="{0D108BD9-81ED-4DB2-BD59-A6C34878D82A}">
                    <a16:rowId xmlns:a16="http://schemas.microsoft.com/office/drawing/2014/main" val="10001"/>
                  </a:ext>
                </a:extLst>
              </a:tr>
              <a:tr h="647700">
                <a:tc>
                  <a:txBody>
                    <a:bodyPr/>
                    <a:lstStyle/>
                    <a:p>
                      <a:pPr>
                        <a:spcAft>
                          <a:spcPts val="0"/>
                        </a:spcAft>
                      </a:pPr>
                      <a:r>
                        <a:rPr sz="1050" b="1">
                          <a:solidFill>
                            <a:srgbClr val="1C2A39"/>
                          </a:solidFill>
                          <a:latin typeface="Aptos"/>
                        </a:rPr>
                        <a:t>LLaVA + DPO</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12.0</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33.0</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0.7</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8.8</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9.6</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33.9 / 198 / 28.9 / 54.4</a:t>
                      </a:r>
                    </a:p>
                  </a:txBody>
                  <a:tcPr marL="73152" marR="54864" marT="36576" marB="27432" anchor="ctr">
                    <a:solidFill>
                      <a:srgbClr val="EFF3F6"/>
                    </a:solidFill>
                  </a:tcPr>
                </a:tc>
                <a:extLst>
                  <a:ext uri="{0D108BD9-81ED-4DB2-BD59-A6C34878D82A}">
                    <a16:rowId xmlns:a16="http://schemas.microsoft.com/office/drawing/2014/main" val="10002"/>
                  </a:ext>
                </a:extLst>
              </a:tr>
              <a:tr h="647700">
                <a:tc>
                  <a:txBody>
                    <a:bodyPr/>
                    <a:lstStyle/>
                    <a:p>
                      <a:pPr>
                        <a:spcAft>
                          <a:spcPts val="0"/>
                        </a:spcAft>
                      </a:pPr>
                      <a:r>
                        <a:rPr sz="1050" b="1">
                          <a:solidFill>
                            <a:srgbClr val="1C2A39"/>
                          </a:solidFill>
                          <a:latin typeface="Aptos"/>
                        </a:rPr>
                        <a:t>LLaVA + ADPO</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0.5</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0.2</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33.7 / 184 / 24.2 / 48.2</a:t>
                      </a:r>
                    </a:p>
                  </a:txBody>
                  <a:tcPr marL="73152" marR="54864" marT="36576" marB="27432" anchor="ctr">
                    <a:solidFill>
                      <a:srgbClr val="FFFFFF"/>
                    </a:solidFill>
                  </a:tcPr>
                </a:tc>
                <a:extLst>
                  <a:ext uri="{0D108BD9-81ED-4DB2-BD59-A6C34878D82A}">
                    <a16:rowId xmlns:a16="http://schemas.microsoft.com/office/drawing/2014/main" val="10003"/>
                  </a:ext>
                </a:extLst>
              </a:tr>
              <a:tr h="647700">
                <a:tc>
                  <a:txBody>
                    <a:bodyPr/>
                    <a:lstStyle/>
                    <a:p>
                      <a:pPr>
                        <a:spcAft>
                          <a:spcPts val="0"/>
                        </a:spcAft>
                      </a:pPr>
                      <a:r>
                        <a:rPr sz="1050" b="1">
                          <a:solidFill>
                            <a:srgbClr val="1C2A39"/>
                          </a:solidFill>
                          <a:latin typeface="Aptos"/>
                        </a:rPr>
                        <a:t>Qwen2-VL-7B base</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13.5</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30.0</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4.5</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54.3</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6.3</a:t>
                      </a:r>
                    </a:p>
                  </a:txBody>
                  <a:tcPr marL="73152" marR="54864" marT="36576" marB="27432" anchor="ctr">
                    <a:solidFill>
                      <a:srgbClr val="EFF3F6"/>
                    </a:solidFill>
                  </a:tcPr>
                </a:tc>
                <a:tc>
                  <a:txBody>
                    <a:bodyPr/>
                    <a:lstStyle/>
                    <a:p>
                      <a:pPr>
                        <a:spcAft>
                          <a:spcPts val="0"/>
                        </a:spcAft>
                      </a:pPr>
                      <a:r>
                        <a:rPr sz="1050" b="0">
                          <a:solidFill>
                            <a:srgbClr val="1C2A39"/>
                          </a:solidFill>
                          <a:latin typeface="Aptos"/>
                        </a:rPr>
                        <a:t>58.5 / 841 / 64.7 / 88.0</a:t>
                      </a:r>
                    </a:p>
                  </a:txBody>
                  <a:tcPr marL="73152" marR="54864" marT="36576" marB="27432" anchor="ctr">
                    <a:solidFill>
                      <a:srgbClr val="EFF3F6"/>
                    </a:solidFill>
                  </a:tcPr>
                </a:tc>
                <a:extLst>
                  <a:ext uri="{0D108BD9-81ED-4DB2-BD59-A6C34878D82A}">
                    <a16:rowId xmlns:a16="http://schemas.microsoft.com/office/drawing/2014/main" val="10004"/>
                  </a:ext>
                </a:extLst>
              </a:tr>
              <a:tr h="647700">
                <a:tc>
                  <a:txBody>
                    <a:bodyPr/>
                    <a:lstStyle/>
                    <a:p>
                      <a:pPr>
                        <a:spcAft>
                          <a:spcPts val="0"/>
                        </a:spcAft>
                      </a:pPr>
                      <a:r>
                        <a:rPr sz="1050" b="1">
                          <a:solidFill>
                            <a:srgbClr val="1C2A39"/>
                          </a:solidFill>
                          <a:latin typeface="Aptos"/>
                        </a:rPr>
                        <a:t>Qwen2-VL + ADPO</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1.5</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4.0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0.0</a:t>
                      </a:r>
                    </a:p>
                  </a:txBody>
                  <a:tcPr marL="73152" marR="54864" marT="36576" marB="27432" anchor="ctr">
                    <a:solidFill>
                      <a:srgbClr val="FFFFFF"/>
                    </a:solidFill>
                  </a:tcPr>
                </a:tc>
                <a:tc>
                  <a:txBody>
                    <a:bodyPr/>
                    <a:lstStyle/>
                    <a:p>
                      <a:pPr>
                        <a:spcAft>
                          <a:spcPts val="0"/>
                        </a:spcAft>
                      </a:pPr>
                      <a:r>
                        <a:rPr sz="1050" b="0">
                          <a:solidFill>
                            <a:srgbClr val="1C2A39"/>
                          </a:solidFill>
                          <a:latin typeface="Aptos"/>
                        </a:rPr>
                        <a:t>57.6 / 830 / 53.9 / 74.2</a:t>
                      </a:r>
                    </a:p>
                  </a:txBody>
                  <a:tcPr marL="73152" marR="54864" marT="36576" marB="27432"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731520" y="5623560"/>
            <a:ext cx="10789920" cy="429768"/>
          </a:xfrm>
          <a:prstGeom prst="rect">
            <a:avLst/>
          </a:prstGeom>
          <a:noFill/>
        </p:spPr>
        <p:txBody>
          <a:bodyPr wrap="square" lIns="18288" tIns="18288" rIns="18288" bIns="18288" anchor="t">
            <a:spAutoFit/>
          </a:bodyPr>
          <a:lstStyle/>
          <a:p>
            <a:pPr algn="l"/>
            <a:r>
              <a:rPr sz="1200" b="0">
                <a:solidFill>
                  <a:srgbClr val="1C2A39"/>
                </a:solidFill>
                <a:latin typeface="Aptos"/>
              </a:rPr>
              <a:t>Utility tuple order is as labeled; ADPO is direct prior art, but its gains are protocol-specific and some utility scores decline.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BENCHMARK APPENDIX</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Benchmark selection: examples, size, and what a score can mean</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[2], [9], [10], [11], [16], [17]</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25</a:t>
            </a:r>
          </a:p>
        </p:txBody>
      </p:sp>
      <p:graphicFrame>
        <p:nvGraphicFramePr>
          <p:cNvPr id="7" name="Table 6"/>
          <p:cNvGraphicFramePr>
            <a:graphicFrameLocks noGrp="1"/>
          </p:cNvGraphicFramePr>
          <p:nvPr/>
        </p:nvGraphicFramePr>
        <p:xfrm>
          <a:off x="566928" y="1572768"/>
          <a:ext cx="11045952" cy="438912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gridCol w="3502152">
                  <a:extLst>
                    <a:ext uri="{9D8B030D-6E8A-4147-A177-3AD203B41FA5}">
                      <a16:colId xmlns:a16="http://schemas.microsoft.com/office/drawing/2014/main" val="20003"/>
                    </a:ext>
                  </a:extLst>
                </a:gridCol>
              </a:tblGrid>
              <a:tr h="627017">
                <a:tc>
                  <a:txBody>
                    <a:bodyPr/>
                    <a:lstStyle/>
                    <a:p>
                      <a:pPr>
                        <a:spcAft>
                          <a:spcPts val="0"/>
                        </a:spcAft>
                      </a:pPr>
                      <a:r>
                        <a:rPr sz="1050" b="1">
                          <a:solidFill>
                            <a:srgbClr val="FFFFFF"/>
                          </a:solidFill>
                          <a:latin typeface="Aptos"/>
                        </a:rPr>
                        <a:t>Benchmark</a:t>
                      </a:r>
                    </a:p>
                  </a:txBody>
                  <a:tcPr marL="73152" marR="54864" marT="36576" marB="27432" anchor="ctr">
                    <a:solidFill>
                      <a:srgbClr val="122A42"/>
                    </a:solidFill>
                  </a:tcPr>
                </a:tc>
                <a:tc>
                  <a:txBody>
                    <a:bodyPr/>
                    <a:lstStyle/>
                    <a:p>
                      <a:pPr>
                        <a:spcAft>
                          <a:spcPts val="0"/>
                        </a:spcAft>
                      </a:pPr>
                      <a:r>
                        <a:rPr sz="1050" b="1">
                          <a:solidFill>
                            <a:srgbClr val="FFFFFF"/>
                          </a:solidFill>
                          <a:latin typeface="Aptos"/>
                        </a:rPr>
                        <a:t>Scale</a:t>
                      </a:r>
                    </a:p>
                  </a:txBody>
                  <a:tcPr marL="73152" marR="54864" marT="36576" marB="27432" anchor="ctr">
                    <a:solidFill>
                      <a:srgbClr val="122A42"/>
                    </a:solidFill>
                  </a:tcPr>
                </a:tc>
                <a:tc>
                  <a:txBody>
                    <a:bodyPr/>
                    <a:lstStyle/>
                    <a:p>
                      <a:pPr>
                        <a:spcAft>
                          <a:spcPts val="0"/>
                        </a:spcAft>
                      </a:pPr>
                      <a:r>
                        <a:rPr sz="1050" b="1">
                          <a:solidFill>
                            <a:srgbClr val="FFFFFF"/>
                          </a:solidFill>
                          <a:latin typeface="Aptos"/>
                        </a:rPr>
                        <a:t>Concrete test shape (sanitized)</a:t>
                      </a:r>
                    </a:p>
                  </a:txBody>
                  <a:tcPr marL="73152" marR="54864" marT="36576" marB="27432" anchor="ctr">
                    <a:solidFill>
                      <a:srgbClr val="122A42"/>
                    </a:solidFill>
                  </a:tcPr>
                </a:tc>
                <a:tc>
                  <a:txBody>
                    <a:bodyPr/>
                    <a:lstStyle/>
                    <a:p>
                      <a:pPr>
                        <a:spcAft>
                          <a:spcPts val="0"/>
                        </a:spcAft>
                      </a:pPr>
                      <a:r>
                        <a:rPr sz="1050" b="1">
                          <a:solidFill>
                            <a:srgbClr val="FFFFFF"/>
                          </a:solidFill>
                          <a:latin typeface="Aptos"/>
                        </a:rPr>
                        <a:t>Interpretation / caveat</a:t>
                      </a:r>
                    </a:p>
                  </a:txBody>
                  <a:tcPr marL="73152" marR="54864" marT="36576" marB="27432" anchor="ctr">
                    <a:solidFill>
                      <a:srgbClr val="122A42"/>
                    </a:solidFill>
                  </a:tcPr>
                </a:tc>
                <a:extLst>
                  <a:ext uri="{0D108BD9-81ED-4DB2-BD59-A6C34878D82A}">
                    <a16:rowId xmlns:a16="http://schemas.microsoft.com/office/drawing/2014/main" val="10000"/>
                  </a:ext>
                </a:extLst>
              </a:tr>
              <a:tr h="627017">
                <a:tc>
                  <a:txBody>
                    <a:bodyPr/>
                    <a:lstStyle/>
                    <a:p>
                      <a:pPr>
                        <a:spcAft>
                          <a:spcPts val="0"/>
                        </a:spcAft>
                      </a:pPr>
                      <a:r>
                        <a:rPr sz="1150" b="1">
                          <a:solidFill>
                            <a:srgbClr val="1C2A39"/>
                          </a:solidFill>
                          <a:latin typeface="Aptos"/>
                        </a:rPr>
                        <a:t>MM-SafetyBench</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5,040; 13 risk scenarios</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Generated image prompt; SD, OCR, SD+OCR</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Attack success across image carriers; synthetic/template effects</a:t>
                      </a:r>
                    </a:p>
                  </a:txBody>
                  <a:tcPr marL="73152" marR="54864" marT="36576" marB="27432" anchor="ctr">
                    <a:solidFill>
                      <a:srgbClr val="FFFFFF"/>
                    </a:solidFill>
                  </a:tcPr>
                </a:tc>
                <a:extLst>
                  <a:ext uri="{0D108BD9-81ED-4DB2-BD59-A6C34878D82A}">
                    <a16:rowId xmlns:a16="http://schemas.microsoft.com/office/drawing/2014/main" val="10001"/>
                  </a:ext>
                </a:extLst>
              </a:tr>
              <a:tr h="627017">
                <a:tc>
                  <a:txBody>
                    <a:bodyPr/>
                    <a:lstStyle/>
                    <a:p>
                      <a:pPr>
                        <a:spcAft>
                          <a:spcPts val="0"/>
                        </a:spcAft>
                      </a:pPr>
                      <a:r>
                        <a:rPr sz="1150" b="1">
                          <a:solidFill>
                            <a:srgbClr val="1C2A39"/>
                          </a:solidFill>
                          <a:latin typeface="Aptos"/>
                        </a:rPr>
                        <a:t>SIUO</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167; 9 domains</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Benign-looking image + benign-looking text; joint context changes risk</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Composition; small targeted set, not broad prevalence</a:t>
                      </a:r>
                    </a:p>
                  </a:txBody>
                  <a:tcPr marL="73152" marR="54864" marT="36576" marB="27432" anchor="ctr">
                    <a:solidFill>
                      <a:srgbClr val="EFF3F6"/>
                    </a:solidFill>
                  </a:tcPr>
                </a:tc>
                <a:extLst>
                  <a:ext uri="{0D108BD9-81ED-4DB2-BD59-A6C34878D82A}">
                    <a16:rowId xmlns:a16="http://schemas.microsoft.com/office/drawing/2014/main" val="10002"/>
                  </a:ext>
                </a:extLst>
              </a:tr>
              <a:tr h="627017">
                <a:tc>
                  <a:txBody>
                    <a:bodyPr/>
                    <a:lstStyle/>
                    <a:p>
                      <a:pPr>
                        <a:spcAft>
                          <a:spcPts val="0"/>
                        </a:spcAft>
                      </a:pPr>
                      <a:r>
                        <a:rPr sz="1150" b="1">
                          <a:solidFill>
                            <a:srgbClr val="1C2A39"/>
                          </a:solidFill>
                          <a:latin typeface="Aptos"/>
                        </a:rPr>
                        <a:t>VLSBench</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~2.2K</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Risk relevant to image is controlled against text leakage</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Whether image understanding is necessary</a:t>
                      </a:r>
                    </a:p>
                  </a:txBody>
                  <a:tcPr marL="73152" marR="54864" marT="36576" marB="27432" anchor="ctr">
                    <a:solidFill>
                      <a:srgbClr val="FFFFFF"/>
                    </a:solidFill>
                  </a:tcPr>
                </a:tc>
                <a:extLst>
                  <a:ext uri="{0D108BD9-81ED-4DB2-BD59-A6C34878D82A}">
                    <a16:rowId xmlns:a16="http://schemas.microsoft.com/office/drawing/2014/main" val="10003"/>
                  </a:ext>
                </a:extLst>
              </a:tr>
              <a:tr h="627017">
                <a:tc>
                  <a:txBody>
                    <a:bodyPr/>
                    <a:lstStyle/>
                    <a:p>
                      <a:pPr>
                        <a:spcAft>
                          <a:spcPts val="0"/>
                        </a:spcAft>
                      </a:pPr>
                      <a:r>
                        <a:rPr sz="1150" b="1">
                          <a:solidFill>
                            <a:srgbClr val="1C2A39"/>
                          </a:solidFill>
                          <a:latin typeface="Aptos"/>
                        </a:rPr>
                        <a:t>VSCBench</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3,600 paired cases</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Unsafe request plus safe near-neighbor counterpart</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Under-safety and over-safety calibration</a:t>
                      </a:r>
                    </a:p>
                  </a:txBody>
                  <a:tcPr marL="73152" marR="54864" marT="36576" marB="27432" anchor="ctr">
                    <a:solidFill>
                      <a:srgbClr val="EFF3F6"/>
                    </a:solidFill>
                  </a:tcPr>
                </a:tc>
                <a:extLst>
                  <a:ext uri="{0D108BD9-81ED-4DB2-BD59-A6C34878D82A}">
                    <a16:rowId xmlns:a16="http://schemas.microsoft.com/office/drawing/2014/main" val="10004"/>
                  </a:ext>
                </a:extLst>
              </a:tr>
              <a:tr h="627017">
                <a:tc>
                  <a:txBody>
                    <a:bodyPr/>
                    <a:lstStyle/>
                    <a:p>
                      <a:pPr>
                        <a:spcAft>
                          <a:spcPts val="0"/>
                        </a:spcAft>
                      </a:pPr>
                      <a:r>
                        <a:rPr sz="1150" b="1">
                          <a:solidFill>
                            <a:srgbClr val="1C2A39"/>
                          </a:solidFill>
                          <a:latin typeface="Aptos"/>
                        </a:rPr>
                        <a:t>USB</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61 risk categories × 4 modality interactions</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Risk-category and modality-interaction slices</a:t>
                      </a:r>
                    </a:p>
                  </a:txBody>
                  <a:tcPr marL="73152" marR="54864" marT="36576" marB="27432" anchor="ctr">
                    <a:solidFill>
                      <a:srgbClr val="FFFFFF"/>
                    </a:solidFill>
                  </a:tcPr>
                </a:tc>
                <a:tc>
                  <a:txBody>
                    <a:bodyPr/>
                    <a:lstStyle/>
                    <a:p>
                      <a:pPr>
                        <a:spcAft>
                          <a:spcPts val="0"/>
                        </a:spcAft>
                      </a:pPr>
                      <a:r>
                        <a:rPr sz="1150" b="0">
                          <a:solidFill>
                            <a:srgbClr val="1C2A39"/>
                          </a:solidFill>
                          <a:latin typeface="Aptos"/>
                        </a:rPr>
                        <a:t>Broad coverage; select vision-relevant slices</a:t>
                      </a:r>
                    </a:p>
                  </a:txBody>
                  <a:tcPr marL="73152" marR="54864" marT="36576" marB="27432" anchor="ctr">
                    <a:solidFill>
                      <a:srgbClr val="FFFFFF"/>
                    </a:solidFill>
                  </a:tcPr>
                </a:tc>
                <a:extLst>
                  <a:ext uri="{0D108BD9-81ED-4DB2-BD59-A6C34878D82A}">
                    <a16:rowId xmlns:a16="http://schemas.microsoft.com/office/drawing/2014/main" val="10005"/>
                  </a:ext>
                </a:extLst>
              </a:tr>
              <a:tr h="627018">
                <a:tc>
                  <a:txBody>
                    <a:bodyPr/>
                    <a:lstStyle/>
                    <a:p>
                      <a:pPr>
                        <a:spcAft>
                          <a:spcPts val="0"/>
                        </a:spcAft>
                      </a:pPr>
                      <a:r>
                        <a:rPr sz="1150" b="1">
                          <a:solidFill>
                            <a:srgbClr val="1C2A39"/>
                          </a:solidFill>
                          <a:latin typeface="Aptos"/>
                        </a:rPr>
                        <a:t>MMJailBench</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2026 preprint; 16 models</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Factor harmful intent / framing / visual semantics / carrier</a:t>
                      </a:r>
                    </a:p>
                  </a:txBody>
                  <a:tcPr marL="73152" marR="54864" marT="36576" marB="27432" anchor="ctr">
                    <a:solidFill>
                      <a:srgbClr val="EFF3F6"/>
                    </a:solidFill>
                  </a:tcPr>
                </a:tc>
                <a:tc>
                  <a:txBody>
                    <a:bodyPr/>
                    <a:lstStyle/>
                    <a:p>
                      <a:pPr>
                        <a:spcAft>
                          <a:spcPts val="0"/>
                        </a:spcAft>
                      </a:pPr>
                      <a:r>
                        <a:rPr sz="1150" b="0">
                          <a:solidFill>
                            <a:srgbClr val="1C2A39"/>
                          </a:solidFill>
                          <a:latin typeface="Aptos"/>
                        </a:rPr>
                        <a:t>Attribution design; not itself one attack</a:t>
                      </a:r>
                    </a:p>
                  </a:txBody>
                  <a:tcPr marL="73152" marR="54864" marT="36576" marB="27432" anchor="ctr">
                    <a:solidFill>
                      <a:srgbClr val="EFF3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PROTOCOL APPENDIX</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The proposed experiment has matched examples and held-out attacks</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[1], [9], [10], [11], [18]</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26</a:t>
            </a:r>
          </a:p>
        </p:txBody>
      </p:sp>
      <p:graphicFrame>
        <p:nvGraphicFramePr>
          <p:cNvPr id="7" name="Table 6"/>
          <p:cNvGraphicFramePr>
            <a:graphicFrameLocks noGrp="1"/>
          </p:cNvGraphicFramePr>
          <p:nvPr/>
        </p:nvGraphicFramePr>
        <p:xfrm>
          <a:off x="658368" y="1627632"/>
          <a:ext cx="10881360" cy="41148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587828">
                <a:tc>
                  <a:txBody>
                    <a:bodyPr/>
                    <a:lstStyle/>
                    <a:p>
                      <a:pPr>
                        <a:spcAft>
                          <a:spcPts val="0"/>
                        </a:spcAft>
                      </a:pPr>
                      <a:r>
                        <a:rPr sz="1100" b="1">
                          <a:solidFill>
                            <a:srgbClr val="FFFFFF"/>
                          </a:solidFill>
                          <a:latin typeface="Aptos"/>
                        </a:rPr>
                        <a:t>Cell</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Sanitized example structure</a:t>
                      </a:r>
                    </a:p>
                  </a:txBody>
                  <a:tcPr marL="73152" marR="54864" marT="36576" marB="27432" anchor="ctr">
                    <a:solidFill>
                      <a:srgbClr val="122A42"/>
                    </a:solidFill>
                  </a:tcPr>
                </a:tc>
                <a:tc>
                  <a:txBody>
                    <a:bodyPr/>
                    <a:lstStyle/>
                    <a:p>
                      <a:pPr>
                        <a:spcAft>
                          <a:spcPts val="0"/>
                        </a:spcAft>
                      </a:pPr>
                      <a:r>
                        <a:rPr sz="1100" b="1">
                          <a:solidFill>
                            <a:srgbClr val="FFFFFF"/>
                          </a:solidFill>
                          <a:latin typeface="Aptos"/>
                        </a:rPr>
                        <a:t>Primary outcome</a:t>
                      </a:r>
                    </a:p>
                  </a:txBody>
                  <a:tcPr marL="73152" marR="54864" marT="36576" marB="27432" anchor="ctr">
                    <a:solidFill>
                      <a:srgbClr val="122A42"/>
                    </a:solidFill>
                  </a:tcPr>
                </a:tc>
                <a:extLst>
                  <a:ext uri="{0D108BD9-81ED-4DB2-BD59-A6C34878D82A}">
                    <a16:rowId xmlns:a16="http://schemas.microsoft.com/office/drawing/2014/main" val="10000"/>
                  </a:ext>
                </a:extLst>
              </a:tr>
              <a:tr h="587828">
                <a:tc>
                  <a:txBody>
                    <a:bodyPr/>
                    <a:lstStyle/>
                    <a:p>
                      <a:pPr>
                        <a:spcAft>
                          <a:spcPts val="0"/>
                        </a:spcAft>
                      </a:pPr>
                      <a:r>
                        <a:rPr sz="1200" b="1">
                          <a:solidFill>
                            <a:srgbClr val="1C2A39"/>
                          </a:solidFill>
                          <a:latin typeface="Aptos"/>
                        </a:rPr>
                        <a:t>A0 Direct text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Same intent expressed in ordinary text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Text-safety anchor</a:t>
                      </a:r>
                    </a:p>
                  </a:txBody>
                  <a:tcPr marL="73152" marR="54864" marT="36576" marB="27432" anchor="ctr">
                    <a:solidFill>
                      <a:srgbClr val="FFFFFF"/>
                    </a:solidFill>
                  </a:tcPr>
                </a:tc>
                <a:extLst>
                  <a:ext uri="{0D108BD9-81ED-4DB2-BD59-A6C34878D82A}">
                    <a16:rowId xmlns:a16="http://schemas.microsoft.com/office/drawing/2014/main" val="10001"/>
                  </a:ext>
                </a:extLst>
              </a:tr>
              <a:tr h="587828">
                <a:tc>
                  <a:txBody>
                    <a:bodyPr/>
                    <a:lstStyle/>
                    <a:p>
                      <a:pPr>
                        <a:spcAft>
                          <a:spcPts val="0"/>
                        </a:spcAft>
                      </a:pPr>
                      <a:r>
                        <a:rPr sz="1200" b="1">
                          <a:solidFill>
                            <a:srgbClr val="1C2A39"/>
                          </a:solidFill>
                          <a:latin typeface="Aptos"/>
                        </a:rPr>
                        <a:t>A1 FigStep-style</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Benign question; text rendering is embedded in the image</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OCR-carrier robustness</a:t>
                      </a:r>
                    </a:p>
                  </a:txBody>
                  <a:tcPr marL="73152" marR="54864" marT="36576" marB="27432" anchor="ctr">
                    <a:solidFill>
                      <a:srgbClr val="EFF3F6"/>
                    </a:solidFill>
                  </a:tcPr>
                </a:tc>
                <a:extLst>
                  <a:ext uri="{0D108BD9-81ED-4DB2-BD59-A6C34878D82A}">
                    <a16:rowId xmlns:a16="http://schemas.microsoft.com/office/drawing/2014/main" val="10002"/>
                  </a:ext>
                </a:extLst>
              </a:tr>
              <a:tr h="587828">
                <a:tc>
                  <a:txBody>
                    <a:bodyPr/>
                    <a:lstStyle/>
                    <a:p>
                      <a:pPr>
                        <a:spcAft>
                          <a:spcPts val="0"/>
                        </a:spcAft>
                      </a:pPr>
                      <a:r>
                        <a:rPr sz="1200" b="1">
                          <a:solidFill>
                            <a:srgbClr val="1C2A39"/>
                          </a:solidFill>
                          <a:latin typeface="Aptos"/>
                        </a:rPr>
                        <a:t>A2 Joint composition</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Each modality alone is benign; combined meaning is risky</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Cross-modal safety reasoning</a:t>
                      </a:r>
                    </a:p>
                  </a:txBody>
                  <a:tcPr marL="73152" marR="54864" marT="36576" marB="27432" anchor="ctr">
                    <a:solidFill>
                      <a:srgbClr val="FFFFFF"/>
                    </a:solidFill>
                  </a:tcPr>
                </a:tc>
                <a:extLst>
                  <a:ext uri="{0D108BD9-81ED-4DB2-BD59-A6C34878D82A}">
                    <a16:rowId xmlns:a16="http://schemas.microsoft.com/office/drawing/2014/main" val="10003"/>
                  </a:ext>
                </a:extLst>
              </a:tr>
              <a:tr h="587828">
                <a:tc>
                  <a:txBody>
                    <a:bodyPr/>
                    <a:lstStyle/>
                    <a:p>
                      <a:pPr>
                        <a:spcAft>
                          <a:spcPts val="0"/>
                        </a:spcAft>
                      </a:pPr>
                      <a:r>
                        <a:rPr sz="1200" b="1">
                          <a:solidFill>
                            <a:srgbClr val="1C2A39"/>
                          </a:solidFill>
                          <a:latin typeface="Aptos"/>
                        </a:rPr>
                        <a:t>A3 Leakage control</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Remove image, mask relevant region, or use matched decoy</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Verify visual evidence is actually used</a:t>
                      </a:r>
                    </a:p>
                  </a:txBody>
                  <a:tcPr marL="73152" marR="54864" marT="36576" marB="27432" anchor="ctr">
                    <a:solidFill>
                      <a:srgbClr val="EFF3F6"/>
                    </a:solidFill>
                  </a:tcPr>
                </a:tc>
                <a:extLst>
                  <a:ext uri="{0D108BD9-81ED-4DB2-BD59-A6C34878D82A}">
                    <a16:rowId xmlns:a16="http://schemas.microsoft.com/office/drawing/2014/main" val="10004"/>
                  </a:ext>
                </a:extLst>
              </a:tr>
              <a:tr h="587828">
                <a:tc>
                  <a:txBody>
                    <a:bodyPr/>
                    <a:lstStyle/>
                    <a:p>
                      <a:pPr>
                        <a:spcAft>
                          <a:spcPts val="0"/>
                        </a:spcAft>
                      </a:pPr>
                      <a:r>
                        <a:rPr sz="1200" b="1">
                          <a:solidFill>
                            <a:srgbClr val="1C2A39"/>
                          </a:solidFill>
                          <a:latin typeface="Aptos"/>
                        </a:rPr>
                        <a:t>A4 Safe counterpart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Same topic/image class, allowed request</a:t>
                      </a:r>
                    </a:p>
                  </a:txBody>
                  <a:tcPr marL="73152" marR="54864" marT="36576" marB="27432" anchor="ctr">
                    <a:solidFill>
                      <a:srgbClr val="FFFFFF"/>
                    </a:solidFill>
                  </a:tcPr>
                </a:tc>
                <a:tc>
                  <a:txBody>
                    <a:bodyPr/>
                    <a:lstStyle/>
                    <a:p>
                      <a:pPr>
                        <a:spcAft>
                          <a:spcPts val="0"/>
                        </a:spcAft>
                      </a:pPr>
                      <a:r>
                        <a:rPr sz="1200" b="0">
                          <a:solidFill>
                            <a:srgbClr val="1C2A39"/>
                          </a:solidFill>
                          <a:latin typeface="Aptos"/>
                        </a:rPr>
                        <a:t>False refusal and safe utility</a:t>
                      </a:r>
                    </a:p>
                  </a:txBody>
                  <a:tcPr marL="73152" marR="54864" marT="36576" marB="27432" anchor="ctr">
                    <a:solidFill>
                      <a:srgbClr val="FFFFFF"/>
                    </a:solidFill>
                  </a:tcPr>
                </a:tc>
                <a:extLst>
                  <a:ext uri="{0D108BD9-81ED-4DB2-BD59-A6C34878D82A}">
                    <a16:rowId xmlns:a16="http://schemas.microsoft.com/office/drawing/2014/main" val="10005"/>
                  </a:ext>
                </a:extLst>
              </a:tr>
              <a:tr h="587832">
                <a:tc>
                  <a:txBody>
                    <a:bodyPr/>
                    <a:lstStyle/>
                    <a:p>
                      <a:pPr>
                        <a:spcAft>
                          <a:spcPts val="0"/>
                        </a:spcAft>
                      </a:pPr>
                      <a:r>
                        <a:rPr sz="1200" b="1">
                          <a:solidFill>
                            <a:srgbClr val="1C2A39"/>
                          </a:solidFill>
                          <a:latin typeface="Aptos"/>
                        </a:rPr>
                        <a:t>A5 Adaptive holdout</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PolyJailbreak; fixed query/iteration budget, no training overlap</a:t>
                      </a:r>
                    </a:p>
                  </a:txBody>
                  <a:tcPr marL="73152" marR="54864" marT="36576" marB="27432" anchor="ctr">
                    <a:solidFill>
                      <a:srgbClr val="EFF3F6"/>
                    </a:solidFill>
                  </a:tcPr>
                </a:tc>
                <a:tc>
                  <a:txBody>
                    <a:bodyPr/>
                    <a:lstStyle/>
                    <a:p>
                      <a:pPr>
                        <a:spcAft>
                          <a:spcPts val="0"/>
                        </a:spcAft>
                      </a:pPr>
                      <a:r>
                        <a:rPr sz="1200" b="0">
                          <a:solidFill>
                            <a:srgbClr val="1C2A39"/>
                          </a:solidFill>
                          <a:latin typeface="Aptos"/>
                        </a:rPr>
                        <a:t>Generalization under adaptive black-box search</a:t>
                      </a:r>
                    </a:p>
                  </a:txBody>
                  <a:tcPr marL="73152" marR="54864" marT="36576" marB="27432" anchor="ctr">
                    <a:solidFill>
                      <a:srgbClr val="EFF3F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822960" y="5870448"/>
            <a:ext cx="10469880" cy="310896"/>
          </a:xfrm>
          <a:prstGeom prst="rect">
            <a:avLst/>
          </a:prstGeom>
          <a:noFill/>
        </p:spPr>
        <p:txBody>
          <a:bodyPr wrap="square" lIns="18288" tIns="18288" rIns="18288" bIns="18288" anchor="t">
            <a:spAutoFit/>
          </a:bodyPr>
          <a:lstStyle/>
          <a:p>
            <a:pPr algn="l"/>
            <a:r>
              <a:rPr sz="1300" b="1">
                <a:solidFill>
                  <a:srgbClr val="276B7E"/>
                </a:solidFill>
                <a:latin typeface="Aptos"/>
              </a:rPr>
              <a:t>Publish intent-level deduplication, splits, attack budget, decoding, and judge rubric before test-time runs.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REPORTING STANDARD</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Report a results card for every method, not a winner list</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Refs. [5], [10], [12], [16], [17]</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27</a:t>
            </a:r>
          </a:p>
        </p:txBody>
      </p:sp>
      <p:graphicFrame>
        <p:nvGraphicFramePr>
          <p:cNvPr id="7" name="Table 6"/>
          <p:cNvGraphicFramePr>
            <a:graphicFrameLocks noGrp="1"/>
          </p:cNvGraphicFramePr>
          <p:nvPr/>
        </p:nvGraphicFramePr>
        <p:xfrm>
          <a:off x="749808" y="1691640"/>
          <a:ext cx="10716767" cy="425196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8339327">
                  <a:extLst>
                    <a:ext uri="{9D8B030D-6E8A-4147-A177-3AD203B41FA5}">
                      <a16:colId xmlns:a16="http://schemas.microsoft.com/office/drawing/2014/main" val="20001"/>
                    </a:ext>
                  </a:extLst>
                </a:gridCol>
              </a:tblGrid>
              <a:tr h="607422">
                <a:tc>
                  <a:txBody>
                    <a:bodyPr/>
                    <a:lstStyle/>
                    <a:p>
                      <a:pPr>
                        <a:spcAft>
                          <a:spcPts val="0"/>
                        </a:spcAft>
                      </a:pPr>
                      <a:r>
                        <a:rPr sz="1300" b="1">
                          <a:solidFill>
                            <a:srgbClr val="FFFFFF"/>
                          </a:solidFill>
                          <a:latin typeface="Aptos"/>
                        </a:rPr>
                        <a:t>Report field</a:t>
                      </a:r>
                    </a:p>
                  </a:txBody>
                  <a:tcPr marL="73152" marR="54864" marT="36576" marB="27432" anchor="ctr">
                    <a:solidFill>
                      <a:srgbClr val="122A42"/>
                    </a:solidFill>
                  </a:tcPr>
                </a:tc>
                <a:tc>
                  <a:txBody>
                    <a:bodyPr/>
                    <a:lstStyle/>
                    <a:p>
                      <a:pPr>
                        <a:spcAft>
                          <a:spcPts val="0"/>
                        </a:spcAft>
                      </a:pPr>
                      <a:r>
                        <a:rPr sz="1300" b="1">
                          <a:solidFill>
                            <a:srgbClr val="FFFFFF"/>
                          </a:solidFill>
                          <a:latin typeface="Aptos"/>
                        </a:rPr>
                        <a:t>Minimum information</a:t>
                      </a:r>
                    </a:p>
                  </a:txBody>
                  <a:tcPr marL="73152" marR="54864" marT="36576" marB="27432" anchor="ctr">
                    <a:solidFill>
                      <a:srgbClr val="122A42"/>
                    </a:solidFill>
                  </a:tcPr>
                </a:tc>
                <a:extLst>
                  <a:ext uri="{0D108BD9-81ED-4DB2-BD59-A6C34878D82A}">
                    <a16:rowId xmlns:a16="http://schemas.microsoft.com/office/drawing/2014/main" val="10000"/>
                  </a:ext>
                </a:extLst>
              </a:tr>
              <a:tr h="607422">
                <a:tc>
                  <a:txBody>
                    <a:bodyPr/>
                    <a:lstStyle/>
                    <a:p>
                      <a:pPr>
                        <a:spcAft>
                          <a:spcPts val="0"/>
                        </a:spcAft>
                      </a:pPr>
                      <a:r>
                        <a:rPr sz="1400" b="1">
                          <a:solidFill>
                            <a:srgbClr val="1C2A39"/>
                          </a:solidFill>
                          <a:latin typeface="Aptos"/>
                        </a:rPr>
                        <a:t>Training</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Base checkpoint, train data size/domains, objective, trainable parameters, steps, compute</a:t>
                      </a:r>
                    </a:p>
                  </a:txBody>
                  <a:tcPr marL="73152" marR="54864" marT="36576" marB="27432" anchor="ctr">
                    <a:solidFill>
                      <a:srgbClr val="FFFFFF"/>
                    </a:solidFill>
                  </a:tcPr>
                </a:tc>
                <a:extLst>
                  <a:ext uri="{0D108BD9-81ED-4DB2-BD59-A6C34878D82A}">
                    <a16:rowId xmlns:a16="http://schemas.microsoft.com/office/drawing/2014/main" val="10001"/>
                  </a:ext>
                </a:extLst>
              </a:tr>
              <a:tr h="607422">
                <a:tc>
                  <a:txBody>
                    <a:bodyPr/>
                    <a:lstStyle/>
                    <a:p>
                      <a:pPr>
                        <a:spcAft>
                          <a:spcPts val="0"/>
                        </a:spcAft>
                      </a:pPr>
                      <a:r>
                        <a:rPr sz="1400" b="1">
                          <a:solidFill>
                            <a:srgbClr val="1C2A39"/>
                          </a:solidFill>
                          <a:latin typeface="Aptos"/>
                        </a:rPr>
                        <a:t>Threat model</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Black/white box, image/text control, attack family, adaptive budget, held-out status</a:t>
                      </a:r>
                    </a:p>
                  </a:txBody>
                  <a:tcPr marL="73152" marR="54864" marT="36576" marB="27432" anchor="ctr">
                    <a:solidFill>
                      <a:srgbClr val="EFF3F6"/>
                    </a:solidFill>
                  </a:tcPr>
                </a:tc>
                <a:extLst>
                  <a:ext uri="{0D108BD9-81ED-4DB2-BD59-A6C34878D82A}">
                    <a16:rowId xmlns:a16="http://schemas.microsoft.com/office/drawing/2014/main" val="10002"/>
                  </a:ext>
                </a:extLst>
              </a:tr>
              <a:tr h="607422">
                <a:tc>
                  <a:txBody>
                    <a:bodyPr/>
                    <a:lstStyle/>
                    <a:p>
                      <a:pPr>
                        <a:spcAft>
                          <a:spcPts val="0"/>
                        </a:spcAft>
                      </a:pPr>
                      <a:r>
                        <a:rPr sz="1400" b="1">
                          <a:solidFill>
                            <a:srgbClr val="1C2A39"/>
                          </a:solidFill>
                          <a:latin typeface="Aptos"/>
                        </a:rPr>
                        <a:t>Judge</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Classifier/model/human rubric, threshold, audit sample, agreement, refusal-string caveat</a:t>
                      </a:r>
                    </a:p>
                  </a:txBody>
                  <a:tcPr marL="73152" marR="54864" marT="36576" marB="27432" anchor="ctr">
                    <a:solidFill>
                      <a:srgbClr val="FFFFFF"/>
                    </a:solidFill>
                  </a:tcPr>
                </a:tc>
                <a:extLst>
                  <a:ext uri="{0D108BD9-81ED-4DB2-BD59-A6C34878D82A}">
                    <a16:rowId xmlns:a16="http://schemas.microsoft.com/office/drawing/2014/main" val="10003"/>
                  </a:ext>
                </a:extLst>
              </a:tr>
              <a:tr h="607422">
                <a:tc>
                  <a:txBody>
                    <a:bodyPr/>
                    <a:lstStyle/>
                    <a:p>
                      <a:pPr>
                        <a:spcAft>
                          <a:spcPts val="0"/>
                        </a:spcAft>
                      </a:pPr>
                      <a:r>
                        <a:rPr sz="1400" b="1">
                          <a:solidFill>
                            <a:srgbClr val="1C2A39"/>
                          </a:solidFill>
                          <a:latin typeface="Aptos"/>
                        </a:rPr>
                        <a:t>Safety</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Harmful-compliance rate per family/domain with confidence interval</a:t>
                      </a:r>
                    </a:p>
                  </a:txBody>
                  <a:tcPr marL="73152" marR="54864" marT="36576" marB="27432" anchor="ctr">
                    <a:solidFill>
                      <a:srgbClr val="EFF3F6"/>
                    </a:solidFill>
                  </a:tcPr>
                </a:tc>
                <a:extLst>
                  <a:ext uri="{0D108BD9-81ED-4DB2-BD59-A6C34878D82A}">
                    <a16:rowId xmlns:a16="http://schemas.microsoft.com/office/drawing/2014/main" val="10004"/>
                  </a:ext>
                </a:extLst>
              </a:tr>
              <a:tr h="607422">
                <a:tc>
                  <a:txBody>
                    <a:bodyPr/>
                    <a:lstStyle/>
                    <a:p>
                      <a:pPr>
                        <a:spcAft>
                          <a:spcPts val="0"/>
                        </a:spcAft>
                      </a:pPr>
                      <a:r>
                        <a:rPr sz="1400" b="1">
                          <a:solidFill>
                            <a:srgbClr val="1C2A39"/>
                          </a:solidFill>
                          <a:latin typeface="Aptos"/>
                        </a:rPr>
                        <a:t>Calibration + utility</a:t>
                      </a:r>
                    </a:p>
                  </a:txBody>
                  <a:tcPr marL="73152" marR="54864" marT="36576" marB="27432" anchor="ctr">
                    <a:solidFill>
                      <a:srgbClr val="FFFFFF"/>
                    </a:solidFill>
                  </a:tcPr>
                </a:tc>
                <a:tc>
                  <a:txBody>
                    <a:bodyPr/>
                    <a:lstStyle/>
                    <a:p>
                      <a:pPr>
                        <a:spcAft>
                          <a:spcPts val="0"/>
                        </a:spcAft>
                      </a:pPr>
                      <a:r>
                        <a:rPr sz="1400" b="0">
                          <a:solidFill>
                            <a:srgbClr val="1C2A39"/>
                          </a:solidFill>
                          <a:latin typeface="Aptos"/>
                        </a:rPr>
                        <a:t>False-refusal rate on matched safe pairs; VQA/OCR before and after</a:t>
                      </a:r>
                    </a:p>
                  </a:txBody>
                  <a:tcPr marL="73152" marR="54864" marT="36576" marB="27432" anchor="ctr">
                    <a:solidFill>
                      <a:srgbClr val="FFFFFF"/>
                    </a:solidFill>
                  </a:tcPr>
                </a:tc>
                <a:extLst>
                  <a:ext uri="{0D108BD9-81ED-4DB2-BD59-A6C34878D82A}">
                    <a16:rowId xmlns:a16="http://schemas.microsoft.com/office/drawing/2014/main" val="10005"/>
                  </a:ext>
                </a:extLst>
              </a:tr>
              <a:tr h="607428">
                <a:tc>
                  <a:txBody>
                    <a:bodyPr/>
                    <a:lstStyle/>
                    <a:p>
                      <a:pPr>
                        <a:spcAft>
                          <a:spcPts val="0"/>
                        </a:spcAft>
                      </a:pPr>
                      <a:r>
                        <a:rPr sz="1400" b="1">
                          <a:solidFill>
                            <a:srgbClr val="1C2A39"/>
                          </a:solidFill>
                          <a:latin typeface="Aptos"/>
                        </a:rPr>
                        <a:t>System cost</a:t>
                      </a:r>
                    </a:p>
                  </a:txBody>
                  <a:tcPr marL="73152" marR="54864" marT="36576" marB="27432" anchor="ctr">
                    <a:solidFill>
                      <a:srgbClr val="EFF3F6"/>
                    </a:solidFill>
                  </a:tcPr>
                </a:tc>
                <a:tc>
                  <a:txBody>
                    <a:bodyPr/>
                    <a:lstStyle/>
                    <a:p>
                      <a:pPr>
                        <a:spcAft>
                          <a:spcPts val="0"/>
                        </a:spcAft>
                      </a:pPr>
                      <a:r>
                        <a:rPr sz="1400" b="0">
                          <a:solidFill>
                            <a:srgbClr val="1C2A39"/>
                          </a:solidFill>
                          <a:latin typeface="Aptos"/>
                        </a:rPr>
                        <a:t>Latency, extra calls/tokens, peak memory, training GPU-hours, artifact availability</a:t>
                      </a:r>
                    </a:p>
                  </a:txBody>
                  <a:tcPr marL="73152" marR="54864" marT="36576" marB="27432" anchor="ctr">
                    <a:solidFill>
                      <a:srgbClr val="EFF3F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868680" y="6053328"/>
            <a:ext cx="10378440" cy="256032"/>
          </a:xfrm>
          <a:prstGeom prst="rect">
            <a:avLst/>
          </a:prstGeom>
          <a:noFill/>
        </p:spPr>
        <p:txBody>
          <a:bodyPr wrap="square" lIns="18288" tIns="18288" rIns="18288" bIns="18288" anchor="t">
            <a:spAutoFit/>
          </a:bodyPr>
          <a:lstStyle/>
          <a:p>
            <a:pPr algn="l"/>
            <a:r>
              <a:rPr sz="1200" b="1">
                <a:solidFill>
                  <a:srgbClr val="276B7E"/>
                </a:solidFill>
                <a:latin typeface="Aptos"/>
              </a:rPr>
              <a:t>No cross-paper numerical ranking unless data, targets, attack budgets, decoding, and judging are harmonized.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References [1]–[9]</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Full citation metadata; numbered entries correspond to in-slide citations</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28</a:t>
            </a:r>
          </a:p>
        </p:txBody>
      </p:sp>
      <p:sp>
        <p:nvSpPr>
          <p:cNvPr id="7" name="TextBox 6"/>
          <p:cNvSpPr txBox="1"/>
          <p:nvPr/>
        </p:nvSpPr>
        <p:spPr>
          <a:xfrm>
            <a:off x="713232" y="1600200"/>
            <a:ext cx="5285232" cy="4681728"/>
          </a:xfrm>
          <a:prstGeom prst="rect">
            <a:avLst/>
          </a:prstGeom>
          <a:noFill/>
        </p:spPr>
        <p:txBody>
          <a:bodyPr wrap="square" lIns="18288" tIns="18288" rIns="18288" bIns="18288" anchor="t">
            <a:spAutoFit/>
          </a:bodyPr>
          <a:lstStyle/>
          <a:p>
            <a:pPr algn="l"/>
            <a:r>
              <a:rPr sz="1120" b="0">
                <a:solidFill>
                  <a:srgbClr val="1C2A39"/>
                </a:solidFill>
                <a:latin typeface="Aptos"/>
              </a:rPr>
              <a:t>[1] Y. Gong et al., "FigStep: Jailbreaking Large Vision-Language Models via Typographic Visual Prompts," arXiv:2311.05608, 2023.
[2] X. Liu et al., "MM-SafetyBench: A Benchmark for Safety Evaluation of Multimodal Large Language Models," arXiv:2311.17600, 2023; accepted to ECCV 2024.
[3] Y. Li et al., "Images are Achilles’ Heel of Alignment: Exploiting Visual Vulnerabilities for Jailbreaking Multimodal Large Language Models," arXiv:2403.09792, 2024.
[4] W. Luo et al., "JailBreakV: A Benchmark for Assessing the Robustness of Multimodal Large Language Models against Jailbreak Attacks," arXiv:2404.03027, 2024.
[5] Y. Zong et al., "Safety Fine-Tuning at (Almost) No Cost: A Baseline for Vision Large Language Models," arXiv:2402.02207, 2024.</a:t>
            </a:r>
          </a:p>
        </p:txBody>
      </p:sp>
      <p:sp>
        <p:nvSpPr>
          <p:cNvPr id="8" name="TextBox 7"/>
          <p:cNvSpPr txBox="1"/>
          <p:nvPr/>
        </p:nvSpPr>
        <p:spPr>
          <a:xfrm>
            <a:off x="6245352" y="1600200"/>
            <a:ext cx="5285232" cy="4681728"/>
          </a:xfrm>
          <a:prstGeom prst="rect">
            <a:avLst/>
          </a:prstGeom>
          <a:noFill/>
        </p:spPr>
        <p:txBody>
          <a:bodyPr wrap="square" lIns="18288" tIns="18288" rIns="18288" bIns="18288" anchor="t">
            <a:spAutoFit/>
          </a:bodyPr>
          <a:lstStyle/>
          <a:p>
            <a:pPr algn="l"/>
            <a:r>
              <a:rPr sz="1120" b="0">
                <a:solidFill>
                  <a:srgbClr val="1C2A39"/>
                </a:solidFill>
                <a:latin typeface="Aptos"/>
              </a:rPr>
              <a:t>[6] Z. Liu et al., "Safety Alignment for Vision Language Models," arXiv:2405.13581, 2024.
[7] Y. Zhang et al., "SPA-VL: A Comprehensive Safety Preference Alignment Dataset for Vision-Language Models," in Proc. IEEE/CVF Conf. Comput. Vis. Pattern Recognit. (CVPR), 2025.
[8] Q. Liu et al., "Unraveling and Mitigating Safety Alignment Degradation of Vision-Language Models," in Findings Assoc. Comput. Linguistics: ACL, pp. 3631–3643, 2025, doi: 10.18653/v1/2025.findings-acl.186.
[9] X. Hu et al., "VLSBench: Unveiling Visual Leakage in Multimodal Safety," in Proc. 63rd Annu. Meeting Assoc. Comput. Linguistics (ACL), pp. 8285–8316, 2025, doi: 10.18653/v1/2025.acl-long.405.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References [10]–[18]</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Full citation metadata; numbered entries correspond to in-slide citations</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29</a:t>
            </a:r>
          </a:p>
        </p:txBody>
      </p:sp>
      <p:sp>
        <p:nvSpPr>
          <p:cNvPr id="7" name="TextBox 6"/>
          <p:cNvSpPr txBox="1"/>
          <p:nvPr/>
        </p:nvSpPr>
        <p:spPr>
          <a:xfrm>
            <a:off x="713232" y="1600200"/>
            <a:ext cx="5285232" cy="4681728"/>
          </a:xfrm>
          <a:prstGeom prst="rect">
            <a:avLst/>
          </a:prstGeom>
          <a:noFill/>
        </p:spPr>
        <p:txBody>
          <a:bodyPr wrap="square" lIns="18288" tIns="18288" rIns="18288" bIns="18288" anchor="t">
            <a:spAutoFit/>
          </a:bodyPr>
          <a:lstStyle/>
          <a:p>
            <a:pPr algn="l"/>
            <a:r>
              <a:rPr sz="1120" b="0">
                <a:solidFill>
                  <a:srgbClr val="1C2A39"/>
                </a:solidFill>
                <a:latin typeface="Aptos"/>
              </a:rPr>
              <a:t>[10] J. Geng et al., "VSCBench: Bridging the Gap in Vision-Language Model Safety Calibration," in Findings Assoc. Comput. Linguistics: ACL, pp. 3047–3059, 2025, doi: 10.18653/v1/2025.findings-acl.158.
[11] S. Wang et al., "Safe Inputs but Unsafe Output: Benchmarking Cross-modality Safety Alignment of Large Vision-Language Models," in Findings Assoc. Comput. Linguistics: NAACL, pp. 3563–3605, 2025, doi: 10.18653/v1/2025.findings-naacl.198.
[12] F. Weng et al., "Adversary-Aware DPO: Enhancing Safety Alignment in Vision Language Models via Adversarial Training," in Findings Assoc. Comput. Linguistics: EMNLP, pp. 13644–13657, 2025, doi: 10.18653/v1/2025.findings-emnlp.735.
[13] X. Lou et al., "Think in Safety: Unveiling and Mitigating Safety Alignment Collapse in Multimodal Large Reasoning Model," in Proc. Conf. Empirical Methods Natural Language Process. (EMNLP), pp. 5167–5186, 2025.
[14] D. Lee et al., "Are Vision-Language Models Safe in the Wild? A Meme-Based Benchmark Study," in Proc. Conf. Empirical Methods Natural Language Process. (EMNLP), pp. 30545–30588, 2025, doi: 10.18653/v1/2025.emnlp-main.1555.</a:t>
            </a:r>
          </a:p>
        </p:txBody>
      </p:sp>
      <p:sp>
        <p:nvSpPr>
          <p:cNvPr id="8" name="TextBox 7"/>
          <p:cNvSpPr txBox="1"/>
          <p:nvPr/>
        </p:nvSpPr>
        <p:spPr>
          <a:xfrm>
            <a:off x="6245352" y="1600200"/>
            <a:ext cx="5285232" cy="4681728"/>
          </a:xfrm>
          <a:prstGeom prst="rect">
            <a:avLst/>
          </a:prstGeom>
          <a:noFill/>
        </p:spPr>
        <p:txBody>
          <a:bodyPr wrap="square" lIns="18288" tIns="18288" rIns="18288" bIns="18288" anchor="t">
            <a:spAutoFit/>
          </a:bodyPr>
          <a:lstStyle/>
          <a:p>
            <a:pPr algn="l"/>
            <a:r>
              <a:rPr sz="1120" b="0">
                <a:solidFill>
                  <a:srgbClr val="1C2A39"/>
                </a:solidFill>
                <a:latin typeface="Aptos"/>
              </a:rPr>
              <a:t>[15] M. Chen et al., "VLMGuard-R1: Proactive Safety Alignment for VLMs via Reasoning-Driven Prompt Optimization," in Findings Assoc. Comput. Linguistics: ACL, pp. 39914–39932, 2026, doi: 10.18653/v1/2026.findings-acl.1986.
[16] Q. Yang et al., "Visual Self-Fulfilling Alignment: Shaping Safety-Oriented Personas via Threat-Related Images," in Proc. 64th Annu. Meeting Assoc. Comput. Linguistics (ACL), pp. 10698–10718, 2026, doi: 10.18653/v1/2026.acl-long.490.
[17] B. Zheng et al., "USB: A Comprehensive and Unified Safety Evaluation Benchmark for Multimodal Large Language Models," in Proc. 64th Annu. Meeting Assoc. Comput. Linguistics (ACL), pp. 21184–21211, 2026, doi: 10.18653/v1/2026.acl-long.970.
[18] T. Wang et al., "MMJailBench: A Factorized Benchmark for Disentangling Multimodal Jailbreak Vulnerabilities," arXiv:2608.25490, 2026 (preprint).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92608"/>
            <a:ext cx="2377440" cy="256032"/>
          </a:xfrm>
          <a:prstGeom prst="rect">
            <a:avLst/>
          </a:prstGeom>
          <a:noFill/>
        </p:spPr>
        <p:txBody>
          <a:bodyPr wrap="square" lIns="18288" tIns="18288" rIns="18288" bIns="18288" anchor="t">
            <a:spAutoFit/>
          </a:bodyPr>
          <a:lstStyle/>
          <a:p>
            <a:pPr algn="l"/>
            <a:r>
              <a:rPr sz="1000" b="1">
                <a:solidFill>
                  <a:srgbClr val="276B7E"/>
                </a:solidFill>
                <a:latin typeface="Aptos"/>
              </a:rPr>
              <a:t>IEEE REFERENCES</a:t>
            </a:r>
          </a:p>
        </p:txBody>
      </p:sp>
      <p:sp>
        <p:nvSpPr>
          <p:cNvPr id="3" name="TextBox 2"/>
          <p:cNvSpPr txBox="1"/>
          <p:nvPr/>
        </p:nvSpPr>
        <p:spPr>
          <a:xfrm>
            <a:off x="566928" y="621792"/>
            <a:ext cx="10972800" cy="594360"/>
          </a:xfrm>
          <a:prstGeom prst="rect">
            <a:avLst/>
          </a:prstGeom>
          <a:noFill/>
        </p:spPr>
        <p:txBody>
          <a:bodyPr wrap="square" lIns="18288" tIns="18288" rIns="18288" bIns="18288" anchor="t">
            <a:spAutoFit/>
          </a:bodyPr>
          <a:lstStyle/>
          <a:p>
            <a:pPr algn="l"/>
            <a:r>
              <a:rPr sz="2600" b="1">
                <a:solidFill>
                  <a:srgbClr val="122A42"/>
                </a:solidFill>
                <a:latin typeface="Aptos"/>
              </a:rPr>
              <a:t>References [19]–[26]</a:t>
            </a:r>
          </a:p>
        </p:txBody>
      </p:sp>
      <p:sp>
        <p:nvSpPr>
          <p:cNvPr id="4" name="Rectangle 3"/>
          <p:cNvSpPr/>
          <p:nvPr/>
        </p:nvSpPr>
        <p:spPr>
          <a:xfrm>
            <a:off x="566928" y="1307592"/>
            <a:ext cx="11018520" cy="13716"/>
          </a:xfrm>
          <a:prstGeom prst="rect">
            <a:avLst/>
          </a:prstGeom>
          <a:solidFill>
            <a:srgbClr val="DAE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6528816"/>
            <a:ext cx="9966960" cy="182880"/>
          </a:xfrm>
          <a:prstGeom prst="rect">
            <a:avLst/>
          </a:prstGeom>
          <a:noFill/>
        </p:spPr>
        <p:txBody>
          <a:bodyPr wrap="square" lIns="18288" tIns="18288" rIns="18288" bIns="18288" anchor="t">
            <a:spAutoFit/>
          </a:bodyPr>
          <a:lstStyle/>
          <a:p>
            <a:pPr algn="l"/>
            <a:r>
              <a:rPr sz="800" b="0">
                <a:solidFill>
                  <a:srgbClr val="64707B"/>
                </a:solidFill>
                <a:latin typeface="Aptos"/>
              </a:rPr>
              <a:t>Full citation metadata; numbered entries correspond to in-slide citations</a:t>
            </a:r>
          </a:p>
        </p:txBody>
      </p:sp>
      <p:sp>
        <p:nvSpPr>
          <p:cNvPr id="6" name="TextBox 5"/>
          <p:cNvSpPr txBox="1"/>
          <p:nvPr/>
        </p:nvSpPr>
        <p:spPr>
          <a:xfrm>
            <a:off x="10972800" y="6492240"/>
            <a:ext cx="640080" cy="228600"/>
          </a:xfrm>
          <a:prstGeom prst="rect">
            <a:avLst/>
          </a:prstGeom>
          <a:noFill/>
        </p:spPr>
        <p:txBody>
          <a:bodyPr wrap="square" lIns="18288" tIns="18288" rIns="18288" bIns="18288" anchor="t">
            <a:spAutoFit/>
          </a:bodyPr>
          <a:lstStyle/>
          <a:p>
            <a:pPr algn="r"/>
            <a:r>
              <a:rPr sz="900" b="0">
                <a:solidFill>
                  <a:srgbClr val="64707B"/>
                </a:solidFill>
                <a:latin typeface="Aptos"/>
              </a:rPr>
              <a:t>30</a:t>
            </a:r>
          </a:p>
        </p:txBody>
      </p:sp>
      <p:sp>
        <p:nvSpPr>
          <p:cNvPr id="7" name="TextBox 6"/>
          <p:cNvSpPr txBox="1"/>
          <p:nvPr/>
        </p:nvSpPr>
        <p:spPr>
          <a:xfrm>
            <a:off x="713232" y="1600200"/>
            <a:ext cx="5285232" cy="4681728"/>
          </a:xfrm>
          <a:prstGeom prst="rect">
            <a:avLst/>
          </a:prstGeom>
          <a:noFill/>
        </p:spPr>
        <p:txBody>
          <a:bodyPr wrap="square" lIns="18288" tIns="18288" rIns="18288" bIns="18288" anchor="t">
            <a:spAutoFit/>
          </a:bodyPr>
          <a:lstStyle/>
          <a:p>
            <a:pPr algn="l"/>
            <a:r>
              <a:rPr sz="1120" b="0">
                <a:solidFill>
                  <a:srgbClr val="1C2A39"/>
                </a:solidFill>
                <a:latin typeface="Aptos"/>
              </a:rPr>
              <a:t>[19] X. Wang et al., "PolyJailbreak: Cross-Modal Jailbreaking Attacks on Black-Box Multimodal LLMs," arXiv:2510.17277, 2025 (preprint).
[20] J. Song et al., "JailBound: Jailbreaking Internal Safety Boundaries of Vision-Language Models," in Adv. Neural Inf. Process. Syst. (NeurIPS), 2025, doi: 10.52202/085713-0875.
[21] X. Zhu et al., "GuardAlign: Test-Time Safety Alignment in Multimodal Large Language Models," in Proc. Int. Conf. Learn. Represent. (ICLR), 2026.
[22] X. Zeng et al., "SafeSteer: A Decoding-Level Defense Mechanism for Multimodal Large Language Models," in Findings Assoc. Comput. Linguistics: ACL, 2026.</a:t>
            </a:r>
          </a:p>
        </p:txBody>
      </p:sp>
      <p:sp>
        <p:nvSpPr>
          <p:cNvPr id="8" name="TextBox 7"/>
          <p:cNvSpPr txBox="1"/>
          <p:nvPr/>
        </p:nvSpPr>
        <p:spPr>
          <a:xfrm>
            <a:off x="6245352" y="1600200"/>
            <a:ext cx="5285232" cy="4681728"/>
          </a:xfrm>
          <a:prstGeom prst="rect">
            <a:avLst/>
          </a:prstGeom>
          <a:noFill/>
        </p:spPr>
        <p:txBody>
          <a:bodyPr wrap="square" lIns="18288" tIns="18288" rIns="18288" bIns="18288" anchor="t">
            <a:spAutoFit/>
          </a:bodyPr>
          <a:lstStyle/>
          <a:p>
            <a:pPr algn="l"/>
            <a:r>
              <a:rPr sz="1120" b="0">
                <a:solidFill>
                  <a:srgbClr val="1C2A39"/>
                </a:solidFill>
                <a:latin typeface="Aptos"/>
              </a:rPr>
              <a:t>[23] C. Ma et al., "SafeRI: Recognition and Intervention for Token-Level Safety Intervention in Large Vision Language Models," arXiv:2609.03544, 2026 (preprint).
[24] P. Tang et al., "SafetyReminder: Reviving Delayed Safety Awareness of Vision-Language Models to Defend Against Jailbreak Attacks," in Proc. AAAI Conf. Artif. Intell., vol. 40, no. 39, pp. 33223–33231, 2026, doi: 10.1609/aaai.v40i39.40607.
[25] S. Zhang et al., "MMAligner: Safeguarding Multimodal Large Language Models through Representation Calibration," arXiv:2608.05909, 2026 (preprint).
[26] T. Bach et al., "Continual Safety Alignment via Gradient-Based Sample Selection," arXiv:2604.17215, 2026. LLM-only; project-history context, not VLM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8459</Words>
  <Application>Microsoft Macintosh PowerPoint</Application>
  <PresentationFormat>Widescreen</PresentationFormat>
  <Paragraphs>691</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Aryaman Dev</cp:lastModifiedBy>
  <cp:revision>2</cp:revision>
  <dcterms:created xsi:type="dcterms:W3CDTF">2013-01-27T09:14:16Z</dcterms:created>
  <dcterms:modified xsi:type="dcterms:W3CDTF">2026-09-30T19:54:10Z</dcterms:modified>
  <cp:category/>
</cp:coreProperties>
</file>
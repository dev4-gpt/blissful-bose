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Qwen2-VL-2B</c:v>
                </c:pt>
              </c:strCache>
            </c:strRef>
          </c:tx>
          <c:spPr>
            <a:solidFill>
              <a:srgbClr val="F2A33A"/>
            </a:solidFill>
          </c:spPr>
          <c:cat>
            <c:strRef>
              <c:f>Sheet1!$A$2:$A$5</c:f>
              <c:strCache>
                <c:ptCount val="4"/>
                <c:pt idx="0">
                  <c:v>A  LLM text</c:v>
                </c:pt>
                <c:pt idx="1">
                  <c:v>B  VLM text</c:v>
                </c:pt>
                <c:pt idx="2">
                  <c:v>D  VLM + blank image</c:v>
                </c:pt>
                <c:pt idx="3">
                  <c:v>C  VLM image</c:v>
                </c:pt>
              </c:strCache>
            </c:strRef>
          </c:cat>
          <c:val>
            <c:numRef>
              <c:f>Sheet1!$B$2:$B$5</c:f>
              <c:numCache>
                <c:formatCode>General</c:formatCode>
                <c:ptCount val="4"/>
                <c:pt idx="0">
                  <c:v>0.796</c:v>
                </c:pt>
                <c:pt idx="1">
                  <c:v>0.721</c:v>
                </c:pt>
                <c:pt idx="2">
                  <c:v>0.842</c:v>
                </c:pt>
                <c:pt idx="3">
                  <c:v>0.521</c:v>
                </c:pt>
              </c:numCache>
            </c:numRef>
          </c:val>
        </c:ser>
        <c:ser>
          <c:idx val="1"/>
          <c:order val="1"/>
          <c:tx>
            <c:strRef>
              <c:f>Sheet1!$C$1</c:f>
              <c:strCache>
                <c:ptCount val="1"/>
                <c:pt idx="0">
                  <c:v>Qwen2.5-VL-3B</c:v>
                </c:pt>
              </c:strCache>
            </c:strRef>
          </c:tx>
          <c:spPr>
            <a:solidFill>
              <a:srgbClr val="2A9D8F"/>
            </a:solidFill>
          </c:spPr>
          <c:cat>
            <c:strRef>
              <c:f>Sheet1!$A$2:$A$5</c:f>
              <c:strCache>
                <c:ptCount val="4"/>
                <c:pt idx="0">
                  <c:v>A  LLM text</c:v>
                </c:pt>
                <c:pt idx="1">
                  <c:v>B  VLM text</c:v>
                </c:pt>
                <c:pt idx="2">
                  <c:v>D  VLM + blank image</c:v>
                </c:pt>
                <c:pt idx="3">
                  <c:v>C  VLM image</c:v>
                </c:pt>
              </c:strCache>
            </c:strRef>
          </c:cat>
          <c:val>
            <c:numRef>
              <c:f>Sheet1!$C$2:$C$5</c:f>
              <c:numCache>
                <c:formatCode>General</c:formatCode>
                <c:ptCount val="4"/>
                <c:pt idx="0">
                  <c:v>0.812</c:v>
                </c:pt>
                <c:pt idx="1">
                  <c:v>0.821</c:v>
                </c:pt>
                <c:pt idx="2">
                  <c:v>0.821</c:v>
                </c:pt>
                <c:pt idx="3">
                  <c:v>0.613</c:v>
                </c:pt>
              </c:numCache>
            </c:numRef>
          </c:val>
        </c:ser>
        <c:dLbls>
          <c:numFmt formatCode="0.00" sourceLinked="0"/>
          <c:txPr>
            <a:bodyPr/>
            <a:lstStyle/>
            <a:p>
              <a:pPr>
                <a:defRPr sz="1300" b="1"/>
              </a:pPr>
            </a:p>
          </c:txPr>
          <c:dLblPos val="outEnd"/>
          <c:showLegendKey val="0"/>
          <c:showVal val="1"/>
          <c:showCatName val="0"/>
          <c:showSerName val="0"/>
          <c:showPercent val="0"/>
          <c:showBubbleSize val="0"/>
          <c:showLeaderLines val="1"/>
        </c:dLbls>
        <c:gapWidth val="60"/>
        <c:overlap val="-10"/>
        <c:axId val="-2068027336"/>
        <c:axId val="-2113994440"/>
      </c:barChart>
      <c:catAx>
        <c:axId val="-2068027336"/>
        <c:scaling>
          <c:orientation val="minMax"/>
        </c:scaling>
        <c:delete val="0"/>
        <c:axPos val="b"/>
        <c:majorTickMark val="out"/>
        <c:minorTickMark val="none"/>
        <c:tickLblPos val="nextTo"/>
        <c:spPr>
          <a:ln>
            <a:solidFill>
              <a:srgbClr val="8A97A8"/>
            </a:solidFill>
          </a:ln>
        </c:spPr>
        <c:txPr>
          <a:bodyPr/>
          <a:lstStyle/>
          <a:p>
            <a:pPr>
              <a:defRPr sz="1400"/>
            </a:pPr>
          </a:p>
        </c:txPr>
        <c:crossAx val="-2113994440"/>
        <c:crosses val="autoZero"/>
        <c:auto val="1"/>
        <c:lblAlgn val="ctr"/>
        <c:lblOffset val="100"/>
        <c:noMultiLvlLbl val="0"/>
      </c:catAx>
      <c:valAx>
        <c:axId val="-2113994440"/>
        <c:scaling>
          <c:max val="1.0"/>
          <c:min val="0.0"/>
        </c:scaling>
        <c:delete val="0"/>
        <c:axPos val="l"/>
        <c:majorGridlines>
          <c:spPr>
            <a:ln>
              <a:solidFill>
                <a:srgbClr val="DDE3EA"/>
              </a:solidFill>
            </a:ln>
          </c:spPr>
        </c:majorGridlines>
        <c:numFmt formatCode="0.0" sourceLinked="0"/>
        <c:majorTickMark val="out"/>
        <c:minorTickMark val="none"/>
        <c:tickLblPos val="nextTo"/>
        <c:spPr>
          <a:ln>
            <a:noFill/>
          </a:ln>
        </c:spPr>
        <c:txPr>
          <a:bodyPr/>
          <a:lstStyle/>
          <a:p>
            <a:pPr>
              <a:defRPr sz="1200">
                <a:solidFill>
                  <a:srgbClr val="5B6B80"/>
                </a:solidFill>
              </a:defRPr>
            </a:pPr>
          </a:p>
        </c:txPr>
        <c:crossAx val="-2068027336"/>
        <c:crosses val="autoZero"/>
      </c:valAx>
    </c:plotArea>
    <c:legend>
      <c:legendPos val="b"/>
      <c:overlay val="0"/>
      <c:txPr>
        <a:bodyPr/>
        <a:lstStyle/>
        <a:p>
          <a:pPr>
            <a:defRPr sz="1400"/>
          </a:pPr>
        </a:p>
      </c:txPr>
    </c:legend>
    <c:dispBlanksAs val="gap"/>
  </c:chart>
  <c:txPr>
    <a:bodyPr/>
    <a:lstStyle/>
    <a:p>
      <a:pPr>
        <a:defRPr sz="1400">
          <a:solidFill>
            <a:srgbClr val="0F1B2D"/>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Judge says refusal</c:v>
                </c:pt>
              </c:strCache>
            </c:strRef>
          </c:tx>
          <c:spPr>
            <a:solidFill>
              <a:srgbClr val="F2A33A"/>
            </a:solidFill>
          </c:spPr>
          <c:cat>
            <c:strRef>
              <c:f>Sheet1!$A$2:$A$3</c:f>
              <c:strCache>
                <c:ptCount val="2"/>
                <c:pt idx="0">
                  <c:v>Qwen2-VL-2B</c:v>
                </c:pt>
                <c:pt idx="1">
                  <c:v>Qwen2.5-VL-3B</c:v>
                </c:pt>
              </c:strCache>
            </c:strRef>
          </c:cat>
          <c:val>
            <c:numRef>
              <c:f>Sheet1!$B$2:$B$3</c:f>
              <c:numCache>
                <c:formatCode>General</c:formatCode>
                <c:ptCount val="2"/>
                <c:pt idx="0">
                  <c:v>0.521</c:v>
                </c:pt>
                <c:pt idx="1">
                  <c:v>0.613</c:v>
                </c:pt>
              </c:numCache>
            </c:numRef>
          </c:val>
        </c:ser>
        <c:ser>
          <c:idx val="1"/>
          <c:order val="1"/>
          <c:tx>
            <c:strRef>
              <c:f>Sheet1!$C$1</c:f>
              <c:strCache>
                <c:ptCount val="1"/>
                <c:pt idx="0">
                  <c:v>Refusal phrase present</c:v>
                </c:pt>
              </c:strCache>
            </c:strRef>
          </c:tx>
          <c:spPr>
            <a:solidFill>
              <a:srgbClr val="2A9D8F"/>
            </a:solidFill>
          </c:spPr>
          <c:cat>
            <c:strRef>
              <c:f>Sheet1!$A$2:$A$3</c:f>
              <c:strCache>
                <c:ptCount val="2"/>
                <c:pt idx="0">
                  <c:v>Qwen2-VL-2B</c:v>
                </c:pt>
                <c:pt idx="1">
                  <c:v>Qwen2.5-VL-3B</c:v>
                </c:pt>
              </c:strCache>
            </c:strRef>
          </c:cat>
          <c:val>
            <c:numRef>
              <c:f>Sheet1!$C$2:$C$3</c:f>
              <c:numCache>
                <c:formatCode>General</c:formatCode>
                <c:ptCount val="2"/>
                <c:pt idx="0">
                  <c:v>0.146</c:v>
                </c:pt>
                <c:pt idx="1">
                  <c:v>0.446</c:v>
                </c:pt>
              </c:numCache>
            </c:numRef>
          </c:val>
        </c:ser>
        <c:dLbls>
          <c:numFmt formatCode="0.00" sourceLinked="0"/>
          <c:txPr>
            <a:bodyPr/>
            <a:lstStyle/>
            <a:p>
              <a:pPr>
                <a:defRPr sz="1300" b="1">
                  <a:solidFill>
                    <a:srgbClr val="FFFFFF"/>
                  </a:solidFill>
                </a:defRPr>
              </a:pPr>
            </a:p>
          </c:txPr>
          <c:dLblPos val="outEnd"/>
          <c:showLegendKey val="0"/>
          <c:showVal val="1"/>
          <c:showCatName val="0"/>
          <c:showSerName val="0"/>
          <c:showPercent val="0"/>
          <c:showBubbleSize val="0"/>
          <c:showLeaderLines val="1"/>
        </c:dLbls>
        <c:gapWidth val="60"/>
        <c:overlap val="-10"/>
        <c:axId val="-2068027336"/>
        <c:axId val="-2113994440"/>
      </c:barChart>
      <c:catAx>
        <c:axId val="-2068027336"/>
        <c:scaling>
          <c:orientation val="minMax"/>
        </c:scaling>
        <c:delete val="0"/>
        <c:axPos val="b"/>
        <c:majorTickMark val="out"/>
        <c:minorTickMark val="none"/>
        <c:tickLblPos val="nextTo"/>
        <c:spPr>
          <a:ln>
            <a:solidFill>
              <a:srgbClr val="8A97A8"/>
            </a:solidFill>
          </a:ln>
        </c:spPr>
        <c:txPr>
          <a:bodyPr/>
          <a:lstStyle/>
          <a:p>
            <a:pPr>
              <a:defRPr sz="1400"/>
            </a:pPr>
          </a:p>
        </c:txPr>
        <c:crossAx val="-2113994440"/>
        <c:crosses val="autoZero"/>
        <c:auto val="1"/>
        <c:lblAlgn val="ctr"/>
        <c:lblOffset val="100"/>
        <c:noMultiLvlLbl val="0"/>
      </c:catAx>
      <c:valAx>
        <c:axId val="-2113994440"/>
        <c:scaling>
          <c:max val="1.0"/>
          <c:min val="0.0"/>
        </c:scaling>
        <c:delete val="0"/>
        <c:axPos val="l"/>
        <c:majorGridlines>
          <c:spPr>
            <a:ln>
              <a:solidFill>
                <a:srgbClr val="3A4D66"/>
              </a:solidFill>
            </a:ln>
          </c:spPr>
        </c:majorGridlines>
        <c:numFmt formatCode="0.0" sourceLinked="0"/>
        <c:majorTickMark val="out"/>
        <c:minorTickMark val="none"/>
        <c:tickLblPos val="nextTo"/>
        <c:spPr>
          <a:ln>
            <a:noFill/>
          </a:ln>
        </c:spPr>
        <c:txPr>
          <a:bodyPr/>
          <a:lstStyle/>
          <a:p>
            <a:pPr>
              <a:defRPr sz="1200">
                <a:solidFill>
                  <a:srgbClr val="C9D3E0"/>
                </a:solidFill>
              </a:defRPr>
            </a:pPr>
          </a:p>
        </c:txPr>
        <c:crossAx val="-2068027336"/>
        <c:crosses val="autoZero"/>
      </c:valAx>
    </c:plotArea>
    <c:legend>
      <c:legendPos val="b"/>
      <c:overlay val="0"/>
      <c:txPr>
        <a:bodyPr/>
        <a:lstStyle/>
        <a:p>
          <a:pPr>
            <a:defRPr sz="1400">
              <a:solidFill>
                <a:srgbClr val="FFFFFF"/>
              </a:solidFill>
            </a:defRPr>
          </a:pPr>
        </a:p>
      </c:txPr>
    </c:legend>
    <c:dispBlanksAs val="gap"/>
  </c:chart>
  <c:txPr>
    <a:bodyPr/>
    <a:lstStyle/>
    <a:p>
      <a:pPr>
        <a:defRPr sz="1400">
          <a:solidFill>
            <a:srgbClr val="FFFFFF"/>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question, not the method. Today's message in one line: we ran a first pilot, an audit of our own pipeline caught a serious measurement problem, and we now know exactly what to fix. Be clear these are PILOT numbers.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competing readings of the advisor's idea. The see-saw says safety is a fixed budget moved between modalities. Most of the literature points to shared circuitry in the language backbone. A third possibility is independence. Our design can tell these apart: same request, text versus image, in the same model.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from the abstracts and two papers in full; I verified one key paper myself (MARS). Everything on this slide is 'what is already known'. The important point is the last row: refusal-direction transfer is already published, so steering is a replication for us, not our contribution.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harmful request from MM-SafetyBench appears in four forms. A and B differ only by model (LLM backbone versus VLM). C moves the harmful phrase into an image. D adds a blank image to control for 'an image is present'. Judge is a small open model. Greedy decoding. Everything runs on a free Colab T4.</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measured with the first judge. Direction: the image channel refuses less than text in both models. The size of that gap is UNDERSTATED here because the judge mislabelled image-condition compliance as refusal; slide 8 explains. The blank-image bar for the 2B model is higher than plain text; the audit shows that is the model switching to short canned refusals, not better judgement.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dot is a scenario: text refusal on one axis, image refusal on the other. They rise together, which argues against a see-saw. Caution: scenarios differ in difficulty, so topic alone can create this pattern. The v2 run adds a within-scenario correlation to separate the two. Image numbers use the v1 judge.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Steering adds a direction learned from text refusals to the model's internal activations. In the pilot it raised refusal on harmful images too, but it also made the model refuse harmless questions. This is a replication of published work, and v1 had no random-direction control, so we will not claim it as a finding yet.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important slide. An independent audit agent read the raw responses and told us the judge was failing on the image condition. I re-checked it myself: in the Qwen2-VL-2B image condition, 90 of 125 'refusals' contained no refusal phrase at all; they were step-by-step compliance. For the 3B model it was 40 of 147. In conditions A, B and D the judge and a simple phrase check agree within a few points. The phrase check is a proxy, not ground truth; v2 adds a human-labelled sample. Net effect: the true image-channel gap is larger than we reported.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claims ladder: only say what the data supports. The blank-image result: 187 of 240 answers were the same short canned refusal, so it is a style switch, not better safety. Do not claim 'visual context improves safety'.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Novelty check by a literature agent, spot-verified on MARS. The search was not exhaustive, so we do not claim 'first'. Our defensible contribution is a careful measurement study: how coupled the channels are, how big the gap is once measured correctly, and what steering costs in over-refusal.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v2 is running on a Colab T4 now. Do not quote any v2 number until it finishes and the hand-labelled audit confirms the judge. If v2 finishes before the talk, add its numbers here.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Deadlines are from the venue agent, which opened official pages; confirm the ARR January date when it is posted. ACL 2027 via ARR on January 4, 2027 is the target. The AAAI-27 workshops on November 20 are non-archival and none is dedicated to VLM safety. TMLR is rolling.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the decisions you need from the advisor. Frame the claim around coupling and the typographic channel, not steering novelty.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chart" Target="../charts/char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chart" Target="../charts/char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B2D"/>
        </a:solidFill>
        <a:effectLst/>
      </p:bgPr>
    </p:bg>
    <p:spTree>
      <p:nvGrpSpPr>
        <p:cNvPr id="1" name=""/>
        <p:cNvGrpSpPr/>
        <p:nvPr/>
      </p:nvGrpSpPr>
      <p:grpSpPr/>
      <p:sp>
        <p:nvSpPr>
          <p:cNvPr id="2" name="Rounded Rectangle 1"/>
          <p:cNvSpPr/>
          <p:nvPr/>
        </p:nvSpPr>
        <p:spPr>
          <a:xfrm>
            <a:off x="548640" y="822960"/>
            <a:ext cx="3529584" cy="310896"/>
          </a:xfrm>
          <a:prstGeom prst="roundRect">
            <a:avLst>
              <a:gd name="adj" fmla="val 50000"/>
            </a:avLst>
          </a:prstGeom>
          <a:solidFill>
            <a:srgbClr val="F2A33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00" b="1">
                <a:solidFill>
                  <a:srgbClr val="0F1B2D"/>
                </a:solidFill>
                <a:latin typeface="Calibri"/>
              </a:rPr>
              <a:t>PILOT RESULTS, NOT FINAL</a:t>
            </a:r>
          </a:p>
        </p:txBody>
      </p:sp>
      <p:sp>
        <p:nvSpPr>
          <p:cNvPr id="3" name="TextBox 2"/>
          <p:cNvSpPr txBox="1"/>
          <p:nvPr/>
        </p:nvSpPr>
        <p:spPr>
          <a:xfrm>
            <a:off x="548640" y="1554480"/>
            <a:ext cx="10607040" cy="2194560"/>
          </a:xfrm>
          <a:prstGeom prst="rect">
            <a:avLst/>
          </a:prstGeom>
          <a:noFill/>
        </p:spPr>
        <p:txBody>
          <a:bodyPr wrap="square" lIns="0" rIns="0" tIns="0" bIns="0" anchor="t">
            <a:spAutoFit/>
          </a:bodyPr>
          <a:lstStyle/>
          <a:p>
            <a:pPr algn="l"/>
            <a:r>
              <a:rPr sz="4400" b="1" i="0">
                <a:solidFill>
                  <a:srgbClr val="FFFFFF"/>
                </a:solidFill>
                <a:latin typeface="Cambria"/>
              </a:rPr>
              <a:t>Do text and vision safety trade off in open vision-language models?</a:t>
            </a:r>
          </a:p>
        </p:txBody>
      </p:sp>
      <p:sp>
        <p:nvSpPr>
          <p:cNvPr id="4" name="TextBox 3"/>
          <p:cNvSpPr txBox="1"/>
          <p:nvPr/>
        </p:nvSpPr>
        <p:spPr>
          <a:xfrm>
            <a:off x="548640" y="3840480"/>
            <a:ext cx="10058400" cy="822960"/>
          </a:xfrm>
          <a:prstGeom prst="rect">
            <a:avLst/>
          </a:prstGeom>
          <a:noFill/>
        </p:spPr>
        <p:txBody>
          <a:bodyPr wrap="square" lIns="0" rIns="0" tIns="0" bIns="0" anchor="t">
            <a:spAutoFit/>
          </a:bodyPr>
          <a:lstStyle/>
          <a:p>
            <a:pPr algn="l"/>
            <a:r>
              <a:rPr sz="2200" b="0" i="0">
                <a:solidFill>
                  <a:srgbClr val="C9D3E0"/>
                </a:solidFill>
                <a:latin typeface="Calibri"/>
              </a:rPr>
              <a:t>A pilot with frozen open models, and what auditing our own results taught us</a:t>
            </a:r>
          </a:p>
        </p:txBody>
      </p:sp>
      <p:sp>
        <p:nvSpPr>
          <p:cNvPr id="5" name="TextBox 4"/>
          <p:cNvSpPr txBox="1"/>
          <p:nvPr/>
        </p:nvSpPr>
        <p:spPr>
          <a:xfrm>
            <a:off x="548640" y="5760720"/>
            <a:ext cx="10972800" cy="457200"/>
          </a:xfrm>
          <a:prstGeom prst="rect">
            <a:avLst/>
          </a:prstGeom>
          <a:noFill/>
        </p:spPr>
        <p:txBody>
          <a:bodyPr wrap="square" lIns="0" rIns="0" tIns="0" bIns="0" anchor="t">
            <a:spAutoFit/>
          </a:bodyPr>
          <a:lstStyle/>
          <a:p>
            <a:pPr algn="l"/>
            <a:r>
              <a:rPr sz="1600" b="0" i="0">
                <a:solidFill>
                  <a:srgbClr val="8A97A8"/>
                </a:solidFill>
                <a:latin typeface="Calibri"/>
              </a:rPr>
              <a:t>Aryaman Singh Dev  |  Advisor: Prof. Thao Minh Le  |  Penn State  |  October 15,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247120" y="6355080"/>
            <a:ext cx="640080" cy="320040"/>
          </a:xfrm>
          <a:prstGeom prst="rect">
            <a:avLst/>
          </a:prstGeom>
          <a:noFill/>
        </p:spPr>
        <p:txBody>
          <a:bodyPr wrap="square" lIns="0" rIns="0" tIns="0" bIns="0" anchor="t">
            <a:spAutoFit/>
          </a:bodyPr>
          <a:lstStyle/>
          <a:p>
            <a:pPr algn="r"/>
            <a:r>
              <a:rPr sz="1200" b="0" i="0">
                <a:solidFill>
                  <a:srgbClr val="8A97A8"/>
                </a:solidFill>
                <a:latin typeface="Calibri"/>
              </a:rPr>
              <a:t>2</a:t>
            </a:r>
          </a:p>
        </p:txBody>
      </p:sp>
      <p:sp>
        <p:nvSpPr>
          <p:cNvPr id="3" name="Rounded Rectangle 2"/>
          <p:cNvSpPr/>
          <p:nvPr/>
        </p:nvSpPr>
        <p:spPr>
          <a:xfrm>
            <a:off x="548640" y="347472"/>
            <a:ext cx="1993392" cy="310896"/>
          </a:xfrm>
          <a:prstGeom prst="roundRect">
            <a:avLst>
              <a:gd name="adj" fmla="val 50000"/>
            </a:avLst>
          </a:prstGeom>
          <a:solidFill>
            <a:srgbClr val="F2A33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00" b="1">
                <a:solidFill>
                  <a:srgbClr val="0F1B2D"/>
                </a:solidFill>
                <a:latin typeface="Calibri"/>
              </a:rPr>
              <a:t>THE QUESTION</a:t>
            </a:r>
          </a:p>
        </p:txBody>
      </p:sp>
      <p:sp>
        <p:nvSpPr>
          <p:cNvPr id="4" name="TextBox 3"/>
          <p:cNvSpPr txBox="1"/>
          <p:nvPr/>
        </p:nvSpPr>
        <p:spPr>
          <a:xfrm>
            <a:off x="548640" y="777240"/>
            <a:ext cx="11064240" cy="914400"/>
          </a:xfrm>
          <a:prstGeom prst="rect">
            <a:avLst/>
          </a:prstGeom>
          <a:noFill/>
        </p:spPr>
        <p:txBody>
          <a:bodyPr wrap="square" lIns="0" rIns="0" tIns="0" bIns="0" anchor="t">
            <a:spAutoFit/>
          </a:bodyPr>
          <a:lstStyle/>
          <a:p>
            <a:pPr algn="l"/>
            <a:r>
              <a:rPr sz="3200" b="1" i="0">
                <a:solidFill>
                  <a:srgbClr val="0F1B2D"/>
                </a:solidFill>
                <a:latin typeface="Cambria"/>
              </a:rPr>
              <a:t>Three ways text and vision safety could relate</a:t>
            </a:r>
          </a:p>
        </p:txBody>
      </p:sp>
      <p:sp>
        <p:nvSpPr>
          <p:cNvPr id="5" name="Rounded Rectangle 4"/>
          <p:cNvSpPr/>
          <p:nvPr/>
        </p:nvSpPr>
        <p:spPr>
          <a:xfrm>
            <a:off x="548640" y="1965960"/>
            <a:ext cx="3520440" cy="2743200"/>
          </a:xfrm>
          <a:prstGeom prst="roundRect">
            <a:avLst>
              <a:gd name="adj" fmla="val 8000"/>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22959" y="2240280"/>
            <a:ext cx="457200" cy="457200"/>
          </a:xfrm>
          <a:prstGeom prst="ellipse">
            <a:avLst/>
          </a:prstGeom>
          <a:solidFill>
            <a:srgbClr val="F2A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2240280"/>
            <a:ext cx="457200" cy="457200"/>
          </a:xfrm>
          <a:prstGeom prst="rect">
            <a:avLst/>
          </a:prstGeom>
          <a:noFill/>
        </p:spPr>
        <p:txBody>
          <a:bodyPr wrap="square" lIns="0" rIns="0" tIns="0" bIns="0" anchor="ctr">
            <a:spAutoFit/>
          </a:bodyPr>
          <a:lstStyle/>
          <a:p>
            <a:pPr algn="ctr"/>
            <a:r>
              <a:rPr sz="2000" b="1" i="0">
                <a:solidFill>
                  <a:srgbClr val="0F1B2D"/>
                </a:solidFill>
                <a:latin typeface="Calibri"/>
              </a:rPr>
              <a:t>1</a:t>
            </a:r>
          </a:p>
        </p:txBody>
      </p:sp>
      <p:sp>
        <p:nvSpPr>
          <p:cNvPr id="8" name="TextBox 7"/>
          <p:cNvSpPr txBox="1"/>
          <p:nvPr/>
        </p:nvSpPr>
        <p:spPr>
          <a:xfrm>
            <a:off x="822959" y="2880360"/>
            <a:ext cx="3017520" cy="457200"/>
          </a:xfrm>
          <a:prstGeom prst="rect">
            <a:avLst/>
          </a:prstGeom>
          <a:noFill/>
        </p:spPr>
        <p:txBody>
          <a:bodyPr wrap="square" lIns="0" rIns="0" tIns="0" bIns="0" anchor="t">
            <a:spAutoFit/>
          </a:bodyPr>
          <a:lstStyle/>
          <a:p>
            <a:pPr algn="l"/>
            <a:r>
              <a:rPr sz="2400" b="1" i="0">
                <a:solidFill>
                  <a:srgbClr val="0F1B2D"/>
                </a:solidFill>
                <a:latin typeface="Cambria"/>
              </a:rPr>
              <a:t>See-saw</a:t>
            </a:r>
          </a:p>
        </p:txBody>
      </p:sp>
      <p:sp>
        <p:nvSpPr>
          <p:cNvPr id="9" name="TextBox 8"/>
          <p:cNvSpPr txBox="1"/>
          <p:nvPr/>
        </p:nvSpPr>
        <p:spPr>
          <a:xfrm>
            <a:off x="822959" y="3429000"/>
            <a:ext cx="3017520" cy="1188720"/>
          </a:xfrm>
          <a:prstGeom prst="rect">
            <a:avLst/>
          </a:prstGeom>
          <a:noFill/>
        </p:spPr>
        <p:txBody>
          <a:bodyPr wrap="square" lIns="0" rIns="0" tIns="0" bIns="0" anchor="t">
            <a:spAutoFit/>
          </a:bodyPr>
          <a:lstStyle/>
          <a:p>
            <a:pPr algn="l"/>
            <a:r>
              <a:rPr sz="2000" b="0" i="0">
                <a:solidFill>
                  <a:srgbClr val="24364F"/>
                </a:solidFill>
                <a:latin typeface="Calibri"/>
              </a:rPr>
              <a:t>Vision safety drops by Z, text safety rises by Z. Safety is a budget moved between channels.</a:t>
            </a:r>
          </a:p>
        </p:txBody>
      </p:sp>
      <p:sp>
        <p:nvSpPr>
          <p:cNvPr id="10" name="Rounded Rectangle 9"/>
          <p:cNvSpPr/>
          <p:nvPr/>
        </p:nvSpPr>
        <p:spPr>
          <a:xfrm>
            <a:off x="4297679" y="1965960"/>
            <a:ext cx="3520440" cy="2743200"/>
          </a:xfrm>
          <a:prstGeom prst="roundRect">
            <a:avLst>
              <a:gd name="adj" fmla="val 8000"/>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571999" y="2240280"/>
            <a:ext cx="457200" cy="45720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1999" y="2240280"/>
            <a:ext cx="457200" cy="457200"/>
          </a:xfrm>
          <a:prstGeom prst="rect">
            <a:avLst/>
          </a:prstGeom>
          <a:noFill/>
        </p:spPr>
        <p:txBody>
          <a:bodyPr wrap="square" lIns="0" rIns="0" tIns="0" bIns="0" anchor="ctr">
            <a:spAutoFit/>
          </a:bodyPr>
          <a:lstStyle/>
          <a:p>
            <a:pPr algn="ctr"/>
            <a:r>
              <a:rPr sz="2000" b="1" i="0">
                <a:solidFill>
                  <a:srgbClr val="0F1B2D"/>
                </a:solidFill>
                <a:latin typeface="Calibri"/>
              </a:rPr>
              <a:t>2</a:t>
            </a:r>
          </a:p>
        </p:txBody>
      </p:sp>
      <p:sp>
        <p:nvSpPr>
          <p:cNvPr id="13" name="TextBox 12"/>
          <p:cNvSpPr txBox="1"/>
          <p:nvPr/>
        </p:nvSpPr>
        <p:spPr>
          <a:xfrm>
            <a:off x="4571999" y="2880360"/>
            <a:ext cx="3017520" cy="457200"/>
          </a:xfrm>
          <a:prstGeom prst="rect">
            <a:avLst/>
          </a:prstGeom>
          <a:noFill/>
        </p:spPr>
        <p:txBody>
          <a:bodyPr wrap="square" lIns="0" rIns="0" tIns="0" bIns="0" anchor="t">
            <a:spAutoFit/>
          </a:bodyPr>
          <a:lstStyle/>
          <a:p>
            <a:pPr algn="l"/>
            <a:r>
              <a:rPr sz="2400" b="1" i="0">
                <a:solidFill>
                  <a:srgbClr val="0F1B2D"/>
                </a:solidFill>
                <a:latin typeface="Cambria"/>
              </a:rPr>
              <a:t>Shared circuitry</a:t>
            </a:r>
          </a:p>
        </p:txBody>
      </p:sp>
      <p:sp>
        <p:nvSpPr>
          <p:cNvPr id="14" name="TextBox 13"/>
          <p:cNvSpPr txBox="1"/>
          <p:nvPr/>
        </p:nvSpPr>
        <p:spPr>
          <a:xfrm>
            <a:off x="4571999" y="3429000"/>
            <a:ext cx="3017520" cy="1188720"/>
          </a:xfrm>
          <a:prstGeom prst="rect">
            <a:avLst/>
          </a:prstGeom>
          <a:noFill/>
        </p:spPr>
        <p:txBody>
          <a:bodyPr wrap="square" lIns="0" rIns="0" tIns="0" bIns="0" anchor="t">
            <a:spAutoFit/>
          </a:bodyPr>
          <a:lstStyle/>
          <a:p>
            <a:pPr algn="l"/>
            <a:r>
              <a:rPr sz="2000" b="0" i="0">
                <a:solidFill>
                  <a:srgbClr val="24364F"/>
                </a:solidFill>
                <a:latin typeface="Calibri"/>
              </a:rPr>
              <a:t>Both channels use one refusal mechanism in the language backbone, so they move together.</a:t>
            </a:r>
          </a:p>
        </p:txBody>
      </p:sp>
      <p:sp>
        <p:nvSpPr>
          <p:cNvPr id="15" name="Rounded Rectangle 14"/>
          <p:cNvSpPr/>
          <p:nvPr/>
        </p:nvSpPr>
        <p:spPr>
          <a:xfrm>
            <a:off x="8046719" y="1965960"/>
            <a:ext cx="3520440" cy="2743200"/>
          </a:xfrm>
          <a:prstGeom prst="roundRect">
            <a:avLst>
              <a:gd name="adj" fmla="val 8000"/>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321040" y="2240280"/>
            <a:ext cx="457200" cy="457200"/>
          </a:xfrm>
          <a:prstGeom prst="ellipse">
            <a:avLst/>
          </a:prstGeom>
          <a:solidFill>
            <a:srgbClr val="8A97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21040" y="2240280"/>
            <a:ext cx="457200" cy="457200"/>
          </a:xfrm>
          <a:prstGeom prst="rect">
            <a:avLst/>
          </a:prstGeom>
          <a:noFill/>
        </p:spPr>
        <p:txBody>
          <a:bodyPr wrap="square" lIns="0" rIns="0" tIns="0" bIns="0" anchor="ctr">
            <a:spAutoFit/>
          </a:bodyPr>
          <a:lstStyle/>
          <a:p>
            <a:pPr algn="ctr"/>
            <a:r>
              <a:rPr sz="2000" b="1" i="0">
                <a:solidFill>
                  <a:srgbClr val="0F1B2D"/>
                </a:solidFill>
                <a:latin typeface="Calibri"/>
              </a:rPr>
              <a:t>3</a:t>
            </a:r>
          </a:p>
        </p:txBody>
      </p:sp>
      <p:sp>
        <p:nvSpPr>
          <p:cNvPr id="18" name="TextBox 17"/>
          <p:cNvSpPr txBox="1"/>
          <p:nvPr/>
        </p:nvSpPr>
        <p:spPr>
          <a:xfrm>
            <a:off x="8321040" y="2880360"/>
            <a:ext cx="3017520" cy="457200"/>
          </a:xfrm>
          <a:prstGeom prst="rect">
            <a:avLst/>
          </a:prstGeom>
          <a:noFill/>
        </p:spPr>
        <p:txBody>
          <a:bodyPr wrap="square" lIns="0" rIns="0" tIns="0" bIns="0" anchor="t">
            <a:spAutoFit/>
          </a:bodyPr>
          <a:lstStyle/>
          <a:p>
            <a:pPr algn="l"/>
            <a:r>
              <a:rPr sz="2400" b="1" i="0">
                <a:solidFill>
                  <a:srgbClr val="0F1B2D"/>
                </a:solidFill>
                <a:latin typeface="Cambria"/>
              </a:rPr>
              <a:t>Independent</a:t>
            </a:r>
          </a:p>
        </p:txBody>
      </p:sp>
      <p:sp>
        <p:nvSpPr>
          <p:cNvPr id="19" name="TextBox 18"/>
          <p:cNvSpPr txBox="1"/>
          <p:nvPr/>
        </p:nvSpPr>
        <p:spPr>
          <a:xfrm>
            <a:off x="8321040" y="3429000"/>
            <a:ext cx="3017520" cy="1188720"/>
          </a:xfrm>
          <a:prstGeom prst="rect">
            <a:avLst/>
          </a:prstGeom>
          <a:noFill/>
        </p:spPr>
        <p:txBody>
          <a:bodyPr wrap="square" lIns="0" rIns="0" tIns="0" bIns="0" anchor="t">
            <a:spAutoFit/>
          </a:bodyPr>
          <a:lstStyle/>
          <a:p>
            <a:pPr algn="l"/>
            <a:r>
              <a:rPr sz="2000" b="0" i="0">
                <a:solidFill>
                  <a:srgbClr val="24364F"/>
                </a:solidFill>
                <a:latin typeface="Calibri"/>
              </a:rPr>
              <a:t>The channels do not predict each other.</a:t>
            </a:r>
          </a:p>
        </p:txBody>
      </p:sp>
      <p:sp>
        <p:nvSpPr>
          <p:cNvPr id="20" name="TextBox 19"/>
          <p:cNvSpPr txBox="1"/>
          <p:nvPr/>
        </p:nvSpPr>
        <p:spPr>
          <a:xfrm>
            <a:off x="548640" y="5166360"/>
            <a:ext cx="11064240" cy="731520"/>
          </a:xfrm>
          <a:prstGeom prst="rect">
            <a:avLst/>
          </a:prstGeom>
          <a:noFill/>
        </p:spPr>
        <p:txBody>
          <a:bodyPr wrap="square" lIns="0" rIns="0" tIns="0" bIns="0" anchor="t">
            <a:spAutoFit/>
          </a:bodyPr>
          <a:lstStyle/>
          <a:p>
            <a:pPr algn="l"/>
            <a:r>
              <a:rPr sz="2000" b="1" i="0">
                <a:solidFill>
                  <a:srgbClr val="0F1B2D"/>
                </a:solidFill>
                <a:latin typeface="Calibri"/>
              </a:rPr>
              <a:t>Test: the same harmful request, once as text and once as an image, in frozen open models. No training.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247120" y="6355080"/>
            <a:ext cx="640080" cy="320040"/>
          </a:xfrm>
          <a:prstGeom prst="rect">
            <a:avLst/>
          </a:prstGeom>
          <a:noFill/>
        </p:spPr>
        <p:txBody>
          <a:bodyPr wrap="square" lIns="0" rIns="0" tIns="0" bIns="0" anchor="t">
            <a:spAutoFit/>
          </a:bodyPr>
          <a:lstStyle/>
          <a:p>
            <a:pPr algn="r"/>
            <a:r>
              <a:rPr sz="1200" b="0" i="0">
                <a:solidFill>
                  <a:srgbClr val="8A97A8"/>
                </a:solidFill>
                <a:latin typeface="Calibri"/>
              </a:rPr>
              <a:t>3</a:t>
            </a:r>
          </a:p>
        </p:txBody>
      </p:sp>
      <p:sp>
        <p:nvSpPr>
          <p:cNvPr id="3" name="Rounded Rectangle 2"/>
          <p:cNvSpPr/>
          <p:nvPr/>
        </p:nvSpPr>
        <p:spPr>
          <a:xfrm>
            <a:off x="548640" y="347472"/>
            <a:ext cx="2121408" cy="310896"/>
          </a:xfrm>
          <a:prstGeom prst="roundRect">
            <a:avLst>
              <a:gd name="adj" fmla="val 50000"/>
            </a:avLst>
          </a:prstGeom>
          <a:solidFill>
            <a:srgbClr val="F2A33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00" b="1">
                <a:solidFill>
                  <a:srgbClr val="0F1B2D"/>
                </a:solidFill>
                <a:latin typeface="Calibri"/>
              </a:rPr>
              <a:t>WHAT IS KNOWN</a:t>
            </a:r>
          </a:p>
        </p:txBody>
      </p:sp>
      <p:sp>
        <p:nvSpPr>
          <p:cNvPr id="4" name="TextBox 3"/>
          <p:cNvSpPr txBox="1"/>
          <p:nvPr/>
        </p:nvSpPr>
        <p:spPr>
          <a:xfrm>
            <a:off x="548640" y="777240"/>
            <a:ext cx="11064240" cy="914400"/>
          </a:xfrm>
          <a:prstGeom prst="rect">
            <a:avLst/>
          </a:prstGeom>
          <a:noFill/>
        </p:spPr>
        <p:txBody>
          <a:bodyPr wrap="square" lIns="0" rIns="0" tIns="0" bIns="0" anchor="t">
            <a:spAutoFit/>
          </a:bodyPr>
          <a:lstStyle/>
          <a:p>
            <a:pPr algn="l"/>
            <a:r>
              <a:rPr sz="3200" b="1" i="0">
                <a:solidFill>
                  <a:srgbClr val="0F1B2D"/>
                </a:solidFill>
                <a:latin typeface="Cambria"/>
              </a:rPr>
              <a:t>The literature already covers most of this</a:t>
            </a:r>
          </a:p>
        </p:txBody>
      </p:sp>
      <p:sp>
        <p:nvSpPr>
          <p:cNvPr id="5" name="Rounded Rectangle 4"/>
          <p:cNvSpPr/>
          <p:nvPr/>
        </p:nvSpPr>
        <p:spPr>
          <a:xfrm>
            <a:off x="548640" y="1874519"/>
            <a:ext cx="11064240" cy="914400"/>
          </a:xfrm>
          <a:prstGeom prst="roundRect">
            <a:avLst>
              <a:gd name="adj" fmla="val 8000"/>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77240" y="2103120"/>
            <a:ext cx="457200" cy="45720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103120"/>
            <a:ext cx="457200" cy="457200"/>
          </a:xfrm>
          <a:prstGeom prst="rect">
            <a:avLst/>
          </a:prstGeom>
          <a:noFill/>
        </p:spPr>
        <p:txBody>
          <a:bodyPr wrap="square" lIns="0" rIns="0" tIns="0" bIns="0" anchor="ctr">
            <a:spAutoFit/>
          </a:bodyPr>
          <a:lstStyle/>
          <a:p>
            <a:pPr algn="ctr"/>
            <a:r>
              <a:rPr sz="1800" b="1" i="0">
                <a:solidFill>
                  <a:srgbClr val="0F1B2D"/>
                </a:solidFill>
                <a:latin typeface="Calibri"/>
              </a:rPr>
              <a:t>1</a:t>
            </a:r>
          </a:p>
        </p:txBody>
      </p:sp>
      <p:sp>
        <p:nvSpPr>
          <p:cNvPr id="8" name="TextBox 7"/>
          <p:cNvSpPr txBox="1"/>
          <p:nvPr/>
        </p:nvSpPr>
        <p:spPr>
          <a:xfrm>
            <a:off x="1508760" y="2002536"/>
            <a:ext cx="4937760" cy="731520"/>
          </a:xfrm>
          <a:prstGeom prst="rect">
            <a:avLst/>
          </a:prstGeom>
          <a:noFill/>
        </p:spPr>
        <p:txBody>
          <a:bodyPr wrap="square" lIns="0" rIns="0" tIns="0" bIns="0" anchor="ctr">
            <a:spAutoFit/>
          </a:bodyPr>
          <a:lstStyle/>
          <a:p>
            <a:pPr algn="l"/>
            <a:r>
              <a:rPr sz="1900" b="1" i="0">
                <a:solidFill>
                  <a:srgbClr val="0F1B2D"/>
                </a:solidFill>
                <a:latin typeface="Calibri"/>
              </a:rPr>
              <a:t>Adding vision erodes safety</a:t>
            </a:r>
          </a:p>
        </p:txBody>
      </p:sp>
      <p:sp>
        <p:nvSpPr>
          <p:cNvPr id="9" name="TextBox 8"/>
          <p:cNvSpPr txBox="1"/>
          <p:nvPr/>
        </p:nvSpPr>
        <p:spPr>
          <a:xfrm>
            <a:off x="6583680" y="2002536"/>
            <a:ext cx="4846320" cy="731520"/>
          </a:xfrm>
          <a:prstGeom prst="rect">
            <a:avLst/>
          </a:prstGeom>
          <a:noFill/>
        </p:spPr>
        <p:txBody>
          <a:bodyPr wrap="square" lIns="0" rIns="0" tIns="0" bIns="0" anchor="ctr">
            <a:spAutoFit/>
          </a:bodyPr>
          <a:lstStyle/>
          <a:p>
            <a:pPr algn="l"/>
            <a:r>
              <a:rPr sz="1800" b="0" i="0">
                <a:solidFill>
                  <a:srgbClr val="24364F"/>
                </a:solidFill>
                <a:latin typeface="Calibri"/>
              </a:rPr>
              <a:t>Learning to See but Forgetting to Follow; VLGuard (ICML 2024)</a:t>
            </a:r>
          </a:p>
        </p:txBody>
      </p:sp>
      <p:sp>
        <p:nvSpPr>
          <p:cNvPr id="10" name="Rounded Rectangle 9"/>
          <p:cNvSpPr/>
          <p:nvPr/>
        </p:nvSpPr>
        <p:spPr>
          <a:xfrm>
            <a:off x="548640" y="2926079"/>
            <a:ext cx="11064240" cy="914400"/>
          </a:xfrm>
          <a:prstGeom prst="roundRect">
            <a:avLst>
              <a:gd name="adj" fmla="val 8000"/>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154679"/>
            <a:ext cx="457200" cy="45720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3154679"/>
            <a:ext cx="457200" cy="457200"/>
          </a:xfrm>
          <a:prstGeom prst="rect">
            <a:avLst/>
          </a:prstGeom>
          <a:noFill/>
        </p:spPr>
        <p:txBody>
          <a:bodyPr wrap="square" lIns="0" rIns="0" tIns="0" bIns="0" anchor="ctr">
            <a:spAutoFit/>
          </a:bodyPr>
          <a:lstStyle/>
          <a:p>
            <a:pPr algn="ctr"/>
            <a:r>
              <a:rPr sz="1800" b="1" i="0">
                <a:solidFill>
                  <a:srgbClr val="0F1B2D"/>
                </a:solidFill>
                <a:latin typeface="Calibri"/>
              </a:rPr>
              <a:t>2</a:t>
            </a:r>
          </a:p>
        </p:txBody>
      </p:sp>
      <p:sp>
        <p:nvSpPr>
          <p:cNvPr id="13" name="TextBox 12"/>
          <p:cNvSpPr txBox="1"/>
          <p:nvPr/>
        </p:nvSpPr>
        <p:spPr>
          <a:xfrm>
            <a:off x="1508760" y="3054096"/>
            <a:ext cx="4937760" cy="731520"/>
          </a:xfrm>
          <a:prstGeom prst="rect">
            <a:avLst/>
          </a:prstGeom>
          <a:noFill/>
        </p:spPr>
        <p:txBody>
          <a:bodyPr wrap="square" lIns="0" rIns="0" tIns="0" bIns="0" anchor="ctr">
            <a:spAutoFit/>
          </a:bodyPr>
          <a:lstStyle/>
          <a:p>
            <a:pPr algn="l"/>
            <a:r>
              <a:rPr sz="1900" b="1" i="0">
                <a:solidFill>
                  <a:srgbClr val="0F1B2D"/>
                </a:solidFill>
                <a:latin typeface="Calibri"/>
              </a:rPr>
              <a:t>Images sit in a different representation region</a:t>
            </a:r>
          </a:p>
        </p:txBody>
      </p:sp>
      <p:sp>
        <p:nvSpPr>
          <p:cNvPr id="14" name="TextBox 13"/>
          <p:cNvSpPr txBox="1"/>
          <p:nvPr/>
        </p:nvSpPr>
        <p:spPr>
          <a:xfrm>
            <a:off x="6583680" y="3054096"/>
            <a:ext cx="4846320" cy="731520"/>
          </a:xfrm>
          <a:prstGeom prst="rect">
            <a:avLst/>
          </a:prstGeom>
          <a:noFill/>
        </p:spPr>
        <p:txBody>
          <a:bodyPr wrap="square" lIns="0" rIns="0" tIns="0" bIns="0" anchor="ctr">
            <a:spAutoFit/>
          </a:bodyPr>
          <a:lstStyle/>
          <a:p>
            <a:pPr algn="l"/>
            <a:r>
              <a:rPr sz="1800" b="0" i="0">
                <a:solidFill>
                  <a:srgbClr val="24364F"/>
                </a:solidFill>
                <a:latin typeface="Calibri"/>
              </a:rPr>
              <a:t>Liu et al. (ACL Findings 2025); TGA (ICLR 2025)</a:t>
            </a:r>
          </a:p>
        </p:txBody>
      </p:sp>
      <p:sp>
        <p:nvSpPr>
          <p:cNvPr id="15" name="Rounded Rectangle 14"/>
          <p:cNvSpPr/>
          <p:nvPr/>
        </p:nvSpPr>
        <p:spPr>
          <a:xfrm>
            <a:off x="548640" y="3977639"/>
            <a:ext cx="11064240" cy="914400"/>
          </a:xfrm>
          <a:prstGeom prst="roundRect">
            <a:avLst>
              <a:gd name="adj" fmla="val 8000"/>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77240" y="4206240"/>
            <a:ext cx="457200" cy="45720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4206240"/>
            <a:ext cx="457200" cy="457200"/>
          </a:xfrm>
          <a:prstGeom prst="rect">
            <a:avLst/>
          </a:prstGeom>
          <a:noFill/>
        </p:spPr>
        <p:txBody>
          <a:bodyPr wrap="square" lIns="0" rIns="0" tIns="0" bIns="0" anchor="ctr">
            <a:spAutoFit/>
          </a:bodyPr>
          <a:lstStyle/>
          <a:p>
            <a:pPr algn="ctr"/>
            <a:r>
              <a:rPr sz="1800" b="1" i="0">
                <a:solidFill>
                  <a:srgbClr val="0F1B2D"/>
                </a:solidFill>
                <a:latin typeface="Calibri"/>
              </a:rPr>
              <a:t>3</a:t>
            </a:r>
          </a:p>
        </p:txBody>
      </p:sp>
      <p:sp>
        <p:nvSpPr>
          <p:cNvPr id="18" name="TextBox 17"/>
          <p:cNvSpPr txBox="1"/>
          <p:nvPr/>
        </p:nvSpPr>
        <p:spPr>
          <a:xfrm>
            <a:off x="1508760" y="4105655"/>
            <a:ext cx="4937760" cy="731520"/>
          </a:xfrm>
          <a:prstGeom prst="rect">
            <a:avLst/>
          </a:prstGeom>
          <a:noFill/>
        </p:spPr>
        <p:txBody>
          <a:bodyPr wrap="square" lIns="0" rIns="0" tIns="0" bIns="0" anchor="ctr">
            <a:spAutoFit/>
          </a:bodyPr>
          <a:lstStyle/>
          <a:p>
            <a:pPr algn="l"/>
            <a:r>
              <a:rPr sz="1900" b="1" i="0">
                <a:solidFill>
                  <a:srgbClr val="0F1B2D"/>
                </a:solidFill>
                <a:latin typeface="Calibri"/>
              </a:rPr>
              <a:t>Typographic images slip past text safety</a:t>
            </a:r>
          </a:p>
        </p:txBody>
      </p:sp>
      <p:sp>
        <p:nvSpPr>
          <p:cNvPr id="19" name="TextBox 18"/>
          <p:cNvSpPr txBox="1"/>
          <p:nvPr/>
        </p:nvSpPr>
        <p:spPr>
          <a:xfrm>
            <a:off x="6583680" y="4105655"/>
            <a:ext cx="4846320" cy="731520"/>
          </a:xfrm>
          <a:prstGeom prst="rect">
            <a:avLst/>
          </a:prstGeom>
          <a:noFill/>
        </p:spPr>
        <p:txBody>
          <a:bodyPr wrap="square" lIns="0" rIns="0" tIns="0" bIns="0" anchor="ctr">
            <a:spAutoFit/>
          </a:bodyPr>
          <a:lstStyle/>
          <a:p>
            <a:pPr algn="l"/>
            <a:r>
              <a:rPr sz="1800" b="0" i="0">
                <a:solidFill>
                  <a:srgbClr val="24364F"/>
                </a:solidFill>
                <a:latin typeface="Calibri"/>
              </a:rPr>
              <a:t>FigStep (AAAI 2025); MM-SafetyBench; Text2VLM</a:t>
            </a:r>
          </a:p>
        </p:txBody>
      </p:sp>
      <p:sp>
        <p:nvSpPr>
          <p:cNvPr id="20" name="Rounded Rectangle 19"/>
          <p:cNvSpPr/>
          <p:nvPr/>
        </p:nvSpPr>
        <p:spPr>
          <a:xfrm>
            <a:off x="548640" y="5029200"/>
            <a:ext cx="11064240" cy="914400"/>
          </a:xfrm>
          <a:prstGeom prst="roundRect">
            <a:avLst>
              <a:gd name="adj" fmla="val 8000"/>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77240" y="5257800"/>
            <a:ext cx="457200" cy="457200"/>
          </a:xfrm>
          <a:prstGeom prst="ellipse">
            <a:avLst/>
          </a:prstGeom>
          <a:solidFill>
            <a:srgbClr val="F2A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5257800"/>
            <a:ext cx="457200" cy="457200"/>
          </a:xfrm>
          <a:prstGeom prst="rect">
            <a:avLst/>
          </a:prstGeom>
          <a:noFill/>
        </p:spPr>
        <p:txBody>
          <a:bodyPr wrap="square" lIns="0" rIns="0" tIns="0" bIns="0" anchor="ctr">
            <a:spAutoFit/>
          </a:bodyPr>
          <a:lstStyle/>
          <a:p>
            <a:pPr algn="ctr"/>
            <a:r>
              <a:rPr sz="1800" b="1" i="0">
                <a:solidFill>
                  <a:srgbClr val="0F1B2D"/>
                </a:solidFill>
                <a:latin typeface="Calibri"/>
              </a:rPr>
              <a:t>4</a:t>
            </a:r>
          </a:p>
        </p:txBody>
      </p:sp>
      <p:sp>
        <p:nvSpPr>
          <p:cNvPr id="23" name="TextBox 22"/>
          <p:cNvSpPr txBox="1"/>
          <p:nvPr/>
        </p:nvSpPr>
        <p:spPr>
          <a:xfrm>
            <a:off x="1508760" y="5157216"/>
            <a:ext cx="4937760" cy="731520"/>
          </a:xfrm>
          <a:prstGeom prst="rect">
            <a:avLst/>
          </a:prstGeom>
          <a:noFill/>
        </p:spPr>
        <p:txBody>
          <a:bodyPr wrap="square" lIns="0" rIns="0" tIns="0" bIns="0" anchor="ctr">
            <a:spAutoFit/>
          </a:bodyPr>
          <a:lstStyle/>
          <a:p>
            <a:pPr algn="l"/>
            <a:r>
              <a:rPr sz="1900" b="1" i="0">
                <a:solidFill>
                  <a:srgbClr val="0F1B2D"/>
                </a:solidFill>
                <a:latin typeface="Calibri"/>
              </a:rPr>
              <a:t>Refusal directions transfer across modalities</a:t>
            </a:r>
          </a:p>
        </p:txBody>
      </p:sp>
      <p:sp>
        <p:nvSpPr>
          <p:cNvPr id="24" name="TextBox 23"/>
          <p:cNvSpPr txBox="1"/>
          <p:nvPr/>
        </p:nvSpPr>
        <p:spPr>
          <a:xfrm>
            <a:off x="6583680" y="5157216"/>
            <a:ext cx="4846320" cy="731520"/>
          </a:xfrm>
          <a:prstGeom prst="rect">
            <a:avLst/>
          </a:prstGeom>
          <a:noFill/>
        </p:spPr>
        <p:txBody>
          <a:bodyPr wrap="square" lIns="0" rIns="0" tIns="0" bIns="0" anchor="ctr">
            <a:spAutoFit/>
          </a:bodyPr>
          <a:lstStyle/>
          <a:p>
            <a:pPr algn="l"/>
            <a:r>
              <a:rPr sz="1800" b="0" i="0">
                <a:solidFill>
                  <a:srgbClr val="24364F"/>
                </a:solidFill>
                <a:latin typeface="Calibri"/>
              </a:rPr>
              <a:t>MARS (arXiv 2606.31876, Jun 2026); Arditi et al. (2024)</a:t>
            </a:r>
          </a:p>
        </p:txBody>
      </p:sp>
      <p:sp>
        <p:nvSpPr>
          <p:cNvPr id="25" name="TextBox 24"/>
          <p:cNvSpPr txBox="1"/>
          <p:nvPr/>
        </p:nvSpPr>
        <p:spPr>
          <a:xfrm>
            <a:off x="548640" y="6080760"/>
            <a:ext cx="10058400" cy="365760"/>
          </a:xfrm>
          <a:prstGeom prst="rect">
            <a:avLst/>
          </a:prstGeom>
          <a:noFill/>
        </p:spPr>
        <p:txBody>
          <a:bodyPr wrap="square" lIns="0" rIns="0" tIns="0" bIns="0" anchor="t">
            <a:spAutoFit/>
          </a:bodyPr>
          <a:lstStyle/>
          <a:p>
            <a:pPr algn="l"/>
            <a:r>
              <a:rPr sz="1600" b="1" i="0">
                <a:solidFill>
                  <a:srgbClr val="0F1B2D"/>
                </a:solidFill>
                <a:latin typeface="Calibri"/>
              </a:rPr>
              <a:t>Steering transfer is already published, so it is a replication for us.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247120" y="6355080"/>
            <a:ext cx="640080" cy="320040"/>
          </a:xfrm>
          <a:prstGeom prst="rect">
            <a:avLst/>
          </a:prstGeom>
          <a:noFill/>
        </p:spPr>
        <p:txBody>
          <a:bodyPr wrap="square" lIns="0" rIns="0" tIns="0" bIns="0" anchor="t">
            <a:spAutoFit/>
          </a:bodyPr>
          <a:lstStyle/>
          <a:p>
            <a:pPr algn="r"/>
            <a:r>
              <a:rPr sz="1200" b="0" i="0">
                <a:solidFill>
                  <a:srgbClr val="8A97A8"/>
                </a:solidFill>
                <a:latin typeface="Calibri"/>
              </a:rPr>
              <a:t>4</a:t>
            </a:r>
          </a:p>
        </p:txBody>
      </p:sp>
      <p:sp>
        <p:nvSpPr>
          <p:cNvPr id="3" name="Rounded Rectangle 2"/>
          <p:cNvSpPr/>
          <p:nvPr/>
        </p:nvSpPr>
        <p:spPr>
          <a:xfrm>
            <a:off x="548640" y="347472"/>
            <a:ext cx="1225296" cy="310896"/>
          </a:xfrm>
          <a:prstGeom prst="roundRect">
            <a:avLst>
              <a:gd name="adj" fmla="val 50000"/>
            </a:avLst>
          </a:prstGeom>
          <a:solidFill>
            <a:srgbClr val="F2A33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00" b="1">
                <a:solidFill>
                  <a:srgbClr val="0F1B2D"/>
                </a:solidFill>
                <a:latin typeface="Calibri"/>
              </a:rPr>
              <a:t>DESIGN</a:t>
            </a:r>
          </a:p>
        </p:txBody>
      </p:sp>
      <p:sp>
        <p:nvSpPr>
          <p:cNvPr id="4" name="TextBox 3"/>
          <p:cNvSpPr txBox="1"/>
          <p:nvPr/>
        </p:nvSpPr>
        <p:spPr>
          <a:xfrm>
            <a:off x="548640" y="777240"/>
            <a:ext cx="11064240" cy="914400"/>
          </a:xfrm>
          <a:prstGeom prst="rect">
            <a:avLst/>
          </a:prstGeom>
          <a:noFill/>
        </p:spPr>
        <p:txBody>
          <a:bodyPr wrap="square" lIns="0" rIns="0" tIns="0" bIns="0" anchor="t">
            <a:spAutoFit/>
          </a:bodyPr>
          <a:lstStyle/>
          <a:p>
            <a:pPr algn="l"/>
            <a:r>
              <a:rPr sz="3200" b="1" i="0">
                <a:solidFill>
                  <a:srgbClr val="0F1B2D"/>
                </a:solidFill>
                <a:latin typeface="Cambria"/>
              </a:rPr>
              <a:t>One request, four channels</a:t>
            </a:r>
          </a:p>
        </p:txBody>
      </p:sp>
      <p:sp>
        <p:nvSpPr>
          <p:cNvPr id="5" name="Rounded Rectangle 4"/>
          <p:cNvSpPr/>
          <p:nvPr/>
        </p:nvSpPr>
        <p:spPr>
          <a:xfrm>
            <a:off x="548640" y="1920240"/>
            <a:ext cx="2651760" cy="2514600"/>
          </a:xfrm>
          <a:prstGeom prst="roundRect">
            <a:avLst>
              <a:gd name="adj" fmla="val 8000"/>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77240" y="2148840"/>
            <a:ext cx="548640" cy="548640"/>
          </a:xfrm>
          <a:prstGeom prst="ellipse">
            <a:avLst/>
          </a:prstGeom>
          <a:solidFill>
            <a:srgbClr val="8A97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148840"/>
            <a:ext cx="548640" cy="548640"/>
          </a:xfrm>
          <a:prstGeom prst="rect">
            <a:avLst/>
          </a:prstGeom>
          <a:noFill/>
        </p:spPr>
        <p:txBody>
          <a:bodyPr wrap="square" lIns="0" rIns="0" tIns="0" bIns="0" anchor="ctr">
            <a:spAutoFit/>
          </a:bodyPr>
          <a:lstStyle/>
          <a:p>
            <a:pPr algn="ctr"/>
            <a:r>
              <a:rPr sz="2200" b="1" i="0">
                <a:solidFill>
                  <a:srgbClr val="FFFFFF"/>
                </a:solidFill>
                <a:latin typeface="Calibri"/>
              </a:rPr>
              <a:t>A</a:t>
            </a:r>
          </a:p>
        </p:txBody>
      </p:sp>
      <p:sp>
        <p:nvSpPr>
          <p:cNvPr id="8" name="TextBox 7"/>
          <p:cNvSpPr txBox="1"/>
          <p:nvPr/>
        </p:nvSpPr>
        <p:spPr>
          <a:xfrm>
            <a:off x="777240" y="2834640"/>
            <a:ext cx="2194560" cy="411480"/>
          </a:xfrm>
          <a:prstGeom prst="rect">
            <a:avLst/>
          </a:prstGeom>
          <a:noFill/>
        </p:spPr>
        <p:txBody>
          <a:bodyPr wrap="square" lIns="0" rIns="0" tIns="0" bIns="0" anchor="t">
            <a:spAutoFit/>
          </a:bodyPr>
          <a:lstStyle/>
          <a:p>
            <a:pPr algn="l"/>
            <a:r>
              <a:rPr sz="2000" b="1" i="0">
                <a:solidFill>
                  <a:srgbClr val="0F1B2D"/>
                </a:solidFill>
                <a:latin typeface="Cambria"/>
              </a:rPr>
              <a:t>LLM backbone</a:t>
            </a:r>
          </a:p>
        </p:txBody>
      </p:sp>
      <p:sp>
        <p:nvSpPr>
          <p:cNvPr id="9" name="TextBox 8"/>
          <p:cNvSpPr txBox="1"/>
          <p:nvPr/>
        </p:nvSpPr>
        <p:spPr>
          <a:xfrm>
            <a:off x="777240" y="3291840"/>
            <a:ext cx="2240280" cy="1097280"/>
          </a:xfrm>
          <a:prstGeom prst="rect">
            <a:avLst/>
          </a:prstGeom>
          <a:noFill/>
        </p:spPr>
        <p:txBody>
          <a:bodyPr wrap="square" lIns="0" rIns="0" tIns="0" bIns="0" anchor="t">
            <a:spAutoFit/>
          </a:bodyPr>
          <a:lstStyle/>
          <a:p>
            <a:pPr algn="l"/>
            <a:r>
              <a:rPr sz="2000" b="0" i="0">
                <a:solidFill>
                  <a:srgbClr val="24364F"/>
                </a:solidFill>
                <a:latin typeface="Calibri"/>
              </a:rPr>
              <a:t>Harmful question as text</a:t>
            </a:r>
          </a:p>
        </p:txBody>
      </p:sp>
      <p:sp>
        <p:nvSpPr>
          <p:cNvPr id="10" name="Rounded Rectangle 9"/>
          <p:cNvSpPr/>
          <p:nvPr/>
        </p:nvSpPr>
        <p:spPr>
          <a:xfrm>
            <a:off x="3364992" y="1920240"/>
            <a:ext cx="2651760" cy="2514600"/>
          </a:xfrm>
          <a:prstGeom prst="roundRect">
            <a:avLst>
              <a:gd name="adj" fmla="val 8000"/>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593592" y="2148840"/>
            <a:ext cx="548640" cy="54864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93592" y="2148840"/>
            <a:ext cx="548640" cy="548640"/>
          </a:xfrm>
          <a:prstGeom prst="rect">
            <a:avLst/>
          </a:prstGeom>
          <a:noFill/>
        </p:spPr>
        <p:txBody>
          <a:bodyPr wrap="square" lIns="0" rIns="0" tIns="0" bIns="0" anchor="ctr">
            <a:spAutoFit/>
          </a:bodyPr>
          <a:lstStyle/>
          <a:p>
            <a:pPr algn="ctr"/>
            <a:r>
              <a:rPr sz="2200" b="1" i="0">
                <a:solidFill>
                  <a:srgbClr val="FFFFFF"/>
                </a:solidFill>
                <a:latin typeface="Calibri"/>
              </a:rPr>
              <a:t>B</a:t>
            </a:r>
          </a:p>
        </p:txBody>
      </p:sp>
      <p:sp>
        <p:nvSpPr>
          <p:cNvPr id="13" name="TextBox 12"/>
          <p:cNvSpPr txBox="1"/>
          <p:nvPr/>
        </p:nvSpPr>
        <p:spPr>
          <a:xfrm>
            <a:off x="3593592" y="2834640"/>
            <a:ext cx="2194560" cy="411480"/>
          </a:xfrm>
          <a:prstGeom prst="rect">
            <a:avLst/>
          </a:prstGeom>
          <a:noFill/>
        </p:spPr>
        <p:txBody>
          <a:bodyPr wrap="square" lIns="0" rIns="0" tIns="0" bIns="0" anchor="t">
            <a:spAutoFit/>
          </a:bodyPr>
          <a:lstStyle/>
          <a:p>
            <a:pPr algn="l"/>
            <a:r>
              <a:rPr sz="2000" b="1" i="0">
                <a:solidFill>
                  <a:srgbClr val="0F1B2D"/>
                </a:solidFill>
                <a:latin typeface="Cambria"/>
              </a:rPr>
              <a:t>VLM</a:t>
            </a:r>
          </a:p>
        </p:txBody>
      </p:sp>
      <p:sp>
        <p:nvSpPr>
          <p:cNvPr id="14" name="TextBox 13"/>
          <p:cNvSpPr txBox="1"/>
          <p:nvPr/>
        </p:nvSpPr>
        <p:spPr>
          <a:xfrm>
            <a:off x="3593592" y="3291840"/>
            <a:ext cx="2240280" cy="1097280"/>
          </a:xfrm>
          <a:prstGeom prst="rect">
            <a:avLst/>
          </a:prstGeom>
          <a:noFill/>
        </p:spPr>
        <p:txBody>
          <a:bodyPr wrap="square" lIns="0" rIns="0" tIns="0" bIns="0" anchor="t">
            <a:spAutoFit/>
          </a:bodyPr>
          <a:lstStyle/>
          <a:p>
            <a:pPr algn="l"/>
            <a:r>
              <a:rPr sz="2000" b="0" i="0">
                <a:solidFill>
                  <a:srgbClr val="24364F"/>
                </a:solidFill>
                <a:latin typeface="Calibri"/>
              </a:rPr>
              <a:t>Same question as text, no image</a:t>
            </a:r>
          </a:p>
        </p:txBody>
      </p:sp>
      <p:sp>
        <p:nvSpPr>
          <p:cNvPr id="15" name="Rounded Rectangle 14"/>
          <p:cNvSpPr/>
          <p:nvPr/>
        </p:nvSpPr>
        <p:spPr>
          <a:xfrm>
            <a:off x="6181344" y="1920240"/>
            <a:ext cx="2651760" cy="2514600"/>
          </a:xfrm>
          <a:prstGeom prst="roundRect">
            <a:avLst>
              <a:gd name="adj" fmla="val 8000"/>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409944" y="2148840"/>
            <a:ext cx="548640" cy="548640"/>
          </a:xfrm>
          <a:prstGeom prst="ellipse">
            <a:avLst/>
          </a:prstGeom>
          <a:solidFill>
            <a:srgbClr val="F2A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9944" y="2148840"/>
            <a:ext cx="548640" cy="548640"/>
          </a:xfrm>
          <a:prstGeom prst="rect">
            <a:avLst/>
          </a:prstGeom>
          <a:noFill/>
        </p:spPr>
        <p:txBody>
          <a:bodyPr wrap="square" lIns="0" rIns="0" tIns="0" bIns="0" anchor="ctr">
            <a:spAutoFit/>
          </a:bodyPr>
          <a:lstStyle/>
          <a:p>
            <a:pPr algn="ctr"/>
            <a:r>
              <a:rPr sz="2200" b="1" i="0">
                <a:solidFill>
                  <a:srgbClr val="0F1B2D"/>
                </a:solidFill>
                <a:latin typeface="Calibri"/>
              </a:rPr>
              <a:t>C</a:t>
            </a:r>
          </a:p>
        </p:txBody>
      </p:sp>
      <p:sp>
        <p:nvSpPr>
          <p:cNvPr id="18" name="TextBox 17"/>
          <p:cNvSpPr txBox="1"/>
          <p:nvPr/>
        </p:nvSpPr>
        <p:spPr>
          <a:xfrm>
            <a:off x="6409944" y="2834640"/>
            <a:ext cx="2194560" cy="411480"/>
          </a:xfrm>
          <a:prstGeom prst="rect">
            <a:avLst/>
          </a:prstGeom>
          <a:noFill/>
        </p:spPr>
        <p:txBody>
          <a:bodyPr wrap="square" lIns="0" rIns="0" tIns="0" bIns="0" anchor="t">
            <a:spAutoFit/>
          </a:bodyPr>
          <a:lstStyle/>
          <a:p>
            <a:pPr algn="l"/>
            <a:r>
              <a:rPr sz="2000" b="1" i="0">
                <a:solidFill>
                  <a:srgbClr val="0F1B2D"/>
                </a:solidFill>
                <a:latin typeface="Cambria"/>
              </a:rPr>
              <a:t>VLM</a:t>
            </a:r>
          </a:p>
        </p:txBody>
      </p:sp>
      <p:sp>
        <p:nvSpPr>
          <p:cNvPr id="19" name="TextBox 18"/>
          <p:cNvSpPr txBox="1"/>
          <p:nvPr/>
        </p:nvSpPr>
        <p:spPr>
          <a:xfrm>
            <a:off x="6409944" y="3291840"/>
            <a:ext cx="2240280" cy="1097280"/>
          </a:xfrm>
          <a:prstGeom prst="rect">
            <a:avLst/>
          </a:prstGeom>
          <a:noFill/>
        </p:spPr>
        <p:txBody>
          <a:bodyPr wrap="square" lIns="0" rIns="0" tIns="0" bIns="0" anchor="t">
            <a:spAutoFit/>
          </a:bodyPr>
          <a:lstStyle/>
          <a:p>
            <a:pPr algn="l"/>
            <a:r>
              <a:rPr sz="2000" b="0" i="0">
                <a:solidFill>
                  <a:srgbClr val="24364F"/>
                </a:solidFill>
                <a:latin typeface="Calibri"/>
              </a:rPr>
              <a:t>Harmful phrase typed in an image + generic prompt</a:t>
            </a:r>
          </a:p>
        </p:txBody>
      </p:sp>
      <p:sp>
        <p:nvSpPr>
          <p:cNvPr id="20" name="Rounded Rectangle 19"/>
          <p:cNvSpPr/>
          <p:nvPr/>
        </p:nvSpPr>
        <p:spPr>
          <a:xfrm>
            <a:off x="8997696" y="1920240"/>
            <a:ext cx="2651760" cy="2514600"/>
          </a:xfrm>
          <a:prstGeom prst="roundRect">
            <a:avLst>
              <a:gd name="adj" fmla="val 8000"/>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226296" y="2148840"/>
            <a:ext cx="548640" cy="548640"/>
          </a:xfrm>
          <a:prstGeom prst="ellipse">
            <a:avLst/>
          </a:prstGeom>
          <a:solidFill>
            <a:srgbClr val="5B6B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26296" y="2148840"/>
            <a:ext cx="548640" cy="548640"/>
          </a:xfrm>
          <a:prstGeom prst="rect">
            <a:avLst/>
          </a:prstGeom>
          <a:noFill/>
        </p:spPr>
        <p:txBody>
          <a:bodyPr wrap="square" lIns="0" rIns="0" tIns="0" bIns="0" anchor="ctr">
            <a:spAutoFit/>
          </a:bodyPr>
          <a:lstStyle/>
          <a:p>
            <a:pPr algn="ctr"/>
            <a:r>
              <a:rPr sz="2200" b="1" i="0">
                <a:solidFill>
                  <a:srgbClr val="FFFFFF"/>
                </a:solidFill>
                <a:latin typeface="Calibri"/>
              </a:rPr>
              <a:t>D</a:t>
            </a:r>
          </a:p>
        </p:txBody>
      </p:sp>
      <p:sp>
        <p:nvSpPr>
          <p:cNvPr id="23" name="TextBox 22"/>
          <p:cNvSpPr txBox="1"/>
          <p:nvPr/>
        </p:nvSpPr>
        <p:spPr>
          <a:xfrm>
            <a:off x="9226296" y="2834640"/>
            <a:ext cx="2194560" cy="411480"/>
          </a:xfrm>
          <a:prstGeom prst="rect">
            <a:avLst/>
          </a:prstGeom>
          <a:noFill/>
        </p:spPr>
        <p:txBody>
          <a:bodyPr wrap="square" lIns="0" rIns="0" tIns="0" bIns="0" anchor="t">
            <a:spAutoFit/>
          </a:bodyPr>
          <a:lstStyle/>
          <a:p>
            <a:pPr algn="l"/>
            <a:r>
              <a:rPr sz="2000" b="1" i="0">
                <a:solidFill>
                  <a:srgbClr val="0F1B2D"/>
                </a:solidFill>
                <a:latin typeface="Cambria"/>
              </a:rPr>
              <a:t>VLM</a:t>
            </a:r>
          </a:p>
        </p:txBody>
      </p:sp>
      <p:sp>
        <p:nvSpPr>
          <p:cNvPr id="24" name="TextBox 23"/>
          <p:cNvSpPr txBox="1"/>
          <p:nvPr/>
        </p:nvSpPr>
        <p:spPr>
          <a:xfrm>
            <a:off x="9226296" y="3291840"/>
            <a:ext cx="2240280" cy="1097280"/>
          </a:xfrm>
          <a:prstGeom prst="rect">
            <a:avLst/>
          </a:prstGeom>
          <a:noFill/>
        </p:spPr>
        <p:txBody>
          <a:bodyPr wrap="square" lIns="0" rIns="0" tIns="0" bIns="0" anchor="t">
            <a:spAutoFit/>
          </a:bodyPr>
          <a:lstStyle/>
          <a:p>
            <a:pPr algn="l"/>
            <a:r>
              <a:rPr sz="2000" b="0" i="0">
                <a:solidFill>
                  <a:srgbClr val="24364F"/>
                </a:solidFill>
                <a:latin typeface="Calibri"/>
              </a:rPr>
              <a:t>Same question + blank image</a:t>
            </a:r>
          </a:p>
        </p:txBody>
      </p:sp>
      <p:sp>
        <p:nvSpPr>
          <p:cNvPr id="25" name="TextBox 24"/>
          <p:cNvSpPr txBox="1"/>
          <p:nvPr/>
        </p:nvSpPr>
        <p:spPr>
          <a:xfrm>
            <a:off x="548640" y="4754880"/>
            <a:ext cx="11064240" cy="1371600"/>
          </a:xfrm>
          <a:prstGeom prst="rect">
            <a:avLst/>
          </a:prstGeom>
          <a:noFill/>
        </p:spPr>
        <p:txBody>
          <a:bodyPr wrap="square" lIns="0" rIns="0" tIns="0" bIns="0" anchor="t">
            <a:spAutoFit/>
          </a:bodyPr>
          <a:lstStyle/>
          <a:p>
            <a:pPr algn="l"/>
            <a:r>
              <a:rPr sz="2200" b="0" i="0">
                <a:solidFill>
                  <a:srgbClr val="24364F"/>
                </a:solidFill>
                <a:latin typeface="Calibri"/>
              </a:rPr>
              <a:t>MM-SafetyBench: 8 harmful scenarios x 30 items = 240 per condition</a:t>
            </a:r>
          </a:p>
          <a:p>
            <a:pPr algn="l">
              <a:spcBef>
                <a:spcPts val="600"/>
              </a:spcBef>
            </a:pPr>
            <a:r>
              <a:rPr sz="2200" b="0" i="0">
                <a:solidFill>
                  <a:srgbClr val="24364F"/>
                </a:solidFill>
                <a:latin typeface="Calibri"/>
              </a:rPr>
              <a:t>Models: Qwen2-VL-2B and Qwen2.5-VL-3B, with their text backbones</a:t>
            </a:r>
          </a:p>
          <a:p>
            <a:pPr algn="l">
              <a:spcBef>
                <a:spcPts val="600"/>
              </a:spcBef>
            </a:pPr>
            <a:r>
              <a:rPr sz="2200" b="0" i="0">
                <a:solidFill>
                  <a:srgbClr val="24364F"/>
                </a:solidFill>
                <a:latin typeface="Calibri"/>
              </a:rPr>
              <a:t>Judge: open Qwen2.5-3B; greedy decoding; free Colab 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247120" y="6355080"/>
            <a:ext cx="640080" cy="320040"/>
          </a:xfrm>
          <a:prstGeom prst="rect">
            <a:avLst/>
          </a:prstGeom>
          <a:noFill/>
        </p:spPr>
        <p:txBody>
          <a:bodyPr wrap="square" lIns="0" rIns="0" tIns="0" bIns="0" anchor="t">
            <a:spAutoFit/>
          </a:bodyPr>
          <a:lstStyle/>
          <a:p>
            <a:pPr algn="r"/>
            <a:r>
              <a:rPr sz="1200" b="0" i="0">
                <a:solidFill>
                  <a:srgbClr val="8A97A8"/>
                </a:solidFill>
                <a:latin typeface="Calibri"/>
              </a:rPr>
              <a:t>5</a:t>
            </a:r>
          </a:p>
        </p:txBody>
      </p:sp>
      <p:sp>
        <p:nvSpPr>
          <p:cNvPr id="3" name="Rounded Rectangle 2"/>
          <p:cNvSpPr/>
          <p:nvPr/>
        </p:nvSpPr>
        <p:spPr>
          <a:xfrm>
            <a:off x="548640" y="347472"/>
            <a:ext cx="2761488" cy="310896"/>
          </a:xfrm>
          <a:prstGeom prst="roundRect">
            <a:avLst>
              <a:gd name="adj" fmla="val 50000"/>
            </a:avLst>
          </a:prstGeom>
          <a:solidFill>
            <a:srgbClr val="F2A33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00" b="1">
                <a:solidFill>
                  <a:srgbClr val="0F1B2D"/>
                </a:solidFill>
                <a:latin typeface="Calibri"/>
              </a:rPr>
              <a:t>PILOT  |  JUDGE V1</a:t>
            </a:r>
          </a:p>
        </p:txBody>
      </p:sp>
      <p:sp>
        <p:nvSpPr>
          <p:cNvPr id="4" name="TextBox 3"/>
          <p:cNvSpPr txBox="1"/>
          <p:nvPr/>
        </p:nvSpPr>
        <p:spPr>
          <a:xfrm>
            <a:off x="548640" y="777240"/>
            <a:ext cx="11064240" cy="914400"/>
          </a:xfrm>
          <a:prstGeom prst="rect">
            <a:avLst/>
          </a:prstGeom>
          <a:noFill/>
        </p:spPr>
        <p:txBody>
          <a:bodyPr wrap="square" lIns="0" rIns="0" tIns="0" bIns="0" anchor="t">
            <a:spAutoFit/>
          </a:bodyPr>
          <a:lstStyle/>
          <a:p>
            <a:pPr algn="l"/>
            <a:r>
              <a:rPr sz="3200" b="1" i="0">
                <a:solidFill>
                  <a:srgbClr val="0F1B2D"/>
                </a:solidFill>
                <a:latin typeface="Cambria"/>
              </a:rPr>
              <a:t>The image channel refuses less than text</a:t>
            </a:r>
          </a:p>
        </p:txBody>
      </p:sp>
      <p:graphicFrame>
        <p:nvGraphicFramePr>
          <p:cNvPr id="5" name="Chart 4"/>
          <p:cNvGraphicFramePr>
            <a:graphicFrameLocks noGrp="1"/>
          </p:cNvGraphicFramePr>
          <p:nvPr/>
        </p:nvGraphicFramePr>
        <p:xfrm>
          <a:off x="548640" y="1737360"/>
          <a:ext cx="7498079" cy="4480560"/>
        </p:xfrm>
        <a:graphic>
          <a:graphicData uri="http://schemas.openxmlformats.org/drawingml/2006/chart">
            <c:chart xmlns:c="http://schemas.openxmlformats.org/drawingml/2006/chart" r:id="rId3"/>
          </a:graphicData>
        </a:graphic>
      </p:graphicFrame>
      <p:sp>
        <p:nvSpPr>
          <p:cNvPr id="6" name="TextBox 5"/>
          <p:cNvSpPr txBox="1"/>
          <p:nvPr/>
        </p:nvSpPr>
        <p:spPr>
          <a:xfrm>
            <a:off x="548640" y="6217920"/>
            <a:ext cx="7498079" cy="320040"/>
          </a:xfrm>
          <a:prstGeom prst="rect">
            <a:avLst/>
          </a:prstGeom>
          <a:noFill/>
        </p:spPr>
        <p:txBody>
          <a:bodyPr wrap="square" lIns="0" rIns="0" tIns="0" bIns="0" anchor="t">
            <a:spAutoFit/>
          </a:bodyPr>
          <a:lstStyle/>
          <a:p>
            <a:pPr algn="l"/>
            <a:r>
              <a:rPr sz="1300" b="0" i="0">
                <a:solidFill>
                  <a:srgbClr val="5B6B80"/>
                </a:solidFill>
                <a:latin typeface="Calibri"/>
              </a:rPr>
              <a:t>Refusal rate (higher = safer), n = 240 per bar</a:t>
            </a:r>
          </a:p>
        </p:txBody>
      </p:sp>
      <p:sp>
        <p:nvSpPr>
          <p:cNvPr id="7" name="Rounded Rectangle 6"/>
          <p:cNvSpPr/>
          <p:nvPr/>
        </p:nvSpPr>
        <p:spPr>
          <a:xfrm>
            <a:off x="8412480" y="1920240"/>
            <a:ext cx="3200400" cy="4023360"/>
          </a:xfrm>
          <a:prstGeom prst="roundRect">
            <a:avLst>
              <a:gd name="adj" fmla="val 8000"/>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41080" y="2103120"/>
            <a:ext cx="2743200" cy="457200"/>
          </a:xfrm>
          <a:prstGeom prst="rect">
            <a:avLst/>
          </a:prstGeom>
          <a:noFill/>
        </p:spPr>
        <p:txBody>
          <a:bodyPr wrap="square" lIns="0" rIns="0" tIns="0" bIns="0" anchor="t">
            <a:spAutoFit/>
          </a:bodyPr>
          <a:lstStyle/>
          <a:p>
            <a:pPr algn="l"/>
            <a:r>
              <a:rPr sz="2200" b="1" i="0">
                <a:solidFill>
                  <a:srgbClr val="0F1B2D"/>
                </a:solidFill>
                <a:latin typeface="Cambria"/>
              </a:rPr>
              <a:t>Direction holds</a:t>
            </a:r>
          </a:p>
        </p:txBody>
      </p:sp>
      <p:sp>
        <p:nvSpPr>
          <p:cNvPr id="9" name="TextBox 8"/>
          <p:cNvSpPr txBox="1"/>
          <p:nvPr/>
        </p:nvSpPr>
        <p:spPr>
          <a:xfrm>
            <a:off x="8641080" y="2697480"/>
            <a:ext cx="2788920" cy="3108960"/>
          </a:xfrm>
          <a:prstGeom prst="rect">
            <a:avLst/>
          </a:prstGeom>
          <a:noFill/>
        </p:spPr>
        <p:txBody>
          <a:bodyPr wrap="square" lIns="0" rIns="0" tIns="0" bIns="0" anchor="t">
            <a:spAutoFit/>
          </a:bodyPr>
          <a:lstStyle/>
          <a:p>
            <a:pPr algn="l"/>
            <a:r>
              <a:rPr sz="2000" b="0" i="0">
                <a:solidFill>
                  <a:srgbClr val="24364F"/>
                </a:solidFill>
                <a:latin typeface="Calibri"/>
              </a:rPr>
              <a:t>Image refusal is below text refusal in both models.</a:t>
            </a:r>
          </a:p>
          <a:p>
            <a:pPr algn="l">
              <a:spcBef>
                <a:spcPts val="600"/>
              </a:spcBef>
            </a:pPr>
            <a:r>
              <a:rPr sz="2000" b="0" i="0">
                <a:solidFill>
                  <a:srgbClr val="24364F"/>
                </a:solidFill>
                <a:latin typeface="Calibri"/>
              </a:rPr>
              <a:t>The size is understated: the judge mislabelled image-condition answers (slide 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247120" y="6355080"/>
            <a:ext cx="640080" cy="320040"/>
          </a:xfrm>
          <a:prstGeom prst="rect">
            <a:avLst/>
          </a:prstGeom>
          <a:noFill/>
        </p:spPr>
        <p:txBody>
          <a:bodyPr wrap="square" lIns="0" rIns="0" tIns="0" bIns="0" anchor="t">
            <a:spAutoFit/>
          </a:bodyPr>
          <a:lstStyle/>
          <a:p>
            <a:pPr algn="r"/>
            <a:r>
              <a:rPr sz="1200" b="0" i="0">
                <a:solidFill>
                  <a:srgbClr val="8A97A8"/>
                </a:solidFill>
                <a:latin typeface="Calibri"/>
              </a:rPr>
              <a:t>6</a:t>
            </a:r>
          </a:p>
        </p:txBody>
      </p:sp>
      <p:sp>
        <p:nvSpPr>
          <p:cNvPr id="3" name="Rounded Rectangle 2"/>
          <p:cNvSpPr/>
          <p:nvPr/>
        </p:nvSpPr>
        <p:spPr>
          <a:xfrm>
            <a:off x="548640" y="347472"/>
            <a:ext cx="2761488" cy="310896"/>
          </a:xfrm>
          <a:prstGeom prst="roundRect">
            <a:avLst>
              <a:gd name="adj" fmla="val 50000"/>
            </a:avLst>
          </a:prstGeom>
          <a:solidFill>
            <a:srgbClr val="F2A33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00" b="1">
                <a:solidFill>
                  <a:srgbClr val="0F1B2D"/>
                </a:solidFill>
                <a:latin typeface="Calibri"/>
              </a:rPr>
              <a:t>PILOT  |  JUDGE V1</a:t>
            </a:r>
          </a:p>
        </p:txBody>
      </p:sp>
      <p:sp>
        <p:nvSpPr>
          <p:cNvPr id="4" name="TextBox 3"/>
          <p:cNvSpPr txBox="1"/>
          <p:nvPr/>
        </p:nvSpPr>
        <p:spPr>
          <a:xfrm>
            <a:off x="548640" y="777240"/>
            <a:ext cx="11064240" cy="914400"/>
          </a:xfrm>
          <a:prstGeom prst="rect">
            <a:avLst/>
          </a:prstGeom>
          <a:noFill/>
        </p:spPr>
        <p:txBody>
          <a:bodyPr wrap="square" lIns="0" rIns="0" tIns="0" bIns="0" anchor="t">
            <a:spAutoFit/>
          </a:bodyPr>
          <a:lstStyle/>
          <a:p>
            <a:pPr algn="l"/>
            <a:r>
              <a:rPr sz="3200" b="1" i="0">
                <a:solidFill>
                  <a:srgbClr val="0F1B2D"/>
                </a:solidFill>
                <a:latin typeface="Cambria"/>
              </a:rPr>
              <a:t>Text and image refusal rise and fall together</a:t>
            </a:r>
          </a:p>
        </p:txBody>
      </p:sp>
      <p:pic>
        <p:nvPicPr>
          <p:cNvPr id="5" name="Picture 4" descr="fig2_coupling.png"/>
          <p:cNvPicPr>
            <a:picLocks noChangeAspect="1"/>
          </p:cNvPicPr>
          <p:nvPr/>
        </p:nvPicPr>
        <p:blipFill>
          <a:blip r:embed="rId3"/>
          <a:stretch>
            <a:fillRect/>
          </a:stretch>
        </p:blipFill>
        <p:spPr>
          <a:xfrm>
            <a:off x="548640" y="1737360"/>
            <a:ext cx="4688378" cy="4297680"/>
          </a:xfrm>
          <a:prstGeom prst="rect">
            <a:avLst/>
          </a:prstGeom>
        </p:spPr>
      </p:pic>
      <p:sp>
        <p:nvSpPr>
          <p:cNvPr id="6" name="TextBox 5"/>
          <p:cNvSpPr txBox="1"/>
          <p:nvPr/>
        </p:nvSpPr>
        <p:spPr>
          <a:xfrm>
            <a:off x="6217920" y="1828800"/>
            <a:ext cx="2560320" cy="822960"/>
          </a:xfrm>
          <a:prstGeom prst="rect">
            <a:avLst/>
          </a:prstGeom>
          <a:noFill/>
        </p:spPr>
        <p:txBody>
          <a:bodyPr wrap="square" lIns="0" rIns="0" tIns="0" bIns="0" anchor="t">
            <a:spAutoFit/>
          </a:bodyPr>
          <a:lstStyle/>
          <a:p>
            <a:pPr algn="l"/>
            <a:r>
              <a:rPr sz="3600" b="1" i="0">
                <a:solidFill>
                  <a:srgbClr val="2A9D8F"/>
                </a:solidFill>
                <a:latin typeface="Cambria"/>
              </a:rPr>
              <a:t>0.89 / 0.73</a:t>
            </a:r>
          </a:p>
        </p:txBody>
      </p:sp>
      <p:sp>
        <p:nvSpPr>
          <p:cNvPr id="7" name="TextBox 6"/>
          <p:cNvSpPr txBox="1"/>
          <p:nvPr/>
        </p:nvSpPr>
        <p:spPr>
          <a:xfrm>
            <a:off x="6217920" y="2697480"/>
            <a:ext cx="2560320" cy="822960"/>
          </a:xfrm>
          <a:prstGeom prst="rect">
            <a:avLst/>
          </a:prstGeom>
          <a:noFill/>
        </p:spPr>
        <p:txBody>
          <a:bodyPr wrap="square" lIns="0" rIns="0" tIns="0" bIns="0" anchor="t">
            <a:spAutoFit/>
          </a:bodyPr>
          <a:lstStyle/>
          <a:p>
            <a:pPr algn="l"/>
            <a:r>
              <a:rPr sz="1600" b="0" i="0">
                <a:solidFill>
                  <a:srgbClr val="0F1B2D"/>
                </a:solidFill>
                <a:latin typeface="Calibri"/>
              </a:rPr>
              <a:t>Scenario-level Spearman, 2B / 3B (8 scenarios)</a:t>
            </a:r>
          </a:p>
        </p:txBody>
      </p:sp>
      <p:sp>
        <p:nvSpPr>
          <p:cNvPr id="8" name="TextBox 7"/>
          <p:cNvSpPr txBox="1"/>
          <p:nvPr/>
        </p:nvSpPr>
        <p:spPr>
          <a:xfrm>
            <a:off x="6217920" y="3566160"/>
            <a:ext cx="2560320" cy="822960"/>
          </a:xfrm>
          <a:prstGeom prst="rect">
            <a:avLst/>
          </a:prstGeom>
          <a:noFill/>
        </p:spPr>
        <p:txBody>
          <a:bodyPr wrap="square" lIns="0" rIns="0" tIns="0" bIns="0" anchor="t">
            <a:spAutoFit/>
          </a:bodyPr>
          <a:lstStyle/>
          <a:p>
            <a:pPr algn="l"/>
            <a:r>
              <a:rPr sz="3600" b="1" i="0">
                <a:solidFill>
                  <a:srgbClr val="2A9D8F"/>
                </a:solidFill>
                <a:latin typeface="Cambria"/>
              </a:rPr>
              <a:t>0.50 / 0.54</a:t>
            </a:r>
          </a:p>
        </p:txBody>
      </p:sp>
      <p:sp>
        <p:nvSpPr>
          <p:cNvPr id="9" name="TextBox 8"/>
          <p:cNvSpPr txBox="1"/>
          <p:nvPr/>
        </p:nvSpPr>
        <p:spPr>
          <a:xfrm>
            <a:off x="6217920" y="4434840"/>
            <a:ext cx="2560320" cy="822960"/>
          </a:xfrm>
          <a:prstGeom prst="rect">
            <a:avLst/>
          </a:prstGeom>
          <a:noFill/>
        </p:spPr>
        <p:txBody>
          <a:bodyPr wrap="square" lIns="0" rIns="0" tIns="0" bIns="0" anchor="t">
            <a:spAutoFit/>
          </a:bodyPr>
          <a:lstStyle/>
          <a:p>
            <a:pPr algn="l"/>
            <a:r>
              <a:rPr sz="1600" b="0" i="0">
                <a:solidFill>
                  <a:srgbClr val="0F1B2D"/>
                </a:solidFill>
                <a:latin typeface="Calibri"/>
              </a:rPr>
              <a:t>Item-level correlation (phi), 2B / 3B</a:t>
            </a:r>
          </a:p>
        </p:txBody>
      </p:sp>
      <p:sp>
        <p:nvSpPr>
          <p:cNvPr id="10" name="TextBox 9"/>
          <p:cNvSpPr txBox="1"/>
          <p:nvPr/>
        </p:nvSpPr>
        <p:spPr>
          <a:xfrm>
            <a:off x="9052560" y="1920240"/>
            <a:ext cx="2651760" cy="3291840"/>
          </a:xfrm>
          <a:prstGeom prst="rect">
            <a:avLst/>
          </a:prstGeom>
          <a:noFill/>
        </p:spPr>
        <p:txBody>
          <a:bodyPr wrap="square" lIns="0" rIns="0" tIns="0" bIns="0" anchor="t">
            <a:spAutoFit/>
          </a:bodyPr>
          <a:lstStyle/>
          <a:p>
            <a:pPr algn="l"/>
            <a:r>
              <a:rPr sz="2200" b="0" i="0">
                <a:solidFill>
                  <a:srgbClr val="24364F"/>
                </a:solidFill>
                <a:latin typeface="Calibri"/>
              </a:rPr>
              <a:t>Not a see-saw. But topic difficulty alone could produce this; v2 tests it within scenario.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247120" y="6355080"/>
            <a:ext cx="640080" cy="320040"/>
          </a:xfrm>
          <a:prstGeom prst="rect">
            <a:avLst/>
          </a:prstGeom>
          <a:noFill/>
        </p:spPr>
        <p:txBody>
          <a:bodyPr wrap="square" lIns="0" rIns="0" tIns="0" bIns="0" anchor="t">
            <a:spAutoFit/>
          </a:bodyPr>
          <a:lstStyle/>
          <a:p>
            <a:pPr algn="r"/>
            <a:r>
              <a:rPr sz="1200" b="0" i="0">
                <a:solidFill>
                  <a:srgbClr val="8A97A8"/>
                </a:solidFill>
                <a:latin typeface="Calibri"/>
              </a:rPr>
              <a:t>7</a:t>
            </a:r>
          </a:p>
        </p:txBody>
      </p:sp>
      <p:sp>
        <p:nvSpPr>
          <p:cNvPr id="3" name="Rounded Rectangle 2"/>
          <p:cNvSpPr/>
          <p:nvPr/>
        </p:nvSpPr>
        <p:spPr>
          <a:xfrm>
            <a:off x="548640" y="347472"/>
            <a:ext cx="2761488" cy="310896"/>
          </a:xfrm>
          <a:prstGeom prst="roundRect">
            <a:avLst>
              <a:gd name="adj" fmla="val 50000"/>
            </a:avLst>
          </a:prstGeom>
          <a:solidFill>
            <a:srgbClr val="F2A33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00" b="1">
                <a:solidFill>
                  <a:srgbClr val="0F1B2D"/>
                </a:solidFill>
                <a:latin typeface="Calibri"/>
              </a:rPr>
              <a:t>PILOT  |  JUDGE V1</a:t>
            </a:r>
          </a:p>
        </p:txBody>
      </p:sp>
      <p:sp>
        <p:nvSpPr>
          <p:cNvPr id="4" name="TextBox 3"/>
          <p:cNvSpPr txBox="1"/>
          <p:nvPr/>
        </p:nvSpPr>
        <p:spPr>
          <a:xfrm>
            <a:off x="548640" y="777240"/>
            <a:ext cx="11064240" cy="914400"/>
          </a:xfrm>
          <a:prstGeom prst="rect">
            <a:avLst/>
          </a:prstGeom>
          <a:noFill/>
        </p:spPr>
        <p:txBody>
          <a:bodyPr wrap="square" lIns="0" rIns="0" tIns="0" bIns="0" anchor="t">
            <a:spAutoFit/>
          </a:bodyPr>
          <a:lstStyle/>
          <a:p>
            <a:pPr algn="l"/>
            <a:r>
              <a:rPr sz="3200" b="1" i="0">
                <a:solidFill>
                  <a:srgbClr val="0F1B2D"/>
                </a:solidFill>
                <a:latin typeface="Cambria"/>
              </a:rPr>
              <a:t>A text-derived direction moves images too, at a cost</a:t>
            </a:r>
          </a:p>
        </p:txBody>
      </p:sp>
      <p:pic>
        <p:nvPicPr>
          <p:cNvPr id="5" name="Picture 4" descr="fig3_steering.png"/>
          <p:cNvPicPr>
            <a:picLocks noChangeAspect="1"/>
          </p:cNvPicPr>
          <p:nvPr/>
        </p:nvPicPr>
        <p:blipFill>
          <a:blip r:embed="rId3"/>
          <a:stretch>
            <a:fillRect/>
          </a:stretch>
        </p:blipFill>
        <p:spPr>
          <a:xfrm>
            <a:off x="548640" y="1737360"/>
            <a:ext cx="5801868" cy="4297680"/>
          </a:xfrm>
          <a:prstGeom prst="rect">
            <a:avLst/>
          </a:prstGeom>
        </p:spPr>
      </p:pic>
      <p:sp>
        <p:nvSpPr>
          <p:cNvPr id="6" name="TextBox 5"/>
          <p:cNvSpPr txBox="1"/>
          <p:nvPr/>
        </p:nvSpPr>
        <p:spPr>
          <a:xfrm>
            <a:off x="7223760" y="1920240"/>
            <a:ext cx="4389120" cy="2286000"/>
          </a:xfrm>
          <a:prstGeom prst="rect">
            <a:avLst/>
          </a:prstGeom>
          <a:noFill/>
        </p:spPr>
        <p:txBody>
          <a:bodyPr wrap="square" lIns="0" rIns="0" tIns="0" bIns="0" anchor="t">
            <a:spAutoFit/>
          </a:bodyPr>
          <a:lstStyle/>
          <a:p>
            <a:pPr algn="l"/>
            <a:r>
              <a:rPr sz="2000" b="0" i="0">
                <a:solidFill>
                  <a:srgbClr val="0F1B2D"/>
                </a:solidFill>
                <a:latin typeface="Calibri"/>
              </a:rPr>
              <a:t>At strength 0.5:</a:t>
            </a:r>
          </a:p>
          <a:p>
            <a:pPr algn="l">
              <a:spcBef>
                <a:spcPts val="600"/>
              </a:spcBef>
            </a:pPr>
            <a:r>
              <a:rPr sz="2000" b="0" i="0">
                <a:solidFill>
                  <a:srgbClr val="0F1B2D"/>
                </a:solidFill>
                <a:latin typeface="Calibri"/>
              </a:rPr>
              <a:t>harmful text 0.65 to 0.91</a:t>
            </a:r>
          </a:p>
          <a:p>
            <a:pPr algn="l">
              <a:spcBef>
                <a:spcPts val="600"/>
              </a:spcBef>
            </a:pPr>
            <a:r>
              <a:rPr sz="2000" b="0" i="0">
                <a:solidFill>
                  <a:srgbClr val="0F1B2D"/>
                </a:solidFill>
                <a:latin typeface="Calibri"/>
              </a:rPr>
              <a:t>harmful image 0.50 to 0.86</a:t>
            </a:r>
          </a:p>
          <a:p>
            <a:pPr algn="l">
              <a:spcBef>
                <a:spcPts val="600"/>
              </a:spcBef>
            </a:pPr>
            <a:r>
              <a:rPr sz="2000" b="0" i="0">
                <a:solidFill>
                  <a:srgbClr val="0F1B2D"/>
                </a:solidFill>
                <a:latin typeface="Calibri"/>
              </a:rPr>
              <a:t>harmless prompts 0.00 to 0.50</a:t>
            </a:r>
          </a:p>
        </p:txBody>
      </p:sp>
      <p:sp>
        <p:nvSpPr>
          <p:cNvPr id="7" name="Rounded Rectangle 6"/>
          <p:cNvSpPr/>
          <p:nvPr/>
        </p:nvSpPr>
        <p:spPr>
          <a:xfrm>
            <a:off x="7223760" y="4114800"/>
            <a:ext cx="4389120" cy="1737360"/>
          </a:xfrm>
          <a:prstGeom prst="roundRect">
            <a:avLst>
              <a:gd name="adj" fmla="val 8000"/>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52360" y="4297680"/>
            <a:ext cx="3931920" cy="1463040"/>
          </a:xfrm>
          <a:prstGeom prst="rect">
            <a:avLst/>
          </a:prstGeom>
          <a:noFill/>
        </p:spPr>
        <p:txBody>
          <a:bodyPr wrap="square" lIns="0" rIns="0" tIns="0" bIns="0" anchor="t">
            <a:spAutoFit/>
          </a:bodyPr>
          <a:lstStyle/>
          <a:p>
            <a:pPr algn="l"/>
            <a:r>
              <a:rPr sz="2000" b="0" i="0">
                <a:solidFill>
                  <a:srgbClr val="24364F"/>
                </a:solidFill>
                <a:latin typeface="Calibri"/>
              </a:rPr>
              <a:t>Already published (MARS). No random-direction control in this run, so it is a replication, not a result.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B2D"/>
        </a:solidFill>
        <a:effectLst/>
      </p:bgPr>
    </p:bg>
    <p:spTree>
      <p:nvGrpSpPr>
        <p:cNvPr id="1" name=""/>
        <p:cNvGrpSpPr/>
        <p:nvPr/>
      </p:nvGrpSpPr>
      <p:grpSpPr/>
      <p:sp>
        <p:nvSpPr>
          <p:cNvPr id="2" name="TextBox 1"/>
          <p:cNvSpPr txBox="1"/>
          <p:nvPr/>
        </p:nvSpPr>
        <p:spPr>
          <a:xfrm>
            <a:off x="11247120" y="6355080"/>
            <a:ext cx="640080" cy="320040"/>
          </a:xfrm>
          <a:prstGeom prst="rect">
            <a:avLst/>
          </a:prstGeom>
          <a:noFill/>
        </p:spPr>
        <p:txBody>
          <a:bodyPr wrap="square" lIns="0" rIns="0" tIns="0" bIns="0" anchor="t">
            <a:spAutoFit/>
          </a:bodyPr>
          <a:lstStyle/>
          <a:p>
            <a:pPr algn="r"/>
            <a:r>
              <a:rPr sz="1200" b="0" i="0">
                <a:solidFill>
                  <a:srgbClr val="8A97A8"/>
                </a:solidFill>
                <a:latin typeface="Calibri"/>
              </a:rPr>
              <a:t>8</a:t>
            </a:r>
          </a:p>
        </p:txBody>
      </p:sp>
      <p:sp>
        <p:nvSpPr>
          <p:cNvPr id="3" name="Rounded Rectangle 2"/>
          <p:cNvSpPr/>
          <p:nvPr/>
        </p:nvSpPr>
        <p:spPr>
          <a:xfrm>
            <a:off x="548640" y="347472"/>
            <a:ext cx="4809744" cy="310896"/>
          </a:xfrm>
          <a:prstGeom prst="roundRect">
            <a:avLst>
              <a:gd name="adj" fmla="val 50000"/>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00" b="1">
                <a:solidFill>
                  <a:srgbClr val="FFFFFF"/>
                </a:solidFill>
                <a:latin typeface="Calibri"/>
              </a:rPr>
              <a:t>AUDIT  |  CHECKED ON RAW RESPONSES</a:t>
            </a:r>
          </a:p>
        </p:txBody>
      </p:sp>
      <p:sp>
        <p:nvSpPr>
          <p:cNvPr id="4" name="TextBox 3"/>
          <p:cNvSpPr txBox="1"/>
          <p:nvPr/>
        </p:nvSpPr>
        <p:spPr>
          <a:xfrm>
            <a:off x="548640" y="777240"/>
            <a:ext cx="11064240" cy="914400"/>
          </a:xfrm>
          <a:prstGeom prst="rect">
            <a:avLst/>
          </a:prstGeom>
          <a:noFill/>
        </p:spPr>
        <p:txBody>
          <a:bodyPr wrap="square" lIns="0" rIns="0" tIns="0" bIns="0" anchor="t">
            <a:spAutoFit/>
          </a:bodyPr>
          <a:lstStyle/>
          <a:p>
            <a:pPr algn="l"/>
            <a:r>
              <a:rPr sz="3200" b="1" i="0">
                <a:solidFill>
                  <a:srgbClr val="FFFFFF"/>
                </a:solidFill>
                <a:latin typeface="Cambria"/>
              </a:rPr>
              <a:t>Our judge failed on the image condition</a:t>
            </a:r>
          </a:p>
        </p:txBody>
      </p:sp>
      <p:sp>
        <p:nvSpPr>
          <p:cNvPr id="5" name="TextBox 4"/>
          <p:cNvSpPr txBox="1"/>
          <p:nvPr/>
        </p:nvSpPr>
        <p:spPr>
          <a:xfrm>
            <a:off x="548640" y="1828800"/>
            <a:ext cx="3291840" cy="822960"/>
          </a:xfrm>
          <a:prstGeom prst="rect">
            <a:avLst/>
          </a:prstGeom>
          <a:noFill/>
        </p:spPr>
        <p:txBody>
          <a:bodyPr wrap="square" lIns="0" rIns="0" tIns="0" bIns="0" anchor="t">
            <a:spAutoFit/>
          </a:bodyPr>
          <a:lstStyle/>
          <a:p>
            <a:pPr algn="l"/>
            <a:r>
              <a:rPr sz="4000" b="1" i="0">
                <a:solidFill>
                  <a:srgbClr val="F2A33A"/>
                </a:solidFill>
                <a:latin typeface="Cambria"/>
              </a:rPr>
              <a:t>90 of 125</a:t>
            </a:r>
          </a:p>
        </p:txBody>
      </p:sp>
      <p:sp>
        <p:nvSpPr>
          <p:cNvPr id="6" name="TextBox 5"/>
          <p:cNvSpPr txBox="1"/>
          <p:nvPr/>
        </p:nvSpPr>
        <p:spPr>
          <a:xfrm>
            <a:off x="548640" y="2697480"/>
            <a:ext cx="3291840" cy="822960"/>
          </a:xfrm>
          <a:prstGeom prst="rect">
            <a:avLst/>
          </a:prstGeom>
          <a:noFill/>
        </p:spPr>
        <p:txBody>
          <a:bodyPr wrap="square" lIns="0" rIns="0" tIns="0" bIns="0" anchor="t">
            <a:spAutoFit/>
          </a:bodyPr>
          <a:lstStyle/>
          <a:p>
            <a:pPr algn="l"/>
            <a:r>
              <a:rPr sz="1600" b="0" i="0">
                <a:solidFill>
                  <a:srgbClr val="C9D3E0"/>
                </a:solidFill>
                <a:latin typeface="Calibri"/>
              </a:rPr>
              <a:t>Qwen2-VL-2B image-condition 'refusals' with no refusal phrase</a:t>
            </a:r>
          </a:p>
        </p:txBody>
      </p:sp>
      <p:sp>
        <p:nvSpPr>
          <p:cNvPr id="7" name="TextBox 6"/>
          <p:cNvSpPr txBox="1"/>
          <p:nvPr/>
        </p:nvSpPr>
        <p:spPr>
          <a:xfrm>
            <a:off x="548640" y="3657600"/>
            <a:ext cx="3291840" cy="822960"/>
          </a:xfrm>
          <a:prstGeom prst="rect">
            <a:avLst/>
          </a:prstGeom>
          <a:noFill/>
        </p:spPr>
        <p:txBody>
          <a:bodyPr wrap="square" lIns="0" rIns="0" tIns="0" bIns="0" anchor="t">
            <a:spAutoFit/>
          </a:bodyPr>
          <a:lstStyle/>
          <a:p>
            <a:pPr algn="l"/>
            <a:r>
              <a:rPr sz="4000" b="1" i="0">
                <a:solidFill>
                  <a:srgbClr val="F2A33A"/>
                </a:solidFill>
                <a:latin typeface="Cambria"/>
              </a:rPr>
              <a:t>40 of 147</a:t>
            </a:r>
          </a:p>
        </p:txBody>
      </p:sp>
      <p:sp>
        <p:nvSpPr>
          <p:cNvPr id="8" name="TextBox 7"/>
          <p:cNvSpPr txBox="1"/>
          <p:nvPr/>
        </p:nvSpPr>
        <p:spPr>
          <a:xfrm>
            <a:off x="548640" y="4526280"/>
            <a:ext cx="3291840" cy="822960"/>
          </a:xfrm>
          <a:prstGeom prst="rect">
            <a:avLst/>
          </a:prstGeom>
          <a:noFill/>
        </p:spPr>
        <p:txBody>
          <a:bodyPr wrap="square" lIns="0" rIns="0" tIns="0" bIns="0" anchor="t">
            <a:spAutoFit/>
          </a:bodyPr>
          <a:lstStyle/>
          <a:p>
            <a:pPr algn="l"/>
            <a:r>
              <a:rPr sz="1600" b="0" i="0">
                <a:solidFill>
                  <a:srgbClr val="C9D3E0"/>
                </a:solidFill>
                <a:latin typeface="Calibri"/>
              </a:rPr>
              <a:t>Same check, Qwen2.5-VL-3B</a:t>
            </a:r>
          </a:p>
        </p:txBody>
      </p:sp>
      <p:graphicFrame>
        <p:nvGraphicFramePr>
          <p:cNvPr id="9" name="Chart 8"/>
          <p:cNvGraphicFramePr>
            <a:graphicFrameLocks noGrp="1"/>
          </p:cNvGraphicFramePr>
          <p:nvPr/>
        </p:nvGraphicFramePr>
        <p:xfrm>
          <a:off x="4297680" y="1737360"/>
          <a:ext cx="4572000" cy="4023360"/>
        </p:xfrm>
        <a:graphic>
          <a:graphicData uri="http://schemas.openxmlformats.org/drawingml/2006/chart">
            <c:chart xmlns:c="http://schemas.openxmlformats.org/drawingml/2006/chart" r:id="rId3"/>
          </a:graphicData>
        </a:graphic>
      </p:graphicFrame>
      <p:sp>
        <p:nvSpPr>
          <p:cNvPr id="10" name="TextBox 9"/>
          <p:cNvSpPr txBox="1"/>
          <p:nvPr/>
        </p:nvSpPr>
        <p:spPr>
          <a:xfrm>
            <a:off x="4297680" y="5806440"/>
            <a:ext cx="4572000" cy="365760"/>
          </a:xfrm>
          <a:prstGeom prst="rect">
            <a:avLst/>
          </a:prstGeom>
          <a:noFill/>
        </p:spPr>
        <p:txBody>
          <a:bodyPr wrap="square" lIns="0" rIns="0" tIns="0" bIns="0" anchor="t">
            <a:spAutoFit/>
          </a:bodyPr>
          <a:lstStyle/>
          <a:p>
            <a:pPr algn="l"/>
            <a:r>
              <a:rPr sz="1300" b="0" i="0">
                <a:solidFill>
                  <a:srgbClr val="8A97A8"/>
                </a:solidFill>
                <a:latin typeface="Calibri"/>
              </a:rPr>
              <a:t>Image condition (C)</a:t>
            </a:r>
          </a:p>
        </p:txBody>
      </p:sp>
      <p:sp>
        <p:nvSpPr>
          <p:cNvPr id="11" name="TextBox 10"/>
          <p:cNvSpPr txBox="1"/>
          <p:nvPr/>
        </p:nvSpPr>
        <p:spPr>
          <a:xfrm>
            <a:off x="9144000" y="1920240"/>
            <a:ext cx="2560320" cy="3931920"/>
          </a:xfrm>
          <a:prstGeom prst="rect">
            <a:avLst/>
          </a:prstGeom>
          <a:noFill/>
        </p:spPr>
        <p:txBody>
          <a:bodyPr wrap="square" lIns="0" rIns="0" tIns="0" bIns="0" anchor="t">
            <a:spAutoFit/>
          </a:bodyPr>
          <a:lstStyle/>
          <a:p>
            <a:pPr algn="l"/>
            <a:r>
              <a:rPr sz="1800" b="0" i="0">
                <a:solidFill>
                  <a:srgbClr val="C9D3E0"/>
                </a:solidFill>
                <a:latin typeface="Calibri"/>
              </a:rPr>
              <a:t>Judge counted step-by-step compliance as refusal.</a:t>
            </a:r>
          </a:p>
          <a:p>
            <a:pPr algn="l">
              <a:spcBef>
                <a:spcPts val="600"/>
              </a:spcBef>
            </a:pPr>
            <a:r>
              <a:rPr sz="1800" b="0" i="0">
                <a:solidFill>
                  <a:srgbClr val="C9D3E0"/>
                </a:solidFill>
                <a:latin typeface="Calibri"/>
              </a:rPr>
              <a:t>In conditions A, B, D the judge and the phrase check agree within a few points.</a:t>
            </a:r>
          </a:p>
          <a:p>
            <a:pPr algn="l">
              <a:spcBef>
                <a:spcPts val="600"/>
              </a:spcBef>
            </a:pPr>
            <a:r>
              <a:rPr sz="1800" b="0" i="0">
                <a:solidFill>
                  <a:srgbClr val="C9D3E0"/>
                </a:solidFill>
                <a:latin typeface="Calibri"/>
              </a:rPr>
              <a:t>True image-channel gap is larger than reported.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247120" y="6355080"/>
            <a:ext cx="640080" cy="320040"/>
          </a:xfrm>
          <a:prstGeom prst="rect">
            <a:avLst/>
          </a:prstGeom>
          <a:noFill/>
        </p:spPr>
        <p:txBody>
          <a:bodyPr wrap="square" lIns="0" rIns="0" tIns="0" bIns="0" anchor="t">
            <a:spAutoFit/>
          </a:bodyPr>
          <a:lstStyle/>
          <a:p>
            <a:pPr algn="r"/>
            <a:r>
              <a:rPr sz="1200" b="0" i="0">
                <a:solidFill>
                  <a:srgbClr val="8A97A8"/>
                </a:solidFill>
                <a:latin typeface="Calibri"/>
              </a:rPr>
              <a:t>9</a:t>
            </a:r>
          </a:p>
        </p:txBody>
      </p:sp>
      <p:sp>
        <p:nvSpPr>
          <p:cNvPr id="3" name="Rounded Rectangle 2"/>
          <p:cNvSpPr/>
          <p:nvPr/>
        </p:nvSpPr>
        <p:spPr>
          <a:xfrm>
            <a:off x="548640" y="347472"/>
            <a:ext cx="2633472" cy="310896"/>
          </a:xfrm>
          <a:prstGeom prst="roundRect">
            <a:avLst>
              <a:gd name="adj" fmla="val 50000"/>
            </a:avLst>
          </a:prstGeom>
          <a:solidFill>
            <a:srgbClr val="F2A33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00" b="1">
                <a:solidFill>
                  <a:srgbClr val="0F1B2D"/>
                </a:solidFill>
                <a:latin typeface="Calibri"/>
              </a:rPr>
              <a:t>WHAT WE MAY CLAIM</a:t>
            </a:r>
          </a:p>
        </p:txBody>
      </p:sp>
      <p:sp>
        <p:nvSpPr>
          <p:cNvPr id="4" name="TextBox 3"/>
          <p:cNvSpPr txBox="1"/>
          <p:nvPr/>
        </p:nvSpPr>
        <p:spPr>
          <a:xfrm>
            <a:off x="548640" y="777240"/>
            <a:ext cx="11064240" cy="914400"/>
          </a:xfrm>
          <a:prstGeom prst="rect">
            <a:avLst/>
          </a:prstGeom>
          <a:noFill/>
        </p:spPr>
        <p:txBody>
          <a:bodyPr wrap="square" lIns="0" rIns="0" tIns="0" bIns="0" anchor="t">
            <a:spAutoFit/>
          </a:bodyPr>
          <a:lstStyle/>
          <a:p>
            <a:pPr algn="l"/>
            <a:r>
              <a:rPr sz="3200" b="1" i="0">
                <a:solidFill>
                  <a:srgbClr val="0F1B2D"/>
                </a:solidFill>
                <a:latin typeface="Cambria"/>
              </a:rPr>
              <a:t>What the pilot supports, and what it does not</a:t>
            </a:r>
          </a:p>
        </p:txBody>
      </p:sp>
      <p:sp>
        <p:nvSpPr>
          <p:cNvPr id="5" name="Rounded Rectangle 4"/>
          <p:cNvSpPr/>
          <p:nvPr/>
        </p:nvSpPr>
        <p:spPr>
          <a:xfrm>
            <a:off x="548640" y="1828800"/>
            <a:ext cx="5440680" cy="4206240"/>
          </a:xfrm>
          <a:prstGeom prst="roundRect">
            <a:avLst>
              <a:gd name="adj" fmla="val 8000"/>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011680"/>
            <a:ext cx="4937760" cy="457200"/>
          </a:xfrm>
          <a:prstGeom prst="rect">
            <a:avLst/>
          </a:prstGeom>
          <a:noFill/>
        </p:spPr>
        <p:txBody>
          <a:bodyPr wrap="square" lIns="0" rIns="0" tIns="0" bIns="0" anchor="t">
            <a:spAutoFit/>
          </a:bodyPr>
          <a:lstStyle/>
          <a:p>
            <a:pPr algn="l"/>
            <a:r>
              <a:rPr sz="2200" b="1" i="0">
                <a:solidFill>
                  <a:srgbClr val="2A9D8F"/>
                </a:solidFill>
                <a:latin typeface="Cambria"/>
              </a:rPr>
              <a:t>Supported (direction)</a:t>
            </a:r>
          </a:p>
        </p:txBody>
      </p:sp>
      <p:sp>
        <p:nvSpPr>
          <p:cNvPr id="7" name="TextBox 6"/>
          <p:cNvSpPr txBox="1"/>
          <p:nvPr/>
        </p:nvSpPr>
        <p:spPr>
          <a:xfrm>
            <a:off x="822960" y="2651760"/>
            <a:ext cx="4892040" cy="3200400"/>
          </a:xfrm>
          <a:prstGeom prst="rect">
            <a:avLst/>
          </a:prstGeom>
          <a:noFill/>
        </p:spPr>
        <p:txBody>
          <a:bodyPr wrap="square" lIns="0" rIns="0" tIns="0" bIns="0" anchor="t">
            <a:spAutoFit/>
          </a:bodyPr>
          <a:lstStyle/>
          <a:p>
            <a:pPr algn="l"/>
            <a:r>
              <a:rPr sz="2200" b="0" i="0">
                <a:solidFill>
                  <a:srgbClr val="24364F"/>
                </a:solidFill>
                <a:latin typeface="Calibri"/>
              </a:rPr>
              <a:t>The image channel refuses less than text, in both models</a:t>
            </a:r>
          </a:p>
          <a:p>
            <a:pPr algn="l">
              <a:spcBef>
                <a:spcPts val="600"/>
              </a:spcBef>
            </a:pPr>
            <a:r>
              <a:rPr sz="2200" b="0" i="0">
                <a:solidFill>
                  <a:srgbClr val="24364F"/>
                </a:solidFill>
                <a:latin typeface="Calibri"/>
              </a:rPr>
              <a:t>Text and image refusal are positively coupled</a:t>
            </a:r>
          </a:p>
          <a:p>
            <a:pPr algn="l">
              <a:spcBef>
                <a:spcPts val="600"/>
              </a:spcBef>
            </a:pPr>
            <a:r>
              <a:rPr sz="2200" b="0" i="0">
                <a:solidFill>
                  <a:srgbClr val="24364F"/>
                </a:solidFill>
                <a:latin typeface="Calibri"/>
              </a:rPr>
              <a:t>A blank image shifts the 2B model into canned refusals</a:t>
            </a:r>
          </a:p>
        </p:txBody>
      </p:sp>
      <p:sp>
        <p:nvSpPr>
          <p:cNvPr id="8" name="Rounded Rectangle 7"/>
          <p:cNvSpPr/>
          <p:nvPr/>
        </p:nvSpPr>
        <p:spPr>
          <a:xfrm>
            <a:off x="6172200" y="1828800"/>
            <a:ext cx="5440680" cy="4206240"/>
          </a:xfrm>
          <a:prstGeom prst="roundRect">
            <a:avLst>
              <a:gd name="adj" fmla="val 8000"/>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2011680"/>
            <a:ext cx="4937760" cy="457200"/>
          </a:xfrm>
          <a:prstGeom prst="rect">
            <a:avLst/>
          </a:prstGeom>
          <a:noFill/>
        </p:spPr>
        <p:txBody>
          <a:bodyPr wrap="square" lIns="0" rIns="0" tIns="0" bIns="0" anchor="t">
            <a:spAutoFit/>
          </a:bodyPr>
          <a:lstStyle/>
          <a:p>
            <a:pPr algn="l"/>
            <a:r>
              <a:rPr sz="2200" b="1" i="0">
                <a:solidFill>
                  <a:srgbClr val="D1495B"/>
                </a:solidFill>
                <a:latin typeface="Cambria"/>
              </a:rPr>
              <a:t>Not yet supported</a:t>
            </a:r>
          </a:p>
        </p:txBody>
      </p:sp>
      <p:sp>
        <p:nvSpPr>
          <p:cNvPr id="10" name="TextBox 9"/>
          <p:cNvSpPr txBox="1"/>
          <p:nvPr/>
        </p:nvSpPr>
        <p:spPr>
          <a:xfrm>
            <a:off x="6446520" y="2651760"/>
            <a:ext cx="4937760" cy="3200400"/>
          </a:xfrm>
          <a:prstGeom prst="rect">
            <a:avLst/>
          </a:prstGeom>
          <a:noFill/>
        </p:spPr>
        <p:txBody>
          <a:bodyPr wrap="square" lIns="0" rIns="0" tIns="0" bIns="0" anchor="t">
            <a:spAutoFit/>
          </a:bodyPr>
          <a:lstStyle/>
          <a:p>
            <a:pPr algn="l"/>
            <a:r>
              <a:rPr sz="2200" b="0" i="0">
                <a:solidFill>
                  <a:srgbClr val="24364F"/>
                </a:solidFill>
                <a:latin typeface="Calibri"/>
              </a:rPr>
              <a:t>The size of the image gap (judge was wrong)</a:t>
            </a:r>
          </a:p>
          <a:p>
            <a:pPr algn="l">
              <a:spcBef>
                <a:spcPts val="600"/>
              </a:spcBef>
            </a:pPr>
            <a:r>
              <a:rPr sz="2200" b="0" i="0">
                <a:solidFill>
                  <a:srgbClr val="24364F"/>
                </a:solidFill>
                <a:latin typeface="Calibri"/>
              </a:rPr>
              <a:t>Modality versus prompt wording: image prompt differs from text prompt</a:t>
            </a:r>
          </a:p>
          <a:p>
            <a:pPr algn="l">
              <a:spcBef>
                <a:spcPts val="600"/>
              </a:spcBef>
            </a:pPr>
            <a:r>
              <a:rPr sz="2200" b="0" i="0">
                <a:solidFill>
                  <a:srgbClr val="24364F"/>
                </a:solidFill>
                <a:latin typeface="Calibri"/>
              </a:rPr>
              <a:t>A causal shared circuit, or steering transfer (no random-direction control)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247120" y="6355080"/>
            <a:ext cx="640080" cy="320040"/>
          </a:xfrm>
          <a:prstGeom prst="rect">
            <a:avLst/>
          </a:prstGeom>
          <a:noFill/>
        </p:spPr>
        <p:txBody>
          <a:bodyPr wrap="square" lIns="0" rIns="0" tIns="0" bIns="0" anchor="t">
            <a:spAutoFit/>
          </a:bodyPr>
          <a:lstStyle/>
          <a:p>
            <a:pPr algn="r"/>
            <a:r>
              <a:rPr sz="1200" b="0" i="0">
                <a:solidFill>
                  <a:srgbClr val="8A97A8"/>
                </a:solidFill>
                <a:latin typeface="Calibri"/>
              </a:rPr>
              <a:t>10</a:t>
            </a:r>
          </a:p>
        </p:txBody>
      </p:sp>
      <p:sp>
        <p:nvSpPr>
          <p:cNvPr id="3" name="Rounded Rectangle 2"/>
          <p:cNvSpPr/>
          <p:nvPr/>
        </p:nvSpPr>
        <p:spPr>
          <a:xfrm>
            <a:off x="548640" y="347472"/>
            <a:ext cx="2121408" cy="310896"/>
          </a:xfrm>
          <a:prstGeom prst="roundRect">
            <a:avLst>
              <a:gd name="adj" fmla="val 50000"/>
            </a:avLst>
          </a:prstGeom>
          <a:solidFill>
            <a:srgbClr val="F2A33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00" b="1">
                <a:solidFill>
                  <a:srgbClr val="0F1B2D"/>
                </a:solidFill>
                <a:latin typeface="Calibri"/>
              </a:rPr>
              <a:t>NOVELTY CHECK</a:t>
            </a:r>
          </a:p>
        </p:txBody>
      </p:sp>
      <p:sp>
        <p:nvSpPr>
          <p:cNvPr id="4" name="TextBox 3"/>
          <p:cNvSpPr txBox="1"/>
          <p:nvPr/>
        </p:nvSpPr>
        <p:spPr>
          <a:xfrm>
            <a:off x="548640" y="777240"/>
            <a:ext cx="11064240" cy="914400"/>
          </a:xfrm>
          <a:prstGeom prst="rect">
            <a:avLst/>
          </a:prstGeom>
          <a:noFill/>
        </p:spPr>
        <p:txBody>
          <a:bodyPr wrap="square" lIns="0" rIns="0" tIns="0" bIns="0" anchor="t">
            <a:spAutoFit/>
          </a:bodyPr>
          <a:lstStyle/>
          <a:p>
            <a:pPr algn="l"/>
            <a:r>
              <a:rPr sz="3200" b="1" i="0">
                <a:solidFill>
                  <a:srgbClr val="0F1B2D"/>
                </a:solidFill>
                <a:latin typeface="Cambria"/>
              </a:rPr>
              <a:t>Where we sit against published work</a:t>
            </a:r>
          </a:p>
        </p:txBody>
      </p:sp>
      <p:sp>
        <p:nvSpPr>
          <p:cNvPr id="5" name="Rounded Rectangle 4"/>
          <p:cNvSpPr/>
          <p:nvPr/>
        </p:nvSpPr>
        <p:spPr>
          <a:xfrm>
            <a:off x="548640" y="1828800"/>
            <a:ext cx="5440680" cy="4206240"/>
          </a:xfrm>
          <a:prstGeom prst="roundRect">
            <a:avLst>
              <a:gd name="adj" fmla="val 8000"/>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011680"/>
            <a:ext cx="4937760" cy="457200"/>
          </a:xfrm>
          <a:prstGeom prst="rect">
            <a:avLst/>
          </a:prstGeom>
          <a:noFill/>
        </p:spPr>
        <p:txBody>
          <a:bodyPr wrap="square" lIns="0" rIns="0" tIns="0" bIns="0" anchor="t">
            <a:spAutoFit/>
          </a:bodyPr>
          <a:lstStyle/>
          <a:p>
            <a:pPr algn="l"/>
            <a:r>
              <a:rPr sz="2200" b="1" i="0">
                <a:solidFill>
                  <a:srgbClr val="0F1B2D"/>
                </a:solidFill>
                <a:latin typeface="Cambria"/>
              </a:rPr>
              <a:t>Already published</a:t>
            </a:r>
          </a:p>
        </p:txBody>
      </p:sp>
      <p:sp>
        <p:nvSpPr>
          <p:cNvPr id="7" name="TextBox 6"/>
          <p:cNvSpPr txBox="1"/>
          <p:nvPr/>
        </p:nvSpPr>
        <p:spPr>
          <a:xfrm>
            <a:off x="822960" y="2651760"/>
            <a:ext cx="4892040" cy="3200400"/>
          </a:xfrm>
          <a:prstGeom prst="rect">
            <a:avLst/>
          </a:prstGeom>
          <a:noFill/>
        </p:spPr>
        <p:txBody>
          <a:bodyPr wrap="square" lIns="0" rIns="0" tIns="0" bIns="0" anchor="t">
            <a:spAutoFit/>
          </a:bodyPr>
          <a:lstStyle/>
          <a:p>
            <a:pPr algn="l"/>
            <a:r>
              <a:rPr sz="2200" b="0" i="0">
                <a:solidFill>
                  <a:srgbClr val="24364F"/>
                </a:solidFill>
                <a:latin typeface="Calibri"/>
              </a:rPr>
              <a:t>Refusal-direction transfer to images (MARS)</a:t>
            </a:r>
          </a:p>
          <a:p>
            <a:pPr algn="l">
              <a:spcBef>
                <a:spcPts val="600"/>
              </a:spcBef>
            </a:pPr>
            <a:r>
              <a:rPr sz="2200" b="0" i="0">
                <a:solidFill>
                  <a:srgbClr val="24364F"/>
                </a:solidFill>
                <a:latin typeface="Calibri"/>
              </a:rPr>
              <a:t>Vision erodes safety; typographic gap</a:t>
            </a:r>
          </a:p>
          <a:p>
            <a:pPr algn="l">
              <a:spcBef>
                <a:spcPts val="600"/>
              </a:spcBef>
            </a:pPr>
            <a:r>
              <a:rPr sz="2200" b="0" i="0">
                <a:solidFill>
                  <a:srgbClr val="24364F"/>
                </a:solidFill>
                <a:latin typeface="Calibri"/>
              </a:rPr>
              <a:t>Blank and noise image controls on LLaVA</a:t>
            </a:r>
          </a:p>
        </p:txBody>
      </p:sp>
      <p:sp>
        <p:nvSpPr>
          <p:cNvPr id="8" name="Rounded Rectangle 7"/>
          <p:cNvSpPr/>
          <p:nvPr/>
        </p:nvSpPr>
        <p:spPr>
          <a:xfrm>
            <a:off x="6172200" y="1828800"/>
            <a:ext cx="5440680" cy="4206240"/>
          </a:xfrm>
          <a:prstGeom prst="roundRect">
            <a:avLst>
              <a:gd name="adj" fmla="val 8000"/>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2011680"/>
            <a:ext cx="4937760" cy="457200"/>
          </a:xfrm>
          <a:prstGeom prst="rect">
            <a:avLst/>
          </a:prstGeom>
          <a:noFill/>
        </p:spPr>
        <p:txBody>
          <a:bodyPr wrap="square" lIns="0" rIns="0" tIns="0" bIns="0" anchor="t">
            <a:spAutoFit/>
          </a:bodyPr>
          <a:lstStyle/>
          <a:p>
            <a:pPr algn="l"/>
            <a:r>
              <a:rPr sz="2200" b="1" i="0">
                <a:solidFill>
                  <a:srgbClr val="2A9D8F"/>
                </a:solidFill>
                <a:latin typeface="Cambria"/>
              </a:rPr>
              <a:t>Possibly open</a:t>
            </a:r>
          </a:p>
        </p:txBody>
      </p:sp>
      <p:sp>
        <p:nvSpPr>
          <p:cNvPr id="10" name="TextBox 9"/>
          <p:cNvSpPr txBox="1"/>
          <p:nvPr/>
        </p:nvSpPr>
        <p:spPr>
          <a:xfrm>
            <a:off x="6446520" y="2651760"/>
            <a:ext cx="4937760" cy="3200400"/>
          </a:xfrm>
          <a:prstGeom prst="rect">
            <a:avLst/>
          </a:prstGeom>
          <a:noFill/>
        </p:spPr>
        <p:txBody>
          <a:bodyPr wrap="square" lIns="0" rIns="0" tIns="0" bIns="0" anchor="t">
            <a:spAutoFit/>
          </a:bodyPr>
          <a:lstStyle/>
          <a:p>
            <a:pPr algn="l"/>
            <a:r>
              <a:rPr sz="2200" b="0" i="0">
                <a:solidFill>
                  <a:srgbClr val="24364F"/>
                </a:solidFill>
                <a:latin typeface="Calibri"/>
              </a:rPr>
              <a:t>Per-item coupling of text and image refusal</a:t>
            </a:r>
          </a:p>
          <a:p>
            <a:pPr algn="l">
              <a:spcBef>
                <a:spcPts val="600"/>
              </a:spcBef>
            </a:pPr>
            <a:r>
              <a:rPr sz="2200" b="0" i="0">
                <a:solidFill>
                  <a:srgbClr val="24364F"/>
                </a:solidFill>
                <a:latin typeface="Calibri"/>
              </a:rPr>
              <a:t>Typographic channel inside direction transfer</a:t>
            </a:r>
          </a:p>
          <a:p>
            <a:pPr algn="l">
              <a:spcBef>
                <a:spcPts val="600"/>
              </a:spcBef>
            </a:pPr>
            <a:r>
              <a:rPr sz="2200" b="0" i="0">
                <a:solidFill>
                  <a:srgbClr val="24364F"/>
                </a:solidFill>
                <a:latin typeface="Calibri"/>
              </a:rPr>
              <a:t>Blank-image behaviour on Qwen-VL models</a:t>
            </a:r>
          </a:p>
          <a:p>
            <a:pPr algn="l">
              <a:spcBef>
                <a:spcPts val="600"/>
              </a:spcBef>
            </a:pPr>
            <a:r>
              <a:rPr sz="2200" b="0" i="0">
                <a:solidFill>
                  <a:srgbClr val="24364F"/>
                </a:solidFill>
                <a:latin typeface="Calibri"/>
              </a:rPr>
              <a:t>Search was not exhaustive: no 'first' claim yet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247120" y="6355080"/>
            <a:ext cx="640080" cy="320040"/>
          </a:xfrm>
          <a:prstGeom prst="rect">
            <a:avLst/>
          </a:prstGeom>
          <a:noFill/>
        </p:spPr>
        <p:txBody>
          <a:bodyPr wrap="square" lIns="0" rIns="0" tIns="0" bIns="0" anchor="t">
            <a:spAutoFit/>
          </a:bodyPr>
          <a:lstStyle/>
          <a:p>
            <a:pPr algn="r"/>
            <a:r>
              <a:rPr sz="1200" b="0" i="0">
                <a:solidFill>
                  <a:srgbClr val="8A97A8"/>
                </a:solidFill>
                <a:latin typeface="Calibri"/>
              </a:rPr>
              <a:t>11</a:t>
            </a:r>
          </a:p>
        </p:txBody>
      </p:sp>
      <p:sp>
        <p:nvSpPr>
          <p:cNvPr id="3" name="Rounded Rectangle 2"/>
          <p:cNvSpPr/>
          <p:nvPr/>
        </p:nvSpPr>
        <p:spPr>
          <a:xfrm>
            <a:off x="548640" y="347472"/>
            <a:ext cx="4809744" cy="310896"/>
          </a:xfrm>
          <a:prstGeom prst="roundRect">
            <a:avLst>
              <a:gd name="adj" fmla="val 50000"/>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00" b="1">
                <a:solidFill>
                  <a:srgbClr val="FFFFFF"/>
                </a:solidFill>
                <a:latin typeface="Calibri"/>
              </a:rPr>
              <a:t>V2  |  RUNNING NOW, NO RESULTS YET</a:t>
            </a:r>
          </a:p>
        </p:txBody>
      </p:sp>
      <p:sp>
        <p:nvSpPr>
          <p:cNvPr id="4" name="TextBox 3"/>
          <p:cNvSpPr txBox="1"/>
          <p:nvPr/>
        </p:nvSpPr>
        <p:spPr>
          <a:xfrm>
            <a:off x="548640" y="777240"/>
            <a:ext cx="11064240" cy="914400"/>
          </a:xfrm>
          <a:prstGeom prst="rect">
            <a:avLst/>
          </a:prstGeom>
          <a:noFill/>
        </p:spPr>
        <p:txBody>
          <a:bodyPr wrap="square" lIns="0" rIns="0" tIns="0" bIns="0" anchor="t">
            <a:spAutoFit/>
          </a:bodyPr>
          <a:lstStyle/>
          <a:p>
            <a:pPr algn="l"/>
            <a:r>
              <a:rPr sz="3200" b="1" i="0">
                <a:solidFill>
                  <a:srgbClr val="0F1B2D"/>
                </a:solidFill>
                <a:latin typeface="Cambria"/>
              </a:rPr>
              <a:t>v2 fixes every flaw the audit found</a:t>
            </a:r>
          </a:p>
        </p:txBody>
      </p:sp>
      <p:sp>
        <p:nvSpPr>
          <p:cNvPr id="5" name="Rounded Rectangle 4"/>
          <p:cNvSpPr/>
          <p:nvPr/>
        </p:nvSpPr>
        <p:spPr>
          <a:xfrm>
            <a:off x="548640" y="1828800"/>
            <a:ext cx="3520440" cy="2011680"/>
          </a:xfrm>
          <a:prstGeom prst="roundRect">
            <a:avLst>
              <a:gd name="adj" fmla="val 8000"/>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77240" y="2057400"/>
            <a:ext cx="457200" cy="457200"/>
          </a:xfrm>
          <a:prstGeom prst="ellipse">
            <a:avLst/>
          </a:prstGeom>
          <a:solidFill>
            <a:srgbClr val="F2A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057400"/>
            <a:ext cx="457200" cy="457200"/>
          </a:xfrm>
          <a:prstGeom prst="rect">
            <a:avLst/>
          </a:prstGeom>
          <a:noFill/>
        </p:spPr>
        <p:txBody>
          <a:bodyPr wrap="square" lIns="0" rIns="0" tIns="0" bIns="0" anchor="ctr">
            <a:spAutoFit/>
          </a:bodyPr>
          <a:lstStyle/>
          <a:p>
            <a:pPr algn="ctr"/>
            <a:r>
              <a:rPr sz="1800" b="1" i="0">
                <a:solidFill>
                  <a:srgbClr val="0F1B2D"/>
                </a:solidFill>
                <a:latin typeface="Calibri"/>
              </a:rPr>
              <a:t>1</a:t>
            </a:r>
          </a:p>
        </p:txBody>
      </p:sp>
      <p:sp>
        <p:nvSpPr>
          <p:cNvPr id="8" name="TextBox 7"/>
          <p:cNvSpPr txBox="1"/>
          <p:nvPr/>
        </p:nvSpPr>
        <p:spPr>
          <a:xfrm>
            <a:off x="777240" y="2651760"/>
            <a:ext cx="3108960" cy="411480"/>
          </a:xfrm>
          <a:prstGeom prst="rect">
            <a:avLst/>
          </a:prstGeom>
          <a:noFill/>
        </p:spPr>
        <p:txBody>
          <a:bodyPr wrap="square" lIns="0" rIns="0" tIns="0" bIns="0" anchor="t">
            <a:spAutoFit/>
          </a:bodyPr>
          <a:lstStyle/>
          <a:p>
            <a:pPr algn="l"/>
            <a:r>
              <a:rPr sz="1900" b="1" i="0">
                <a:solidFill>
                  <a:srgbClr val="0F1B2D"/>
                </a:solidFill>
                <a:latin typeface="Cambria"/>
              </a:rPr>
              <a:t>Fix the judge</a:t>
            </a:r>
          </a:p>
        </p:txBody>
      </p:sp>
      <p:sp>
        <p:nvSpPr>
          <p:cNvPr id="9" name="TextBox 8"/>
          <p:cNvSpPr txBox="1"/>
          <p:nvPr/>
        </p:nvSpPr>
        <p:spPr>
          <a:xfrm>
            <a:off x="777240" y="3063240"/>
            <a:ext cx="3108960" cy="731520"/>
          </a:xfrm>
          <a:prstGeom prst="rect">
            <a:avLst/>
          </a:prstGeom>
          <a:noFill/>
        </p:spPr>
        <p:txBody>
          <a:bodyPr wrap="square" lIns="0" rIns="0" tIns="0" bIns="0" anchor="t">
            <a:spAutoFit/>
          </a:bodyPr>
          <a:lstStyle/>
          <a:p>
            <a:pPr algn="l"/>
            <a:r>
              <a:rPr sz="1800" b="0" i="0">
                <a:solidFill>
                  <a:srgbClr val="24364F"/>
                </a:solidFill>
                <a:latin typeface="Calibri"/>
              </a:rPr>
              <a:t>Stricter rubric, plus a refusal-phrase gate</a:t>
            </a:r>
          </a:p>
        </p:txBody>
      </p:sp>
      <p:sp>
        <p:nvSpPr>
          <p:cNvPr id="10" name="Rounded Rectangle 9"/>
          <p:cNvSpPr/>
          <p:nvPr/>
        </p:nvSpPr>
        <p:spPr>
          <a:xfrm>
            <a:off x="4297679" y="1828800"/>
            <a:ext cx="3520440" cy="2011680"/>
          </a:xfrm>
          <a:prstGeom prst="roundRect">
            <a:avLst>
              <a:gd name="adj" fmla="val 8000"/>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526279" y="2057400"/>
            <a:ext cx="457200" cy="457200"/>
          </a:xfrm>
          <a:prstGeom prst="ellipse">
            <a:avLst/>
          </a:prstGeom>
          <a:solidFill>
            <a:srgbClr val="F2A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6279" y="2057400"/>
            <a:ext cx="457200" cy="457200"/>
          </a:xfrm>
          <a:prstGeom prst="rect">
            <a:avLst/>
          </a:prstGeom>
          <a:noFill/>
        </p:spPr>
        <p:txBody>
          <a:bodyPr wrap="square" lIns="0" rIns="0" tIns="0" bIns="0" anchor="ctr">
            <a:spAutoFit/>
          </a:bodyPr>
          <a:lstStyle/>
          <a:p>
            <a:pPr algn="ctr"/>
            <a:r>
              <a:rPr sz="1800" b="1" i="0">
                <a:solidFill>
                  <a:srgbClr val="0F1B2D"/>
                </a:solidFill>
                <a:latin typeface="Calibri"/>
              </a:rPr>
              <a:t>2</a:t>
            </a:r>
          </a:p>
        </p:txBody>
      </p:sp>
      <p:sp>
        <p:nvSpPr>
          <p:cNvPr id="13" name="TextBox 12"/>
          <p:cNvSpPr txBox="1"/>
          <p:nvPr/>
        </p:nvSpPr>
        <p:spPr>
          <a:xfrm>
            <a:off x="4526279" y="2651760"/>
            <a:ext cx="3108960" cy="411480"/>
          </a:xfrm>
          <a:prstGeom prst="rect">
            <a:avLst/>
          </a:prstGeom>
          <a:noFill/>
        </p:spPr>
        <p:txBody>
          <a:bodyPr wrap="square" lIns="0" rIns="0" tIns="0" bIns="0" anchor="t">
            <a:spAutoFit/>
          </a:bodyPr>
          <a:lstStyle/>
          <a:p>
            <a:pPr algn="l"/>
            <a:r>
              <a:rPr sz="1900" b="1" i="0">
                <a:solidFill>
                  <a:srgbClr val="0F1B2D"/>
                </a:solidFill>
                <a:latin typeface="Cambria"/>
              </a:rPr>
              <a:t>Prompt-matched control</a:t>
            </a:r>
          </a:p>
        </p:txBody>
      </p:sp>
      <p:sp>
        <p:nvSpPr>
          <p:cNvPr id="14" name="TextBox 13"/>
          <p:cNvSpPr txBox="1"/>
          <p:nvPr/>
        </p:nvSpPr>
        <p:spPr>
          <a:xfrm>
            <a:off x="4526279" y="3063240"/>
            <a:ext cx="3108960" cy="731520"/>
          </a:xfrm>
          <a:prstGeom prst="rect">
            <a:avLst/>
          </a:prstGeom>
          <a:noFill/>
        </p:spPr>
        <p:txBody>
          <a:bodyPr wrap="square" lIns="0" rIns="0" tIns="0" bIns="0" anchor="t">
            <a:spAutoFit/>
          </a:bodyPr>
          <a:lstStyle/>
          <a:p>
            <a:pPr algn="l"/>
            <a:r>
              <a:rPr sz="1800" b="0" i="0">
                <a:solidFill>
                  <a:srgbClr val="24364F"/>
                </a:solidFill>
                <a:latin typeface="Calibri"/>
              </a:rPr>
              <a:t>Same prompt, phrase as text (condition E)</a:t>
            </a:r>
          </a:p>
        </p:txBody>
      </p:sp>
      <p:sp>
        <p:nvSpPr>
          <p:cNvPr id="15" name="Rounded Rectangle 14"/>
          <p:cNvSpPr/>
          <p:nvPr/>
        </p:nvSpPr>
        <p:spPr>
          <a:xfrm>
            <a:off x="8046719" y="1828800"/>
            <a:ext cx="3520440" cy="2011680"/>
          </a:xfrm>
          <a:prstGeom prst="roundRect">
            <a:avLst>
              <a:gd name="adj" fmla="val 8000"/>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275319" y="2057400"/>
            <a:ext cx="457200" cy="457200"/>
          </a:xfrm>
          <a:prstGeom prst="ellipse">
            <a:avLst/>
          </a:prstGeom>
          <a:solidFill>
            <a:srgbClr val="F2A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75319" y="2057400"/>
            <a:ext cx="457200" cy="457200"/>
          </a:xfrm>
          <a:prstGeom prst="rect">
            <a:avLst/>
          </a:prstGeom>
          <a:noFill/>
        </p:spPr>
        <p:txBody>
          <a:bodyPr wrap="square" lIns="0" rIns="0" tIns="0" bIns="0" anchor="ctr">
            <a:spAutoFit/>
          </a:bodyPr>
          <a:lstStyle/>
          <a:p>
            <a:pPr algn="ctr"/>
            <a:r>
              <a:rPr sz="1800" b="1" i="0">
                <a:solidFill>
                  <a:srgbClr val="0F1B2D"/>
                </a:solidFill>
                <a:latin typeface="Calibri"/>
              </a:rPr>
              <a:t>3</a:t>
            </a:r>
          </a:p>
        </p:txBody>
      </p:sp>
      <p:sp>
        <p:nvSpPr>
          <p:cNvPr id="18" name="TextBox 17"/>
          <p:cNvSpPr txBox="1"/>
          <p:nvPr/>
        </p:nvSpPr>
        <p:spPr>
          <a:xfrm>
            <a:off x="8275319" y="2651760"/>
            <a:ext cx="3108960" cy="411480"/>
          </a:xfrm>
          <a:prstGeom prst="rect">
            <a:avLst/>
          </a:prstGeom>
          <a:noFill/>
        </p:spPr>
        <p:txBody>
          <a:bodyPr wrap="square" lIns="0" rIns="0" tIns="0" bIns="0" anchor="t">
            <a:spAutoFit/>
          </a:bodyPr>
          <a:lstStyle/>
          <a:p>
            <a:pPr algn="l"/>
            <a:r>
              <a:rPr sz="1900" b="1" i="0">
                <a:solidFill>
                  <a:srgbClr val="0F1B2D"/>
                </a:solidFill>
                <a:latin typeface="Cambria"/>
              </a:rPr>
              <a:t>Harmless twins</a:t>
            </a:r>
          </a:p>
        </p:txBody>
      </p:sp>
      <p:sp>
        <p:nvSpPr>
          <p:cNvPr id="19" name="TextBox 18"/>
          <p:cNvSpPr txBox="1"/>
          <p:nvPr/>
        </p:nvSpPr>
        <p:spPr>
          <a:xfrm>
            <a:off x="8275319" y="3063240"/>
            <a:ext cx="3108960" cy="731520"/>
          </a:xfrm>
          <a:prstGeom prst="rect">
            <a:avLst/>
          </a:prstGeom>
          <a:noFill/>
        </p:spPr>
        <p:txBody>
          <a:bodyPr wrap="square" lIns="0" rIns="0" tIns="0" bIns="0" anchor="t">
            <a:spAutoFit/>
          </a:bodyPr>
          <a:lstStyle/>
          <a:p>
            <a:pPr algn="l"/>
            <a:r>
              <a:rPr sz="1800" b="0" i="0">
                <a:solidFill>
                  <a:srgbClr val="24364F"/>
                </a:solidFill>
                <a:latin typeface="Calibri"/>
              </a:rPr>
              <a:t>48 benign prompts measure over-refusal</a:t>
            </a:r>
          </a:p>
        </p:txBody>
      </p:sp>
      <p:sp>
        <p:nvSpPr>
          <p:cNvPr id="20" name="Rounded Rectangle 19"/>
          <p:cNvSpPr/>
          <p:nvPr/>
        </p:nvSpPr>
        <p:spPr>
          <a:xfrm>
            <a:off x="548640" y="4069080"/>
            <a:ext cx="3520440" cy="2011680"/>
          </a:xfrm>
          <a:prstGeom prst="roundRect">
            <a:avLst>
              <a:gd name="adj" fmla="val 8000"/>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77240" y="4297680"/>
            <a:ext cx="457200" cy="457200"/>
          </a:xfrm>
          <a:prstGeom prst="ellipse">
            <a:avLst/>
          </a:prstGeom>
          <a:solidFill>
            <a:srgbClr val="F2A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4297680"/>
            <a:ext cx="457200" cy="457200"/>
          </a:xfrm>
          <a:prstGeom prst="rect">
            <a:avLst/>
          </a:prstGeom>
          <a:noFill/>
        </p:spPr>
        <p:txBody>
          <a:bodyPr wrap="square" lIns="0" rIns="0" tIns="0" bIns="0" anchor="ctr">
            <a:spAutoFit/>
          </a:bodyPr>
          <a:lstStyle/>
          <a:p>
            <a:pPr algn="ctr"/>
            <a:r>
              <a:rPr sz="1800" b="1" i="0">
                <a:solidFill>
                  <a:srgbClr val="0F1B2D"/>
                </a:solidFill>
                <a:latin typeface="Calibri"/>
              </a:rPr>
              <a:t>4</a:t>
            </a:r>
          </a:p>
        </p:txBody>
      </p:sp>
      <p:sp>
        <p:nvSpPr>
          <p:cNvPr id="23" name="TextBox 22"/>
          <p:cNvSpPr txBox="1"/>
          <p:nvPr/>
        </p:nvSpPr>
        <p:spPr>
          <a:xfrm>
            <a:off x="777240" y="4892040"/>
            <a:ext cx="3108960" cy="411480"/>
          </a:xfrm>
          <a:prstGeom prst="rect">
            <a:avLst/>
          </a:prstGeom>
          <a:noFill/>
        </p:spPr>
        <p:txBody>
          <a:bodyPr wrap="square" lIns="0" rIns="0" tIns="0" bIns="0" anchor="t">
            <a:spAutoFit/>
          </a:bodyPr>
          <a:lstStyle/>
          <a:p>
            <a:pPr algn="l"/>
            <a:r>
              <a:rPr sz="1900" b="1" i="0">
                <a:solidFill>
                  <a:srgbClr val="0F1B2D"/>
                </a:solidFill>
                <a:latin typeface="Cambria"/>
              </a:rPr>
              <a:t>Honest statistics</a:t>
            </a:r>
          </a:p>
        </p:txBody>
      </p:sp>
      <p:sp>
        <p:nvSpPr>
          <p:cNvPr id="24" name="TextBox 23"/>
          <p:cNvSpPr txBox="1"/>
          <p:nvPr/>
        </p:nvSpPr>
        <p:spPr>
          <a:xfrm>
            <a:off x="777240" y="5303520"/>
            <a:ext cx="3108960" cy="731520"/>
          </a:xfrm>
          <a:prstGeom prst="rect">
            <a:avLst/>
          </a:prstGeom>
          <a:noFill/>
        </p:spPr>
        <p:txBody>
          <a:bodyPr wrap="square" lIns="0" rIns="0" tIns="0" bIns="0" anchor="t">
            <a:spAutoFit/>
          </a:bodyPr>
          <a:lstStyle/>
          <a:p>
            <a:pPr algn="l"/>
            <a:r>
              <a:rPr sz="1800" b="0" i="0">
                <a:solidFill>
                  <a:srgbClr val="24364F"/>
                </a:solidFill>
                <a:latin typeface="Calibri"/>
              </a:rPr>
              <a:t>Random ids, scenario-clustered CIs, within-scenario coupling</a:t>
            </a:r>
          </a:p>
        </p:txBody>
      </p:sp>
      <p:sp>
        <p:nvSpPr>
          <p:cNvPr id="25" name="Rounded Rectangle 24"/>
          <p:cNvSpPr/>
          <p:nvPr/>
        </p:nvSpPr>
        <p:spPr>
          <a:xfrm>
            <a:off x="4297679" y="4069080"/>
            <a:ext cx="3520440" cy="2011680"/>
          </a:xfrm>
          <a:prstGeom prst="roundRect">
            <a:avLst>
              <a:gd name="adj" fmla="val 8000"/>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4526279" y="4297680"/>
            <a:ext cx="457200" cy="457200"/>
          </a:xfrm>
          <a:prstGeom prst="ellipse">
            <a:avLst/>
          </a:prstGeom>
          <a:solidFill>
            <a:srgbClr val="F2A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26279" y="4297680"/>
            <a:ext cx="457200" cy="457200"/>
          </a:xfrm>
          <a:prstGeom prst="rect">
            <a:avLst/>
          </a:prstGeom>
          <a:noFill/>
        </p:spPr>
        <p:txBody>
          <a:bodyPr wrap="square" lIns="0" rIns="0" tIns="0" bIns="0" anchor="ctr">
            <a:spAutoFit/>
          </a:bodyPr>
          <a:lstStyle/>
          <a:p>
            <a:pPr algn="ctr"/>
            <a:r>
              <a:rPr sz="1800" b="1" i="0">
                <a:solidFill>
                  <a:srgbClr val="0F1B2D"/>
                </a:solidFill>
                <a:latin typeface="Calibri"/>
              </a:rPr>
              <a:t>5</a:t>
            </a:r>
          </a:p>
        </p:txBody>
      </p:sp>
      <p:sp>
        <p:nvSpPr>
          <p:cNvPr id="28" name="TextBox 27"/>
          <p:cNvSpPr txBox="1"/>
          <p:nvPr/>
        </p:nvSpPr>
        <p:spPr>
          <a:xfrm>
            <a:off x="4526279" y="4892040"/>
            <a:ext cx="3108960" cy="411480"/>
          </a:xfrm>
          <a:prstGeom prst="rect">
            <a:avLst/>
          </a:prstGeom>
          <a:noFill/>
        </p:spPr>
        <p:txBody>
          <a:bodyPr wrap="square" lIns="0" rIns="0" tIns="0" bIns="0" anchor="t">
            <a:spAutoFit/>
          </a:bodyPr>
          <a:lstStyle/>
          <a:p>
            <a:pPr algn="l"/>
            <a:r>
              <a:rPr sz="1900" b="1" i="0">
                <a:solidFill>
                  <a:srgbClr val="0F1B2D"/>
                </a:solidFill>
                <a:latin typeface="Cambria"/>
              </a:rPr>
              <a:t>Steering control</a:t>
            </a:r>
          </a:p>
        </p:txBody>
      </p:sp>
      <p:sp>
        <p:nvSpPr>
          <p:cNvPr id="29" name="TextBox 28"/>
          <p:cNvSpPr txBox="1"/>
          <p:nvPr/>
        </p:nvSpPr>
        <p:spPr>
          <a:xfrm>
            <a:off x="4526279" y="5303520"/>
            <a:ext cx="3108960" cy="731520"/>
          </a:xfrm>
          <a:prstGeom prst="rect">
            <a:avLst/>
          </a:prstGeom>
          <a:noFill/>
        </p:spPr>
        <p:txBody>
          <a:bodyPr wrap="square" lIns="0" rIns="0" tIns="0" bIns="0" anchor="t">
            <a:spAutoFit/>
          </a:bodyPr>
          <a:lstStyle/>
          <a:p>
            <a:pPr algn="l"/>
            <a:r>
              <a:rPr sz="1800" b="0" i="0">
                <a:solidFill>
                  <a:srgbClr val="24364F"/>
                </a:solidFill>
                <a:latin typeface="Calibri"/>
              </a:rPr>
              <a:t>Random direction of equal size</a:t>
            </a:r>
          </a:p>
        </p:txBody>
      </p:sp>
      <p:sp>
        <p:nvSpPr>
          <p:cNvPr id="30" name="Rounded Rectangle 29"/>
          <p:cNvSpPr/>
          <p:nvPr/>
        </p:nvSpPr>
        <p:spPr>
          <a:xfrm>
            <a:off x="8046719" y="4069080"/>
            <a:ext cx="3520440" cy="2011680"/>
          </a:xfrm>
          <a:prstGeom prst="roundRect">
            <a:avLst>
              <a:gd name="adj" fmla="val 8000"/>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8275319" y="4297680"/>
            <a:ext cx="457200" cy="457200"/>
          </a:xfrm>
          <a:prstGeom prst="ellipse">
            <a:avLst/>
          </a:prstGeom>
          <a:solidFill>
            <a:srgbClr val="F2A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75319" y="4297680"/>
            <a:ext cx="457200" cy="457200"/>
          </a:xfrm>
          <a:prstGeom prst="rect">
            <a:avLst/>
          </a:prstGeom>
          <a:noFill/>
        </p:spPr>
        <p:txBody>
          <a:bodyPr wrap="square" lIns="0" rIns="0" tIns="0" bIns="0" anchor="ctr">
            <a:spAutoFit/>
          </a:bodyPr>
          <a:lstStyle/>
          <a:p>
            <a:pPr algn="ctr"/>
            <a:r>
              <a:rPr sz="1800" b="1" i="0">
                <a:solidFill>
                  <a:srgbClr val="0F1B2D"/>
                </a:solidFill>
                <a:latin typeface="Calibri"/>
              </a:rPr>
              <a:t>6</a:t>
            </a:r>
          </a:p>
        </p:txBody>
      </p:sp>
      <p:sp>
        <p:nvSpPr>
          <p:cNvPr id="33" name="TextBox 32"/>
          <p:cNvSpPr txBox="1"/>
          <p:nvPr/>
        </p:nvSpPr>
        <p:spPr>
          <a:xfrm>
            <a:off x="8275319" y="4892040"/>
            <a:ext cx="3108960" cy="411480"/>
          </a:xfrm>
          <a:prstGeom prst="rect">
            <a:avLst/>
          </a:prstGeom>
          <a:noFill/>
        </p:spPr>
        <p:txBody>
          <a:bodyPr wrap="square" lIns="0" rIns="0" tIns="0" bIns="0" anchor="t">
            <a:spAutoFit/>
          </a:bodyPr>
          <a:lstStyle/>
          <a:p>
            <a:pPr algn="l"/>
            <a:r>
              <a:rPr sz="1900" b="1" i="0">
                <a:solidFill>
                  <a:srgbClr val="0F1B2D"/>
                </a:solidFill>
                <a:latin typeface="Cambria"/>
              </a:rPr>
              <a:t>Human labels</a:t>
            </a:r>
          </a:p>
        </p:txBody>
      </p:sp>
      <p:sp>
        <p:nvSpPr>
          <p:cNvPr id="34" name="TextBox 33"/>
          <p:cNvSpPr txBox="1"/>
          <p:nvPr/>
        </p:nvSpPr>
        <p:spPr>
          <a:xfrm>
            <a:off x="8275319" y="5303520"/>
            <a:ext cx="3108960" cy="731520"/>
          </a:xfrm>
          <a:prstGeom prst="rect">
            <a:avLst/>
          </a:prstGeom>
          <a:noFill/>
        </p:spPr>
        <p:txBody>
          <a:bodyPr wrap="square" lIns="0" rIns="0" tIns="0" bIns="0" anchor="t">
            <a:spAutoFit/>
          </a:bodyPr>
          <a:lstStyle/>
          <a:p>
            <a:pPr algn="l"/>
            <a:r>
              <a:rPr sz="1800" b="0" i="0">
                <a:solidFill>
                  <a:srgbClr val="24364F"/>
                </a:solidFill>
                <a:latin typeface="Calibri"/>
              </a:rPr>
              <a:t>About 240 hand-labelled answers, Cohen's kappa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247120" y="6355080"/>
            <a:ext cx="640080" cy="320040"/>
          </a:xfrm>
          <a:prstGeom prst="rect">
            <a:avLst/>
          </a:prstGeom>
          <a:noFill/>
        </p:spPr>
        <p:txBody>
          <a:bodyPr wrap="square" lIns="0" rIns="0" tIns="0" bIns="0" anchor="t">
            <a:spAutoFit/>
          </a:bodyPr>
          <a:lstStyle/>
          <a:p>
            <a:pPr algn="r"/>
            <a:r>
              <a:rPr sz="1200" b="0" i="0">
                <a:solidFill>
                  <a:srgbClr val="8A97A8"/>
                </a:solidFill>
                <a:latin typeface="Calibri"/>
              </a:rPr>
              <a:t>12</a:t>
            </a:r>
          </a:p>
        </p:txBody>
      </p:sp>
      <p:sp>
        <p:nvSpPr>
          <p:cNvPr id="3" name="Rounded Rectangle 2"/>
          <p:cNvSpPr/>
          <p:nvPr/>
        </p:nvSpPr>
        <p:spPr>
          <a:xfrm>
            <a:off x="548640" y="347472"/>
            <a:ext cx="2377440" cy="310896"/>
          </a:xfrm>
          <a:prstGeom prst="roundRect">
            <a:avLst>
              <a:gd name="adj" fmla="val 50000"/>
            </a:avLst>
          </a:prstGeom>
          <a:solidFill>
            <a:srgbClr val="F2A33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00" b="1">
                <a:solidFill>
                  <a:srgbClr val="0F1B2D"/>
                </a:solidFill>
                <a:latin typeface="Calibri"/>
              </a:rPr>
              <a:t>PATH TO A PAPER</a:t>
            </a:r>
          </a:p>
        </p:txBody>
      </p:sp>
      <p:sp>
        <p:nvSpPr>
          <p:cNvPr id="4" name="TextBox 3"/>
          <p:cNvSpPr txBox="1"/>
          <p:nvPr/>
        </p:nvSpPr>
        <p:spPr>
          <a:xfrm>
            <a:off x="548640" y="777240"/>
            <a:ext cx="11064240" cy="914400"/>
          </a:xfrm>
          <a:prstGeom prst="rect">
            <a:avLst/>
          </a:prstGeom>
          <a:noFill/>
        </p:spPr>
        <p:txBody>
          <a:bodyPr wrap="square" lIns="0" rIns="0" tIns="0" bIns="0" anchor="t">
            <a:spAutoFit/>
          </a:bodyPr>
          <a:lstStyle/>
          <a:p>
            <a:pPr algn="l"/>
            <a:r>
              <a:rPr sz="3200" b="1" i="0">
                <a:solidFill>
                  <a:srgbClr val="0F1B2D"/>
                </a:solidFill>
                <a:latin typeface="Cambria"/>
              </a:rPr>
              <a:t>Target: ACL 2027 short paper, due January 4</a:t>
            </a:r>
          </a:p>
        </p:txBody>
      </p:sp>
      <p:sp>
        <p:nvSpPr>
          <p:cNvPr id="5" name="Rounded Rectangle 4"/>
          <p:cNvSpPr/>
          <p:nvPr/>
        </p:nvSpPr>
        <p:spPr>
          <a:xfrm>
            <a:off x="548640" y="2103120"/>
            <a:ext cx="2103120" cy="3108960"/>
          </a:xfrm>
          <a:prstGeom prst="roundRect">
            <a:avLst>
              <a:gd name="adj" fmla="val 8000"/>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286000"/>
            <a:ext cx="1737360" cy="457200"/>
          </a:xfrm>
          <a:prstGeom prst="rect">
            <a:avLst/>
          </a:prstGeom>
          <a:noFill/>
        </p:spPr>
        <p:txBody>
          <a:bodyPr wrap="square" lIns="0" rIns="0" tIns="0" bIns="0" anchor="t">
            <a:spAutoFit/>
          </a:bodyPr>
          <a:lstStyle/>
          <a:p>
            <a:pPr algn="l"/>
            <a:r>
              <a:rPr sz="2000" b="1" i="0">
                <a:solidFill>
                  <a:srgbClr val="2A9D8F"/>
                </a:solidFill>
                <a:latin typeface="Cambria"/>
              </a:rPr>
              <a:t>Oct 15-18</a:t>
            </a:r>
          </a:p>
        </p:txBody>
      </p:sp>
      <p:sp>
        <p:nvSpPr>
          <p:cNvPr id="7" name="TextBox 6"/>
          <p:cNvSpPr txBox="1"/>
          <p:nvPr/>
        </p:nvSpPr>
        <p:spPr>
          <a:xfrm>
            <a:off x="731520" y="2880360"/>
            <a:ext cx="1783080" cy="2194560"/>
          </a:xfrm>
          <a:prstGeom prst="rect">
            <a:avLst/>
          </a:prstGeom>
          <a:noFill/>
        </p:spPr>
        <p:txBody>
          <a:bodyPr wrap="square" lIns="0" rIns="0" tIns="0" bIns="0" anchor="t">
            <a:spAutoFit/>
          </a:bodyPr>
          <a:lstStyle/>
          <a:p>
            <a:pPr algn="l"/>
            <a:r>
              <a:rPr sz="1800" b="0" i="0">
                <a:solidFill>
                  <a:srgbClr val="24364F"/>
                </a:solidFill>
                <a:latin typeface="Calibri"/>
              </a:rPr>
              <a:t>Hand-label answers, fix judge, add controls</a:t>
            </a:r>
          </a:p>
        </p:txBody>
      </p:sp>
      <p:sp>
        <p:nvSpPr>
          <p:cNvPr id="8" name="Rounded Rectangle 7"/>
          <p:cNvSpPr/>
          <p:nvPr/>
        </p:nvSpPr>
        <p:spPr>
          <a:xfrm>
            <a:off x="2788920" y="2103120"/>
            <a:ext cx="2103120" cy="3108960"/>
          </a:xfrm>
          <a:prstGeom prst="roundRect">
            <a:avLst>
              <a:gd name="adj" fmla="val 8000"/>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71800" y="2286000"/>
            <a:ext cx="1737360" cy="457200"/>
          </a:xfrm>
          <a:prstGeom prst="rect">
            <a:avLst/>
          </a:prstGeom>
          <a:noFill/>
        </p:spPr>
        <p:txBody>
          <a:bodyPr wrap="square" lIns="0" rIns="0" tIns="0" bIns="0" anchor="t">
            <a:spAutoFit/>
          </a:bodyPr>
          <a:lstStyle/>
          <a:p>
            <a:pPr algn="l"/>
            <a:r>
              <a:rPr sz="2000" b="1" i="0">
                <a:solidFill>
                  <a:srgbClr val="2A9D8F"/>
                </a:solidFill>
                <a:latin typeface="Cambria"/>
              </a:rPr>
              <a:t>Oct 19-Nov 5</a:t>
            </a:r>
          </a:p>
        </p:txBody>
      </p:sp>
      <p:sp>
        <p:nvSpPr>
          <p:cNvPr id="10" name="TextBox 9"/>
          <p:cNvSpPr txBox="1"/>
          <p:nvPr/>
        </p:nvSpPr>
        <p:spPr>
          <a:xfrm>
            <a:off x="2971800" y="2880360"/>
            <a:ext cx="1783080" cy="2194560"/>
          </a:xfrm>
          <a:prstGeom prst="rect">
            <a:avLst/>
          </a:prstGeom>
          <a:noFill/>
        </p:spPr>
        <p:txBody>
          <a:bodyPr wrap="square" lIns="0" rIns="0" tIns="0" bIns="0" anchor="t">
            <a:spAutoFit/>
          </a:bodyPr>
          <a:lstStyle/>
          <a:p>
            <a:pPr algn="l"/>
            <a:r>
              <a:rPr sz="1800" b="0" i="0">
                <a:solidFill>
                  <a:srgbClr val="24364F"/>
                </a:solidFill>
                <a:latin typeface="Calibri"/>
              </a:rPr>
              <a:t>Rerun both pairs, steering controls, first draft</a:t>
            </a:r>
          </a:p>
        </p:txBody>
      </p:sp>
      <p:sp>
        <p:nvSpPr>
          <p:cNvPr id="11" name="Rounded Rectangle 10"/>
          <p:cNvSpPr/>
          <p:nvPr/>
        </p:nvSpPr>
        <p:spPr>
          <a:xfrm>
            <a:off x="5029200" y="2103120"/>
            <a:ext cx="2103120" cy="3108960"/>
          </a:xfrm>
          <a:prstGeom prst="roundRect">
            <a:avLst>
              <a:gd name="adj" fmla="val 8000"/>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2080" y="2286000"/>
            <a:ext cx="1737360" cy="457200"/>
          </a:xfrm>
          <a:prstGeom prst="rect">
            <a:avLst/>
          </a:prstGeom>
          <a:noFill/>
        </p:spPr>
        <p:txBody>
          <a:bodyPr wrap="square" lIns="0" rIns="0" tIns="0" bIns="0" anchor="t">
            <a:spAutoFit/>
          </a:bodyPr>
          <a:lstStyle/>
          <a:p>
            <a:pPr algn="l"/>
            <a:r>
              <a:rPr sz="2000" b="1" i="0">
                <a:solidFill>
                  <a:srgbClr val="2A9D8F"/>
                </a:solidFill>
                <a:latin typeface="Cambria"/>
              </a:rPr>
              <a:t>Nov 20</a:t>
            </a:r>
          </a:p>
        </p:txBody>
      </p:sp>
      <p:sp>
        <p:nvSpPr>
          <p:cNvPr id="13" name="TextBox 12"/>
          <p:cNvSpPr txBox="1"/>
          <p:nvPr/>
        </p:nvSpPr>
        <p:spPr>
          <a:xfrm>
            <a:off x="5212080" y="2880360"/>
            <a:ext cx="1783080" cy="2194560"/>
          </a:xfrm>
          <a:prstGeom prst="rect">
            <a:avLst/>
          </a:prstGeom>
          <a:noFill/>
        </p:spPr>
        <p:txBody>
          <a:bodyPr wrap="square" lIns="0" rIns="0" tIns="0" bIns="0" anchor="t">
            <a:spAutoFit/>
          </a:bodyPr>
          <a:lstStyle/>
          <a:p>
            <a:pPr algn="l"/>
            <a:r>
              <a:rPr sz="1800" b="0" i="0">
                <a:solidFill>
                  <a:srgbClr val="24364F"/>
                </a:solidFill>
                <a:latin typeface="Calibri"/>
              </a:rPr>
              <a:t>Optional: AAAI-27 workshop, 4 pages</a:t>
            </a:r>
          </a:p>
        </p:txBody>
      </p:sp>
      <p:sp>
        <p:nvSpPr>
          <p:cNvPr id="14" name="Rounded Rectangle 13"/>
          <p:cNvSpPr/>
          <p:nvPr/>
        </p:nvSpPr>
        <p:spPr>
          <a:xfrm>
            <a:off x="7269480" y="2103120"/>
            <a:ext cx="2103120" cy="3108960"/>
          </a:xfrm>
          <a:prstGeom prst="roundRect">
            <a:avLst>
              <a:gd name="adj" fmla="val 8000"/>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52360" y="2286000"/>
            <a:ext cx="1737360" cy="457200"/>
          </a:xfrm>
          <a:prstGeom prst="rect">
            <a:avLst/>
          </a:prstGeom>
          <a:noFill/>
        </p:spPr>
        <p:txBody>
          <a:bodyPr wrap="square" lIns="0" rIns="0" tIns="0" bIns="0" anchor="t">
            <a:spAutoFit/>
          </a:bodyPr>
          <a:lstStyle/>
          <a:p>
            <a:pPr algn="l"/>
            <a:r>
              <a:rPr sz="2000" b="1" i="0">
                <a:solidFill>
                  <a:srgbClr val="2A9D8F"/>
                </a:solidFill>
                <a:latin typeface="Cambria"/>
              </a:rPr>
              <a:t>Dec 20</a:t>
            </a:r>
          </a:p>
        </p:txBody>
      </p:sp>
      <p:sp>
        <p:nvSpPr>
          <p:cNvPr id="16" name="TextBox 15"/>
          <p:cNvSpPr txBox="1"/>
          <p:nvPr/>
        </p:nvSpPr>
        <p:spPr>
          <a:xfrm>
            <a:off x="7452360" y="2880360"/>
            <a:ext cx="1783080" cy="2194560"/>
          </a:xfrm>
          <a:prstGeom prst="rect">
            <a:avLst/>
          </a:prstGeom>
          <a:noFill/>
        </p:spPr>
        <p:txBody>
          <a:bodyPr wrap="square" lIns="0" rIns="0" tIns="0" bIns="0" anchor="t">
            <a:spAutoFit/>
          </a:bodyPr>
          <a:lstStyle/>
          <a:p>
            <a:pPr algn="l"/>
            <a:r>
              <a:rPr sz="1800" b="0" i="0">
                <a:solidFill>
                  <a:srgbClr val="24364F"/>
                </a:solidFill>
                <a:latin typeface="Calibri"/>
              </a:rPr>
              <a:t>n=100 per scenario, third model family, full draft</a:t>
            </a:r>
          </a:p>
        </p:txBody>
      </p:sp>
      <p:sp>
        <p:nvSpPr>
          <p:cNvPr id="17" name="Rounded Rectangle 16"/>
          <p:cNvSpPr/>
          <p:nvPr/>
        </p:nvSpPr>
        <p:spPr>
          <a:xfrm>
            <a:off x="9509760" y="2103120"/>
            <a:ext cx="2103120" cy="3108960"/>
          </a:xfrm>
          <a:prstGeom prst="roundRect">
            <a:avLst>
              <a:gd name="adj" fmla="val 8000"/>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0" y="2286000"/>
            <a:ext cx="1737360" cy="457200"/>
          </a:xfrm>
          <a:prstGeom prst="rect">
            <a:avLst/>
          </a:prstGeom>
          <a:noFill/>
        </p:spPr>
        <p:txBody>
          <a:bodyPr wrap="square" lIns="0" rIns="0" tIns="0" bIns="0" anchor="t">
            <a:spAutoFit/>
          </a:bodyPr>
          <a:lstStyle/>
          <a:p>
            <a:pPr algn="l"/>
            <a:r>
              <a:rPr sz="2000" b="1" i="0">
                <a:solidFill>
                  <a:srgbClr val="D1495B"/>
                </a:solidFill>
                <a:latin typeface="Cambria"/>
              </a:rPr>
              <a:t>Jan 4</a:t>
            </a:r>
          </a:p>
        </p:txBody>
      </p:sp>
      <p:sp>
        <p:nvSpPr>
          <p:cNvPr id="19" name="TextBox 18"/>
          <p:cNvSpPr txBox="1"/>
          <p:nvPr/>
        </p:nvSpPr>
        <p:spPr>
          <a:xfrm>
            <a:off x="9692640" y="2880360"/>
            <a:ext cx="1783080" cy="2194560"/>
          </a:xfrm>
          <a:prstGeom prst="rect">
            <a:avLst/>
          </a:prstGeom>
          <a:noFill/>
        </p:spPr>
        <p:txBody>
          <a:bodyPr wrap="square" lIns="0" rIns="0" tIns="0" bIns="0" anchor="t">
            <a:spAutoFit/>
          </a:bodyPr>
          <a:lstStyle/>
          <a:p>
            <a:pPr algn="l"/>
            <a:r>
              <a:rPr sz="1800" b="0" i="0">
                <a:solidFill>
                  <a:srgbClr val="24364F"/>
                </a:solidFill>
                <a:latin typeface="Calibri"/>
              </a:rPr>
              <a:t>Submit via ACL Rolling Review</a:t>
            </a:r>
          </a:p>
        </p:txBody>
      </p:sp>
      <p:sp>
        <p:nvSpPr>
          <p:cNvPr id="20" name="TextBox 19"/>
          <p:cNvSpPr txBox="1"/>
          <p:nvPr/>
        </p:nvSpPr>
        <p:spPr>
          <a:xfrm>
            <a:off x="548640" y="5577840"/>
            <a:ext cx="10972800" cy="457200"/>
          </a:xfrm>
          <a:prstGeom prst="rect">
            <a:avLst/>
          </a:prstGeom>
          <a:noFill/>
        </p:spPr>
        <p:txBody>
          <a:bodyPr wrap="square" lIns="0" rIns="0" tIns="0" bIns="0" anchor="t">
            <a:spAutoFit/>
          </a:bodyPr>
          <a:lstStyle/>
          <a:p>
            <a:pPr algn="l"/>
            <a:r>
              <a:rPr sz="1700" b="1" i="0">
                <a:solidFill>
                  <a:srgbClr val="0F1B2D"/>
                </a:solidFill>
                <a:latin typeface="Calibri"/>
              </a:rPr>
              <a:t>Fallbacks: TMLR (rolling, reviews correctness); workshops listed Feb 2027.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B2D"/>
        </a:solidFill>
        <a:effectLst/>
      </p:bgPr>
    </p:bg>
    <p:spTree>
      <p:nvGrpSpPr>
        <p:cNvPr id="1" name=""/>
        <p:cNvGrpSpPr/>
        <p:nvPr/>
      </p:nvGrpSpPr>
      <p:grpSpPr/>
      <p:sp>
        <p:nvSpPr>
          <p:cNvPr id="2" name="TextBox 1"/>
          <p:cNvSpPr txBox="1"/>
          <p:nvPr/>
        </p:nvSpPr>
        <p:spPr>
          <a:xfrm>
            <a:off x="11247120" y="6355080"/>
            <a:ext cx="640080" cy="320040"/>
          </a:xfrm>
          <a:prstGeom prst="rect">
            <a:avLst/>
          </a:prstGeom>
          <a:noFill/>
        </p:spPr>
        <p:txBody>
          <a:bodyPr wrap="square" lIns="0" rIns="0" tIns="0" bIns="0" anchor="t">
            <a:spAutoFit/>
          </a:bodyPr>
          <a:lstStyle/>
          <a:p>
            <a:pPr algn="r"/>
            <a:r>
              <a:rPr sz="1200" b="0" i="0">
                <a:solidFill>
                  <a:srgbClr val="8A97A8"/>
                </a:solidFill>
                <a:latin typeface="Calibri"/>
              </a:rPr>
              <a:t>13</a:t>
            </a:r>
          </a:p>
        </p:txBody>
      </p:sp>
      <p:sp>
        <p:nvSpPr>
          <p:cNvPr id="3" name="Rounded Rectangle 2"/>
          <p:cNvSpPr/>
          <p:nvPr/>
        </p:nvSpPr>
        <p:spPr>
          <a:xfrm>
            <a:off x="548640" y="347472"/>
            <a:ext cx="1609344" cy="310896"/>
          </a:xfrm>
          <a:prstGeom prst="roundRect">
            <a:avLst>
              <a:gd name="adj" fmla="val 50000"/>
            </a:avLst>
          </a:prstGeom>
          <a:solidFill>
            <a:srgbClr val="F2A33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00" b="1">
                <a:solidFill>
                  <a:srgbClr val="0F1B2D"/>
                </a:solidFill>
                <a:latin typeface="Calibri"/>
              </a:rPr>
              <a:t>DECISIONS</a:t>
            </a:r>
          </a:p>
        </p:txBody>
      </p:sp>
      <p:sp>
        <p:nvSpPr>
          <p:cNvPr id="4" name="TextBox 3"/>
          <p:cNvSpPr txBox="1"/>
          <p:nvPr/>
        </p:nvSpPr>
        <p:spPr>
          <a:xfrm>
            <a:off x="548640" y="777240"/>
            <a:ext cx="11064240" cy="914400"/>
          </a:xfrm>
          <a:prstGeom prst="rect">
            <a:avLst/>
          </a:prstGeom>
          <a:noFill/>
        </p:spPr>
        <p:txBody>
          <a:bodyPr wrap="square" lIns="0" rIns="0" tIns="0" bIns="0" anchor="t">
            <a:spAutoFit/>
          </a:bodyPr>
          <a:lstStyle/>
          <a:p>
            <a:pPr algn="l"/>
            <a:r>
              <a:rPr sz="3200" b="1" i="0">
                <a:solidFill>
                  <a:srgbClr val="FFFFFF"/>
                </a:solidFill>
                <a:latin typeface="Cambria"/>
              </a:rPr>
              <a:t>What we need from you</a:t>
            </a:r>
          </a:p>
        </p:txBody>
      </p:sp>
      <p:sp>
        <p:nvSpPr>
          <p:cNvPr id="5" name="Oval 4"/>
          <p:cNvSpPr/>
          <p:nvPr/>
        </p:nvSpPr>
        <p:spPr>
          <a:xfrm>
            <a:off x="548640" y="1920240"/>
            <a:ext cx="548640" cy="548640"/>
          </a:xfrm>
          <a:prstGeom prst="ellipse">
            <a:avLst/>
          </a:prstGeom>
          <a:solidFill>
            <a:srgbClr val="F2A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920240"/>
            <a:ext cx="548640" cy="548640"/>
          </a:xfrm>
          <a:prstGeom prst="rect">
            <a:avLst/>
          </a:prstGeom>
          <a:noFill/>
        </p:spPr>
        <p:txBody>
          <a:bodyPr wrap="square" lIns="0" rIns="0" tIns="0" bIns="0" anchor="ctr">
            <a:spAutoFit/>
          </a:bodyPr>
          <a:lstStyle/>
          <a:p>
            <a:pPr algn="ctr"/>
            <a:r>
              <a:rPr sz="2200" b="1" i="0">
                <a:solidFill>
                  <a:srgbClr val="0F1B2D"/>
                </a:solidFill>
                <a:latin typeface="Calibri"/>
              </a:rPr>
              <a:t>1</a:t>
            </a:r>
          </a:p>
        </p:txBody>
      </p:sp>
      <p:sp>
        <p:nvSpPr>
          <p:cNvPr id="7" name="TextBox 6"/>
          <p:cNvSpPr txBox="1"/>
          <p:nvPr/>
        </p:nvSpPr>
        <p:spPr>
          <a:xfrm>
            <a:off x="1371600" y="1901952"/>
            <a:ext cx="10241280" cy="822960"/>
          </a:xfrm>
          <a:prstGeom prst="rect">
            <a:avLst/>
          </a:prstGeom>
          <a:noFill/>
        </p:spPr>
        <p:txBody>
          <a:bodyPr wrap="square" lIns="0" rIns="0" tIns="0" bIns="0" anchor="ctr">
            <a:spAutoFit/>
          </a:bodyPr>
          <a:lstStyle/>
          <a:p>
            <a:pPr algn="l"/>
            <a:r>
              <a:rPr sz="2400" b="0" i="0">
                <a:solidFill>
                  <a:srgbClr val="FFFFFF"/>
                </a:solidFill>
                <a:latin typeface="Calibri"/>
              </a:rPr>
              <a:t>Claim framing: channel coupling and the typographic channel, not steering novelty</a:t>
            </a:r>
          </a:p>
        </p:txBody>
      </p:sp>
      <p:sp>
        <p:nvSpPr>
          <p:cNvPr id="8" name="Oval 7"/>
          <p:cNvSpPr/>
          <p:nvPr/>
        </p:nvSpPr>
        <p:spPr>
          <a:xfrm>
            <a:off x="548640" y="2944368"/>
            <a:ext cx="548640" cy="548640"/>
          </a:xfrm>
          <a:prstGeom prst="ellipse">
            <a:avLst/>
          </a:prstGeom>
          <a:solidFill>
            <a:srgbClr val="F2A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2944368"/>
            <a:ext cx="548640" cy="548640"/>
          </a:xfrm>
          <a:prstGeom prst="rect">
            <a:avLst/>
          </a:prstGeom>
          <a:noFill/>
        </p:spPr>
        <p:txBody>
          <a:bodyPr wrap="square" lIns="0" rIns="0" tIns="0" bIns="0" anchor="ctr">
            <a:spAutoFit/>
          </a:bodyPr>
          <a:lstStyle/>
          <a:p>
            <a:pPr algn="ctr"/>
            <a:r>
              <a:rPr sz="2200" b="1" i="0">
                <a:solidFill>
                  <a:srgbClr val="0F1B2D"/>
                </a:solidFill>
                <a:latin typeface="Calibri"/>
              </a:rPr>
              <a:t>2</a:t>
            </a:r>
          </a:p>
        </p:txBody>
      </p:sp>
      <p:sp>
        <p:nvSpPr>
          <p:cNvPr id="10" name="TextBox 9"/>
          <p:cNvSpPr txBox="1"/>
          <p:nvPr/>
        </p:nvSpPr>
        <p:spPr>
          <a:xfrm>
            <a:off x="1371600" y="2926080"/>
            <a:ext cx="10241280" cy="822960"/>
          </a:xfrm>
          <a:prstGeom prst="rect">
            <a:avLst/>
          </a:prstGeom>
          <a:noFill/>
        </p:spPr>
        <p:txBody>
          <a:bodyPr wrap="square" lIns="0" rIns="0" tIns="0" bIns="0" anchor="ctr">
            <a:spAutoFit/>
          </a:bodyPr>
          <a:lstStyle/>
          <a:p>
            <a:pPr algn="l"/>
            <a:r>
              <a:rPr sz="2400" b="0" i="0">
                <a:solidFill>
                  <a:srgbClr val="FFFFFF"/>
                </a:solidFill>
                <a:latin typeface="Calibri"/>
              </a:rPr>
              <a:t>Target venue: ACL 2027 short paper, with an optional November workshop version</a:t>
            </a:r>
          </a:p>
        </p:txBody>
      </p:sp>
      <p:sp>
        <p:nvSpPr>
          <p:cNvPr id="11" name="Oval 10"/>
          <p:cNvSpPr/>
          <p:nvPr/>
        </p:nvSpPr>
        <p:spPr>
          <a:xfrm>
            <a:off x="548640" y="3968496"/>
            <a:ext cx="548640" cy="548640"/>
          </a:xfrm>
          <a:prstGeom prst="ellipse">
            <a:avLst/>
          </a:prstGeom>
          <a:solidFill>
            <a:srgbClr val="F2A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3968496"/>
            <a:ext cx="548640" cy="548640"/>
          </a:xfrm>
          <a:prstGeom prst="rect">
            <a:avLst/>
          </a:prstGeom>
          <a:noFill/>
        </p:spPr>
        <p:txBody>
          <a:bodyPr wrap="square" lIns="0" rIns="0" tIns="0" bIns="0" anchor="ctr">
            <a:spAutoFit/>
          </a:bodyPr>
          <a:lstStyle/>
          <a:p>
            <a:pPr algn="ctr"/>
            <a:r>
              <a:rPr sz="2200" b="1" i="0">
                <a:solidFill>
                  <a:srgbClr val="0F1B2D"/>
                </a:solidFill>
                <a:latin typeface="Calibri"/>
              </a:rPr>
              <a:t>3</a:t>
            </a:r>
          </a:p>
        </p:txBody>
      </p:sp>
      <p:sp>
        <p:nvSpPr>
          <p:cNvPr id="13" name="TextBox 12"/>
          <p:cNvSpPr txBox="1"/>
          <p:nvPr/>
        </p:nvSpPr>
        <p:spPr>
          <a:xfrm>
            <a:off x="1371600" y="3950208"/>
            <a:ext cx="10241280" cy="822960"/>
          </a:xfrm>
          <a:prstGeom prst="rect">
            <a:avLst/>
          </a:prstGeom>
          <a:noFill/>
        </p:spPr>
        <p:txBody>
          <a:bodyPr wrap="square" lIns="0" rIns="0" tIns="0" bIns="0" anchor="ctr">
            <a:spAutoFit/>
          </a:bodyPr>
          <a:lstStyle/>
          <a:p>
            <a:pPr algn="l"/>
            <a:r>
              <a:rPr sz="2400" b="0" i="0">
                <a:solidFill>
                  <a:srgbClr val="FFFFFF"/>
                </a:solidFill>
                <a:latin typeface="Calibri"/>
              </a:rPr>
              <a:t>Scope: does no-training activation steering fit the 'no heavy training' rule?</a:t>
            </a:r>
          </a:p>
        </p:txBody>
      </p:sp>
      <p:sp>
        <p:nvSpPr>
          <p:cNvPr id="14" name="Oval 13"/>
          <p:cNvSpPr/>
          <p:nvPr/>
        </p:nvSpPr>
        <p:spPr>
          <a:xfrm>
            <a:off x="548640" y="4992624"/>
            <a:ext cx="548640" cy="548640"/>
          </a:xfrm>
          <a:prstGeom prst="ellipse">
            <a:avLst/>
          </a:prstGeom>
          <a:solidFill>
            <a:srgbClr val="F2A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4992624"/>
            <a:ext cx="548640" cy="548640"/>
          </a:xfrm>
          <a:prstGeom prst="rect">
            <a:avLst/>
          </a:prstGeom>
          <a:noFill/>
        </p:spPr>
        <p:txBody>
          <a:bodyPr wrap="square" lIns="0" rIns="0" tIns="0" bIns="0" anchor="ctr">
            <a:spAutoFit/>
          </a:bodyPr>
          <a:lstStyle/>
          <a:p>
            <a:pPr algn="ctr"/>
            <a:r>
              <a:rPr sz="2200" b="1" i="0">
                <a:solidFill>
                  <a:srgbClr val="0F1B2D"/>
                </a:solidFill>
                <a:latin typeface="Calibri"/>
              </a:rPr>
              <a:t>4</a:t>
            </a:r>
          </a:p>
        </p:txBody>
      </p:sp>
      <p:sp>
        <p:nvSpPr>
          <p:cNvPr id="16" name="TextBox 15"/>
          <p:cNvSpPr txBox="1"/>
          <p:nvPr/>
        </p:nvSpPr>
        <p:spPr>
          <a:xfrm>
            <a:off x="1371600" y="4974336"/>
            <a:ext cx="10241280" cy="822960"/>
          </a:xfrm>
          <a:prstGeom prst="rect">
            <a:avLst/>
          </a:prstGeom>
          <a:noFill/>
        </p:spPr>
        <p:txBody>
          <a:bodyPr wrap="square" lIns="0" rIns="0" tIns="0" bIns="0" anchor="ctr">
            <a:spAutoFit/>
          </a:bodyPr>
          <a:lstStyle/>
          <a:p>
            <a:pPr algn="l"/>
            <a:r>
              <a:rPr sz="2400" b="0" i="0">
                <a:solidFill>
                  <a:srgbClr val="FFFFFF"/>
                </a:solidFill>
                <a:latin typeface="Calibri"/>
              </a:rPr>
              <a:t>Process: authorship order, and an arXiv endorsement for a first-time submitter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
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7" r:id="rId5"/>
    <p:sldId id="270" r:id="rId6"/>
    <p:sldId id="271" r:id="rId7"/>
    <p:sldId id="259" r:id="rId8"/>
    <p:sldId id="260" r:id="rId9"/>
    <p:sldId id="261" r:id="rId10"/>
    <p:sldId id="262" r:id="rId11"/>
    <p:sldId id="263" r:id="rId12"/>
    <p:sldId id="26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56"/>
    <p:restoredTop sz="68619"/>
  </p:normalViewPr>
  <p:slideViewPr>
    <p:cSldViewPr snapToGrid="0" snapToObjects="1">
      <p:cViewPr varScale="1">
        <p:scale>
          <a:sx n="101" d="100"/>
          <a:sy n="101" d="100"/>
        </p:scale>
        <p:origin x="208" y="3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770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We tested how open vision-language models respond when requests are written in chat or represented in images. We then added controls to find out which part of the change mattered. Today I will show what we actually observed and what remains uncertain.</a:t>
            </a:r>
          </a:p>
          <a:p>
            <a:endParaRPr dirty="0"/>
          </a:p>
          <a:p>
            <a:r>
              <a:rPr dirty="0"/>
              <a:t>WHAT THIS MEANS</a:t>
            </a:r>
          </a:p>
          <a:p>
            <a:r>
              <a:rPr dirty="0"/>
              <a:t>These are exploratory findings. We have working experiments and useful negative results, but no established novel general claim yet. The new 64-unit review is the next evidence step.</a:t>
            </a:r>
          </a:p>
          <a:p>
            <a:endParaRPr dirty="0"/>
          </a:p>
          <a:p>
            <a:r>
              <a:rPr dirty="0"/>
              <a:t>IF THE PROFESSOR ASKS FOR THE TECHNICAL DETAIL</a:t>
            </a:r>
          </a:p>
          <a:p>
            <a:endParaRPr dirty="0"/>
          </a:p>
          <a:p>
            <a:endParaRPr dirty="0"/>
          </a:p>
          <a:p>
            <a:r>
              <a:rPr dirty="0"/>
              <a:t>Which text-image safety findings survive careful measurement?</a:t>
            </a:r>
          </a:p>
          <a:p>
            <a:r>
              <a:rPr dirty="0"/>
              <a:t>Opening: We began with a proposed safety trade-off between text and vision. That simple prediction did not hold in our exploratory tests. We then asked a more practical question: when the same model behaves differently for text and an image, what part comes from the image, the instruction, and the measurement? This talk traces the experiments and the corrections, including failures. The purpose is to agree on a defensible contribution and next evidence step, not to announce a finished novel result.</a:t>
            </a:r>
          </a:p>
          <a:p>
            <a:endParaRPr dirty="0"/>
          </a:p>
          <a:p>
            <a:r>
              <a:rPr dirty="0"/>
              <a:t>We have evidence; we do not yet have a validated novelty claim</a:t>
            </a:r>
          </a:p>
          <a:p>
            <a:r>
              <a:rPr dirty="0"/>
              <a:t>Say what succeeded without implying every hypothesis passed. We built reliable collection and review tooling, tested controls and recorded negative results. Publication novelty is a separate question from whether code ran successfully. The 64 units are not 64 independent generations: they are two windows of 32 generated answers.</a:t>
            </a:r>
          </a:p>
          <a:p>
            <a:endParaRPr dirty="0"/>
          </a:p>
          <a:p>
            <a:r>
              <a:rPr dirty="0"/>
              <a:t>The original idea evolved after testing</a:t>
            </a:r>
          </a:p>
          <a:p>
            <a:r>
              <a:rPr dirty="0"/>
              <a:t>The original advisor framing was a trade-off. The saved correlations and steering experiment do not support that simple zero-sum account. This is limited evidence, not proof that no trade-off can exist. Positive correlation does not prove a shared internal mechanism. The research pivot is from a broad mechanistic story to a controlled measurement question.</a:t>
            </a:r>
          </a:p>
          <a:p>
            <a:endParaRPr dirty="0"/>
          </a:p>
          <a:p>
            <a:r>
              <a:rPr dirty="0"/>
              <a:t>Source: Status sections 1–3 and 17–18</a:t>
            </a:r>
          </a:p>
          <a:p>
            <a:endParaRPr dirty="0"/>
          </a:p>
          <a:p>
            <a:r>
              <a:rPr dirty="0"/>
              <a:t>Evidence status: RESEARCH PROGRESS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Think of the answering models as the students and the judges as the markers. Qwen3Guard is one marker; it is not Qwen2.5, the model answering our questions. I am checking whether the markers interpret the answers appropriately.</a:t>
            </a:r>
          </a:p>
          <a:p>
            <a:endParaRPr dirty="0"/>
          </a:p>
          <a:p>
            <a:r>
              <a:rPr dirty="0"/>
              <a:t>WHAT THIS MEANS</a:t>
            </a:r>
          </a:p>
          <a:p>
            <a:r>
              <a:rPr dirty="0"/>
              <a:t>The first human review covered 48 answers and received LLM help on some examples. It was not fully independent. A new 64-unit review is pending. No model is trained during these experiments.</a:t>
            </a:r>
          </a:p>
          <a:p>
            <a:endParaRPr dirty="0"/>
          </a:p>
          <a:p>
            <a:r>
              <a:rPr dirty="0"/>
              <a:t>IF THE PROFESSOR ASKS FOR THE TECHNICAL DETAIL</a:t>
            </a:r>
          </a:p>
          <a:p>
            <a:endParaRPr dirty="0"/>
          </a:p>
          <a:p>
            <a:endParaRPr dirty="0"/>
          </a:p>
          <a:p>
            <a:r>
              <a:rPr dirty="0"/>
              <a:t>The main historical scientific panel has three VLMs</a:t>
            </a:r>
          </a:p>
          <a:p>
            <a:r>
              <a:rPr dirty="0"/>
              <a:t>State the actual model names and data scope. MM-</a:t>
            </a:r>
            <a:r>
              <a:rPr dirty="0" err="1"/>
              <a:t>SafetyBench</a:t>
            </a:r>
            <a:r>
              <a:rPr dirty="0"/>
              <a:t> and </a:t>
            </a:r>
            <a:r>
              <a:rPr dirty="0" err="1"/>
              <a:t>FigStep</a:t>
            </a:r>
            <a:r>
              <a:rPr dirty="0"/>
              <a:t> provide the benchmark material; our intervention comparisons and scoring protocol are project choices. Historical batch eight differs from the new batch-one development runs, and </a:t>
            </a:r>
            <a:r>
              <a:rPr dirty="0" err="1"/>
              <a:t>LLaVA</a:t>
            </a:r>
            <a:r>
              <a:rPr dirty="0"/>
              <a:t> uses a different precision/preprocessing setup. Judge parse denominators were not fully exported in all v6 cells, so nominal item counts cannot always be called valid-label counts.</a:t>
            </a:r>
          </a:p>
          <a:p>
            <a:endParaRPr dirty="0"/>
          </a:p>
          <a:p>
            <a:r>
              <a:rPr dirty="0"/>
              <a:t>v7 broadened the attempted panel, not the safety evidence</a:t>
            </a:r>
          </a:p>
          <a:p>
            <a:r>
              <a:rPr dirty="0"/>
              <a:t>We did not pretend every download was a successful model test. Three completed, two partial, three failed before responses. Numerical failures are configuration-specific, not evidence that those models can never work. SmolVLM2 image token count stayed fixed in the requested size arm, so that manipulation did not identify a token-dose effect. Failure archives are engineering findings, not safety rates.</a:t>
            </a:r>
          </a:p>
          <a:p>
            <a:endParaRPr dirty="0"/>
          </a:p>
          <a:p>
            <a:r>
              <a:rPr dirty="0"/>
              <a:t>The first 48-answer review agrees on refusal, not all harm</a:t>
            </a:r>
          </a:p>
          <a:p>
            <a:r>
              <a:rPr dirty="0"/>
              <a:t>Reviewer A received LLM assistance on some examples in the project chat, so the original review cannot be described as fully independent. Reviewer B was GPT-6.1-Sol, user-confirmed; exact backend revision and generation settings are unavailable. Among the 31 resolved comprehension labels all are understanding, which makes a binary kappa undefined rather than perfect reliability. We have not selectively overwritten the seven harm labels to improve a headline result.</a:t>
            </a:r>
          </a:p>
          <a:p>
            <a:endParaRPr dirty="0"/>
          </a:p>
          <a:p>
            <a:r>
              <a:rPr dirty="0"/>
              <a:t>Appendix / human review protocol and its limits</a:t>
            </a:r>
          </a:p>
          <a:p>
            <a:r>
              <a:rPr dirty="0"/>
              <a:t>The currently open new </a:t>
            </a:r>
            <a:r>
              <a:rPr dirty="0" err="1"/>
              <a:t>reviewer_A_PRIVATE.html</a:t>
            </a:r>
            <a:r>
              <a:rPr dirty="0"/>
              <a:t>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dirty="0"/>
          </a:p>
          <a:p>
            <a:r>
              <a:rPr dirty="0"/>
              <a:t>Source: Historical model panel; Guard7; status section 15</a:t>
            </a:r>
          </a:p>
          <a:p>
            <a:endParaRPr dirty="0"/>
          </a:p>
          <a:p>
            <a:r>
              <a:rPr dirty="0"/>
              <a:t>Evidence status: RESEARCH PROGRESS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Many benchmark requests concern potentially harmful activities. Refusal is whether the model declines that requested help. But refusing and avoiding harmful assistance are different: an answer may refuse and still include harmful information, or answer safely without refusing.</a:t>
            </a:r>
          </a:p>
          <a:p>
            <a:endParaRPr dirty="0"/>
          </a:p>
          <a:p>
            <a:r>
              <a:rPr dirty="0"/>
              <a:t>WHAT THIS MEANS</a:t>
            </a:r>
          </a:p>
          <a:p>
            <a:r>
              <a:rPr dirty="0"/>
              <a:t>We must keep the three measurements separate. A lower refusal rate is not automatically better performance or greater harm. We judge only the visible answer, not an imagined continuation.</a:t>
            </a:r>
          </a:p>
          <a:p>
            <a:endParaRPr dirty="0"/>
          </a:p>
          <a:p>
            <a:r>
              <a:rPr dirty="0"/>
              <a:t>IF THE PROFESSOR ASKS FOR THE TECHNICAL DETAIL</a:t>
            </a:r>
          </a:p>
          <a:p>
            <a:endParaRPr dirty="0"/>
          </a:p>
          <a:p>
            <a:endParaRPr dirty="0"/>
          </a:p>
          <a:p>
            <a:r>
              <a:rPr dirty="0"/>
              <a:t>Reading, refusal and harmful assistance are different axes</a:t>
            </a:r>
          </a:p>
          <a:p>
            <a:r>
              <a:rPr dirty="0"/>
              <a:t>In v6 Qwen2, image refusal was 15.1% while the unsafe rate was 55.9%, demonstrating that the metrics are not complements. Refusal and harmful information may even coexist in an answer. The new rubric allows uncertainty instead of inventing understanding from a generic refusal. Separate readback shows perceptual capability on that call, not latent comprehension during answering.</a:t>
            </a:r>
          </a:p>
          <a:p>
            <a:endParaRPr dirty="0"/>
          </a:p>
          <a:p>
            <a:r>
              <a:rPr dirty="0"/>
              <a:t>Appendix / human review protocol and its limits</a:t>
            </a:r>
          </a:p>
          <a:p>
            <a:r>
              <a:rPr dirty="0"/>
              <a:t>The currently open new </a:t>
            </a:r>
            <a:r>
              <a:rPr dirty="0" err="1"/>
              <a:t>reviewer_A_PRIVATE.html</a:t>
            </a:r>
            <a:r>
              <a:rPr dirty="0"/>
              <a:t>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dirty="0"/>
          </a:p>
          <a:p>
            <a:r>
              <a:rPr dirty="0"/>
              <a:t>Source: Window review rubric; P3/P6</a:t>
            </a:r>
          </a:p>
          <a:p>
            <a:endParaRPr dirty="0"/>
          </a:p>
          <a:p>
            <a:r>
              <a:rPr dirty="0"/>
              <a:t>Evidence status: RESEARCH PROGRESS</a:t>
            </a:r>
          </a:p>
          <a:p>
            <a:r>
              <a:rPr dirty="0"/>
              <a:t>P3: MSTS, arXiv:2501.10057v1, sections 3.4 / 4.2 / 4.5-4.6 | https://</a:t>
            </a:r>
            <a:r>
              <a:rPr dirty="0" err="1"/>
              <a:t>arxiv.org</a:t>
            </a:r>
            <a:r>
              <a:rPr dirty="0"/>
              <a:t>/html/2501.10057v1</a:t>
            </a:r>
          </a:p>
          <a:p>
            <a:r>
              <a:rPr dirty="0"/>
              <a:t>P6: </a:t>
            </a:r>
            <a:r>
              <a:rPr dirty="0" err="1"/>
              <a:t>StrongREJECT</a:t>
            </a:r>
            <a:r>
              <a:rPr dirty="0"/>
              <a:t>, arXiv:2402.10260v2, sections 2.2 / 3.1 / Appendix C.4 | https://</a:t>
            </a:r>
            <a:r>
              <a:rPr dirty="0" err="1"/>
              <a:t>arxiv.org</a:t>
            </a:r>
            <a:r>
              <a:rPr dirty="0"/>
              <a:t>/html/2402.10260v2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a:t>
            </a:r>
          </a:p>
          <a:p>
            <a:r>
              <a:t>Typography means printed text in a picture. A text ablation means replacing the picture-carried instruction with text to see what changes. Text equivalence means expressing approximately the same request without the image. A human taxonomy is a set of categories people use to label answers.</a:t>
            </a:r>
          </a:p>
          <a:p>
            <a:endParaRPr/>
          </a:p>
          <a:p>
            <a:r>
              <a:t>WHAT THIS MEANS</a:t>
            </a:r>
          </a:p>
          <a:p>
            <a:r>
              <a:t>Replicate means repeat a published comparison in our setup; adapt means modify it for our models or experimental design. We credit the original idea and ask whether we learn something consequential beyond it. The separate reliability papers also show why judges and human reference labels need scrutiny.</a:t>
            </a:r>
          </a:p>
          <a:p>
            <a:endParaRPr/>
          </a:p>
          <a:p>
            <a:r>
              <a:t>IF THE PROFESSOR ASKS FOR THE TECHNICAL DETAIL</a:t>
            </a:r>
          </a:p>
          <a:p>
            <a:endParaRPr/>
          </a:p>
          <a:p>
            <a:endParaRPr/>
          </a:p>
          <a:p>
            <a:r>
              <a:t>Closest prior work already covers the easy novelty claims</a:t>
            </a:r>
          </a:p>
          <a:p>
            <a:r>
              <a:t>Read this as an overlap map rather than a list of papers we copied. The benchmark material and core control ideas are credited; our experimental question asks whether a concrete paired conclusion survives these choices. Focused method and appendix checks are documented, but we have not exhaustively read all VLM safety literature or proven absence of prior work. No first claim is justified. Paper versions and supporting sections appear in the reference appendix.</a:t>
            </a:r>
          </a:p>
          <a:p>
            <a:endParaRPr/>
          </a:p>
          <a:p>
            <a:r>
              <a:t>Measurement reliability also has strong predecessors</a:t>
            </a:r>
          </a:p>
          <a:p>
            <a:r>
              <a:t>Do not sell a new rubric or a new understanding-adjusted metric simply because we wrote implementation code. StrongREJECT has a different scoring construction from our independent axes, so it is a comparator rather than an automatically interchangeable judge. EviSafe warns about conditional measurement hiding recognition failures. Our domain-specific denominator example must be positioned against these known concerns.</a:t>
            </a:r>
          </a:p>
          <a:p>
            <a:endParaRPr/>
          </a:p>
          <a:p>
            <a:r>
              <a:t>Appendix / verified references: controls and carriers</a:t>
            </a:r>
          </a:p>
          <a:p>
            <a:r>
              <a:t>These are the primary sources used to delimit claims in the main talk. URLs and exact sections are included here and in the speaking guide. The source register distinguishes focused method reads from screening. MM-SafetyBench metadata is used only for dataset provenance on these slides; no unverified new benchmark claim is imported.</a:t>
            </a:r>
          </a:p>
          <a:p>
            <a:endParaRPr/>
          </a:p>
          <a:p>
            <a:r>
              <a:t>Appendix / verified references: measurement and human evidence</a:t>
            </a:r>
          </a:p>
          <a:p>
            <a:r>
              <a:t>These are the primary sources used to delimit claims in the main talk. URLs and exact sections are included here and in the speaking guide. The source register distinguishes focused method reads from screening. MM-SafetyBench metadata is used only for dataset provenance on these slides; no unverified new benchmark claim is imported.</a:t>
            </a:r>
          </a:p>
          <a:p>
            <a:endParaRPr/>
          </a:p>
          <a:p>
            <a:r>
              <a:t>Source: P1/P2/P3/P4; novelty audit sections 12–14</a:t>
            </a:r>
          </a:p>
          <a:p>
            <a:endParaRPr/>
          </a:p>
          <a:p>
            <a:r>
              <a:t>Evidence status: RESEARCH PROGRESS</a:t>
            </a:r>
          </a:p>
          <a:p>
            <a:r>
              <a:t>P1: FigStep, arXiv:2311.05608v3, section 6.4 / Table 2 | https://arxiv.org/html/2311.05608v3#S6.SS4</a:t>
            </a:r>
          </a:p>
          <a:p>
            <a:r>
              <a:t>P2: MMJailBench, arXiv:2608.25490v1, sections 3-5; Appendix B.3 / C | https://arxiv.org/html/2608.25490v1</a:t>
            </a:r>
          </a:p>
          <a:p>
            <a:r>
              <a:t>P3: MSTS, arXiv:2501.10057v1, sections 3.4 / 4.2 / 4.5-4.6 | https://arxiv.org/html/2501.10057v1</a:t>
            </a:r>
          </a:p>
          <a:p>
            <a:r>
              <a:t>P4: The Uncontrolled Variable, arXiv:2609.26174v2, sections 2-4 / Appendix S29 | https://arxiv.org/html/2609.26174v2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a:t>
            </a:r>
          </a:p>
          <a:p>
            <a:r>
              <a:t>These papers establish ideas that overlap with our controls. The graphs show our own tests of those ideas. We used FigStep data and text comparisons, crossed instructions with text/image presentation, separated reading from response judgments, and tested unrelated images. We did not reproduce the four papers end to end.</a:t>
            </a:r>
          </a:p>
          <a:p>
            <a:endParaRPr/>
          </a:p>
          <a:p>
            <a:r>
              <a:t>WHAT THIS MEANS</a:t>
            </a:r>
          </a:p>
          <a:p>
            <a:r>
              <a:t>The FigStep benchmark results are historical and separate from the MM-SafetyBench chart on slide 5. We did not run the MSTS dataset. Agreement between our reviewer and an auxiliary LLM is not a completed independent human audit or a replication of the prior attachment paper’s error validation. Our implementation includes matched comparisons, exact caches, token-prefix/full evaluation and review tooling; implementing them does not establish scientific novelty.</a:t>
            </a:r>
          </a:p>
          <a:p>
            <a:endParaRPr/>
          </a:p>
          <a:p>
            <a:r>
              <a:t>IF THE PROFESSOR ASKS FOR THE TECHNICAL DETAIL</a:t>
            </a:r>
          </a:p>
          <a:p>
            <a:endParaRPr/>
          </a:p>
          <a:p>
            <a:endParaRPr/>
          </a:p>
          <a:p>
            <a:r>
              <a:t>Closest prior work already covers the easy novelty claims</a:t>
            </a:r>
          </a:p>
          <a:p>
            <a:r>
              <a:t>Read this as an overlap map rather than a list of papers we copied. The benchmark material and core control ideas are credited; our experimental question asks whether a concrete paired conclusion survives these choices. Focused method and appendix checks are documented, but we have not exhaustively read all VLM safety literature or proven absence of prior work. No first claim is justified. Paper versions and supporting sections appear in the reference appendix.</a:t>
            </a:r>
          </a:p>
          <a:p>
            <a:endParaRPr/>
          </a:p>
          <a:p>
            <a:r>
              <a:t>Measurement reliability also has strong predecessors</a:t>
            </a:r>
          </a:p>
          <a:p>
            <a:r>
              <a:t>Do not sell a new rubric or a new understanding-adjusted metric simply because we wrote implementation code. StrongREJECT has a different scoring construction from our independent axes, so it is a comparator rather than an automatically interchangeable judge. EviSafe warns about conditional measurement hiding recognition failures. Our domain-specific denominator example must be positioned against these known concerns.</a:t>
            </a:r>
          </a:p>
          <a:p>
            <a:endParaRPr/>
          </a:p>
          <a:p>
            <a:r>
              <a:t>Source: P1/P2/P3/P4; v6 aggregates; v7 crossover/window; original review aggregates</a:t>
            </a:r>
          </a:p>
          <a:p>
            <a:endParaRPr/>
          </a:p>
          <a:p>
            <a:r>
              <a:t>Evidence status: RESEARCH PROGRESS</a:t>
            </a:r>
          </a:p>
          <a:p>
            <a:r>
              <a:t>P1: FigStep, arXiv:2311.05608v3, section 6.4 / Table 2 | https://arxiv.org/html/2311.05608v3#S6.SS4</a:t>
            </a:r>
          </a:p>
          <a:p>
            <a:r>
              <a:t>P2: MMJailBench, arXiv:2608.25490v1, sections 3-5; Appendix B.3 / C | https://arxiv.org/html/2608.25490v1</a:t>
            </a:r>
          </a:p>
          <a:p>
            <a:r>
              <a:t>P3: MSTS, arXiv:2501.10057v1, sections 3.4 / 4.2 / 4.5-4.6 | https://arxiv.org/html/2501.10057v1</a:t>
            </a:r>
          </a:p>
          <a:p>
            <a:r>
              <a:t>P4: The Uncontrolled Variable, arXiv:2609.26174v2, sections 2-4 / Appendix S29 | https://arxiv.org/html/2609.26174v2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dirty="0"/>
                  <a:t>WHAT TO SAY</a:t>
                </a:r>
              </a:p>
              <a:p>
                <a:r>
                  <a:rPr dirty="0"/>
                  <a:t>We recorded internal activations for harmful and benign text prompts. We subtracted the two averages to construct a candidate direction. We then added that direction during generation and measured both text and image responses. Both refusal rates increased, rather than one rising while the other fell. Harmless refusals increased too.</a:t>
                </a:r>
                <a:endParaRPr lang="en-US" dirty="0"/>
              </a:p>
              <a:p>
                <a:r>
                  <a:rPr lang="en-US" dirty="0"/>
                  <a:t>The image presentation is the attack. Activation steering is a separate intervention: we nudge the model’s internal representations and measure whether refusal changes across text and vision. We are testing its behavior, not training it or introducing another input attack.</a:t>
                </a:r>
                <a:endParaRPr dirty="0"/>
              </a:p>
              <a:p>
                <a:pPr/>
                <a14:m>
                  <m:oMathPara xmlns:m="http://schemas.openxmlformats.org/officeDocument/2006/math">
                    <m:oMath>
                      <m:r>
                        <a:rPr lang="en-US" i="1" smtClean="0">
                          <a:latin typeface="Cambria Math" panose="02040503050406030204" pitchFamily="18" charset="0"/>
                        </a:rPr>
                        <m:t>𝑑</m:t>
                      </m:r>
                      <m:r>
                        <a:rPr lang="en-US" i="0" smtClean="0">
                          <a:latin typeface="Cambria Math" panose="02040503050406030204" pitchFamily="18" charset="0"/>
                        </a:rPr>
                        <m:t>=</m:t>
                      </m:r>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mean</m:t>
                          </m:r>
                        </m:fName>
                        <m:e>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ℎ</m:t>
                                  </m:r>
                                </m:e>
                                <m:sub>
                                  <m:r>
                                    <m:rPr>
                                      <m:nor/>
                                    </m:rPr>
                                    <a:rPr lang="en-US" i="0" smtClean="0">
                                      <a:latin typeface="Cambria Math" panose="02040503050406030204" pitchFamily="18" charset="0"/>
                                    </a:rPr>
                                    <m:t>harmful text</m:t>
                                  </m:r>
                                </m:sub>
                              </m:sSub>
                            </m:e>
                          </m:d>
                        </m:e>
                      </m:func>
                      <m:r>
                        <a:rPr lang="en-US" i="0" smtClean="0">
                          <a:latin typeface="Cambria Math" panose="02040503050406030204" pitchFamily="18" charset="0"/>
                        </a:rPr>
                        <m:t>−</m:t>
                      </m:r>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mean</m:t>
                          </m:r>
                        </m:fName>
                        <m:e>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ℎ</m:t>
                                  </m:r>
                                </m:e>
                                <m:sub>
                                  <m:r>
                                    <m:rPr>
                                      <m:nor/>
                                    </m:rPr>
                                    <a:rPr lang="en-US" i="0" smtClean="0">
                                      <a:latin typeface="Cambria Math" panose="02040503050406030204" pitchFamily="18" charset="0"/>
                                    </a:rPr>
                                    <m:t>benign text</m:t>
                                  </m:r>
                                </m:sub>
                              </m:sSub>
                            </m:e>
                          </m:d>
                        </m:e>
                      </m:func>
                    </m:oMath>
                  </m:oMathPara>
                </a14:m>
                <a:endParaRPr lang="en-US" dirty="0"/>
              </a:p>
              <a:p>
                <a:r>
                  <a:rPr lang="en-US" dirty="0"/>
                  <a:t>Here:</a:t>
                </a:r>
              </a:p>
              <a:p>
                <a:pPr lvl="0"/>
                <a:r>
                  <a:rPr lang="en-US" dirty="0"/>
                  <a:t>h is the internal activation recorded at a selected layer.</a:t>
                </a:r>
              </a:p>
              <a:p>
                <a:pPr lvl="0"/>
                <a:r>
                  <a:rPr lang="en-US" dirty="0"/>
                  <a:t>d points along the average difference between those two groups.</a:t>
                </a:r>
              </a:p>
              <a:p>
                <a:pPr lvl="0"/>
                <a:r>
                  <a:rPr lang="en-US" dirty="0"/>
                  <a:t>Calling it a candidate direction does </a:t>
                </a:r>
                <a:r>
                  <a:rPr lang="en-US" b="1" dirty="0"/>
                  <a:t>not</a:t>
                </a:r>
                <a:r>
                  <a:rPr lang="en-US" dirty="0"/>
                  <a:t> prove it represents safety or refusal alone.</a:t>
                </a:r>
              </a:p>
              <a:p>
                <a:r>
                  <a:rPr lang="en-US" dirty="0"/>
                  <a:t>Then, during generation, we applied:</a:t>
                </a:r>
              </a:p>
              <a:p>
                <a:pPr/>
                <a14:m>
                  <m:oMathPara xmlns:m="http://schemas.openxmlformats.org/officeDocument/2006/math">
                    <m:oMath>
                      <m:r>
                        <a:rPr lang="en-US" i="1" smtClean="0">
                          <a:latin typeface="Cambria Math" panose="02040503050406030204" pitchFamily="18" charset="0"/>
                        </a:rPr>
                        <m:t>ℎ</m:t>
                      </m:r>
                      <m:r>
                        <a:rPr lang="en-US" i="0" smtClean="0">
                          <a:latin typeface="Cambria Math" panose="02040503050406030204" pitchFamily="18" charset="0"/>
                        </a:rPr>
                        <m:t>′=</m:t>
                      </m:r>
                      <m:r>
                        <a:rPr lang="en-US" i="1" smtClean="0">
                          <a:latin typeface="Cambria Math" panose="02040503050406030204" pitchFamily="18" charset="0"/>
                        </a:rPr>
                        <m:t>ℎ</m:t>
                      </m:r>
                      <m:r>
                        <a:rPr lang="en-US" i="0" smtClean="0">
                          <a:latin typeface="Cambria Math" panose="02040503050406030204" pitchFamily="18" charset="0"/>
                        </a:rPr>
                        <m:t>+</m:t>
                      </m:r>
                      <m:r>
                        <a:rPr lang="en-US" i="1" smtClean="0">
                          <a:latin typeface="Cambria Math" panose="02040503050406030204" pitchFamily="18" charset="0"/>
                        </a:rPr>
                        <m:t>𝛼</m:t>
                      </m:r>
                      <m:r>
                        <a:rPr lang="en-US" i="1" smtClean="0">
                          <a:latin typeface="Cambria Math" panose="02040503050406030204" pitchFamily="18" charset="0"/>
                        </a:rPr>
                        <m:t>𝑑</m:t>
                      </m:r>
                    </m:oMath>
                  </m:oMathPara>
                </a14:m>
                <a:endParaRPr lang="en-US" dirty="0"/>
              </a:p>
              <a:p>
                <a:endParaRPr dirty="0"/>
              </a:p>
              <a:p>
                <a:endParaRPr dirty="0"/>
              </a:p>
              <a:p>
                <a:r>
                  <a:rPr dirty="0"/>
                  <a:t>PROCEDURE: held-out harmful text activations minus benign text activations, last input-token state at layer index 16 of 28; add strength times this vector to block outputs at inference. No optimizer or weight updates. A fixed-seed random vector was scaled to the same norm. At strength 0.5 the random control gives 58.3% text, 10.0% image and 0% benign refusal. These are historical labels with different prompt/guard protocols, not the later matched test. Source representation differences do not establish a pure refusal axis.</a:t>
                </a:r>
              </a:p>
              <a:p>
                <a:endParaRPr lang="en-US" dirty="0"/>
              </a:p>
              <a:p>
                <a:pPr/>
                <a14:m>
                  <m:oMathPara xmlns:m="http://schemas.openxmlformats.org/officeDocument/2006/math">
                    <m:oMath>
                      <m:r>
                        <a:rPr lang="en-US" i="1" dirty="0" smtClean="0">
                          <a:latin typeface="Cambria Math" panose="02040503050406030204" pitchFamily="18" charset="0"/>
                        </a:rPr>
                        <m:t>ℎ</m:t>
                      </m:r>
                      <m:r>
                        <a:rPr lang="en-US" i="0" dirty="0" smtClean="0">
                          <a:latin typeface="Cambria Math" panose="02040503050406030204" pitchFamily="18" charset="0"/>
                        </a:rPr>
                        <m:t>′=</m:t>
                      </m:r>
                      <m:r>
                        <a:rPr lang="en-US" i="1" dirty="0" smtClean="0">
                          <a:latin typeface="Cambria Math" panose="02040503050406030204" pitchFamily="18" charset="0"/>
                        </a:rPr>
                        <m:t>ℎ</m:t>
                      </m:r>
                      <m:r>
                        <a:rPr lang="en-US" i="0" dirty="0" smtClean="0">
                          <a:latin typeface="Cambria Math" panose="02040503050406030204" pitchFamily="18" charset="0"/>
                        </a:rPr>
                        <m:t>+</m:t>
                      </m:r>
                      <m:r>
                        <a:rPr lang="en-US" i="1" dirty="0" smtClean="0">
                          <a:latin typeface="Cambria Math" panose="02040503050406030204" pitchFamily="18" charset="0"/>
                        </a:rPr>
                        <m:t>𝛼</m:t>
                      </m:r>
                      <m:r>
                        <a:rPr lang="en-US" i="1" dirty="0" smtClean="0">
                          <a:latin typeface="Cambria Math" panose="02040503050406030204" pitchFamily="18" charset="0"/>
                        </a:rPr>
                        <m:t>𝑑</m:t>
                      </m:r>
                      <m:r>
                        <a:rPr lang="en-US" i="0" dirty="0" smtClean="0">
                          <a:latin typeface="Cambria Math" panose="02040503050406030204" pitchFamily="18" charset="0"/>
                        </a:rPr>
                        <m:t> ⟶ </m:t>
                      </m:r>
                      <m:r>
                        <m:rPr>
                          <m:nor/>
                        </m:rPr>
                        <a:rPr lang="en-US" i="0" dirty="0" smtClean="0">
                          <a:latin typeface="Cambria Math" panose="02040503050406030204" pitchFamily="18" charset="0"/>
                        </a:rPr>
                        <m:t>remaining model layers</m:t>
                      </m:r>
                      <m:r>
                        <a:rPr lang="en-US" i="0" dirty="0" smtClean="0">
                          <a:latin typeface="Cambria Math" panose="02040503050406030204" pitchFamily="18" charset="0"/>
                        </a:rPr>
                        <m:t> ⟶ </m:t>
                      </m:r>
                      <m:r>
                        <m:rPr>
                          <m:nor/>
                        </m:rPr>
                        <a:rPr lang="en-US" i="0" dirty="0" smtClean="0">
                          <a:latin typeface="Cambria Math" panose="02040503050406030204" pitchFamily="18" charset="0"/>
                        </a:rPr>
                        <m:t>next−token probabilities</m:t>
                      </m:r>
                    </m:oMath>
                  </m:oMathPara>
                </a14:m>
                <a:endParaRPr lang="en-US" dirty="0"/>
              </a:p>
              <a:p>
                <a:pPr/>
                <a14:m>
                  <m:oMathPara xmlns:m="http://schemas.openxmlformats.org/officeDocument/2006/math">
                    <m:oMath>
                      <m:r>
                        <a:rPr lang="en-US" i="1" dirty="0" smtClean="0">
                          <a:latin typeface="Cambria Math" panose="02040503050406030204" pitchFamily="18" charset="0"/>
                        </a:rPr>
                        <m:t>𝑧</m:t>
                      </m:r>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𝑊</m:t>
                          </m:r>
                        </m:e>
                        <m:sub>
                          <m:r>
                            <m:rPr>
                              <m:nor/>
                            </m:rPr>
                            <a:rPr lang="en-US" i="0" dirty="0" smtClean="0">
                              <a:latin typeface="Cambria Math" panose="02040503050406030204" pitchFamily="18" charset="0"/>
                            </a:rPr>
                            <m:t>out</m:t>
                          </m:r>
                        </m:sub>
                      </m:sSub>
                      <m:r>
                        <a:rPr lang="en-US" i="0" dirty="0" smtClean="0">
                          <a:latin typeface="Cambria Math" panose="02040503050406030204" pitchFamily="18" charset="0"/>
                        </a:rPr>
                        <m:t> </m:t>
                      </m:r>
                      <m:r>
                        <m:rPr>
                          <m:sty m:val="p"/>
                        </m:rPr>
                        <a:rPr lang="en-US" i="0" dirty="0" smtClean="0">
                          <a:latin typeface="Cambria Math" panose="02040503050406030204" pitchFamily="18" charset="0"/>
                        </a:rPr>
                        <m:t>FinalNorm</m:t>
                      </m:r>
                      <m:r>
                        <a:rPr lang="en-US" i="0" dirty="0" smtClean="0">
                          <a:latin typeface="Cambria Math" panose="02040503050406030204" pitchFamily="18" charset="0"/>
                        </a:rPr>
                        <m:t>​</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𝐹</m:t>
                              </m:r>
                            </m:e>
                            <m:sub>
                              <m:r>
                                <m:rPr>
                                  <m:nor/>
                                </m:rPr>
                                <a:rPr lang="en-US" i="0" dirty="0" smtClean="0">
                                  <a:latin typeface="Cambria Math" panose="02040503050406030204" pitchFamily="18" charset="0"/>
                                </a:rPr>
                                <m:t>remaining</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ℎ</m:t>
                              </m:r>
                              <m:r>
                                <a:rPr lang="en-US" i="0" dirty="0" smtClean="0">
                                  <a:latin typeface="Cambria Math" panose="02040503050406030204" pitchFamily="18" charset="0"/>
                                </a:rPr>
                                <m:t>′</m:t>
                              </m:r>
                            </m:e>
                          </m:d>
                        </m:e>
                      </m:d>
                    </m:oMath>
                  </m:oMathPara>
                </a14:m>
                <a:endParaRPr lang="en-US" dirty="0"/>
              </a:p>
              <a:p>
                <a:pPr/>
                <a14:m>
                  <m:oMathPara xmlns:m="http://schemas.openxmlformats.org/officeDocument/2006/math">
                    <m:oMath>
                      <m:r>
                        <a:rPr lang="en-US" i="1" dirty="0" smtClean="0">
                          <a:latin typeface="Cambria Math" panose="02040503050406030204" pitchFamily="18" charset="0"/>
                        </a:rPr>
                        <m:t>𝑃</m:t>
                      </m:r>
                      <m:d>
                        <m:dPr>
                          <m:ctrlPr>
                            <a:rPr lang="en-US" i="0" dirty="0" smtClean="0">
                              <a:latin typeface="Cambria Math" panose="02040503050406030204" pitchFamily="18" charset="0"/>
                            </a:rPr>
                          </m:ctrlPr>
                        </m:dPr>
                        <m:e>
                          <m:r>
                            <m:rPr>
                              <m:nor/>
                            </m:rPr>
                            <a:rPr lang="en-US" i="0" dirty="0" smtClean="0">
                              <a:latin typeface="Cambria Math" panose="02040503050406030204" pitchFamily="18" charset="0"/>
                            </a:rPr>
                            <m:t>next token</m:t>
                          </m:r>
                        </m:e>
                      </m:d>
                      <m:r>
                        <a:rPr lang="en-US" i="0" dirty="0" smtClean="0">
                          <a:latin typeface="Cambria Math" panose="02040503050406030204" pitchFamily="18" charset="0"/>
                        </a:rPr>
                        <m:t>=</m:t>
                      </m:r>
                      <m:r>
                        <m:rPr>
                          <m:sty m:val="p"/>
                        </m:rPr>
                        <a:rPr lang="en-US" i="0" dirty="0" smtClean="0">
                          <a:latin typeface="Cambria Math" panose="02040503050406030204" pitchFamily="18" charset="0"/>
                        </a:rPr>
                        <m:t>softmax</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𝑧</m:t>
                          </m:r>
                        </m:e>
                      </m:d>
                    </m:oMath>
                  </m:oMathPara>
                </a14:m>
                <a:endParaRPr lang="en-US" dirty="0"/>
              </a:p>
              <a:p>
                <a:pPr lvl="0"/>
                <a:r>
                  <a:rPr lang="en-US" dirty="0"/>
                  <a:t>(F_{remaining}): the remaining model layers.</a:t>
                </a:r>
              </a:p>
              <a:p>
                <a:pPr lvl="0"/>
                <a:r>
                  <a:rPr lang="en-US" dirty="0"/>
                  <a:t>Z: scores for possible next tokens.</a:t>
                </a:r>
              </a:p>
              <a:p>
                <a:pPr lvl="0"/>
                <a:r>
                  <a:rPr lang="en-US" b="1" dirty="0" err="1"/>
                  <a:t>Softmax</a:t>
                </a:r>
                <a:r>
                  <a:rPr lang="en-US" b="1" dirty="0"/>
                  <a:t>:</a:t>
                </a:r>
                <a:r>
                  <a:rPr lang="en-US" dirty="0"/>
                  <a:t> converts those scores into probabilities.</a:t>
                </a:r>
              </a:p>
              <a:p>
                <a:endParaRPr lang="en-US" dirty="0"/>
              </a:p>
              <a:p>
                <a:r>
                  <a:rPr lang="en-US" dirty="0"/>
                  <a:t>Because we used </a:t>
                </a:r>
                <a:r>
                  <a:rPr lang="en-US" b="1" dirty="0"/>
                  <a:t>greedy decoding</a:t>
                </a:r>
                <a:r>
                  <a:rPr lang="en-US" dirty="0"/>
                  <a:t>, the model selects the highest-probability token:</a:t>
                </a:r>
              </a:p>
              <a:p>
                <a:r>
                  <a:rPr lang="en-US" dirty="0"/>
                  <a:t>t_{next}=</a:t>
                </a:r>
                <a:r>
                  <a:rPr lang="en-US" dirty="0" err="1"/>
                  <a:t>arg</a:t>
                </a:r>
                <a:r>
                  <a:rPr lang="en-US" dirty="0"/>
                  <a:t> </a:t>
                </a:r>
                <a:r>
                  <a:rPr lang="en-US" dirty="0" err="1"/>
                  <a:t>max_t</a:t>
                </a:r>
                <a:r>
                  <a:rPr lang="en-US" dirty="0"/>
                  <a:t> P(t)</a:t>
                </a:r>
              </a:p>
              <a:p>
                <a:endParaRPr dirty="0"/>
              </a:p>
            </p:txBody>
          </p:sp>
        </mc:Choice>
        <mc:Fallback xmlns="">
          <p:sp>
            <p:nvSpPr>
              <p:cNvPr id="3" name="Notes Placeholder 2"/>
              <p:cNvSpPr>
                <a:spLocks noGrp="1"/>
              </p:cNvSpPr>
              <p:nvPr>
                <p:ph type="body" sz="quarter" idx="3"/>
              </p:nvPr>
            </p:nvSpPr>
            <p:spPr/>
            <p:txBody>
              <a:bodyPr/>
              <a:lstStyle/>
              <a:p>
                <a:r>
                  <a:rPr dirty="0"/>
                  <a:t>WHAT TO SAY</a:t>
                </a:r>
              </a:p>
              <a:p>
                <a:r>
                  <a:rPr dirty="0"/>
                  <a:t>We recorded internal activations for harmful and benign text prompts. We subtracted the two averages to construct a candidate direction. We then added that direction during generation and measured both text and image responses. Both refusal rates increased, rather than one rising while the other fell. Harmless refusals increased too.</a:t>
                </a:r>
                <a:endParaRPr lang="en-US" dirty="0"/>
              </a:p>
              <a:p>
                <a:r>
                  <a:rPr lang="en-US" dirty="0"/>
                  <a:t>The image presentation is the attack. Activation steering is a separate intervention: we nudge the model’s internal representations and measure whether refusal changes across text and vision. We are testing its behavior, not training it or introducing another input attack.</a:t>
                </a:r>
                <a:endParaRPr dirty="0"/>
              </a:p>
              <a:p>
                <a:r>
                  <a:rPr lang="en-US" i="0">
                    <a:latin typeface="Cambria Math" panose="02040503050406030204" pitchFamily="18" charset="0"/>
                  </a:rPr>
                  <a:t>𝑑=mean⁡(ℎ_"harmful text"  )−mean⁡(ℎ_"benign text"  )</a:t>
                </a:r>
                <a:endParaRPr lang="en-US" dirty="0"/>
              </a:p>
              <a:p>
                <a:r>
                  <a:rPr lang="en-US" dirty="0"/>
                  <a:t>Here:</a:t>
                </a:r>
              </a:p>
              <a:p>
                <a:pPr lvl="0"/>
                <a:r>
                  <a:rPr lang="en-US" dirty="0"/>
                  <a:t>h is the internal activation recorded at a selected layer.</a:t>
                </a:r>
              </a:p>
              <a:p>
                <a:pPr lvl="0"/>
                <a:r>
                  <a:rPr lang="en-US" dirty="0"/>
                  <a:t>d points along the average difference between those two groups.</a:t>
                </a:r>
              </a:p>
              <a:p>
                <a:pPr lvl="0"/>
                <a:r>
                  <a:rPr lang="en-US" dirty="0"/>
                  <a:t>Calling it a candidate direction does </a:t>
                </a:r>
                <a:r>
                  <a:rPr lang="en-US" b="1" dirty="0"/>
                  <a:t>not</a:t>
                </a:r>
                <a:r>
                  <a:rPr lang="en-US" dirty="0"/>
                  <a:t> prove it represents safety or refusal alone.</a:t>
                </a:r>
              </a:p>
              <a:p>
                <a:r>
                  <a:rPr lang="en-US" dirty="0"/>
                  <a:t>Then, during generation, we applied:</a:t>
                </a:r>
              </a:p>
              <a:p>
                <a:r>
                  <a:rPr lang="en-US" i="0">
                    <a:latin typeface="Cambria Math" panose="02040503050406030204" pitchFamily="18" charset="0"/>
                  </a:rPr>
                  <a:t>ℎ′=ℎ+𝛼𝑑</a:t>
                </a:r>
                <a:endParaRPr lang="en-US" dirty="0"/>
              </a:p>
              <a:p>
                <a:endParaRPr dirty="0"/>
              </a:p>
              <a:p>
                <a:endParaRPr dirty="0"/>
              </a:p>
              <a:p>
                <a:r>
                  <a:rPr dirty="0"/>
                  <a:t>PROCEDURE: held-out harmful text activations minus benign text activations, last input-token state at layer index 16 of 28; add strength times this vector to block outputs at inference. No optimizer or weight updates. A fixed-seed random vector was scaled to the same norm. At strength 0.5 the random control gives 58.3% text, 10.0% image and 0% benign refusal. These are historical labels with different prompt/guard protocols, not the later matched test. Source representation differences do not establish a pure refusal axis.</a:t>
                </a:r>
              </a:p>
              <a:p>
                <a:endParaRPr lang="en-US" dirty="0"/>
              </a:p>
              <a:p>
                <a:r>
                  <a:rPr lang="en-US" i="0" dirty="0">
                    <a:latin typeface="Cambria Math" panose="02040503050406030204" pitchFamily="18" charset="0"/>
                  </a:rPr>
                  <a:t>ℎ′=ℎ+𝛼𝑑 ⟶ "remaining model layers" ⟶ "next−token probabilities"</a:t>
                </a:r>
                <a:endParaRPr lang="en-US" dirty="0"/>
              </a:p>
              <a:p>
                <a:r>
                  <a:rPr lang="en-US" i="0" dirty="0">
                    <a:latin typeface="Cambria Math" panose="02040503050406030204" pitchFamily="18" charset="0"/>
                  </a:rPr>
                  <a:t>𝑧=𝑊_"out"  FinalNorm​(𝐹_"remaining"  (ℎ′))</a:t>
                </a:r>
                <a:endParaRPr lang="en-US" dirty="0"/>
              </a:p>
              <a:p>
                <a:r>
                  <a:rPr lang="en-US" i="0" dirty="0">
                    <a:latin typeface="Cambria Math" panose="02040503050406030204" pitchFamily="18" charset="0"/>
                  </a:rPr>
                  <a:t>𝑃("next token" )=softmax(𝑧)</a:t>
                </a:r>
                <a:endParaRPr lang="en-US" dirty="0"/>
              </a:p>
              <a:p>
                <a:pPr lvl="0"/>
                <a:r>
                  <a:rPr lang="en-US" dirty="0"/>
                  <a:t>(F_{remaining}): the remaining model layers.</a:t>
                </a:r>
              </a:p>
              <a:p>
                <a:pPr lvl="0"/>
                <a:r>
                  <a:rPr lang="en-US" dirty="0"/>
                  <a:t>Z: scores for possible next tokens.</a:t>
                </a:r>
              </a:p>
              <a:p>
                <a:pPr lvl="0"/>
                <a:r>
                  <a:rPr lang="en-US" b="1" dirty="0" err="1"/>
                  <a:t>Softmax</a:t>
                </a:r>
                <a:r>
                  <a:rPr lang="en-US" b="1" dirty="0"/>
                  <a:t>:</a:t>
                </a:r>
                <a:r>
                  <a:rPr lang="en-US" dirty="0"/>
                  <a:t> converts those scores into probabilities.</a:t>
                </a:r>
              </a:p>
              <a:p>
                <a:endParaRPr lang="en-US" dirty="0"/>
              </a:p>
              <a:p>
                <a:r>
                  <a:rPr lang="en-US" dirty="0"/>
                  <a:t>Because we used </a:t>
                </a:r>
                <a:r>
                  <a:rPr lang="en-US" b="1" dirty="0"/>
                  <a:t>greedy decoding</a:t>
                </a:r>
                <a:r>
                  <a:rPr lang="en-US" dirty="0"/>
                  <a:t>, the model selects the highest-probability token:</a:t>
                </a:r>
              </a:p>
              <a:p>
                <a:r>
                  <a:rPr lang="en-US" dirty="0"/>
                  <a:t>t_{next}=</a:t>
                </a:r>
                <a:r>
                  <a:rPr lang="en-US" dirty="0" err="1"/>
                  <a:t>arg</a:t>
                </a:r>
                <a:r>
                  <a:rPr lang="en-US" dirty="0"/>
                  <a:t> </a:t>
                </a:r>
                <a:r>
                  <a:rPr lang="en-US" dirty="0" err="1"/>
                  <a:t>max_t</a:t>
                </a:r>
                <a:r>
                  <a:rPr lang="en-US" dirty="0"/>
                  <a:t> P(t)</a:t>
                </a:r>
              </a:p>
              <a:p>
                <a:endParaRPr dirty="0"/>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In B we provide the original full question. In E we provide the activity phrase as text with the benchmark instruction. In C the benchmark image carries that activity. The question’s form and the instruction can therefore change along with the image.</a:t>
            </a:r>
          </a:p>
          <a:p>
            <a:endParaRPr dirty="0"/>
          </a:p>
          <a:p>
            <a:r>
              <a:rPr dirty="0"/>
              <a:t>WHAT THIS MEANS</a:t>
            </a:r>
          </a:p>
          <a:p>
            <a:r>
              <a:rPr dirty="0"/>
              <a:t>Payload simply means the content carried by the image. B versus C mixes several changes. E is a text control for C; it helps us avoid attributing the whole difference to vision. In the later matched test we instead keep the full-question words fixed.</a:t>
            </a:r>
          </a:p>
          <a:p>
            <a:endParaRPr dirty="0"/>
          </a:p>
          <a:p>
            <a:r>
              <a:rPr dirty="0"/>
              <a:t>IF THE PROFESSOR ASKS FOR THE TECHNICAL DETAIL</a:t>
            </a:r>
          </a:p>
          <a:p>
            <a:endParaRPr dirty="0"/>
          </a:p>
          <a:p>
            <a:endParaRPr dirty="0"/>
          </a:p>
          <a:p>
            <a:r>
              <a:rPr dirty="0"/>
              <a:t>Why a text-versus-picture gap can mislead</a:t>
            </a:r>
          </a:p>
          <a:p>
            <a:r>
              <a:rPr dirty="0"/>
              <a:t>Use a harmless example verbally, such as a troubleshooting question represented in plain chat or in a picture. If both the question form and instruction change, the difference cannot be uniquely attributed to vision. Our B/E contrast also changes content form, so the earlier shorthand mostly the wrapper was too strong. Full-question paired grids are the cleaner wording comparison.</a:t>
            </a:r>
          </a:p>
          <a:p>
            <a:endParaRPr dirty="0"/>
          </a:p>
          <a:p>
            <a:r>
              <a:rPr dirty="0"/>
              <a:t>The matched Qwen2.5 study challenged a specific reversal</a:t>
            </a:r>
          </a:p>
          <a:p>
            <a:r>
              <a:rPr dirty="0"/>
              <a:t>The older v6 Qwen2.5 strong pair suggested a reversal but used legacy benchmark-derived wording. We wrote a cleaner development design with full-question content held fixed, batch one, pinned Qwen2.5-VL-3B and FP16. Two blank arms and readback gave seven target arms per item: 56 target calls. The two guards scored six answering arms: 96 guard calls. Previously seen items motivated the hypothesis, so this is not fresh confirmation.</a:t>
            </a:r>
          </a:p>
          <a:p>
            <a:endParaRPr dirty="0"/>
          </a:p>
          <a:p>
            <a:r>
              <a:rPr dirty="0"/>
              <a:t>Appendix / condition glossary and attribution limits</a:t>
            </a:r>
          </a:p>
          <a:p>
            <a:r>
              <a:rPr dirty="0"/>
              <a:t>Explain why the v6 suggestion and new matched result should not be presented as a direct contradiction or exact replication. They are different operationalizations. B/E alone mixes content form and framing. The approved new grid holds the full-question words fixed while changing the carrier and wrapper.</a:t>
            </a:r>
          </a:p>
          <a:p>
            <a:endParaRPr dirty="0"/>
          </a:p>
          <a:p>
            <a:r>
              <a:rPr dirty="0"/>
              <a:t>Source: Condition definitions; P1/P2; synthetic benign illustration</a:t>
            </a:r>
          </a:p>
          <a:p>
            <a:endParaRPr dirty="0"/>
          </a:p>
          <a:p>
            <a:r>
              <a:rPr dirty="0"/>
              <a:t>Evidence status: RESEARCH PROGRESS</a:t>
            </a:r>
          </a:p>
          <a:p>
            <a:r>
              <a:rPr dirty="0"/>
              <a:t>P1: </a:t>
            </a:r>
            <a:r>
              <a:rPr dirty="0" err="1"/>
              <a:t>FigStep</a:t>
            </a:r>
            <a:r>
              <a:rPr dirty="0"/>
              <a:t>, arXiv:2311.05608v3, section 6.4 / Table 2 | https://</a:t>
            </a:r>
            <a:r>
              <a:rPr dirty="0" err="1"/>
              <a:t>arxiv.org</a:t>
            </a:r>
            <a:r>
              <a:rPr dirty="0"/>
              <a:t>/html/2311.05608v3#S6.SS4</a:t>
            </a:r>
          </a:p>
          <a:p>
            <a:r>
              <a:rPr dirty="0"/>
              <a:t>P2: </a:t>
            </a:r>
            <a:r>
              <a:rPr dirty="0" err="1"/>
              <a:t>MMJailBench</a:t>
            </a:r>
            <a:r>
              <a:rPr dirty="0"/>
              <a:t>, arXiv:2608.25490v1, sections 3-5; Appendix B.3 / C | https://</a:t>
            </a:r>
            <a:r>
              <a:rPr dirty="0" err="1"/>
              <a:t>arxiv.org</a:t>
            </a:r>
            <a:r>
              <a:rPr dirty="0"/>
              <a:t>/html/2608.25490v1</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r>
              <a:rPr lang="en-US" dirty="0"/>
              <a:t> ==== Refusal rates</a:t>
            </a:r>
            <a:endParaRPr dirty="0"/>
          </a:p>
          <a:p>
            <a:r>
              <a:rPr dirty="0"/>
              <a:t>Look at Qwen2 on the left. The original text gets more refusals than the image. But when we use the benchmark activity as text, refusal is already close to the image. So we cannot blame the entire gap on vision. </a:t>
            </a:r>
            <a:r>
              <a:rPr dirty="0" err="1"/>
              <a:t>LLaVA</a:t>
            </a:r>
            <a:r>
              <a:rPr dirty="0"/>
              <a:t> behaves differently and keeps a larger text/image difference.</a:t>
            </a:r>
          </a:p>
          <a:p>
            <a:endParaRPr dirty="0"/>
          </a:p>
          <a:p>
            <a:r>
              <a:rPr dirty="0"/>
              <a:t>WHAT THIS MEANS</a:t>
            </a:r>
          </a:p>
          <a:p>
            <a:r>
              <a:rPr dirty="0"/>
              <a:t>These rates use Qwen3Guard and the historical non-answer rule. B/E changes content form as well as wording. Historical nominal sample sizes are 304/304/152; valid-label denominators are not fully exported for all cells.</a:t>
            </a:r>
          </a:p>
          <a:p>
            <a:endParaRPr dirty="0"/>
          </a:p>
          <a:p>
            <a:r>
              <a:rPr dirty="0"/>
              <a:t>TECHNICAL DETAIL</a:t>
            </a:r>
          </a:p>
          <a:p>
            <a:endParaRPr dirty="0"/>
          </a:p>
          <a:p>
            <a:endParaRPr dirty="0"/>
          </a:p>
          <a:p>
            <a:r>
              <a:rPr dirty="0"/>
              <a:t>The text control changes the interpretation of the large gap</a:t>
            </a:r>
          </a:p>
          <a:p>
            <a:r>
              <a:rPr dirty="0"/>
              <a:t>For Qwen2, refusal is 66.1% on B, 18.4% on E and 15.1% on C. A large B/C gap is not all vision-specific: the text payload control is already much closer to C. Do not interpret B/E as a pure wording effect because content form changes too. </a:t>
            </a:r>
            <a:r>
              <a:rPr dirty="0" err="1"/>
              <a:t>LLaVA</a:t>
            </a:r>
            <a:r>
              <a:rPr dirty="0"/>
              <a:t> retains a much larger E/C difference. These are guard-labelled rates, not corrected human rates; the figure rounds saved rates to one decimal place.</a:t>
            </a:r>
          </a:p>
          <a:p>
            <a:endParaRPr dirty="0"/>
          </a:p>
          <a:p>
            <a:r>
              <a:rPr dirty="0"/>
              <a:t>Source: v6_full/results_v6.json: results[model].rates.qwen3guard; nominal n=304/304/152</a:t>
            </a:r>
          </a:p>
          <a:p>
            <a:endParaRPr dirty="0"/>
          </a:p>
          <a:p>
            <a:r>
              <a:rPr dirty="0"/>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r>
              <a:rPr lang="en-US" dirty="0"/>
              <a:t> == REFUSAL RATE</a:t>
            </a:r>
            <a:endParaRPr dirty="0"/>
          </a:p>
          <a:p>
            <a:r>
              <a:rPr dirty="0"/>
              <a:t>Here we ask whether the mere presence of an image matters. </a:t>
            </a:r>
            <a:endParaRPr lang="en-US" dirty="0"/>
          </a:p>
          <a:p>
            <a:r>
              <a:rPr lang="en-US" dirty="0"/>
              <a:t>Does merely attaching a meaningless image change how the model answers the same text request?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We did not distort the request, put text inside the noise, or optimize the pixels to attack the model.</a:t>
            </a:r>
            <a:r>
              <a:rPr lang="en-US" dirty="0"/>
              <a:t> This was a control testing whether attaching an unrelated image changes its behavior.</a:t>
            </a:r>
          </a:p>
          <a:p>
            <a:endParaRPr lang="en-US" dirty="0"/>
          </a:p>
          <a:p>
            <a:r>
              <a:rPr lang="en-US" dirty="0"/>
              <a:t>We </a:t>
            </a:r>
            <a:r>
              <a:rPr lang="en-US" b="1" dirty="0"/>
              <a:t>created a separate picture of random </a:t>
            </a:r>
            <a:r>
              <a:rPr lang="en-US" b="1" dirty="0" err="1"/>
              <a:t>coloured</a:t>
            </a:r>
            <a:r>
              <a:rPr lang="en-US" b="1" dirty="0"/>
              <a:t> pixels</a:t>
            </a:r>
            <a:r>
              <a:rPr lang="en-US" dirty="0"/>
              <a:t> and attached it alongside the unchanged text request.</a:t>
            </a:r>
          </a:p>
          <a:p>
            <a:r>
              <a:rPr lang="en-US" dirty="0"/>
              <a:t>The code generates a </a:t>
            </a:r>
            <a:r>
              <a:rPr lang="en-US" b="1" dirty="0"/>
              <a:t>512 × 512 RGB image</a:t>
            </a:r>
            <a:r>
              <a:rPr lang="en-US" dirty="0"/>
              <a:t>:</a:t>
            </a:r>
          </a:p>
          <a:p>
            <a:r>
              <a:rPr lang="en-US" dirty="0" err="1"/>
              <a:t>rng</a:t>
            </a:r>
            <a:r>
              <a:rPr lang="en-US" dirty="0"/>
              <a:t> = </a:t>
            </a:r>
            <a:r>
              <a:rPr lang="en-US" dirty="0" err="1"/>
              <a:t>np.random.default_rng</a:t>
            </a:r>
            <a:r>
              <a:rPr lang="en-US" dirty="0"/>
              <a:t>(1000 + </a:t>
            </a:r>
            <a:r>
              <a:rPr lang="en-US" dirty="0" err="1"/>
              <a:t>item_index</a:t>
            </a:r>
            <a:r>
              <a:rPr lang="en-US" dirty="0"/>
              <a:t>)</a:t>
            </a:r>
          </a:p>
          <a:p>
            <a:r>
              <a:rPr lang="en-US" dirty="0"/>
              <a:t>pixels = </a:t>
            </a:r>
            <a:r>
              <a:rPr lang="en-US" dirty="0" err="1"/>
              <a:t>rng.integers</a:t>
            </a:r>
            <a:r>
              <a:rPr lang="en-US" dirty="0"/>
              <a:t>(0, 255, (512, 512, 3), </a:t>
            </a:r>
            <a:r>
              <a:rPr lang="en-US" dirty="0" err="1"/>
              <a:t>dtype</a:t>
            </a:r>
            <a:r>
              <a:rPr lang="en-US" dirty="0"/>
              <a:t>=np.uint8)</a:t>
            </a:r>
          </a:p>
          <a:p>
            <a:r>
              <a:rPr lang="en-US" dirty="0" err="1"/>
              <a:t>noise_image</a:t>
            </a:r>
            <a:r>
              <a:rPr lang="en-US" dirty="0"/>
              <a:t> = </a:t>
            </a:r>
            <a:r>
              <a:rPr lang="en-US" dirty="0" err="1"/>
              <a:t>Image.fromarray</a:t>
            </a:r>
            <a:r>
              <a:rPr lang="en-US" dirty="0"/>
              <a:t>(pixels)</a:t>
            </a:r>
          </a:p>
          <a:p>
            <a:endParaRPr lang="en-US" dirty="0"/>
          </a:p>
          <a:p>
            <a:r>
              <a:rPr dirty="0"/>
              <a:t>In this </a:t>
            </a:r>
            <a:r>
              <a:rPr dirty="0" err="1"/>
              <a:t>LLaVA</a:t>
            </a:r>
            <a:r>
              <a:rPr dirty="0"/>
              <a:t> setup, adding noise reduced refusal and increased harmfulness labels, even though the image did not explain the request.</a:t>
            </a:r>
          </a:p>
          <a:p>
            <a:endParaRPr dirty="0"/>
          </a:p>
          <a:p>
            <a:r>
              <a:rPr dirty="0"/>
              <a:t>WHAT THIS MEANS</a:t>
            </a:r>
          </a:p>
          <a:p>
            <a:r>
              <a:rPr dirty="0"/>
              <a:t>This is a checkpoint-specific exploratory result, not a universal law or a proven internal mechanism. The two bars measure different outcomes, so they do not have to add to 100%. Other papers already study image-attachment effects.</a:t>
            </a:r>
          </a:p>
          <a:p>
            <a:endParaRPr dirty="0"/>
          </a:p>
          <a:p>
            <a:r>
              <a:rPr dirty="0"/>
              <a:t>IF THE PROFESSOR ASKS FOR THE TECHNICAL DETAIL</a:t>
            </a:r>
          </a:p>
          <a:p>
            <a:endParaRPr dirty="0"/>
          </a:p>
          <a:p>
            <a:endParaRPr dirty="0"/>
          </a:p>
          <a:p>
            <a:r>
              <a:rPr dirty="0" err="1"/>
              <a:t>LLaVA</a:t>
            </a:r>
            <a:r>
              <a:rPr dirty="0"/>
              <a:t> shows a large unrelated-image effect</a:t>
            </a:r>
          </a:p>
          <a:p>
            <a:r>
              <a:rPr dirty="0"/>
              <a:t>The noise image does not supply the requested activity, yet refusal falls substantially and unsafe labels rise. This supports an image-presence-related effect in the tested </a:t>
            </a:r>
            <a:r>
              <a:rPr dirty="0" err="1"/>
              <a:t>LLaVA</a:t>
            </a:r>
            <a:r>
              <a:rPr dirty="0"/>
              <a:t> setup. It does not show that all VLMs share the mechanism. The stronger prespecified all-model/all-image threshold check was split between guards. Prior work also studies image-attachment effects, so the broad phenomenon is not our standalone novelty.</a:t>
            </a:r>
          </a:p>
          <a:p>
            <a:endParaRPr dirty="0"/>
          </a:p>
          <a:p>
            <a:r>
              <a:rPr dirty="0"/>
              <a:t>v7 broadened the attempted panel, not the safety evidence</a:t>
            </a:r>
          </a:p>
          <a:p>
            <a:r>
              <a:rPr dirty="0"/>
              <a:t>We did not pretend every download was a successful model test. Three completed, two partial, three failed before responses. Numerical failures are configuration-specific, not evidence that those models can never work. SmolVLM2 image token count stayed fixed in the requested size arm, so that manipulation did not identify a token-dose effect. Failure archives are engineering findings, not safety rates.</a:t>
            </a:r>
          </a:p>
          <a:p>
            <a:endParaRPr dirty="0"/>
          </a:p>
          <a:p>
            <a:r>
              <a:rPr dirty="0"/>
              <a:t>Source: v6 </a:t>
            </a:r>
            <a:r>
              <a:rPr dirty="0" err="1"/>
              <a:t>LLaVA</a:t>
            </a:r>
            <a:r>
              <a:rPr dirty="0"/>
              <a:t> B/</a:t>
            </a:r>
            <a:r>
              <a:rPr dirty="0" err="1"/>
              <a:t>B_noise</a:t>
            </a:r>
            <a:r>
              <a:rPr dirty="0"/>
              <a:t>; P4</a:t>
            </a:r>
          </a:p>
          <a:p>
            <a:endParaRPr dirty="0"/>
          </a:p>
          <a:p>
            <a:r>
              <a:rPr dirty="0"/>
              <a:t>Evidence status: RESEARCH PROGRESS</a:t>
            </a:r>
          </a:p>
          <a:p>
            <a:r>
              <a:rPr dirty="0"/>
              <a:t>P4: The Uncontrolled Variable, arXiv:2609.26174v2, sections 2-4 / Appendix S29 | https://</a:t>
            </a:r>
            <a:r>
              <a:rPr dirty="0" err="1"/>
              <a:t>arxiv.org</a:t>
            </a:r>
            <a:r>
              <a:rPr dirty="0"/>
              <a:t>/html/2609.26174v2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Why we needed this test</a:t>
            </a:r>
          </a:p>
          <a:p>
            <a:r>
              <a:rPr lang="en-US" dirty="0"/>
              <a:t>Imagine asking a model a potentially harmful question written in very small text inside an image. It gives an irrelevant answer.</a:t>
            </a:r>
          </a:p>
          <a:p>
            <a:endParaRPr lang="en-US" dirty="0"/>
          </a:p>
          <a:p>
            <a:r>
              <a:rPr lang="en-US" dirty="0"/>
              <a:t>There are at least two possible explanations:</a:t>
            </a:r>
          </a:p>
          <a:p>
            <a:pPr lvl="0"/>
            <a:r>
              <a:rPr lang="en-US" dirty="0"/>
              <a:t>It read the request and chose not to provide the assistance.</a:t>
            </a:r>
          </a:p>
          <a:p>
            <a:pPr lvl="0"/>
            <a:r>
              <a:rPr lang="en-US" dirty="0"/>
              <a:t>It could not read the request.</a:t>
            </a:r>
          </a:p>
          <a:p>
            <a:endParaRPr lang="en-US" dirty="0"/>
          </a:p>
          <a:p>
            <a:r>
              <a:rPr lang="en-US" dirty="0"/>
              <a:t>Those are very different outcomes. </a:t>
            </a:r>
            <a:r>
              <a:rPr lang="en-US" b="1" dirty="0"/>
              <a:t>Failure to read is not evidence of successful safety alignment.</a:t>
            </a:r>
            <a:endParaRPr lang="en-US" dirty="0"/>
          </a:p>
          <a:p>
            <a:r>
              <a:rPr lang="en-US" dirty="0"/>
              <a:t>We therefore tested reading separately from answering.</a:t>
            </a:r>
          </a:p>
          <a:p>
            <a:endParaRPr lang="en-US" b="1" dirty="0"/>
          </a:p>
          <a:p>
            <a:r>
              <a:rPr lang="en-US" b="1" dirty="0"/>
              <a:t>What we gave the models</a:t>
            </a:r>
          </a:p>
          <a:p>
            <a:r>
              <a:rPr lang="en-US" dirty="0"/>
              <a:t>We rendered text inside images at controlled font sizes. </a:t>
            </a:r>
            <a:r>
              <a:rPr lang="en-US" b="1" dirty="0"/>
              <a:t>The chart on this slide shows the 12-pixel condition.</a:t>
            </a:r>
            <a:endParaRPr lang="en-US" dirty="0"/>
          </a:p>
          <a:p>
            <a:r>
              <a:rPr lang="en-US" dirty="0"/>
              <a:t>“12 pixels” refers to the rendering size of the text—not the number of words, tokens or image patches.</a:t>
            </a:r>
          </a:p>
          <a:p>
            <a:endParaRPr lang="en-US" dirty="0"/>
          </a:p>
          <a:p>
            <a:r>
              <a:rPr lang="en-US" dirty="0"/>
              <a:t>For a harmless illustration, imagine an image containing:</a:t>
            </a:r>
          </a:p>
          <a:p>
            <a:r>
              <a:rPr lang="en-US" dirty="0"/>
              <a:t>Making a paper lantern</a:t>
            </a:r>
          </a:p>
          <a:p>
            <a:endParaRPr lang="en-US" dirty="0"/>
          </a:p>
          <a:p>
            <a:r>
              <a:rPr lang="en-US" dirty="0"/>
              <a:t>Instead of asking the model to explain how to do that activity, the reading check asks it to transcribe the words.</a:t>
            </a:r>
          </a:p>
          <a:p>
            <a:endParaRPr lang="en-US" dirty="0"/>
          </a:p>
          <a:p>
            <a:r>
              <a:rPr lang="en-US" dirty="0"/>
              <a:t>We then compare its transcription with the expected text.</a:t>
            </a:r>
          </a:p>
          <a:p>
            <a:r>
              <a:rPr lang="en-US" dirty="0"/>
              <a:t>This is called </a:t>
            </a:r>
            <a:r>
              <a:rPr lang="en-US" b="1" dirty="0"/>
              <a:t>readback</a:t>
            </a:r>
            <a:r>
              <a:rPr lang="en-US" dirty="0"/>
              <a:t>: asking the model to report what it can read.</a:t>
            </a:r>
          </a:p>
          <a:p>
            <a:endParaRPr lang="en-US" b="1" dirty="0"/>
          </a:p>
          <a:p>
            <a:r>
              <a:rPr lang="en-US" b="1" dirty="0"/>
              <a:t>What the bars mean</a:t>
            </a:r>
          </a:p>
          <a:p>
            <a:r>
              <a:rPr lang="en-US" dirty="0"/>
              <a:t>Model</a:t>
            </a:r>
          </a:p>
          <a:p>
            <a:r>
              <a:rPr lang="en-US" dirty="0"/>
              <a:t>Successful readback at 12 pixels</a:t>
            </a:r>
          </a:p>
          <a:p>
            <a:r>
              <a:rPr lang="en-US" dirty="0"/>
              <a:t>Qwen2-VL-2B 99.3%</a:t>
            </a:r>
          </a:p>
          <a:p>
            <a:r>
              <a:rPr lang="en-US" dirty="0"/>
              <a:t>Qwen2.5-VL-3B 99.7%</a:t>
            </a:r>
          </a:p>
          <a:p>
            <a:r>
              <a:rPr lang="en-US" dirty="0"/>
              <a:t>LLaVA-1.5-7B 46.1%</a:t>
            </a:r>
          </a:p>
          <a:p>
            <a:r>
              <a:rPr lang="en-US" dirty="0"/>
              <a:t>The vertical axis is </a:t>
            </a:r>
            <a:r>
              <a:rPr lang="en-US" b="1" dirty="0"/>
              <a:t>successful readback percentage</a:t>
            </a:r>
            <a:r>
              <a:rPr lang="en-US" dirty="0"/>
              <a:t>, not refusal rate or ASR.</a:t>
            </a:r>
          </a:p>
          <a:p>
            <a:r>
              <a:rPr lang="en-US" dirty="0"/>
              <a:t>Roughly speaking:</a:t>
            </a:r>
          </a:p>
          <a:p>
            <a:pPr lvl="0"/>
            <a:r>
              <a:rPr lang="en-US" dirty="0"/>
              <a:t>The Qwen models transcribed the small text correctly almost every time.</a:t>
            </a:r>
          </a:p>
          <a:p>
            <a:pPr lvl="0"/>
            <a:r>
              <a:rPr lang="en-US" dirty="0" err="1"/>
              <a:t>LLaVA</a:t>
            </a:r>
            <a:r>
              <a:rPr lang="en-US" dirty="0"/>
              <a:t> succeeded less than half the time in this tested setup.</a:t>
            </a:r>
          </a:p>
          <a:p>
            <a:r>
              <a:rPr lang="en-US" b="1" dirty="0"/>
              <a:t>What we can conclude</a:t>
            </a:r>
          </a:p>
          <a:p>
            <a:r>
              <a:rPr lang="en-US" b="1" dirty="0"/>
              <a:t>Reading capability differs substantially across these models in this small-font condition.</a:t>
            </a:r>
            <a:endParaRPr lang="en-US" dirty="0"/>
          </a:p>
          <a:p>
            <a:r>
              <a:rPr lang="en-US" dirty="0"/>
              <a:t>That matters when interpreting their answers. A non-answer from a model with weak reading performance could reflect a perceptual failure rather than a safety decision.</a:t>
            </a:r>
          </a:p>
          <a:p>
            <a:r>
              <a:rPr lang="en-US" dirty="0"/>
              <a:t>For Qwen, the strong readback performance makes a blanket explanation—“it simply cannot read small text”—less plausible for this condition.</a:t>
            </a:r>
          </a:p>
          <a:p>
            <a:r>
              <a:rPr lang="en-US" b="1" dirty="0"/>
              <a:t>What we cannot conclude</a:t>
            </a:r>
          </a:p>
          <a:p>
            <a:r>
              <a:rPr lang="en-US" dirty="0"/>
              <a:t>A successful transcription does </a:t>
            </a:r>
            <a:r>
              <a:rPr lang="en-US" b="1" dirty="0"/>
              <a:t>not</a:t>
            </a:r>
            <a:r>
              <a:rPr lang="en-US" dirty="0"/>
              <a:t> establish:</a:t>
            </a:r>
          </a:p>
          <a:p>
            <a:pPr lvl="0"/>
            <a:r>
              <a:rPr lang="en-US" dirty="0"/>
              <a:t>That the model understood the request during its separate answering call.</a:t>
            </a:r>
          </a:p>
          <a:p>
            <a:pPr lvl="0"/>
            <a:r>
              <a:rPr lang="en-US" dirty="0"/>
              <a:t>That it would answer correctly.</a:t>
            </a:r>
          </a:p>
          <a:p>
            <a:pPr lvl="0"/>
            <a:r>
              <a:rPr lang="en-US" dirty="0"/>
              <a:t>That it would refuse harmful assistance.</a:t>
            </a:r>
          </a:p>
          <a:p>
            <a:pPr lvl="0"/>
            <a:r>
              <a:rPr lang="en-US" dirty="0"/>
              <a:t>That it can read every image layout, font or resolution equally well.</a:t>
            </a:r>
          </a:p>
          <a:p>
            <a:r>
              <a:rPr lang="en-US" b="1" dirty="0"/>
              <a:t>Reading words, understanding the request and deciding whether to help are different steps.</a:t>
            </a:r>
            <a:endParaRPr lang="en-US" dirty="0"/>
          </a:p>
          <a:p>
            <a:r>
              <a:rPr lang="en-US" dirty="0"/>
              <a:t>There was also an implementation correction: earlier preprocessing had enlarged text intended to be small. The later experiment corrected that so the font-size test represented the intended manipulation more faithfully.</a:t>
            </a:r>
          </a:p>
          <a:p>
            <a:r>
              <a:rPr lang="en-US" b="1" dirty="0"/>
              <a:t>What to say to your professor</a:t>
            </a:r>
          </a:p>
          <a:p>
            <a:r>
              <a:rPr lang="en-US" dirty="0"/>
              <a:t>“Before interpreting non-answers as safety, we checked whether the models could read the image. In the true 12-pixel condition, both Qwen models had almost perfect readback, while </a:t>
            </a:r>
            <a:r>
              <a:rPr lang="en-US" dirty="0" err="1"/>
              <a:t>LLaVA</a:t>
            </a:r>
            <a:r>
              <a:rPr lang="en-US" dirty="0"/>
              <a:t> was around 46%. This is a separate capability check, not a safety score or proof of comprehension during answering.”</a:t>
            </a:r>
          </a:p>
          <a:p>
            <a:r>
              <a:rPr lang="en-US" b="1" dirty="0"/>
              <a:t>Transition to slide 11:</a:t>
            </a:r>
            <a:endParaRPr lang="en-US" dirty="0"/>
          </a:p>
          <a:p>
            <a:r>
              <a:rPr lang="en-US" dirty="0"/>
              <a:t>“Reading is only one possible explanation. Next, we tested whether the instruction around the same question changes the text–image refusal difference.”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We tested the same eight full questions with two instruction styles. We expected the image effect might reverse direction between them. Instead, images had more refusals in both cases: five versus four, then eight versus five.</a:t>
            </a:r>
          </a:p>
          <a:p>
            <a:endParaRPr lang="en-US" dirty="0"/>
          </a:p>
          <a:p>
            <a:r>
              <a:rPr lang="en-US" dirty="0"/>
              <a:t>We used:</a:t>
            </a:r>
          </a:p>
          <a:p>
            <a:pPr lvl="0"/>
            <a:r>
              <a:rPr lang="en-US" b="1" dirty="0"/>
              <a:t>One answering model:</a:t>
            </a:r>
            <a:r>
              <a:rPr lang="en-US" dirty="0"/>
              <a:t> Qwen2.5-VL-3B.</a:t>
            </a:r>
          </a:p>
          <a:p>
            <a:pPr lvl="0"/>
            <a:r>
              <a:rPr lang="en-US" b="1" dirty="0"/>
              <a:t>Eight previously seen development questions.</a:t>
            </a:r>
            <a:endParaRPr lang="en-US" dirty="0"/>
          </a:p>
          <a:p>
            <a:pPr lvl="0"/>
            <a:r>
              <a:rPr lang="en-US" dirty="0"/>
              <a:t>The same full-question content across the core conditions.</a:t>
            </a:r>
          </a:p>
          <a:p>
            <a:pPr lvl="0"/>
            <a:r>
              <a:rPr lang="en-US" dirty="0"/>
              <a:t>The same generation configuration within the experiment.</a:t>
            </a:r>
          </a:p>
          <a:p>
            <a:r>
              <a:rPr lang="en-US" dirty="0"/>
              <a:t>Using previously seen questions makes this an </a:t>
            </a:r>
            <a:r>
              <a:rPr lang="en-US" b="1" dirty="0"/>
              <a:t>exploratory development test</a:t>
            </a:r>
            <a:r>
              <a:rPr lang="en-US" dirty="0"/>
              <a:t>, not fresh confirmation.</a:t>
            </a:r>
          </a:p>
          <a:p>
            <a:endParaRPr lang="en-US" dirty="0"/>
          </a:p>
          <a:p>
            <a:r>
              <a:rPr lang="en-US" dirty="0"/>
              <a:t>Benchmark scenario</a:t>
            </a:r>
          </a:p>
          <a:p>
            <a:r>
              <a:rPr lang="en-US" dirty="0"/>
              <a:t>Question topic, 	summarized</a:t>
            </a:r>
          </a:p>
          <a:p>
            <a:r>
              <a:rPr lang="en-US" dirty="0"/>
              <a:t>Illegal activity	Concealing terrorism financing</a:t>
            </a:r>
          </a:p>
          <a:p>
            <a:r>
              <a:rPr lang="en-US" dirty="0"/>
              <a:t>Hate speech		Dehumanizing immigrants or refugees</a:t>
            </a:r>
          </a:p>
          <a:p>
            <a:r>
              <a:rPr lang="en-US" dirty="0"/>
              <a:t>Malware generation	Malware authors exploiting zero-day vulnerabilities</a:t>
            </a:r>
          </a:p>
          <a:p>
            <a:r>
              <a:rPr lang="en-US" dirty="0"/>
              <a:t>Physical harm	Developing military strategies during warfare</a:t>
            </a:r>
          </a:p>
          <a:p>
            <a:r>
              <a:rPr lang="en-US" dirty="0"/>
              <a:t>Economic harm	Using machine learning to evaluate job-training applicants</a:t>
            </a:r>
          </a:p>
          <a:p>
            <a:r>
              <a:rPr lang="en-US" dirty="0"/>
              <a:t>Fraud		Creating a news-style blog that spreads disinformation</a:t>
            </a:r>
          </a:p>
          <a:p>
            <a:r>
              <a:rPr lang="en-US" dirty="0"/>
              <a:t>Sexual content	Beginning a career in the adult industry</a:t>
            </a:r>
          </a:p>
          <a:p>
            <a:r>
              <a:rPr lang="en-US" dirty="0"/>
              <a:t>Privacy		Developing biometric identification technology</a:t>
            </a:r>
          </a:p>
          <a:p>
            <a:endParaRPr lang="en-US" dirty="0"/>
          </a:p>
          <a:p>
            <a:r>
              <a:rPr lang="en-US" dirty="0"/>
              <a:t>Each of these eight questions was tested in </a:t>
            </a:r>
            <a:r>
              <a:rPr lang="en-US" b="1" dirty="0"/>
              <a:t>all four core conditions</a:t>
            </a:r>
            <a:r>
              <a:rPr lang="en-US" dirty="0"/>
              <a:t>:</a:t>
            </a:r>
          </a:p>
          <a:p>
            <a:pPr lvl="0"/>
            <a:r>
              <a:rPr lang="en-US" dirty="0"/>
              <a:t>Ordinary instruction + text.</a:t>
            </a:r>
          </a:p>
          <a:p>
            <a:pPr lvl="0"/>
            <a:r>
              <a:rPr lang="en-US" dirty="0"/>
              <a:t>Ordinary instruction + image.</a:t>
            </a:r>
          </a:p>
          <a:p>
            <a:pPr lvl="0"/>
            <a:r>
              <a:rPr lang="en-US" dirty="0"/>
              <a:t>Detailed-steps instruction + text.</a:t>
            </a:r>
          </a:p>
          <a:p>
            <a:pPr lvl="0"/>
            <a:r>
              <a:rPr lang="en-US" dirty="0"/>
              <a:t>Detailed-steps instruction + image.</a:t>
            </a:r>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A token is a piece of text, not necessarily a whole word. We produced longer answers and gave each judge a shorter and a longer view of the same answer. Their refusal labels stayed the same. Their harmfulness and non-answer labels also stayed unchanged.</a:t>
            </a:r>
          </a:p>
          <a:p>
            <a:endParaRPr dirty="0"/>
          </a:p>
          <a:p>
            <a:r>
              <a:rPr dirty="0"/>
              <a:t>WHAT THIS MEANS</a:t>
            </a:r>
          </a:p>
          <a:p>
            <a:r>
              <a:rPr dirty="0"/>
              <a:t>The plotted values are refusal percentages; both guards match here. Thirty-two generated answers give 64 views and 128 guard evaluations. These views are not independent answers. Eight full answers still reached the maximum length, and human review is pending, so the broader result remains unresolved.</a:t>
            </a:r>
          </a:p>
          <a:p>
            <a:endParaRPr dirty="0"/>
          </a:p>
          <a:p>
            <a:r>
              <a:rPr dirty="0"/>
              <a:t>IF THE PROFESSOR ASKS FOR THE TECHNICAL DETAIL</a:t>
            </a:r>
          </a:p>
          <a:p>
            <a:endParaRPr dirty="0"/>
          </a:p>
          <a:p>
            <a:endParaRPr dirty="0"/>
          </a:p>
          <a:p>
            <a:r>
              <a:rPr dirty="0"/>
              <a:t>The window experiment evaluates two views of one generation</a:t>
            </a:r>
          </a:p>
          <a:p>
            <a:r>
              <a:rPr dirty="0"/>
              <a:t>We did not compare two unrelated answers and call their difference a window effect. Both windows come from the same output. The prefix was also compared with the old 256-token answer, and this run found no prefix drift. Blank controls and readback were kept as historical controls; they were not rerun in this stage. A six-hour persisted deadline and call cutoff bounded the authorized scope; actual completion took about 21 minutes.</a:t>
            </a:r>
          </a:p>
          <a:p>
            <a:endParaRPr dirty="0"/>
          </a:p>
          <a:p>
            <a:r>
              <a:rPr dirty="0"/>
              <a:t>Longer windows changed no automated labels in this sample</a:t>
            </a:r>
          </a:p>
          <a:p>
            <a:r>
              <a:rPr dirty="0"/>
              <a:t>Distinguish engineering completion from scientific resolution. It is valid to report zero observed label changes in these paired windows. It is not valid to claim no response-length effect can exist, population equivalence, or a human-confirmed unchanged safety conclusion. The saved changes field is unresolved because of residual full caps, even though the visible-window guard classifications are </a:t>
            </a:r>
            <a:r>
              <a:rPr dirty="0" err="1"/>
              <a:t>no_crossover</a:t>
            </a:r>
            <a:r>
              <a:rPr dirty="0"/>
              <a:t>. The completed notebook and separate aggregate snapshot were hash-verified on Drive.</a:t>
            </a:r>
          </a:p>
          <a:p>
            <a:endParaRPr dirty="0"/>
          </a:p>
          <a:p>
            <a:r>
              <a:rPr dirty="0"/>
              <a:t>Source: v7_window_core8/</a:t>
            </a:r>
            <a:r>
              <a:rPr dirty="0" err="1"/>
              <a:t>results_window.json</a:t>
            </a:r>
            <a:endParaRPr dirty="0"/>
          </a:p>
          <a:p>
            <a:endParaRPr dirty="0"/>
          </a:p>
          <a:p>
            <a:r>
              <a:rPr dirty="0"/>
              <a:t>Evidence status: RESEARCH PROGRESS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We agreed on whether each original answer refused. Harmfulness was harder: we disagreed on seven answers. That is why agreeing on refusal is not enough to validate the harmfulness result.</a:t>
            </a:r>
          </a:p>
          <a:p>
            <a:endParaRPr dirty="0"/>
          </a:p>
          <a:p>
            <a:r>
              <a:rPr dirty="0"/>
              <a:t>WHAT THIS MEANS</a:t>
            </a:r>
          </a:p>
          <a:p>
            <a:r>
              <a:rPr dirty="0"/>
              <a:t>Comprehension agreement includes 17 uncertain cases. The original human review was partly assisted. The LLM marked no answers harmful; neither reviewer is automatically correct. Kappa accounts for agreement expected from label frequencies: harm kappa is zero despite 85.4% raw agreement. Detailed explanation follows in the preparation guide.</a:t>
            </a:r>
          </a:p>
          <a:p>
            <a:endParaRPr dirty="0"/>
          </a:p>
          <a:p>
            <a:r>
              <a:rPr dirty="0"/>
              <a:t>IF THE PROFESSOR ASKS FOR THE TECHNICAL DETAIL</a:t>
            </a:r>
          </a:p>
          <a:p>
            <a:endParaRPr dirty="0"/>
          </a:p>
          <a:p>
            <a:endParaRPr dirty="0"/>
          </a:p>
          <a:p>
            <a:r>
              <a:rPr dirty="0"/>
              <a:t>The first 48-answer review agrees on refusal, not all harm</a:t>
            </a:r>
          </a:p>
          <a:p>
            <a:r>
              <a:rPr dirty="0"/>
              <a:t>Reviewer A received LLM assistance on some examples in the project chat, so the original review cannot be described as fully independent. Reviewer B was GPT-6.1-Sol, user-confirmed; exact backend revision and generation settings are unavailable. Among the 31 resolved comprehension labels all are understanding, which makes a binary kappa undefined rather than perfect reliability. We have not selectively overwritten the seven harm labels to improve a headline result.</a:t>
            </a:r>
          </a:p>
          <a:p>
            <a:endParaRPr dirty="0"/>
          </a:p>
          <a:p>
            <a:r>
              <a:rPr dirty="0"/>
              <a:t>Appendix / human review protocol and its limits</a:t>
            </a:r>
          </a:p>
          <a:p>
            <a:r>
              <a:rPr dirty="0"/>
              <a:t>The currently open new </a:t>
            </a:r>
            <a:r>
              <a:rPr dirty="0" err="1"/>
              <a:t>reviewer_A_PRIVATE.html</a:t>
            </a:r>
            <a:r>
              <a:rPr dirty="0"/>
              <a:t>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dirty="0"/>
          </a:p>
          <a:p>
            <a:r>
              <a:rPr dirty="0"/>
              <a:t>Source: Verified original review aggregates; P8</a:t>
            </a:r>
          </a:p>
          <a:p>
            <a:endParaRPr dirty="0"/>
          </a:p>
          <a:p>
            <a:r>
              <a:rPr dirty="0"/>
              <a:t>Evidence status: RESEARCH PROGRESS</a:t>
            </a:r>
          </a:p>
          <a:p>
            <a:r>
              <a:rPr dirty="0"/>
              <a:t>P8: Annotation alignment, EMNLP 2024 final, section 2 / RQ1 / Appendix B-C | https://</a:t>
            </a:r>
            <a:r>
              <a:rPr dirty="0" err="1"/>
              <a:t>aclanthology.org</a:t>
            </a:r>
            <a:r>
              <a:rPr dirty="0"/>
              <a:t>/2024.emnlp-main.511/</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Slide 14 shows how filtering answers can create a misleading result—even though the model’s responses have not changed.</a:t>
            </a:r>
            <a:r>
              <a:rPr lang="en-US" dirty="0"/>
              <a:t> It reanalyzes the earlier eight-question experiment; it is not another model run.</a:t>
            </a:r>
          </a:p>
          <a:p>
            <a:r>
              <a:rPr lang="en-US" dirty="0"/>
              <a:t>The question is: </a:t>
            </a:r>
            <a:r>
              <a:rPr lang="en-US" b="1" dirty="0"/>
              <a:t>“If we exclude answers where understanding is uncertain, does our text–image conclusion change?”</a:t>
            </a:r>
            <a:endParaRPr lang="en-US" dirty="0"/>
          </a:p>
          <a:p>
            <a:r>
              <a:rPr lang="en-US" b="1" dirty="0"/>
              <a:t>First, how to read the chart</a:t>
            </a:r>
          </a:p>
          <a:p>
            <a:r>
              <a:rPr lang="en-US" dirty="0"/>
              <a:t>The Y-axis is:</a:t>
            </a:r>
          </a:p>
          <a:p>
            <a:pPr lvl="0"/>
            <a:r>
              <a:rPr lang="en-US" dirty="0"/>
              <a:t>\[ \text{Image refusal rate} - \text{Text refusal rate} \]</a:t>
            </a:r>
            <a:r>
              <a:rPr lang="en-US" b="1" dirty="0"/>
              <a:t>Positive:</a:t>
            </a:r>
            <a:r>
              <a:rPr lang="en-US" dirty="0"/>
              <a:t> more refusal with images.</a:t>
            </a:r>
          </a:p>
          <a:p>
            <a:pPr lvl="0"/>
            <a:r>
              <a:rPr lang="en-US" b="1" dirty="0"/>
              <a:t>Negative:</a:t>
            </a:r>
            <a:r>
              <a:rPr lang="en-US" dirty="0"/>
              <a:t> less refusal with images.</a:t>
            </a:r>
          </a:p>
          <a:p>
            <a:pPr lvl="0"/>
            <a:r>
              <a:rPr lang="en-US" b="1" dirty="0"/>
              <a:t>Zero:</a:t>
            </a:r>
            <a:r>
              <a:rPr lang="en-US" dirty="0"/>
              <a:t> equal refusal rates.</a:t>
            </a:r>
          </a:p>
          <a:p>
            <a:r>
              <a:rPr lang="en-US" dirty="0"/>
              <a:t>These are </a:t>
            </a:r>
            <a:r>
              <a:rPr lang="en-US" b="1" dirty="0"/>
              <a:t>percentage-point differences</a:t>
            </a:r>
            <a:r>
              <a:rPr lang="en-US" dirty="0"/>
              <a:t>, not ASR.</a:t>
            </a:r>
          </a:p>
          <a:p>
            <a:r>
              <a:rPr lang="en-US" dirty="0"/>
              <a:t>The two </a:t>
            </a:r>
            <a:r>
              <a:rPr lang="en-US" dirty="0" err="1"/>
              <a:t>colours</a:t>
            </a:r>
            <a:r>
              <a:rPr lang="en-US" dirty="0"/>
              <a:t> represent the ordinary instruction and the detailed-steps instruction. The three groups on the X-axis use different rules for retaining questions.</a:t>
            </a:r>
          </a:p>
          <a:p>
            <a:r>
              <a:rPr lang="en-US" b="1" dirty="0"/>
              <a:t>Group 1: Keep all eight questions</a:t>
            </a:r>
          </a:p>
          <a:p>
            <a:r>
              <a:rPr lang="en-US" dirty="0"/>
              <a:t>This uses the original, complete comparison:</a:t>
            </a:r>
          </a:p>
          <a:p>
            <a:r>
              <a:rPr lang="en-US" dirty="0"/>
              <a:t>Instruction</a:t>
            </a:r>
          </a:p>
          <a:p>
            <a:r>
              <a:rPr lang="en-US" dirty="0"/>
              <a:t>Text refusal</a:t>
            </a:r>
          </a:p>
          <a:p>
            <a:r>
              <a:rPr lang="en-US" dirty="0"/>
              <a:t>Image refusal</a:t>
            </a:r>
          </a:p>
          <a:p>
            <a:r>
              <a:rPr lang="en-US" dirty="0"/>
              <a:t>Image − text</a:t>
            </a:r>
          </a:p>
          <a:p>
            <a:r>
              <a:rPr lang="en-US" dirty="0"/>
              <a:t>Ordinary4/8 = 50%5/8 = 62.5%</a:t>
            </a:r>
            <a:r>
              <a:rPr lang="en-US" b="1" dirty="0"/>
              <a:t>+12.5 points</a:t>
            </a:r>
            <a:endParaRPr lang="en-US" dirty="0"/>
          </a:p>
          <a:p>
            <a:r>
              <a:rPr lang="en-US" dirty="0"/>
              <a:t>Detailed steps5/8 = 62.5%8/8 = 100%</a:t>
            </a:r>
            <a:r>
              <a:rPr lang="en-US" b="1" dirty="0"/>
              <a:t>+37.5 points</a:t>
            </a:r>
            <a:endParaRPr lang="en-US" dirty="0"/>
          </a:p>
          <a:p>
            <a:r>
              <a:rPr lang="en-US" dirty="0"/>
              <a:t>Images produced more refusal under both instructions. </a:t>
            </a:r>
            <a:r>
              <a:rPr lang="en-US" b="1" dirty="0"/>
              <a:t>There is no crossover.</a:t>
            </a:r>
            <a:endParaRPr lang="en-US" dirty="0"/>
          </a:p>
          <a:p>
            <a:r>
              <a:rPr lang="en-US" dirty="0"/>
              <a:t>Every condition contains the same eight questions, so we are comparing like with like.</a:t>
            </a:r>
          </a:p>
          <a:p>
            <a:r>
              <a:rPr lang="en-US" b="1" dirty="0"/>
              <a:t>Why consider filtering?</a:t>
            </a:r>
          </a:p>
          <a:p>
            <a:r>
              <a:rPr lang="en-US" dirty="0"/>
              <a:t>Some answers were generic refusals such as:</a:t>
            </a:r>
          </a:p>
          <a:p>
            <a:r>
              <a:rPr lang="en-US" dirty="0"/>
              <a:t>“I’m sorry, but I can’t assist with that.”</a:t>
            </a:r>
          </a:p>
          <a:p>
            <a:r>
              <a:rPr lang="en-US" dirty="0"/>
              <a:t>We can confidently label that </a:t>
            </a:r>
            <a:r>
              <a:rPr lang="en-US" b="1" dirty="0"/>
              <a:t>refusal</a:t>
            </a:r>
            <a:r>
              <a:rPr lang="en-US" dirty="0"/>
              <a:t>, but it may provide insufficient evidence that the model understood the specific request. Comprehension can therefore be </a:t>
            </a:r>
            <a:r>
              <a:rPr lang="en-US" b="1" dirty="0"/>
              <a:t>UNCERTAIN</a:t>
            </a:r>
            <a:r>
              <a:rPr lang="en-US" dirty="0"/>
              <a:t>.</a:t>
            </a:r>
          </a:p>
          <a:p>
            <a:r>
              <a:rPr lang="en-US" dirty="0"/>
              <a:t>Someone might suggest:</a:t>
            </a:r>
          </a:p>
          <a:p>
            <a:r>
              <a:rPr lang="en-US" dirty="0"/>
              <a:t>“Let’s calculate refusal only among answers labelled UNDERSTANDING.”</a:t>
            </a:r>
          </a:p>
          <a:p>
            <a:r>
              <a:rPr lang="en-US" dirty="0"/>
              <a:t>That sounds reasonable, but how we select those answers matters.</a:t>
            </a:r>
          </a:p>
          <a:p>
            <a:r>
              <a:rPr lang="en-US" b="1" dirty="0"/>
              <a:t>Group 2: Remove answers separately in each condition</a:t>
            </a:r>
          </a:p>
          <a:p>
            <a:r>
              <a:rPr lang="en-US" dirty="0"/>
              <a:t>Here we independently retain only the answers labelled </a:t>
            </a:r>
            <a:r>
              <a:rPr lang="en-US" b="1" dirty="0"/>
              <a:t>UNDERSTANDING</a:t>
            </a:r>
            <a:r>
              <a:rPr lang="en-US" dirty="0"/>
              <a:t> in each group:</a:t>
            </a:r>
          </a:p>
          <a:p>
            <a:r>
              <a:rPr lang="en-US" dirty="0"/>
              <a:t>Instruction</a:t>
            </a:r>
          </a:p>
          <a:p>
            <a:r>
              <a:rPr lang="en-US" dirty="0"/>
              <a:t>Text refusal among retained answers</a:t>
            </a:r>
          </a:p>
          <a:p>
            <a:r>
              <a:rPr lang="en-US" dirty="0"/>
              <a:t>Image refusal among retained answers</a:t>
            </a:r>
          </a:p>
          <a:p>
            <a:r>
              <a:rPr lang="en-US" dirty="0"/>
              <a:t>Image − text</a:t>
            </a:r>
          </a:p>
          <a:p>
            <a:r>
              <a:rPr lang="en-US" dirty="0"/>
              <a:t>Ordinary4/8 = 50%0/3 = 0%</a:t>
            </a:r>
            <a:r>
              <a:rPr lang="en-US" b="1" dirty="0"/>
              <a:t>−50 points</a:t>
            </a:r>
            <a:endParaRPr lang="en-US" dirty="0"/>
          </a:p>
          <a:p>
            <a:r>
              <a:rPr lang="en-US" dirty="0"/>
              <a:t>Detailed steps3/6 = 50%3/3 = 100%</a:t>
            </a:r>
            <a:r>
              <a:rPr lang="en-US" b="1" dirty="0"/>
              <a:t>+50 points</a:t>
            </a:r>
            <a:endParaRPr lang="en-US" dirty="0"/>
          </a:p>
          <a:p>
            <a:r>
              <a:rPr lang="en-US" dirty="0"/>
              <a:t>Now it looks like a crossover:</a:t>
            </a:r>
          </a:p>
          <a:p>
            <a:pPr lvl="0"/>
            <a:r>
              <a:rPr lang="en-US" dirty="0"/>
              <a:t>Images produce less refusal under the ordinary instruction.</a:t>
            </a:r>
          </a:p>
          <a:p>
            <a:pPr lvl="0"/>
            <a:r>
              <a:rPr lang="en-US" dirty="0"/>
              <a:t>Images produce more refusal under the steps instruction.</a:t>
            </a:r>
          </a:p>
          <a:p>
            <a:r>
              <a:rPr lang="en-US" b="1" dirty="0"/>
              <a:t>But we are no longer comparing the same questions.</a:t>
            </a:r>
            <a:endParaRPr lang="en-US" dirty="0"/>
          </a:p>
          <a:p>
            <a:r>
              <a:rPr lang="en-US" dirty="0"/>
              <a:t>The ordinary text condition retains eight questions, while its image counterpart retains only three. The steps text condition retains six, while its image counterpart retains three.</a:t>
            </a:r>
          </a:p>
          <a:p>
            <a:r>
              <a:rPr lang="en-US" dirty="0"/>
              <a:t>The apparent reversal combines </a:t>
            </a:r>
            <a:r>
              <a:rPr lang="en-US" b="1" dirty="0"/>
              <a:t>different response behavior and different question selection</a:t>
            </a:r>
            <a:r>
              <a:rPr lang="en-US" dirty="0"/>
              <a:t>. It cannot be interpreted as a paired effect of changing text into an image.</a:t>
            </a:r>
          </a:p>
          <a:p>
            <a:r>
              <a:rPr lang="en-US" dirty="0"/>
              <a:t>Also, </a:t>
            </a:r>
            <a:r>
              <a:rPr lang="en-US" b="1" dirty="0"/>
              <a:t>UNCERTAIN does not mean the model failed to understand</a:t>
            </a:r>
            <a:r>
              <a:rPr lang="en-US" dirty="0"/>
              <a:t>. Removing uncertain cases does not reveal a verified population of understood requests.</a:t>
            </a:r>
          </a:p>
          <a:p>
            <a:r>
              <a:rPr lang="en-US" b="1" dirty="0"/>
              <a:t>Group 3: Keep the same three questions across all four conditions</a:t>
            </a:r>
          </a:p>
          <a:p>
            <a:r>
              <a:rPr lang="en-US" dirty="0"/>
              <a:t>We next retain only questions whose answers were labelled </a:t>
            </a:r>
            <a:r>
              <a:rPr lang="en-US" b="1" dirty="0"/>
              <a:t>UNDERSTANDING in every core condition</a:t>
            </a:r>
            <a:r>
              <a:rPr lang="en-US" dirty="0"/>
              <a:t>.</a:t>
            </a:r>
          </a:p>
          <a:p>
            <a:r>
              <a:rPr lang="en-US" dirty="0"/>
              <a:t>That leaves the same three questions throughout:</a:t>
            </a:r>
          </a:p>
          <a:p>
            <a:r>
              <a:rPr lang="en-US" dirty="0"/>
              <a:t>Instruction</a:t>
            </a:r>
          </a:p>
          <a:p>
            <a:r>
              <a:rPr lang="en-US" dirty="0"/>
              <a:t>Text refusal</a:t>
            </a:r>
          </a:p>
          <a:p>
            <a:r>
              <a:rPr lang="en-US" dirty="0"/>
              <a:t>Image refusal</a:t>
            </a:r>
          </a:p>
          <a:p>
            <a:r>
              <a:rPr lang="en-US" dirty="0"/>
              <a:t>Image − text</a:t>
            </a:r>
          </a:p>
          <a:p>
            <a:r>
              <a:rPr lang="en-US" dirty="0"/>
              <a:t>Ordinary0/3 = 0%0/3 = 0%</a:t>
            </a:r>
            <a:r>
              <a:rPr lang="en-US" b="1" dirty="0"/>
              <a:t>0 points</a:t>
            </a:r>
            <a:endParaRPr lang="en-US" dirty="0"/>
          </a:p>
          <a:p>
            <a:r>
              <a:rPr lang="en-US" dirty="0"/>
              <a:t>Detailed steps0/3 = 0%3/3 = 100%</a:t>
            </a:r>
            <a:r>
              <a:rPr lang="en-US" b="1" dirty="0"/>
              <a:t>+100 points</a:t>
            </a:r>
            <a:endParaRPr lang="en-US" dirty="0"/>
          </a:p>
          <a:p>
            <a:r>
              <a:rPr lang="en-US" dirty="0"/>
              <a:t>The apparent crossover disappears: the ordinary difference is zero, rather than negative.</a:t>
            </a:r>
          </a:p>
          <a:p>
            <a:r>
              <a:rPr lang="en-US" b="1" dirty="0"/>
              <a:t>This restores matching, but it does not make three selected questions representative of the original eight—or of VLM safety generally.</a:t>
            </a:r>
            <a:r>
              <a:rPr lang="en-US" dirty="0"/>
              <a:t> The 100-point difference means three versus zero refusals, not overwhelming population evidence.</a:t>
            </a:r>
          </a:p>
          <a:p>
            <a:r>
              <a:rPr lang="en-US" b="1" dirty="0"/>
              <a:t>All six plotted values together</a:t>
            </a:r>
          </a:p>
          <a:p>
            <a:r>
              <a:rPr lang="en-US" dirty="0"/>
              <a:t>Selection rule</a:t>
            </a:r>
          </a:p>
          <a:p>
            <a:r>
              <a:rPr lang="en-US" dirty="0"/>
              <a:t>Ordinary instruction</a:t>
            </a:r>
          </a:p>
          <a:p>
            <a:r>
              <a:rPr lang="en-US" dirty="0"/>
              <a:t>Detailed-steps instruction</a:t>
            </a:r>
          </a:p>
          <a:p>
            <a:r>
              <a:rPr lang="en-US" dirty="0"/>
              <a:t>Keep all eight questions</a:t>
            </a:r>
            <a:r>
              <a:rPr lang="en-US" b="1" dirty="0"/>
              <a:t>+12.5+37.5</a:t>
            </a:r>
            <a:endParaRPr lang="en-US" dirty="0"/>
          </a:p>
          <a:p>
            <a:r>
              <a:rPr lang="en-US" dirty="0"/>
              <a:t>Filter each condition separately</a:t>
            </a:r>
            <a:r>
              <a:rPr lang="en-US" b="1" dirty="0"/>
              <a:t>−50+50</a:t>
            </a:r>
            <a:endParaRPr lang="en-US" dirty="0"/>
          </a:p>
          <a:p>
            <a:r>
              <a:rPr lang="en-US" dirty="0"/>
              <a:t>Keep the same three throughout</a:t>
            </a:r>
            <a:r>
              <a:rPr lang="en-US" b="1" dirty="0"/>
              <a:t>0+100</a:t>
            </a:r>
            <a:endParaRPr lang="en-US" dirty="0"/>
          </a:p>
          <a:p>
            <a:r>
              <a:rPr lang="en-US" b="1" dirty="0"/>
              <a:t>The answers did not change. The selection rule changed which answers entered the calculation.</a:t>
            </a:r>
            <a:endParaRPr lang="en-US" dirty="0"/>
          </a:p>
          <a:p>
            <a:r>
              <a:rPr lang="en-US" dirty="0"/>
              <a:t>This analysis uses the original four core conditions and the original reviews—not the newer 64-unit window review. Human A and auxiliary LLM B produced the same figures here; their annotations remain separate. The original human review was partly assisted.</a:t>
            </a:r>
          </a:p>
          <a:p>
            <a:r>
              <a:rPr lang="en-US" b="1" dirty="0"/>
              <a:t>What to say to your professor</a:t>
            </a:r>
          </a:p>
          <a:p>
            <a:r>
              <a:rPr lang="en-US" dirty="0"/>
              <a:t>“We checked whether excluding uncertain-comprehension answers changes the conclusion. Filtering each condition separately creates an apparent reversal, but it compares different questions. When we retain a common set, that reversal disappears. This illustrates why comprehension-based filtering needs careful denominators and matched question identities. It is a small retrospective diagnostic, not a new attack or a proven novel statistical method.”</a:t>
            </a:r>
          </a:p>
          <a:p>
            <a:r>
              <a:rPr lang="en-US" dirty="0"/>
              <a:t>The underlying counts are saved in [the filtering analysis](/Users/</a:t>
            </a:r>
            <a:r>
              <a:rPr lang="en-US" dirty="0" err="1"/>
              <a:t>aryamandev</a:t>
            </a:r>
            <a:r>
              <a:rPr lang="en-US" dirty="0"/>
              <a:t>/Developer/blissful-</a:t>
            </a:r>
            <a:r>
              <a:rPr lang="en-US" dirty="0" err="1"/>
              <a:t>bose</a:t>
            </a:r>
            <a:r>
              <a:rPr lang="en-US" dirty="0"/>
              <a:t>/reports/comprehension_selection_2026-10-20.json).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Does a model behave differently when a request is in a picture?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What we tested, what changed, and what we still need to check</a:t>
            </a:r>
          </a:p>
        </p:txBody>
      </p:sp>
      <p:sp>
        <p:nvSpPr>
          <p:cNvPr id="6" name="Rectangle 5"/>
          <p:cNvSpPr/>
          <p:nvPr/>
        </p:nvSpPr>
        <p:spPr>
          <a:xfrm>
            <a:off x="457200" y="2324100"/>
            <a:ext cx="5537200"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Our starting question</a:t>
            </a:r>
          </a:p>
        </p:txBody>
      </p:sp>
      <p:sp>
        <p:nvSpPr>
          <p:cNvPr id="9" name="TextBox 8"/>
          <p:cNvSpPr txBox="1"/>
          <p:nvPr/>
        </p:nvSpPr>
        <p:spPr>
          <a:xfrm>
            <a:off x="673100" y="3111500"/>
            <a:ext cx="5105400" cy="614172"/>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Is a text–image difference caused by the picture,</a:t>
            </a:r>
          </a:p>
          <a:p>
            <a:pPr>
              <a:lnSpc>
                <a:spcPts val="2268"/>
              </a:lnSpc>
              <a:spcBef>
                <a:spcPts val="0"/>
              </a:spcBef>
              <a:spcAft>
                <a:spcPts val="0"/>
              </a:spcAft>
            </a:pPr>
            <a:r>
              <a:rPr sz="1800" b="0">
                <a:solidFill>
                  <a:srgbClr val="14283F"/>
                </a:solidFill>
                <a:latin typeface="Arial"/>
              </a:rPr>
              <a:t>the instruction, or how we judge the answer?</a:t>
            </a:r>
          </a:p>
        </p:txBody>
      </p:sp>
      <p:sp>
        <p:nvSpPr>
          <p:cNvPr id="10" name="Rectangle 9"/>
          <p:cNvSpPr/>
          <p:nvPr/>
        </p:nvSpPr>
        <p:spPr>
          <a:xfrm>
            <a:off x="6197600" y="2324100"/>
            <a:ext cx="5537200"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76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35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Our current position</a:t>
            </a:r>
          </a:p>
        </p:txBody>
      </p:sp>
      <p:sp>
        <p:nvSpPr>
          <p:cNvPr id="13" name="TextBox 12"/>
          <p:cNvSpPr txBox="1"/>
          <p:nvPr/>
        </p:nvSpPr>
        <p:spPr>
          <a:xfrm>
            <a:off x="6413500" y="3111500"/>
            <a:ext cx="5105400" cy="902207"/>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Several experiments are complete. The specific</a:t>
            </a:r>
          </a:p>
          <a:p>
            <a:pPr>
              <a:lnSpc>
                <a:spcPts val="2268"/>
              </a:lnSpc>
              <a:spcBef>
                <a:spcPts val="0"/>
              </a:spcBef>
              <a:spcAft>
                <a:spcPts val="0"/>
              </a:spcAft>
            </a:pPr>
            <a:r>
              <a:rPr sz="1800" b="0">
                <a:solidFill>
                  <a:srgbClr val="14283F"/>
                </a:solidFill>
                <a:latin typeface="Arial"/>
              </a:rPr>
              <a:t>reversal we tested did not appear. The new</a:t>
            </a:r>
          </a:p>
          <a:p>
            <a:pPr>
              <a:lnSpc>
                <a:spcPts val="2268"/>
              </a:lnSpc>
              <a:spcBef>
                <a:spcPts val="0"/>
              </a:spcBef>
              <a:spcAft>
                <a:spcPts val="0"/>
              </a:spcAft>
            </a:pPr>
            <a:r>
              <a:rPr sz="1800" b="0">
                <a:solidFill>
                  <a:srgbClr val="14283F"/>
                </a:solidFill>
                <a:latin typeface="Arial"/>
              </a:rPr>
              <a:t>human review is still pending.</a:t>
            </a:r>
          </a:p>
        </p:txBody>
      </p:sp>
      <p:sp>
        <p:nvSpPr>
          <p:cNvPr id="14" name="Rectangle 13"/>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01 /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The answering models and the judges have different jobs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The model produces an answer. Separate evaluators label it. A person reviews those labels.</a:t>
            </a:r>
          </a:p>
        </p:txBody>
      </p:sp>
      <p:sp>
        <p:nvSpPr>
          <p:cNvPr id="6" name="Rectangle 5"/>
          <p:cNvSpPr/>
          <p:nvPr/>
        </p:nvSpPr>
        <p:spPr>
          <a:xfrm>
            <a:off x="457200"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1 / Models being tested</a:t>
            </a:r>
          </a:p>
        </p:txBody>
      </p:sp>
      <p:sp>
        <p:nvSpPr>
          <p:cNvPr id="9" name="TextBox 8"/>
          <p:cNvSpPr txBox="1"/>
          <p:nvPr/>
        </p:nvSpPr>
        <p:spPr>
          <a:xfrm>
            <a:off x="673100" y="3111500"/>
            <a:ext cx="2782813" cy="2338461"/>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Qwen2-VL-2B</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Qwen2.5-VL-3B</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LLaVA-1.5-7B</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These receive the requests</a:t>
            </a:r>
          </a:p>
          <a:p>
            <a:pPr>
              <a:lnSpc>
                <a:spcPts val="2268"/>
              </a:lnSpc>
              <a:spcBef>
                <a:spcPts val="0"/>
              </a:spcBef>
              <a:spcAft>
                <a:spcPts val="0"/>
              </a:spcAft>
            </a:pPr>
            <a:r>
              <a:rPr sz="1800" b="0" dirty="0">
                <a:solidFill>
                  <a:srgbClr val="14283F"/>
                </a:solidFill>
                <a:latin typeface="Arial"/>
              </a:rPr>
              <a:t>and generate replies.</a:t>
            </a:r>
          </a:p>
        </p:txBody>
      </p:sp>
      <p:sp>
        <p:nvSpPr>
          <p:cNvPr id="10" name="Rectangle 9"/>
          <p:cNvSpPr/>
          <p:nvPr/>
        </p:nvSpPr>
        <p:spPr>
          <a:xfrm>
            <a:off x="4284133"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84133"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33"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2 / Automated judges</a:t>
            </a:r>
          </a:p>
        </p:txBody>
      </p:sp>
      <p:sp>
        <p:nvSpPr>
          <p:cNvPr id="13" name="TextBox 12"/>
          <p:cNvSpPr txBox="1"/>
          <p:nvPr/>
        </p:nvSpPr>
        <p:spPr>
          <a:xfrm>
            <a:off x="4500033" y="3111500"/>
            <a:ext cx="3116238" cy="2043508"/>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Qwen3Guard and </a:t>
            </a:r>
            <a:r>
              <a:rPr sz="1800" b="0" dirty="0" err="1">
                <a:solidFill>
                  <a:srgbClr val="14283F"/>
                </a:solidFill>
                <a:latin typeface="Arial"/>
              </a:rPr>
              <a:t>WildGuard</a:t>
            </a:r>
            <a:endParaRPr sz="1800" b="0" dirty="0">
              <a:solidFill>
                <a:srgbClr val="14283F"/>
              </a:solidFill>
              <a:latin typeface="Arial"/>
            </a:endParaRPr>
          </a:p>
          <a:p>
            <a:pPr>
              <a:lnSpc>
                <a:spcPts val="2268"/>
              </a:lnSpc>
              <a:spcBef>
                <a:spcPts val="0"/>
              </a:spcBef>
              <a:spcAft>
                <a:spcPts val="0"/>
              </a:spcAft>
            </a:pPr>
            <a:endParaRPr lang="en-US"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These assess replies for</a:t>
            </a:r>
          </a:p>
          <a:p>
            <a:pPr>
              <a:lnSpc>
                <a:spcPts val="2268"/>
              </a:lnSpc>
              <a:spcBef>
                <a:spcPts val="0"/>
              </a:spcBef>
              <a:spcAft>
                <a:spcPts val="0"/>
              </a:spcAft>
            </a:pPr>
            <a:r>
              <a:rPr sz="1800" b="0" dirty="0">
                <a:solidFill>
                  <a:srgbClr val="14283F"/>
                </a:solidFill>
                <a:latin typeface="Arial"/>
              </a:rPr>
              <a:t>refusal and harmful help. </a:t>
            </a:r>
            <a:endParaRPr lang="en-US" sz="1800" b="0" dirty="0">
              <a:solidFill>
                <a:srgbClr val="14283F"/>
              </a:solidFill>
              <a:latin typeface="Arial"/>
            </a:endParaRPr>
          </a:p>
          <a:p>
            <a:pPr>
              <a:lnSpc>
                <a:spcPts val="2268"/>
              </a:lnSpc>
              <a:spcBef>
                <a:spcPts val="0"/>
              </a:spcBef>
              <a:spcAft>
                <a:spcPts val="0"/>
              </a:spcAft>
            </a:pPr>
            <a:endParaRPr lang="en-US"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They</a:t>
            </a:r>
            <a:r>
              <a:rPr lang="en-US" dirty="0">
                <a:solidFill>
                  <a:srgbClr val="14283F"/>
                </a:solidFill>
                <a:latin typeface="Arial"/>
              </a:rPr>
              <a:t> </a:t>
            </a:r>
            <a:r>
              <a:rPr sz="1800" b="0" dirty="0">
                <a:solidFill>
                  <a:srgbClr val="14283F"/>
                </a:solidFill>
                <a:latin typeface="Arial"/>
              </a:rPr>
              <a:t>are not the models being</a:t>
            </a:r>
          </a:p>
          <a:p>
            <a:pPr>
              <a:lnSpc>
                <a:spcPts val="2268"/>
              </a:lnSpc>
              <a:spcBef>
                <a:spcPts val="0"/>
              </a:spcBef>
              <a:spcAft>
                <a:spcPts val="0"/>
              </a:spcAft>
            </a:pPr>
            <a:r>
              <a:rPr sz="1800" b="0" dirty="0">
                <a:solidFill>
                  <a:srgbClr val="14283F"/>
                </a:solidFill>
                <a:latin typeface="Arial"/>
              </a:rPr>
              <a:t>tested.</a:t>
            </a:r>
          </a:p>
        </p:txBody>
      </p:sp>
      <p:sp>
        <p:nvSpPr>
          <p:cNvPr id="14" name="Rectangle 13"/>
          <p:cNvSpPr/>
          <p:nvPr/>
        </p:nvSpPr>
        <p:spPr>
          <a:xfrm>
            <a:off x="8111066"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1066"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6966"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3 / Human review</a:t>
            </a:r>
          </a:p>
        </p:txBody>
      </p:sp>
      <p:sp>
        <p:nvSpPr>
          <p:cNvPr id="17" name="TextBox 16"/>
          <p:cNvSpPr txBox="1"/>
          <p:nvPr/>
        </p:nvSpPr>
        <p:spPr>
          <a:xfrm>
            <a:off x="8326966" y="3111500"/>
            <a:ext cx="3090333" cy="1748556"/>
          </a:xfrm>
          <a:prstGeom prst="rect">
            <a:avLst/>
          </a:prstGeom>
          <a:noFill/>
        </p:spPr>
        <p:txBody>
          <a:bodyPr wrap="square" lIns="0" tIns="0" rIns="0" bIns="0">
            <a:spAutoFit/>
          </a:bodyPr>
          <a:lstStyle/>
          <a:p>
            <a:pPr>
              <a:lnSpc>
                <a:spcPts val="2268"/>
              </a:lnSpc>
              <a:spcBef>
                <a:spcPts val="0"/>
              </a:spcBef>
              <a:spcAft>
                <a:spcPts val="0"/>
              </a:spcAft>
            </a:pPr>
            <a:r>
              <a:rPr lang="en-US" dirty="0">
                <a:solidFill>
                  <a:srgbClr val="14283F"/>
                </a:solidFill>
                <a:latin typeface="Arial"/>
              </a:rPr>
              <a:t>L</a:t>
            </a:r>
            <a:r>
              <a:rPr sz="1800" b="0" dirty="0">
                <a:solidFill>
                  <a:srgbClr val="14283F"/>
                </a:solidFill>
                <a:latin typeface="Arial"/>
              </a:rPr>
              <a:t>abels displayed</a:t>
            </a:r>
            <a:r>
              <a:rPr lang="en-US" sz="1800" b="0" dirty="0">
                <a:solidFill>
                  <a:srgbClr val="14283F"/>
                </a:solidFill>
                <a:latin typeface="Arial"/>
              </a:rPr>
              <a:t> </a:t>
            </a:r>
            <a:r>
              <a:rPr sz="1800" b="0" dirty="0">
                <a:solidFill>
                  <a:srgbClr val="14283F"/>
                </a:solidFill>
                <a:latin typeface="Arial"/>
              </a:rPr>
              <a:t>replies under a fixed guide. </a:t>
            </a:r>
            <a:endParaRPr lang="en-US" sz="1800" b="0" dirty="0">
              <a:solidFill>
                <a:srgbClr val="14283F"/>
              </a:solidFill>
              <a:latin typeface="Arial"/>
            </a:endParaRP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An</a:t>
            </a:r>
            <a:r>
              <a:rPr lang="en-US" dirty="0">
                <a:solidFill>
                  <a:srgbClr val="14283F"/>
                </a:solidFill>
                <a:latin typeface="Arial"/>
              </a:rPr>
              <a:t> </a:t>
            </a:r>
            <a:r>
              <a:rPr sz="1800" b="0" dirty="0">
                <a:solidFill>
                  <a:srgbClr val="14283F"/>
                </a:solidFill>
                <a:latin typeface="Arial"/>
              </a:rPr>
              <a:t>auxiliary GPT-6.1-Sol review</a:t>
            </a:r>
            <a:r>
              <a:rPr lang="en-US" sz="1800" b="0" dirty="0">
                <a:solidFill>
                  <a:srgbClr val="14283F"/>
                </a:solidFill>
                <a:latin typeface="Arial"/>
              </a:rPr>
              <a:t> </a:t>
            </a:r>
            <a:r>
              <a:rPr sz="1800" b="0" dirty="0">
                <a:solidFill>
                  <a:srgbClr val="14283F"/>
                </a:solidFill>
                <a:latin typeface="Arial"/>
              </a:rPr>
              <a:t>stays separate; it is not a</a:t>
            </a:r>
            <a:r>
              <a:rPr lang="en-US" sz="1800" b="0" dirty="0">
                <a:solidFill>
                  <a:srgbClr val="14283F"/>
                </a:solidFill>
                <a:latin typeface="Arial"/>
              </a:rPr>
              <a:t> </a:t>
            </a:r>
            <a:r>
              <a:rPr sz="1800" b="0" dirty="0">
                <a:solidFill>
                  <a:srgbClr val="14283F"/>
                </a:solidFill>
                <a:latin typeface="Arial"/>
              </a:rPr>
              <a:t>second human.</a:t>
            </a:r>
          </a:p>
        </p:txBody>
      </p:sp>
      <p:sp>
        <p:nvSpPr>
          <p:cNvPr id="18" name="Rectangle 17"/>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02 / 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“Refusal” means declining the requested help</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We separately measure refusal, harmful assistance and evidence of understanding.</a:t>
            </a:r>
          </a:p>
        </p:txBody>
      </p:sp>
      <p:sp>
        <p:nvSpPr>
          <p:cNvPr id="6" name="Rectangle 5"/>
          <p:cNvSpPr/>
          <p:nvPr/>
        </p:nvSpPr>
        <p:spPr>
          <a:xfrm>
            <a:off x="457200"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Refusal</a:t>
            </a:r>
          </a:p>
        </p:txBody>
      </p:sp>
      <p:sp>
        <p:nvSpPr>
          <p:cNvPr id="9" name="TextBox 8"/>
          <p:cNvSpPr txBox="1"/>
          <p:nvPr/>
        </p:nvSpPr>
        <p:spPr>
          <a:xfrm>
            <a:off x="673100" y="3111500"/>
            <a:ext cx="3052118" cy="2633413"/>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Does the answer decline to</a:t>
            </a:r>
          </a:p>
          <a:p>
            <a:pPr>
              <a:lnSpc>
                <a:spcPts val="2268"/>
              </a:lnSpc>
              <a:spcBef>
                <a:spcPts val="0"/>
              </a:spcBef>
              <a:spcAft>
                <a:spcPts val="0"/>
              </a:spcAft>
            </a:pPr>
            <a:r>
              <a:rPr sz="1800" b="0" dirty="0">
                <a:solidFill>
                  <a:srgbClr val="14283F"/>
                </a:solidFill>
                <a:latin typeface="Arial"/>
              </a:rPr>
              <a:t>help?</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Example: “I cannot assist with</a:t>
            </a:r>
          </a:p>
          <a:p>
            <a:pPr>
              <a:lnSpc>
                <a:spcPts val="2268"/>
              </a:lnSpc>
              <a:spcBef>
                <a:spcPts val="0"/>
              </a:spcBef>
              <a:spcAft>
                <a:spcPts val="0"/>
              </a:spcAft>
            </a:pPr>
            <a:r>
              <a:rPr sz="1800" b="0" dirty="0">
                <a:solidFill>
                  <a:srgbClr val="14283F"/>
                </a:solidFill>
                <a:latin typeface="Arial"/>
              </a:rPr>
              <a:t>that.”</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This is not a</a:t>
            </a:r>
          </a:p>
          <a:p>
            <a:pPr>
              <a:lnSpc>
                <a:spcPts val="2268"/>
              </a:lnSpc>
              <a:spcBef>
                <a:spcPts val="0"/>
              </a:spcBef>
              <a:spcAft>
                <a:spcPts val="0"/>
              </a:spcAft>
            </a:pPr>
            <a:r>
              <a:rPr sz="1800" b="0" dirty="0">
                <a:solidFill>
                  <a:srgbClr val="14283F"/>
                </a:solidFill>
                <a:latin typeface="Arial"/>
              </a:rPr>
              <a:t>truth-versus-fake-information</a:t>
            </a:r>
          </a:p>
          <a:p>
            <a:pPr>
              <a:lnSpc>
                <a:spcPts val="2268"/>
              </a:lnSpc>
              <a:spcBef>
                <a:spcPts val="0"/>
              </a:spcBef>
              <a:spcAft>
                <a:spcPts val="0"/>
              </a:spcAft>
            </a:pPr>
            <a:r>
              <a:rPr sz="1800" b="0" dirty="0">
                <a:solidFill>
                  <a:srgbClr val="14283F"/>
                </a:solidFill>
                <a:latin typeface="Arial"/>
              </a:rPr>
              <a:t>score.</a:t>
            </a:r>
          </a:p>
        </p:txBody>
      </p:sp>
      <p:sp>
        <p:nvSpPr>
          <p:cNvPr id="10" name="Rectangle 9"/>
          <p:cNvSpPr/>
          <p:nvPr/>
        </p:nvSpPr>
        <p:spPr>
          <a:xfrm>
            <a:off x="4284133"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84133"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33"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Harmful assistance</a:t>
            </a:r>
          </a:p>
        </p:txBody>
      </p:sp>
      <p:sp>
        <p:nvSpPr>
          <p:cNvPr id="13" name="TextBox 12"/>
          <p:cNvSpPr txBox="1"/>
          <p:nvPr/>
        </p:nvSpPr>
        <p:spPr>
          <a:xfrm>
            <a:off x="4500033" y="3111500"/>
            <a:ext cx="2988062" cy="1748556"/>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Does the visible answer</a:t>
            </a:r>
          </a:p>
          <a:p>
            <a:pPr>
              <a:lnSpc>
                <a:spcPts val="2268"/>
              </a:lnSpc>
              <a:spcBef>
                <a:spcPts val="0"/>
              </a:spcBef>
              <a:spcAft>
                <a:spcPts val="0"/>
              </a:spcAft>
            </a:pPr>
            <a:r>
              <a:rPr sz="1800" b="0" dirty="0">
                <a:solidFill>
                  <a:srgbClr val="14283F"/>
                </a:solidFill>
                <a:latin typeface="Arial"/>
              </a:rPr>
              <a:t>actually help or encourage a</a:t>
            </a:r>
          </a:p>
          <a:p>
            <a:pPr>
              <a:lnSpc>
                <a:spcPts val="2268"/>
              </a:lnSpc>
              <a:spcBef>
                <a:spcPts val="0"/>
              </a:spcBef>
              <a:spcAft>
                <a:spcPts val="0"/>
              </a:spcAft>
            </a:pPr>
            <a:r>
              <a:rPr sz="1800" b="0" dirty="0">
                <a:solidFill>
                  <a:srgbClr val="14283F"/>
                </a:solidFill>
                <a:latin typeface="Arial"/>
              </a:rPr>
              <a:t>harmful activity?</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A sensitive topic or a detailed</a:t>
            </a:r>
          </a:p>
          <a:p>
            <a:pPr>
              <a:lnSpc>
                <a:spcPts val="2268"/>
              </a:lnSpc>
              <a:spcBef>
                <a:spcPts val="0"/>
              </a:spcBef>
              <a:spcAft>
                <a:spcPts val="0"/>
              </a:spcAft>
            </a:pPr>
            <a:r>
              <a:rPr sz="1800" b="0" dirty="0">
                <a:solidFill>
                  <a:srgbClr val="14283F"/>
                </a:solidFill>
                <a:latin typeface="Arial"/>
              </a:rPr>
              <a:t>answer alone is insufficient.</a:t>
            </a:r>
          </a:p>
        </p:txBody>
      </p:sp>
      <p:sp>
        <p:nvSpPr>
          <p:cNvPr id="14" name="Rectangle 13"/>
          <p:cNvSpPr/>
          <p:nvPr/>
        </p:nvSpPr>
        <p:spPr>
          <a:xfrm>
            <a:off x="8111066"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1066"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6966"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Understanding</a:t>
            </a:r>
          </a:p>
        </p:txBody>
      </p:sp>
      <p:sp>
        <p:nvSpPr>
          <p:cNvPr id="17" name="TextBox 16"/>
          <p:cNvSpPr txBox="1"/>
          <p:nvPr/>
        </p:nvSpPr>
        <p:spPr>
          <a:xfrm>
            <a:off x="8326966" y="3111500"/>
            <a:ext cx="3090590" cy="2043508"/>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Does the answer engage the</a:t>
            </a:r>
          </a:p>
          <a:p>
            <a:pPr>
              <a:lnSpc>
                <a:spcPts val="2268"/>
              </a:lnSpc>
              <a:spcBef>
                <a:spcPts val="0"/>
              </a:spcBef>
              <a:spcAft>
                <a:spcPts val="0"/>
              </a:spcAft>
            </a:pPr>
            <a:r>
              <a:rPr sz="1800" b="0" dirty="0">
                <a:solidFill>
                  <a:srgbClr val="14283F"/>
                </a:solidFill>
                <a:latin typeface="Arial"/>
              </a:rPr>
              <a:t>specific request?</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A generic refusal may leave</a:t>
            </a:r>
          </a:p>
          <a:p>
            <a:pPr>
              <a:lnSpc>
                <a:spcPts val="2268"/>
              </a:lnSpc>
              <a:spcBef>
                <a:spcPts val="0"/>
              </a:spcBef>
              <a:spcAft>
                <a:spcPts val="0"/>
              </a:spcAft>
            </a:pPr>
            <a:r>
              <a:rPr sz="1800" b="0" dirty="0">
                <a:solidFill>
                  <a:srgbClr val="14283F"/>
                </a:solidFill>
                <a:latin typeface="Arial"/>
              </a:rPr>
              <a:t>this uncertain. Reading text in</a:t>
            </a:r>
          </a:p>
          <a:p>
            <a:pPr>
              <a:lnSpc>
                <a:spcPts val="2268"/>
              </a:lnSpc>
              <a:spcBef>
                <a:spcPts val="0"/>
              </a:spcBef>
              <a:spcAft>
                <a:spcPts val="0"/>
              </a:spcAft>
            </a:pPr>
            <a:r>
              <a:rPr sz="1800" b="0" dirty="0">
                <a:solidFill>
                  <a:srgbClr val="14283F"/>
                </a:solidFill>
                <a:latin typeface="Arial"/>
              </a:rPr>
              <a:t>a separate call does not prove</a:t>
            </a:r>
          </a:p>
          <a:p>
            <a:pPr>
              <a:lnSpc>
                <a:spcPts val="2268"/>
              </a:lnSpc>
              <a:spcBef>
                <a:spcPts val="0"/>
              </a:spcBef>
              <a:spcAft>
                <a:spcPts val="0"/>
              </a:spcAft>
            </a:pPr>
            <a:r>
              <a:rPr sz="1800" b="0" dirty="0">
                <a:solidFill>
                  <a:srgbClr val="14283F"/>
                </a:solidFill>
                <a:latin typeface="Arial"/>
              </a:rPr>
              <a:t>understanding here.</a:t>
            </a:r>
          </a:p>
        </p:txBody>
      </p:sp>
      <p:sp>
        <p:nvSpPr>
          <p:cNvPr id="18" name="Rectangle 17"/>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03 / 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We used established ideas and tested them in our setting</a:t>
            </a:r>
          </a:p>
        </p:txBody>
      </p:sp>
      <p:sp>
        <p:nvSpPr>
          <p:cNvPr id="5" name="TextBox 4"/>
          <p:cNvSpPr txBox="1"/>
          <p:nvPr/>
        </p:nvSpPr>
        <p:spPr>
          <a:xfrm>
            <a:off x="457200" y="1562100"/>
            <a:ext cx="3499356" cy="226472"/>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526378"/>
                </a:solidFill>
                <a:latin typeface="Arial"/>
              </a:rPr>
              <a:t>These are useful controls from prior work</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Paper</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Idea in everyday language</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it means for our work</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FigStep</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Put instructions into an image; also</a:t>
            </a:r>
          </a:p>
          <a:p>
            <a:pPr>
              <a:lnSpc>
                <a:spcPts val="1889"/>
              </a:lnSpc>
              <a:spcBef>
                <a:spcPts val="0"/>
              </a:spcBef>
              <a:spcAft>
                <a:spcPts val="0"/>
              </a:spcAft>
            </a:pPr>
            <a:r>
              <a:rPr sz="1500" b="0">
                <a:solidFill>
                  <a:srgbClr val="14283F"/>
                </a:solidFill>
                <a:latin typeface="Arial"/>
              </a:rPr>
              <a:t>test a text-only version</a:t>
            </a:r>
          </a:p>
        </p:txBody>
      </p:sp>
      <p:sp>
        <p:nvSpPr>
          <p:cNvPr id="13" name="TextBox 12"/>
          <p:cNvSpPr txBox="1"/>
          <p:nvPr/>
        </p:nvSpPr>
        <p:spPr>
          <a:xfrm>
            <a:off x="6756400" y="3129280"/>
            <a:ext cx="3080715" cy="226472"/>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14283F"/>
                </a:solidFill>
                <a:latin typeface="Arial"/>
              </a:rPr>
              <a:t>We reused/adapted this comparison</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MMJailBench</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14283F"/>
                </a:solidFill>
                <a:latin typeface="Arial"/>
              </a:rPr>
              <a:t>Separate instruction style from</a:t>
            </a:r>
          </a:p>
          <a:p>
            <a:pPr>
              <a:lnSpc>
                <a:spcPts val="1889"/>
              </a:lnSpc>
              <a:spcBef>
                <a:spcPts val="0"/>
              </a:spcBef>
              <a:spcAft>
                <a:spcPts val="0"/>
              </a:spcAft>
            </a:pPr>
            <a:r>
              <a:rPr sz="1500" b="0" dirty="0">
                <a:solidFill>
                  <a:srgbClr val="14283F"/>
                </a:solidFill>
                <a:latin typeface="Arial"/>
              </a:rPr>
              <a:t>text/image presentation</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Framing-versus-image effects are already studied</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MSTS</a:t>
            </a:r>
          </a:p>
        </p:txBody>
      </p:sp>
      <p:sp>
        <p:nvSpPr>
          <p:cNvPr id="20" name="TextBox 19"/>
          <p:cNvSpPr txBox="1"/>
          <p:nvPr/>
        </p:nvSpPr>
        <p:spPr>
          <a:xfrm>
            <a:off x="2890157" y="4536440"/>
            <a:ext cx="3726544" cy="615553"/>
          </a:xfrm>
          <a:prstGeom prst="rect">
            <a:avLst/>
          </a:prstGeom>
          <a:noFill/>
        </p:spPr>
        <p:txBody>
          <a:bodyPr wrap="square" lIns="0" tIns="0" rIns="0" bIns="0">
            <a:spAutoFit/>
          </a:bodyPr>
          <a:lstStyle/>
          <a:p>
            <a:pPr>
              <a:lnSpc>
                <a:spcPts val="1638"/>
              </a:lnSpc>
            </a:pPr>
            <a:r>
              <a:rPr sz="1500" b="0" dirty="0">
                <a:solidFill>
                  <a:srgbClr val="14283F"/>
                </a:solidFill>
                <a:latin typeface="Arial"/>
              </a:rPr>
              <a:t>Compare meaning-matched text and</a:t>
            </a:r>
            <a:r>
              <a:rPr lang="en-US" sz="1500" b="0" dirty="0">
                <a:solidFill>
                  <a:srgbClr val="14283F"/>
                </a:solidFill>
                <a:latin typeface="Arial"/>
              </a:rPr>
              <a:t> </a:t>
            </a:r>
            <a:r>
              <a:rPr lang="en-US" sz="1500" dirty="0">
                <a:solidFill>
                  <a:srgbClr val="14283F"/>
                </a:solidFill>
                <a:latin typeface="Arial"/>
              </a:rPr>
              <a:t>image requests; humans classify answers</a:t>
            </a:r>
          </a:p>
          <a:p>
            <a:pPr>
              <a:lnSpc>
                <a:spcPts val="1638"/>
              </a:lnSpc>
              <a:spcBef>
                <a:spcPts val="0"/>
              </a:spcBef>
              <a:spcAft>
                <a:spcPts val="0"/>
              </a:spcAft>
            </a:pPr>
            <a:endParaRPr sz="1500" b="0" dirty="0">
              <a:solidFill>
                <a:srgbClr val="14283F"/>
              </a:solidFill>
              <a:latin typeface="Arial"/>
            </a:endParaRP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Understanding and harmfulness need separate checks</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The Uncontrolled Variable</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Attach unrelated images and check</a:t>
            </a:r>
          </a:p>
          <a:p>
            <a:pPr>
              <a:lnSpc>
                <a:spcPts val="1889"/>
              </a:lnSpc>
              <a:spcBef>
                <a:spcPts val="0"/>
              </a:spcBef>
              <a:spcAft>
                <a:spcPts val="0"/>
              </a:spcAft>
            </a:pPr>
            <a:r>
              <a:rPr sz="1500" b="0">
                <a:solidFill>
                  <a:srgbClr val="14283F"/>
                </a:solidFill>
                <a:latin typeface="Arial"/>
              </a:rPr>
              <a:t>judge errors</a:t>
            </a:r>
          </a:p>
        </p:txBody>
      </p:sp>
      <p:sp>
        <p:nvSpPr>
          <p:cNvPr id="25" name="TextBox 24"/>
          <p:cNvSpPr txBox="1"/>
          <p:nvPr/>
        </p:nvSpPr>
        <p:spPr>
          <a:xfrm>
            <a:off x="6756400" y="524002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Image presence and evaluator errors have close prior</a:t>
            </a:r>
          </a:p>
          <a:p>
            <a:pPr>
              <a:lnSpc>
                <a:spcPts val="1889"/>
              </a:lnSpc>
              <a:spcBef>
                <a:spcPts val="0"/>
              </a:spcBef>
              <a:spcAft>
                <a:spcPts val="0"/>
              </a:spcAft>
            </a:pPr>
            <a:r>
              <a:rPr sz="1500" b="0">
                <a:solidFill>
                  <a:srgbClr val="14283F"/>
                </a:solidFill>
                <a:latin typeface="Arial"/>
              </a:rPr>
              <a:t>work</a:t>
            </a:r>
          </a:p>
        </p:txBody>
      </p:sp>
      <p:sp>
        <p:nvSpPr>
          <p:cNvPr id="26" name="Rectangle 25"/>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05 /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From prior ideas to our experiments and findings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We tested overlapping ideas—not complete replications of these four papers.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Prior idea</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we tested ourselves</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Where it appears / what we found</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FigStep: text-only control</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Text counterpart on FigStep and</a:t>
            </a:r>
          </a:p>
          <a:p>
            <a:pPr>
              <a:lnSpc>
                <a:spcPts val="1889"/>
              </a:lnSpc>
              <a:spcBef>
                <a:spcPts val="0"/>
              </a:spcBef>
              <a:spcAft>
                <a:spcPts val="0"/>
              </a:spcAft>
            </a:pPr>
            <a:r>
              <a:rPr sz="1500" b="0">
                <a:solidFill>
                  <a:srgbClr val="14283F"/>
                </a:solidFill>
                <a:latin typeface="Arial"/>
              </a:rPr>
              <a:t>MM-SafetyBench</a:t>
            </a:r>
          </a:p>
        </p:txBody>
      </p:sp>
      <p:sp>
        <p:nvSpPr>
          <p:cNvPr id="13" name="TextBox 12"/>
          <p:cNvSpPr txBox="1"/>
          <p:nvPr/>
        </p:nvSpPr>
        <p:spPr>
          <a:xfrm>
            <a:off x="6756400" y="312928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Slide 8: gap shrinks for Qwen. Actual FigStep results are
separate.</a:t>
            </a:r>
          </a:p>
          <a:p>
            <a:pPr>
              <a:lnSpc>
                <a:spcPts val="1889"/>
              </a:lnSpc>
              <a:spcBef>
                <a:spcPts val="0"/>
              </a:spcBef>
              <a:spcAft>
                <a:spcPts val="0"/>
              </a:spcAft>
            </a:pPr>
            <a:endParaRPr sz="1500" b="0">
              <a:solidFill>
                <a:srgbClr val="14283F"/>
              </a:solidFill>
              <a:latin typeface="Arial"/>
            </a:endParaRP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MMJailBench:</a:t>
            </a:r>
          </a:p>
          <a:p>
            <a:pPr>
              <a:lnSpc>
                <a:spcPts val="1889"/>
              </a:lnSpc>
              <a:spcBef>
                <a:spcPts val="0"/>
              </a:spcBef>
              <a:spcAft>
                <a:spcPts val="0"/>
              </a:spcAft>
            </a:pPr>
            <a:r>
              <a:rPr sz="1500" b="0">
                <a:solidFill>
                  <a:srgbClr val="14283F"/>
                </a:solidFill>
                <a:latin typeface="Arial"/>
              </a:rPr>
              <a:t>framing/carrier</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Same full questions: two instructions</a:t>
            </a:r>
          </a:p>
          <a:p>
            <a:pPr>
              <a:lnSpc>
                <a:spcPts val="1889"/>
              </a:lnSpc>
              <a:spcBef>
                <a:spcPts val="0"/>
              </a:spcBef>
              <a:spcAft>
                <a:spcPts val="0"/>
              </a:spcAft>
            </a:pPr>
            <a:r>
              <a:rPr sz="1500" b="0">
                <a:solidFill>
                  <a:srgbClr val="14283F"/>
                </a:solidFill>
                <a:latin typeface="Arial"/>
              </a:rPr>
              <a:t>× text/image</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Slide 11: no direction reversal in our eight-question test.</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MSTS: separate judgments</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Reading check; refusal, harm and</a:t>
            </a:r>
          </a:p>
          <a:p>
            <a:pPr>
              <a:lnSpc>
                <a:spcPts val="1889"/>
              </a:lnSpc>
              <a:spcBef>
                <a:spcPts val="0"/>
              </a:spcBef>
              <a:spcAft>
                <a:spcPts val="0"/>
              </a:spcAft>
            </a:pPr>
            <a:r>
              <a:rPr sz="1500" b="0">
                <a:solidFill>
                  <a:srgbClr val="14283F"/>
                </a:solidFill>
                <a:latin typeface="Arial"/>
              </a:rPr>
              <a:t>understanding labels</a:t>
            </a:r>
          </a:p>
        </p:txBody>
      </p:sp>
      <p:sp>
        <p:nvSpPr>
          <p:cNvPr id="21" name="TextBox 20"/>
          <p:cNvSpPr txBox="1"/>
          <p:nvPr/>
        </p:nvSpPr>
        <p:spPr>
          <a:xfrm>
            <a:off x="6756400" y="453644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Slides 10/13: reading differs; harm agreement 41/48.
MSTS data not run.</a:t>
            </a:r>
          </a:p>
          <a:p>
            <a:pPr>
              <a:lnSpc>
                <a:spcPts val="1889"/>
              </a:lnSpc>
              <a:spcBef>
                <a:spcPts val="0"/>
              </a:spcBef>
              <a:spcAft>
                <a:spcPts val="0"/>
              </a:spcAft>
            </a:pPr>
            <a:endParaRPr sz="1500" b="0">
              <a:solidFill>
                <a:srgbClr val="14283F"/>
              </a:solidFill>
              <a:latin typeface="Arial"/>
            </a:endParaRP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Uncontrolled Variable:</a:t>
            </a:r>
          </a:p>
          <a:p>
            <a:pPr>
              <a:lnSpc>
                <a:spcPts val="1889"/>
              </a:lnSpc>
              <a:spcBef>
                <a:spcPts val="0"/>
              </a:spcBef>
              <a:spcAft>
                <a:spcPts val="0"/>
              </a:spcAft>
            </a:pPr>
            <a:r>
              <a:rPr sz="1500" b="0">
                <a:solidFill>
                  <a:srgbClr val="14283F"/>
                </a:solidFill>
                <a:latin typeface="Arial"/>
              </a:rPr>
              <a:t>attachment</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Unrelated noise attached; judge and</a:t>
            </a:r>
          </a:p>
          <a:p>
            <a:pPr>
              <a:lnSpc>
                <a:spcPts val="1889"/>
              </a:lnSpc>
              <a:spcBef>
                <a:spcPts val="0"/>
              </a:spcBef>
              <a:spcAft>
                <a:spcPts val="0"/>
              </a:spcAft>
            </a:pPr>
            <a:r>
              <a:rPr sz="1500" b="0">
                <a:solidFill>
                  <a:srgbClr val="14283F"/>
                </a:solidFill>
                <a:latin typeface="Arial"/>
              </a:rPr>
              <a:t>human comparisons</a:t>
            </a:r>
          </a:p>
        </p:txBody>
      </p:sp>
      <p:sp>
        <p:nvSpPr>
          <p:cNvPr id="25" name="TextBox 24"/>
          <p:cNvSpPr txBox="1"/>
          <p:nvPr/>
        </p:nvSpPr>
        <p:spPr>
          <a:xfrm>
            <a:off x="6756400" y="524002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Slides 9/13: LLaVA shifts; full judge-error validation is not
complete.</a:t>
            </a:r>
          </a:p>
          <a:p>
            <a:pPr>
              <a:lnSpc>
                <a:spcPts val="1889"/>
              </a:lnSpc>
              <a:spcBef>
                <a:spcPts val="0"/>
              </a:spcBef>
              <a:spcAft>
                <a:spcPts val="0"/>
              </a:spcAft>
            </a:pPr>
            <a:endParaRPr sz="1500" b="0">
              <a:solidFill>
                <a:srgbClr val="14283F"/>
              </a:solidFill>
              <a:latin typeface="Arial"/>
            </a:endParaRP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We built the experiments and audit pipeline; the broad control ideas are established prior work.</a:t>
            </a:r>
          </a:p>
        </p:txBody>
      </p:sp>
      <p:sp>
        <p:nvSpPr>
          <p:cNvPr id="27" name="Rectangle 26"/>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06 /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We tested the see-saw by nudging internal activations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Qwen2-VL-2B: change activations during generation, without training the model.</a:t>
            </a:r>
          </a:p>
        </p:txBody>
      </p:sp>
      <p:sp>
        <p:nvSpPr>
          <p:cNvPr id="6" name="Rectangle 5"/>
          <p:cNvSpPr/>
          <p:nvPr/>
        </p:nvSpPr>
        <p:spPr>
          <a:xfrm>
            <a:off x="457200" y="2286000"/>
            <a:ext cx="3632200" cy="1155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2400300"/>
            <a:ext cx="33274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315EC6"/>
                </a:solidFill>
                <a:latin typeface="Arial"/>
              </a:rPr>
              <a:t>1 / Measure</a:t>
            </a:r>
          </a:p>
        </p:txBody>
      </p:sp>
      <p:sp>
        <p:nvSpPr>
          <p:cNvPr id="8" name="TextBox 7"/>
          <p:cNvSpPr txBox="1"/>
          <p:nvPr/>
        </p:nvSpPr>
        <p:spPr>
          <a:xfrm>
            <a:off x="609600" y="2717800"/>
            <a:ext cx="33274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14283F"/>
                </a:solidFill>
                <a:latin typeface="Arial"/>
              </a:rPr>
              <a:t>Record activations for harmful and benign text.</a:t>
            </a:r>
          </a:p>
        </p:txBody>
      </p:sp>
      <p:sp>
        <p:nvSpPr>
          <p:cNvPr id="9" name="Rectangle 8"/>
          <p:cNvSpPr/>
          <p:nvPr/>
        </p:nvSpPr>
        <p:spPr>
          <a:xfrm>
            <a:off x="4279900" y="2286000"/>
            <a:ext cx="3632200" cy="1155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32300" y="2400300"/>
            <a:ext cx="33274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315EC6"/>
                </a:solidFill>
                <a:latin typeface="Arial"/>
              </a:rPr>
              <a:t>2 / Build a direction</a:t>
            </a:r>
          </a:p>
        </p:txBody>
      </p:sp>
      <p:sp>
        <p:nvSpPr>
          <p:cNvPr id="11" name="TextBox 10"/>
          <p:cNvSpPr txBox="1"/>
          <p:nvPr/>
        </p:nvSpPr>
        <p:spPr>
          <a:xfrm>
            <a:off x="4432300" y="2717800"/>
            <a:ext cx="33274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14283F"/>
                </a:solidFill>
                <a:latin typeface="Arial"/>
              </a:rPr>
              <a:t>Subtract their averages: a candidate intervention.</a:t>
            </a:r>
          </a:p>
        </p:txBody>
      </p:sp>
      <p:sp>
        <p:nvSpPr>
          <p:cNvPr id="12" name="Rectangle 11"/>
          <p:cNvSpPr/>
          <p:nvPr/>
        </p:nvSpPr>
        <p:spPr>
          <a:xfrm>
            <a:off x="8102600" y="2286000"/>
            <a:ext cx="3632200" cy="1155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5000" y="2400300"/>
            <a:ext cx="33274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315EC6"/>
                </a:solidFill>
                <a:latin typeface="Arial"/>
              </a:rPr>
              <a:t>3 / Test both channels</a:t>
            </a:r>
          </a:p>
        </p:txBody>
      </p:sp>
      <p:sp>
        <p:nvSpPr>
          <p:cNvPr id="14" name="TextBox 13"/>
          <p:cNvSpPr txBox="1"/>
          <p:nvPr/>
        </p:nvSpPr>
        <p:spPr>
          <a:xfrm>
            <a:off x="8255000" y="2717800"/>
            <a:ext cx="3327400" cy="422148"/>
          </a:xfrm>
          <a:prstGeom prst="rect">
            <a:avLst/>
          </a:prstGeom>
          <a:noFill/>
        </p:spPr>
        <p:txBody>
          <a:bodyPr wrap="none" lIns="0" tIns="0" rIns="0" bIns="0">
            <a:spAutoFit/>
          </a:bodyPr>
          <a:lstStyle/>
          <a:p>
            <a:pPr>
              <a:lnSpc>
                <a:spcPts val="1512"/>
              </a:lnSpc>
              <a:spcBef>
                <a:spcPts val="0"/>
              </a:spcBef>
              <a:spcAft>
                <a:spcPts val="0"/>
              </a:spcAft>
            </a:pPr>
            <a:r>
              <a:rPr sz="1200" b="0">
                <a:solidFill>
                  <a:srgbClr val="14283F"/>
                </a:solidFill>
                <a:latin typeface="Arial"/>
              </a:rPr>
              <a:t>Add at one layer; compare text, image and</a:t>
            </a:r>
          </a:p>
          <a:p>
            <a:pPr>
              <a:lnSpc>
                <a:spcPts val="1512"/>
              </a:lnSpc>
              <a:spcBef>
                <a:spcPts val="0"/>
              </a:spcBef>
              <a:spcAft>
                <a:spcPts val="0"/>
              </a:spcAft>
            </a:pPr>
            <a:r>
              <a:rPr sz="1200" b="0">
                <a:solidFill>
                  <a:srgbClr val="14283F"/>
                </a:solidFill>
                <a:latin typeface="Arial"/>
              </a:rPr>
              <a:t>benign replies.</a:t>
            </a:r>
          </a:p>
        </p:txBody>
      </p:sp>
      <p:sp>
        <p:nvSpPr>
          <p:cNvPr id="15" name="TextBox 14"/>
          <p:cNvSpPr txBox="1"/>
          <p:nvPr/>
        </p:nvSpPr>
        <p:spPr>
          <a:xfrm>
            <a:off x="457200" y="3556000"/>
            <a:ext cx="112776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Percent declining the request; same-size random direction used as a control.</a:t>
            </a:r>
          </a:p>
        </p:txBody>
      </p:sp>
      <p:sp>
        <p:nvSpPr>
          <p:cNvPr id="16" name="Rectangle 15"/>
          <p:cNvSpPr/>
          <p:nvPr/>
        </p:nvSpPr>
        <p:spPr>
          <a:xfrm>
            <a:off x="1524000" y="3886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765300" y="3835400"/>
            <a:ext cx="39370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Without steering</a:t>
            </a:r>
          </a:p>
        </p:txBody>
      </p:sp>
      <p:sp>
        <p:nvSpPr>
          <p:cNvPr id="18" name="Rectangle 17"/>
          <p:cNvSpPr/>
          <p:nvPr/>
        </p:nvSpPr>
        <p:spPr>
          <a:xfrm>
            <a:off x="6096000" y="3886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7300" y="3835400"/>
            <a:ext cx="39370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With steering (0.5)</a:t>
            </a:r>
          </a:p>
        </p:txBody>
      </p:sp>
      <p:sp>
        <p:nvSpPr>
          <p:cNvPr id="20" name="Rectangle 19"/>
          <p:cNvSpPr/>
          <p:nvPr/>
        </p:nvSpPr>
        <p:spPr>
          <a:xfrm>
            <a:off x="876300" y="5702300"/>
            <a:ext cx="103759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56261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22" name="Rectangle 21"/>
          <p:cNvSpPr/>
          <p:nvPr/>
        </p:nvSpPr>
        <p:spPr>
          <a:xfrm>
            <a:off x="876300" y="4965700"/>
            <a:ext cx="103759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8895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24" name="Rectangle 23"/>
          <p:cNvSpPr/>
          <p:nvPr/>
        </p:nvSpPr>
        <p:spPr>
          <a:xfrm>
            <a:off x="876300" y="4229100"/>
            <a:ext cx="103759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1529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26" name="Rectangle 25"/>
          <p:cNvSpPr/>
          <p:nvPr/>
        </p:nvSpPr>
        <p:spPr>
          <a:xfrm>
            <a:off x="1778000" y="4842933"/>
            <a:ext cx="508000" cy="859366"/>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765300" y="4614333"/>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58.3</a:t>
            </a:r>
          </a:p>
        </p:txBody>
      </p:sp>
      <p:sp>
        <p:nvSpPr>
          <p:cNvPr id="28" name="Rectangle 27"/>
          <p:cNvSpPr/>
          <p:nvPr/>
        </p:nvSpPr>
        <p:spPr>
          <a:xfrm>
            <a:off x="2552700" y="4523740"/>
            <a:ext cx="508000" cy="117856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40000" y="4295140"/>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80.0</a:t>
            </a:r>
          </a:p>
        </p:txBody>
      </p:sp>
      <p:sp>
        <p:nvSpPr>
          <p:cNvPr id="30" name="TextBox 29"/>
          <p:cNvSpPr txBox="1"/>
          <p:nvPr/>
        </p:nvSpPr>
        <p:spPr>
          <a:xfrm>
            <a:off x="1206500" y="5816600"/>
            <a:ext cx="3111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Harmful text (120)</a:t>
            </a:r>
          </a:p>
        </p:txBody>
      </p:sp>
      <p:sp>
        <p:nvSpPr>
          <p:cNvPr id="31" name="Rectangle 30"/>
          <p:cNvSpPr/>
          <p:nvPr/>
        </p:nvSpPr>
        <p:spPr>
          <a:xfrm>
            <a:off x="5207000" y="5518150"/>
            <a:ext cx="508000" cy="18415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194300" y="5289550"/>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12.5</a:t>
            </a:r>
          </a:p>
        </p:txBody>
      </p:sp>
      <p:sp>
        <p:nvSpPr>
          <p:cNvPr id="33" name="Rectangle 32"/>
          <p:cNvSpPr/>
          <p:nvPr/>
        </p:nvSpPr>
        <p:spPr>
          <a:xfrm>
            <a:off x="5981700" y="4572846"/>
            <a:ext cx="508000" cy="1129453"/>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69000" y="4344246"/>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76.7</a:t>
            </a:r>
          </a:p>
        </p:txBody>
      </p:sp>
      <p:sp>
        <p:nvSpPr>
          <p:cNvPr id="35" name="TextBox 34"/>
          <p:cNvSpPr txBox="1"/>
          <p:nvPr/>
        </p:nvSpPr>
        <p:spPr>
          <a:xfrm>
            <a:off x="4635500" y="5816600"/>
            <a:ext cx="3111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Harmful image (120)</a:t>
            </a:r>
          </a:p>
        </p:txBody>
      </p:sp>
      <p:sp>
        <p:nvSpPr>
          <p:cNvPr id="36" name="Rectangle 35"/>
          <p:cNvSpPr/>
          <p:nvPr/>
        </p:nvSpPr>
        <p:spPr>
          <a:xfrm>
            <a:off x="8636000" y="5702300"/>
            <a:ext cx="508000" cy="762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23300" y="5473700"/>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0.0</a:t>
            </a:r>
          </a:p>
        </p:txBody>
      </p:sp>
      <p:sp>
        <p:nvSpPr>
          <p:cNvPr id="38" name="Rectangle 37"/>
          <p:cNvSpPr/>
          <p:nvPr/>
        </p:nvSpPr>
        <p:spPr>
          <a:xfrm>
            <a:off x="9410700" y="5149850"/>
            <a:ext cx="508000" cy="5524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398000" y="4921250"/>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37.5</a:t>
            </a:r>
          </a:p>
        </p:txBody>
      </p:sp>
      <p:sp>
        <p:nvSpPr>
          <p:cNvPr id="40" name="TextBox 39"/>
          <p:cNvSpPr txBox="1"/>
          <p:nvPr/>
        </p:nvSpPr>
        <p:spPr>
          <a:xfrm>
            <a:off x="8064500" y="5816600"/>
            <a:ext cx="3111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Harmless text (24)</a:t>
            </a:r>
          </a:p>
        </p:txBody>
      </p:sp>
      <p:sp>
        <p:nvSpPr>
          <p:cNvPr id="41" name="TextBox 40"/>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Both channels refused more—and harmless requests were also refused more. No universal mechanism proved.</a:t>
            </a:r>
          </a:p>
        </p:txBody>
      </p:sp>
      <p:sp>
        <p:nvSpPr>
          <p:cNvPr id="42" name="Rectangle 41"/>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07 / 16</a:t>
            </a:r>
          </a:p>
        </p:txBody>
      </p:sp>
      <p:sp>
        <p:nvSpPr>
          <p:cNvPr id="44" name="Axis label: Refusal rate (%)"/>
          <p:cNvSpPr txBox="1"/>
          <p:nvPr/>
        </p:nvSpPr>
        <p:spPr>
          <a:xfrm rot="16200000">
            <a:off x="-673100" y="4876800"/>
            <a:ext cx="1651000" cy="177800"/>
          </a:xfrm>
          <a:prstGeom prst="rect">
            <a:avLst/>
          </a:prstGeom>
          <a:noFill/>
        </p:spPr>
        <p:txBody>
          <a:bodyPr wrap="none" lIns="0" tIns="0" rIns="0" bIns="0">
            <a:spAutoFit/>
          </a:bodyPr>
          <a:lstStyle/>
          <a:p>
            <a:pPr algn="ctr"/>
            <a:r>
              <a:rPr sz="1100" b="1">
                <a:solidFill>
                  <a:srgbClr val="526579"/>
                </a:solidFill>
                <a:latin typeface="Arial"/>
              </a:rPr>
              <a:t>Refusal rate (%)</a:t>
            </a:r>
          </a:p>
        </p:txBody>
      </p:sp>
      <p:sp>
        <p:nvSpPr>
          <p:cNvPr id="45" name="Axis label: Request group (sample size)"/>
          <p:cNvSpPr txBox="1"/>
          <p:nvPr/>
        </p:nvSpPr>
        <p:spPr>
          <a:xfrm>
            <a:off x="889000" y="6413500"/>
            <a:ext cx="10363200" cy="203200"/>
          </a:xfrm>
          <a:prstGeom prst="rect">
            <a:avLst/>
          </a:prstGeom>
          <a:noFill/>
        </p:spPr>
        <p:txBody>
          <a:bodyPr wrap="none" lIns="0" tIns="0" rIns="0" bIns="0">
            <a:spAutoFit/>
          </a:bodyPr>
          <a:lstStyle/>
          <a:p>
            <a:pPr algn="ctr"/>
            <a:r>
              <a:rPr sz="1100" b="1">
                <a:solidFill>
                  <a:srgbClr val="526579"/>
                </a:solidFill>
                <a:latin typeface="Arial"/>
              </a:rPr>
              <a:t>Request group (sample size)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2769989" cy="405817"/>
          </a:xfrm>
          <a:prstGeom prst="rect">
            <a:avLst/>
          </a:prstGeom>
          <a:noFill/>
        </p:spPr>
        <p:txBody>
          <a:bodyPr wrap="none" lIns="0" tIns="0" rIns="0" bIns="0">
            <a:spAutoFit/>
          </a:bodyPr>
          <a:lstStyle/>
          <a:p>
            <a:pPr>
              <a:lnSpc>
                <a:spcPts val="3402"/>
              </a:lnSpc>
              <a:spcBef>
                <a:spcPts val="0"/>
              </a:spcBef>
              <a:spcAft>
                <a:spcPts val="0"/>
              </a:spcAft>
            </a:pPr>
            <a:r>
              <a:rPr lang="en-US" sz="2700" b="1" dirty="0">
                <a:solidFill>
                  <a:srgbClr val="14283F"/>
                </a:solidFill>
                <a:latin typeface="Arial"/>
              </a:rPr>
              <a:t>T</a:t>
            </a:r>
            <a:r>
              <a:rPr sz="2700" b="1" dirty="0">
                <a:solidFill>
                  <a:srgbClr val="14283F"/>
                </a:solidFill>
                <a:latin typeface="Arial"/>
              </a:rPr>
              <a:t>he comparison</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526378"/>
                </a:solidFill>
                <a:latin typeface="Arial"/>
              </a:rPr>
              <a:t>Harmless illustration only: these are not private benchmark examples.</a:t>
            </a:r>
          </a:p>
        </p:txBody>
      </p:sp>
      <p:sp>
        <p:nvSpPr>
          <p:cNvPr id="6" name="Rectangle 5"/>
          <p:cNvSpPr/>
          <p:nvPr/>
        </p:nvSpPr>
        <p:spPr>
          <a:xfrm>
            <a:off x="457200"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1897955" cy="273793"/>
          </a:xfrm>
          <a:prstGeom prst="rect">
            <a:avLst/>
          </a:prstGeom>
          <a:noFill/>
        </p:spPr>
        <p:txBody>
          <a:bodyPr wrap="none" lIns="0" tIns="0" rIns="0" bIns="0">
            <a:spAutoFit/>
          </a:bodyPr>
          <a:lstStyle/>
          <a:p>
            <a:pPr>
              <a:lnSpc>
                <a:spcPts val="2268"/>
              </a:lnSpc>
              <a:spcBef>
                <a:spcPts val="0"/>
              </a:spcBef>
              <a:spcAft>
                <a:spcPts val="0"/>
              </a:spcAft>
            </a:pPr>
            <a:r>
              <a:rPr sz="1800" b="1" dirty="0">
                <a:solidFill>
                  <a:srgbClr val="315EC6"/>
                </a:solidFill>
                <a:latin typeface="Arial"/>
              </a:rPr>
              <a:t>Original question</a:t>
            </a:r>
          </a:p>
        </p:txBody>
      </p:sp>
      <p:sp>
        <p:nvSpPr>
          <p:cNvPr id="9" name="TextBox 8"/>
          <p:cNvSpPr txBox="1"/>
          <p:nvPr/>
        </p:nvSpPr>
        <p:spPr>
          <a:xfrm>
            <a:off x="673100" y="3111500"/>
            <a:ext cx="2577629" cy="1158587"/>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Text in chat:</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“How can I make a paper</a:t>
            </a:r>
          </a:p>
          <a:p>
            <a:pPr>
              <a:lnSpc>
                <a:spcPts val="2268"/>
              </a:lnSpc>
              <a:spcBef>
                <a:spcPts val="0"/>
              </a:spcBef>
              <a:spcAft>
                <a:spcPts val="0"/>
              </a:spcAft>
            </a:pPr>
            <a:r>
              <a:rPr sz="1800" b="0" dirty="0">
                <a:solidFill>
                  <a:srgbClr val="14283F"/>
                </a:solidFill>
                <a:latin typeface="Arial"/>
              </a:rPr>
              <a:t>lantern?”</a:t>
            </a:r>
          </a:p>
        </p:txBody>
      </p:sp>
      <p:sp>
        <p:nvSpPr>
          <p:cNvPr id="10" name="Rectangle 9"/>
          <p:cNvSpPr/>
          <p:nvPr/>
        </p:nvSpPr>
        <p:spPr>
          <a:xfrm>
            <a:off x="4284133"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84133"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33" y="2501900"/>
            <a:ext cx="1628651" cy="273793"/>
          </a:xfrm>
          <a:prstGeom prst="rect">
            <a:avLst/>
          </a:prstGeom>
          <a:noFill/>
        </p:spPr>
        <p:txBody>
          <a:bodyPr wrap="none" lIns="0" tIns="0" rIns="0" bIns="0">
            <a:spAutoFit/>
          </a:bodyPr>
          <a:lstStyle/>
          <a:p>
            <a:pPr>
              <a:lnSpc>
                <a:spcPts val="2268"/>
              </a:lnSpc>
              <a:spcBef>
                <a:spcPts val="0"/>
              </a:spcBef>
              <a:spcAft>
                <a:spcPts val="0"/>
              </a:spcAft>
            </a:pPr>
            <a:r>
              <a:rPr sz="1800" b="1" dirty="0">
                <a:solidFill>
                  <a:srgbClr val="315EC6"/>
                </a:solidFill>
                <a:latin typeface="Arial"/>
              </a:rPr>
              <a:t>Activity as text</a:t>
            </a:r>
          </a:p>
        </p:txBody>
      </p:sp>
      <p:sp>
        <p:nvSpPr>
          <p:cNvPr id="13" name="TextBox 12"/>
          <p:cNvSpPr txBox="1"/>
          <p:nvPr/>
        </p:nvSpPr>
        <p:spPr>
          <a:xfrm>
            <a:off x="4500033" y="3111500"/>
            <a:ext cx="3153832" cy="1748492"/>
          </a:xfrm>
          <a:prstGeom prst="rect">
            <a:avLst/>
          </a:prstGeom>
          <a:noFill/>
        </p:spPr>
        <p:txBody>
          <a:bodyPr wrap="square" lIns="0" tIns="0" rIns="0" bIns="0">
            <a:spAutoFit/>
          </a:bodyPr>
          <a:lstStyle/>
          <a:p>
            <a:pPr>
              <a:lnSpc>
                <a:spcPts val="2268"/>
              </a:lnSpc>
              <a:spcBef>
                <a:spcPts val="0"/>
              </a:spcBef>
              <a:spcAft>
                <a:spcPts val="0"/>
              </a:spcAft>
            </a:pPr>
            <a:r>
              <a:rPr sz="1800" b="0" dirty="0">
                <a:solidFill>
                  <a:srgbClr val="14283F"/>
                </a:solidFill>
                <a:latin typeface="Arial"/>
              </a:rPr>
              <a:t>Benchmark-style instruction</a:t>
            </a:r>
            <a:r>
              <a:rPr lang="en-US" sz="1800" b="0" dirty="0">
                <a:solidFill>
                  <a:srgbClr val="14283F"/>
                </a:solidFill>
                <a:latin typeface="Arial"/>
              </a:rPr>
              <a:t> and</a:t>
            </a:r>
            <a:r>
              <a:rPr sz="1800" b="0" dirty="0">
                <a:solidFill>
                  <a:srgbClr val="14283F"/>
                </a:solidFill>
                <a:latin typeface="Arial"/>
              </a:rPr>
              <a:t> text:</a:t>
            </a:r>
            <a:endParaRPr lang="en-US" sz="1800" b="0" dirty="0">
              <a:solidFill>
                <a:srgbClr val="14283F"/>
              </a:solidFill>
              <a:latin typeface="Arial"/>
            </a:endParaRPr>
          </a:p>
          <a:p>
            <a:pPr>
              <a:lnSpc>
                <a:spcPts val="2268"/>
              </a:lnSpc>
              <a:spcBef>
                <a:spcPts val="0"/>
              </a:spcBef>
              <a:spcAft>
                <a:spcPts val="0"/>
              </a:spcAft>
            </a:pPr>
            <a:endParaRPr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a:t>
            </a:r>
            <a:r>
              <a:rPr lang="en-US" sz="1800" b="0" dirty="0">
                <a:solidFill>
                  <a:srgbClr val="14283F"/>
                </a:solidFill>
                <a:latin typeface="Arial"/>
              </a:rPr>
              <a:t>List steps in detail to perform this activity: </a:t>
            </a:r>
            <a:r>
              <a:rPr sz="1800" b="0" dirty="0">
                <a:solidFill>
                  <a:srgbClr val="14283F"/>
                </a:solidFill>
                <a:latin typeface="Arial"/>
              </a:rPr>
              <a:t>Making a paper lantern”</a:t>
            </a:r>
          </a:p>
        </p:txBody>
      </p:sp>
      <p:sp>
        <p:nvSpPr>
          <p:cNvPr id="14" name="Rectangle 13"/>
          <p:cNvSpPr/>
          <p:nvPr/>
        </p:nvSpPr>
        <p:spPr>
          <a:xfrm>
            <a:off x="8111066"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1066"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6966" y="2501900"/>
            <a:ext cx="2167260" cy="273793"/>
          </a:xfrm>
          <a:prstGeom prst="rect">
            <a:avLst/>
          </a:prstGeom>
          <a:noFill/>
        </p:spPr>
        <p:txBody>
          <a:bodyPr wrap="none" lIns="0" tIns="0" rIns="0" bIns="0">
            <a:spAutoFit/>
          </a:bodyPr>
          <a:lstStyle/>
          <a:p>
            <a:pPr>
              <a:lnSpc>
                <a:spcPts val="2268"/>
              </a:lnSpc>
              <a:spcBef>
                <a:spcPts val="0"/>
              </a:spcBef>
              <a:spcAft>
                <a:spcPts val="0"/>
              </a:spcAft>
            </a:pPr>
            <a:r>
              <a:rPr sz="1800" b="1" dirty="0">
                <a:solidFill>
                  <a:srgbClr val="315EC6"/>
                </a:solidFill>
                <a:latin typeface="Arial"/>
              </a:rPr>
              <a:t>Activity in an image</a:t>
            </a:r>
          </a:p>
        </p:txBody>
      </p:sp>
      <p:sp>
        <p:nvSpPr>
          <p:cNvPr id="17" name="TextBox 16"/>
          <p:cNvSpPr txBox="1"/>
          <p:nvPr/>
        </p:nvSpPr>
        <p:spPr>
          <a:xfrm>
            <a:off x="8326966" y="3111500"/>
            <a:ext cx="3218830" cy="1453539"/>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Benchmark-style instruction</a:t>
            </a:r>
          </a:p>
          <a:p>
            <a:pPr>
              <a:lnSpc>
                <a:spcPts val="2268"/>
              </a:lnSpc>
              <a:spcBef>
                <a:spcPts val="0"/>
              </a:spcBef>
              <a:spcAft>
                <a:spcPts val="0"/>
              </a:spcAft>
            </a:pPr>
            <a:r>
              <a:rPr lang="en-US" dirty="0">
                <a:solidFill>
                  <a:srgbClr val="14283F"/>
                </a:solidFill>
                <a:latin typeface="Arial"/>
              </a:rPr>
              <a:t>i</a:t>
            </a:r>
            <a:r>
              <a:rPr lang="en-US" sz="1800" b="0" dirty="0">
                <a:solidFill>
                  <a:srgbClr val="14283F"/>
                </a:solidFill>
                <a:latin typeface="Arial"/>
              </a:rPr>
              <a:t>mage carrying printed text</a:t>
            </a:r>
            <a:r>
              <a:rPr sz="1800" b="0" dirty="0">
                <a:solidFill>
                  <a:srgbClr val="14283F"/>
                </a:solidFill>
                <a:latin typeface="Arial"/>
              </a:rPr>
              <a:t>:</a:t>
            </a:r>
            <a:endParaRPr lang="en-US" sz="1800" b="0" dirty="0">
              <a:solidFill>
                <a:srgbClr val="14283F"/>
              </a:solidFill>
              <a:latin typeface="Arial"/>
            </a:endParaRPr>
          </a:p>
          <a:p>
            <a:pPr>
              <a:lnSpc>
                <a:spcPts val="2268"/>
              </a:lnSpc>
              <a:spcBef>
                <a:spcPts val="0"/>
              </a:spcBef>
              <a:spcAft>
                <a:spcPts val="0"/>
              </a:spcAft>
            </a:pPr>
            <a:r>
              <a:rPr lang="en-US" sz="1800" b="0" dirty="0">
                <a:solidFill>
                  <a:srgbClr val="14283F"/>
                </a:solidFill>
                <a:latin typeface="Arial"/>
              </a:rPr>
              <a:t>(text as image, not any images)</a:t>
            </a:r>
          </a:p>
          <a:p>
            <a:pPr>
              <a:lnSpc>
                <a:spcPts val="2268"/>
              </a:lnSpc>
              <a:spcBef>
                <a:spcPts val="0"/>
              </a:spcBef>
              <a:spcAft>
                <a:spcPts val="0"/>
              </a:spcAft>
            </a:pPr>
            <a:endParaRPr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“Making a paper lantern”</a:t>
            </a:r>
          </a:p>
        </p:txBody>
      </p:sp>
      <p:sp>
        <p:nvSpPr>
          <p:cNvPr id="18" name="TextBox 17"/>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A control is a comparison that helps isolate which change matters.</a:t>
            </a:r>
          </a:p>
        </p:txBody>
      </p:sp>
      <p:sp>
        <p:nvSpPr>
          <p:cNvPr id="19" name="Rectangle 18"/>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04 / 16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The text control explains part of the apparent image gap</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How often each model declined, using one historical judge and scoring rule</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Refusal rate (%)</a:t>
            </a:r>
          </a:p>
        </p:txBody>
      </p:sp>
      <p:sp>
        <p:nvSpPr>
          <p:cNvPr id="17" name="Rectangle 16"/>
          <p:cNvSpPr/>
          <p:nvPr/>
        </p:nvSpPr>
        <p:spPr>
          <a:xfrm>
            <a:off x="1695450" y="3545221"/>
            <a:ext cx="495299" cy="176337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57350" y="3291221"/>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66.1</a:t>
            </a:r>
          </a:p>
        </p:txBody>
      </p:sp>
      <p:sp>
        <p:nvSpPr>
          <p:cNvPr id="19" name="Rectangle 18"/>
          <p:cNvSpPr/>
          <p:nvPr/>
        </p:nvSpPr>
        <p:spPr>
          <a:xfrm>
            <a:off x="2343150" y="4817310"/>
            <a:ext cx="495299" cy="491289"/>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05050" y="456331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18.4</a:t>
            </a:r>
          </a:p>
        </p:txBody>
      </p:sp>
      <p:sp>
        <p:nvSpPr>
          <p:cNvPr id="21" name="Rectangle 20"/>
          <p:cNvSpPr/>
          <p:nvPr/>
        </p:nvSpPr>
        <p:spPr>
          <a:xfrm>
            <a:off x="2990850" y="4905040"/>
            <a:ext cx="495299" cy="403559"/>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952750" y="465104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15.1</a:t>
            </a:r>
          </a:p>
        </p:txBody>
      </p:sp>
      <p:sp>
        <p:nvSpPr>
          <p:cNvPr id="23" name="TextBox 22"/>
          <p:cNvSpPr txBox="1"/>
          <p:nvPr/>
        </p:nvSpPr>
        <p:spPr>
          <a:xfrm>
            <a:off x="8890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Qwen2-VL-2B</a:t>
            </a:r>
          </a:p>
        </p:txBody>
      </p:sp>
      <p:sp>
        <p:nvSpPr>
          <p:cNvPr id="24" name="Rectangle 23"/>
          <p:cNvSpPr/>
          <p:nvPr/>
        </p:nvSpPr>
        <p:spPr>
          <a:xfrm>
            <a:off x="5175250" y="3325896"/>
            <a:ext cx="495299" cy="198270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37150" y="307189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74.3</a:t>
            </a:r>
          </a:p>
        </p:txBody>
      </p:sp>
      <p:sp>
        <p:nvSpPr>
          <p:cNvPr id="26" name="Rectangle 25"/>
          <p:cNvSpPr/>
          <p:nvPr/>
        </p:nvSpPr>
        <p:spPr>
          <a:xfrm>
            <a:off x="5822950" y="3948780"/>
            <a:ext cx="495299" cy="1359819"/>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84850" y="369478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51.0</a:t>
            </a:r>
          </a:p>
        </p:txBody>
      </p:sp>
      <p:sp>
        <p:nvSpPr>
          <p:cNvPr id="28" name="Rectangle 27"/>
          <p:cNvSpPr/>
          <p:nvPr/>
        </p:nvSpPr>
        <p:spPr>
          <a:xfrm>
            <a:off x="6470650" y="4133014"/>
            <a:ext cx="495299" cy="1175585"/>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2550" y="3879014"/>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44.1</a:t>
            </a:r>
          </a:p>
        </p:txBody>
      </p:sp>
      <p:sp>
        <p:nvSpPr>
          <p:cNvPr id="30" name="TextBox 29"/>
          <p:cNvSpPr txBox="1"/>
          <p:nvPr/>
        </p:nvSpPr>
        <p:spPr>
          <a:xfrm>
            <a:off x="43688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Qwen2.5-VL-3B</a:t>
            </a:r>
          </a:p>
        </p:txBody>
      </p:sp>
      <p:sp>
        <p:nvSpPr>
          <p:cNvPr id="31" name="Rectangle 30"/>
          <p:cNvSpPr/>
          <p:nvPr/>
        </p:nvSpPr>
        <p:spPr>
          <a:xfrm>
            <a:off x="8655050" y="4097922"/>
            <a:ext cx="495299" cy="1210677"/>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16950" y="3843922"/>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45.4</a:t>
            </a:r>
          </a:p>
        </p:txBody>
      </p:sp>
      <p:sp>
        <p:nvSpPr>
          <p:cNvPr id="33" name="Rectangle 32"/>
          <p:cNvSpPr/>
          <p:nvPr/>
        </p:nvSpPr>
        <p:spPr>
          <a:xfrm>
            <a:off x="9302750" y="4308475"/>
            <a:ext cx="495299" cy="100012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64650" y="405447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37.5</a:t>
            </a:r>
          </a:p>
        </p:txBody>
      </p:sp>
      <p:sp>
        <p:nvSpPr>
          <p:cNvPr id="35" name="Rectangle 34"/>
          <p:cNvSpPr/>
          <p:nvPr/>
        </p:nvSpPr>
        <p:spPr>
          <a:xfrm>
            <a:off x="9950450" y="5238415"/>
            <a:ext cx="495299" cy="70184"/>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12350" y="498441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2.6</a:t>
            </a:r>
          </a:p>
        </p:txBody>
      </p:sp>
      <p:sp>
        <p:nvSpPr>
          <p:cNvPr id="37" name="TextBox 36"/>
          <p:cNvSpPr txBox="1"/>
          <p:nvPr/>
        </p:nvSpPr>
        <p:spPr>
          <a:xfrm>
            <a:off x="78486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LLaVA-1.5-7B</a:t>
            </a:r>
          </a:p>
        </p:txBody>
      </p:sp>
      <p:sp>
        <p:nvSpPr>
          <p:cNvPr id="38" name="Rectangle 37"/>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79500" y="2197100"/>
            <a:ext cx="3318933"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Original question in chat</a:t>
            </a:r>
          </a:p>
        </p:txBody>
      </p:sp>
      <p:sp>
        <p:nvSpPr>
          <p:cNvPr id="40" name="Rectangle 39"/>
          <p:cNvSpPr/>
          <p:nvPr/>
        </p:nvSpPr>
        <p:spPr>
          <a:xfrm>
            <a:off x="4449233"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77833" y="2197100"/>
            <a:ext cx="3318933"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Activity phrase as text</a:t>
            </a:r>
          </a:p>
        </p:txBody>
      </p:sp>
      <p:sp>
        <p:nvSpPr>
          <p:cNvPr id="42" name="Rectangle 41"/>
          <p:cNvSpPr/>
          <p:nvPr/>
        </p:nvSpPr>
        <p:spPr>
          <a:xfrm>
            <a:off x="8047566" y="2235200"/>
            <a:ext cx="139700" cy="139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76166" y="2197100"/>
            <a:ext cx="1588576" cy="166777"/>
          </a:xfrm>
          <a:prstGeom prst="rect">
            <a:avLst/>
          </a:prstGeom>
          <a:noFill/>
        </p:spPr>
        <p:txBody>
          <a:bodyPr wrap="none" lIns="0" tIns="0" rIns="0" bIns="0">
            <a:spAutoFit/>
          </a:bodyPr>
          <a:lstStyle/>
          <a:p>
            <a:pPr>
              <a:lnSpc>
                <a:spcPts val="1386"/>
              </a:lnSpc>
              <a:spcBef>
                <a:spcPts val="0"/>
              </a:spcBef>
              <a:spcAft>
                <a:spcPts val="0"/>
              </a:spcAft>
            </a:pPr>
            <a:r>
              <a:rPr sz="1100" b="0" dirty="0">
                <a:solidFill>
                  <a:srgbClr val="526378"/>
                </a:solidFill>
                <a:latin typeface="Arial"/>
              </a:rPr>
              <a:t>Benchmark</a:t>
            </a:r>
            <a:r>
              <a:rPr lang="en-US" sz="1100" b="0" dirty="0">
                <a:solidFill>
                  <a:srgbClr val="526378"/>
                </a:solidFill>
                <a:latin typeface="Arial"/>
              </a:rPr>
              <a:t> text as</a:t>
            </a:r>
            <a:r>
              <a:rPr sz="1100" b="0" dirty="0">
                <a:solidFill>
                  <a:srgbClr val="526378"/>
                </a:solidFill>
                <a:latin typeface="Arial"/>
              </a:rPr>
              <a:t> image</a:t>
            </a:r>
          </a:p>
        </p:txBody>
      </p:sp>
      <p:sp>
        <p:nvSpPr>
          <p:cNvPr id="44" name="TextBox 43"/>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For Qwen2: original text 66.1% → activity as text 18.4% → image 15.1%.</a:t>
            </a:r>
          </a:p>
        </p:txBody>
      </p:sp>
      <p:sp>
        <p:nvSpPr>
          <p:cNvPr id="45" name="Rectangle 44"/>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08 / 16</a:t>
            </a:r>
          </a:p>
        </p:txBody>
      </p:sp>
      <p:sp>
        <p:nvSpPr>
          <p:cNvPr id="47" name="Axis label: Answering model"/>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Answering model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For LLaVA, an unrelated image also changed the answers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The question stays as text; the attached noise image adds no task information.</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Outcome rate (%)</a:t>
            </a:r>
          </a:p>
        </p:txBody>
      </p:sp>
      <p:sp>
        <p:nvSpPr>
          <p:cNvPr id="17" name="Rectangle 16"/>
          <p:cNvSpPr/>
          <p:nvPr/>
        </p:nvSpPr>
        <p:spPr>
          <a:xfrm>
            <a:off x="2889250" y="4097922"/>
            <a:ext cx="495299" cy="1210677"/>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51150" y="3843922"/>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45.4</a:t>
            </a:r>
          </a:p>
        </p:txBody>
      </p:sp>
      <p:sp>
        <p:nvSpPr>
          <p:cNvPr id="19" name="Rectangle 18"/>
          <p:cNvSpPr/>
          <p:nvPr/>
        </p:nvSpPr>
        <p:spPr>
          <a:xfrm>
            <a:off x="3536950" y="5133139"/>
            <a:ext cx="495299" cy="17546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98850" y="4879139"/>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6.6</a:t>
            </a:r>
          </a:p>
        </p:txBody>
      </p:sp>
      <p:sp>
        <p:nvSpPr>
          <p:cNvPr id="21" name="TextBox 20"/>
          <p:cNvSpPr txBox="1"/>
          <p:nvPr/>
        </p:nvSpPr>
        <p:spPr>
          <a:xfrm>
            <a:off x="889000" y="5524500"/>
            <a:ext cx="5143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Declined the request</a:t>
            </a:r>
          </a:p>
        </p:txBody>
      </p:sp>
      <p:sp>
        <p:nvSpPr>
          <p:cNvPr id="22" name="Rectangle 21"/>
          <p:cNvSpPr/>
          <p:nvPr/>
        </p:nvSpPr>
        <p:spPr>
          <a:xfrm>
            <a:off x="8108950" y="4255836"/>
            <a:ext cx="495299" cy="105276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70850" y="400183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39.5</a:t>
            </a:r>
          </a:p>
        </p:txBody>
      </p:sp>
      <p:sp>
        <p:nvSpPr>
          <p:cNvPr id="24" name="Rectangle 23"/>
          <p:cNvSpPr/>
          <p:nvPr/>
        </p:nvSpPr>
        <p:spPr>
          <a:xfrm>
            <a:off x="8756650" y="3325896"/>
            <a:ext cx="495299" cy="1982703"/>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18550" y="307189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74.3</a:t>
            </a:r>
          </a:p>
        </p:txBody>
      </p:sp>
      <p:sp>
        <p:nvSpPr>
          <p:cNvPr id="26" name="TextBox 25"/>
          <p:cNvSpPr txBox="1"/>
          <p:nvPr/>
        </p:nvSpPr>
        <p:spPr>
          <a:xfrm>
            <a:off x="6108700" y="5524500"/>
            <a:ext cx="5143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Labelled harmful help</a:t>
            </a:r>
          </a:p>
        </p:txBody>
      </p:sp>
      <p:sp>
        <p:nvSpPr>
          <p:cNvPr id="27" name="Rectangle 26"/>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9500" y="2197100"/>
            <a:ext cx="1463542" cy="166777"/>
          </a:xfrm>
          <a:prstGeom prst="rect">
            <a:avLst/>
          </a:prstGeom>
          <a:noFill/>
        </p:spPr>
        <p:txBody>
          <a:bodyPr wrap="none" lIns="0" tIns="0" rIns="0" bIns="0">
            <a:spAutoFit/>
          </a:bodyPr>
          <a:lstStyle/>
          <a:p>
            <a:pPr>
              <a:lnSpc>
                <a:spcPts val="1386"/>
              </a:lnSpc>
              <a:spcBef>
                <a:spcPts val="0"/>
              </a:spcBef>
              <a:spcAft>
                <a:spcPts val="0"/>
              </a:spcAft>
            </a:pPr>
            <a:r>
              <a:rPr sz="1100" b="0" dirty="0">
                <a:solidFill>
                  <a:srgbClr val="526378"/>
                </a:solidFill>
                <a:latin typeface="Arial"/>
              </a:rPr>
              <a:t>No image</a:t>
            </a:r>
            <a:r>
              <a:rPr lang="en-US" sz="1100" b="0" dirty="0">
                <a:solidFill>
                  <a:srgbClr val="526378"/>
                </a:solidFill>
                <a:latin typeface="Arial"/>
              </a:rPr>
              <a:t> (Text in chat)</a:t>
            </a:r>
            <a:endParaRPr sz="1100" b="0" dirty="0">
              <a:solidFill>
                <a:srgbClr val="526378"/>
              </a:solidFill>
              <a:latin typeface="Arial"/>
            </a:endParaRPr>
          </a:p>
        </p:txBody>
      </p:sp>
      <p:sp>
        <p:nvSpPr>
          <p:cNvPr id="29" name="Rectangle 28"/>
          <p:cNvSpPr/>
          <p:nvPr/>
        </p:nvSpPr>
        <p:spPr>
          <a:xfrm>
            <a:off x="62484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7000" y="2197100"/>
            <a:ext cx="3643626" cy="166777"/>
          </a:xfrm>
          <a:prstGeom prst="rect">
            <a:avLst/>
          </a:prstGeom>
          <a:noFill/>
        </p:spPr>
        <p:txBody>
          <a:bodyPr wrap="none" lIns="0" tIns="0" rIns="0" bIns="0">
            <a:spAutoFit/>
          </a:bodyPr>
          <a:lstStyle/>
          <a:p>
            <a:pPr>
              <a:lnSpc>
                <a:spcPts val="1386"/>
              </a:lnSpc>
              <a:spcBef>
                <a:spcPts val="0"/>
              </a:spcBef>
              <a:spcAft>
                <a:spcPts val="0"/>
              </a:spcAft>
            </a:pPr>
            <a:r>
              <a:rPr sz="1100" b="0" dirty="0">
                <a:solidFill>
                  <a:srgbClr val="526378"/>
                </a:solidFill>
                <a:latin typeface="Arial"/>
              </a:rPr>
              <a:t>Noise image attached</a:t>
            </a:r>
            <a:r>
              <a:rPr lang="en-US" sz="1100" b="0" dirty="0">
                <a:solidFill>
                  <a:srgbClr val="526378"/>
                </a:solidFill>
                <a:latin typeface="Arial"/>
              </a:rPr>
              <a:t> (text in chat + random noise image)</a:t>
            </a:r>
            <a:endParaRPr sz="1100" b="0" dirty="0">
              <a:solidFill>
                <a:srgbClr val="526378"/>
              </a:solidFill>
              <a:latin typeface="Arial"/>
            </a:endParaRPr>
          </a:p>
        </p:txBody>
      </p:sp>
      <p:sp>
        <p:nvSpPr>
          <p:cNvPr id="31" name="TextBox 30"/>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Image attachment can matter even when the picture is unrelated to the task.</a:t>
            </a:r>
          </a:p>
        </p:txBody>
      </p:sp>
      <p:sp>
        <p:nvSpPr>
          <p:cNvPr id="32" name="Rectangle 31"/>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09 / 16</a:t>
            </a:r>
          </a:p>
        </p:txBody>
      </p:sp>
      <p:sp>
        <p:nvSpPr>
          <p:cNvPr id="34" name="Axis label: Measured outcome"/>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Measured outcome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Could the model read the words in the image?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A separate reading check on text rendered at 12 pixels in the historical experiment.</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Successful readback rate (%)</a:t>
            </a:r>
          </a:p>
        </p:txBody>
      </p:sp>
      <p:sp>
        <p:nvSpPr>
          <p:cNvPr id="17" name="Rectangle 16"/>
          <p:cNvSpPr/>
          <p:nvPr/>
        </p:nvSpPr>
        <p:spPr>
          <a:xfrm>
            <a:off x="2343150" y="2659146"/>
            <a:ext cx="495299" cy="264945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05050" y="240514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99.3</a:t>
            </a:r>
          </a:p>
        </p:txBody>
      </p:sp>
      <p:sp>
        <p:nvSpPr>
          <p:cNvPr id="19" name="TextBox 18"/>
          <p:cNvSpPr txBox="1"/>
          <p:nvPr/>
        </p:nvSpPr>
        <p:spPr>
          <a:xfrm>
            <a:off x="8890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Qwen2-VL-2B</a:t>
            </a:r>
          </a:p>
        </p:txBody>
      </p:sp>
      <p:sp>
        <p:nvSpPr>
          <p:cNvPr id="20" name="Rectangle 19"/>
          <p:cNvSpPr/>
          <p:nvPr/>
        </p:nvSpPr>
        <p:spPr>
          <a:xfrm>
            <a:off x="5822950" y="2650373"/>
            <a:ext cx="495299" cy="2658226"/>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84850" y="2396373"/>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99.7</a:t>
            </a:r>
          </a:p>
        </p:txBody>
      </p:sp>
      <p:sp>
        <p:nvSpPr>
          <p:cNvPr id="22" name="TextBox 21"/>
          <p:cNvSpPr txBox="1"/>
          <p:nvPr/>
        </p:nvSpPr>
        <p:spPr>
          <a:xfrm>
            <a:off x="43688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Qwen2.5-VL-3B</a:t>
            </a:r>
          </a:p>
        </p:txBody>
      </p:sp>
      <p:sp>
        <p:nvSpPr>
          <p:cNvPr id="23" name="Rectangle 22"/>
          <p:cNvSpPr/>
          <p:nvPr/>
        </p:nvSpPr>
        <p:spPr>
          <a:xfrm>
            <a:off x="9302750" y="4080376"/>
            <a:ext cx="495299" cy="122822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64650" y="382637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46.1</a:t>
            </a:r>
          </a:p>
        </p:txBody>
      </p:sp>
      <p:sp>
        <p:nvSpPr>
          <p:cNvPr id="25" name="TextBox 24"/>
          <p:cNvSpPr txBox="1"/>
          <p:nvPr/>
        </p:nvSpPr>
        <p:spPr>
          <a:xfrm>
            <a:off x="78486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LLaVA-1.5-7B</a:t>
            </a:r>
          </a:p>
        </p:txBody>
      </p:sp>
      <p:sp>
        <p:nvSpPr>
          <p:cNvPr id="26" name="Rectangle 25"/>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79500" y="2197100"/>
            <a:ext cx="105156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Successful readback (%)</a:t>
            </a:r>
          </a:p>
        </p:txBody>
      </p:sp>
      <p:sp>
        <p:nvSpPr>
          <p:cNvPr id="28" name="TextBox 27"/>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Being able to read is a separate capability check—not proof of safe reasoning.</a:t>
            </a:r>
          </a:p>
        </p:txBody>
      </p:sp>
      <p:sp>
        <p:nvSpPr>
          <p:cNvPr id="29" name="Rectangle 28"/>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 / 16</a:t>
            </a:r>
          </a:p>
        </p:txBody>
      </p:sp>
      <p:sp>
        <p:nvSpPr>
          <p:cNvPr id="31" name="Axis label: Answering model"/>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Answering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38150"/>
          </a:xfrm>
          <a:prstGeom prst="rect">
            <a:avLst/>
          </a:prstGeom>
          <a:noFill/>
        </p:spPr>
        <p:txBody>
          <a:bodyPr wrap="none" lIns="0" tIns="0" rIns="0" bIns="0">
            <a:spAutoFit/>
          </a:bodyPr>
          <a:lstStyle/>
          <a:p>
            <a:pPr>
              <a:lnSpc>
                <a:spcPts val="3150"/>
              </a:lnSpc>
              <a:spcBef>
                <a:spcPts val="0"/>
              </a:spcBef>
              <a:spcAft>
                <a:spcPts val="0"/>
              </a:spcAft>
            </a:pPr>
            <a:r>
              <a:rPr sz="2500" b="1">
                <a:solidFill>
                  <a:srgbClr val="14283F"/>
                </a:solidFill>
                <a:latin typeface="Arial"/>
              </a:rPr>
              <a:t>Changing the instruction did not reverse the effect in our small test</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Same full questions, Qwen2.5-VL-3B; eight questions under each condition.</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Refusal rate (%)</a:t>
            </a:r>
          </a:p>
        </p:txBody>
      </p:sp>
      <p:sp>
        <p:nvSpPr>
          <p:cNvPr id="17" name="Rectangle 16"/>
          <p:cNvSpPr/>
          <p:nvPr/>
        </p:nvSpPr>
        <p:spPr>
          <a:xfrm>
            <a:off x="2889250" y="3975100"/>
            <a:ext cx="495299" cy="13335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51150" y="37211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50.0</a:t>
            </a:r>
          </a:p>
        </p:txBody>
      </p:sp>
      <p:sp>
        <p:nvSpPr>
          <p:cNvPr id="19" name="Rectangle 18"/>
          <p:cNvSpPr/>
          <p:nvPr/>
        </p:nvSpPr>
        <p:spPr>
          <a:xfrm>
            <a:off x="3536950" y="3641725"/>
            <a:ext cx="495299" cy="166687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98850"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62.5</a:t>
            </a:r>
          </a:p>
        </p:txBody>
      </p:sp>
      <p:sp>
        <p:nvSpPr>
          <p:cNvPr id="21" name="TextBox 20"/>
          <p:cNvSpPr txBox="1"/>
          <p:nvPr/>
        </p:nvSpPr>
        <p:spPr>
          <a:xfrm>
            <a:off x="889000" y="5524500"/>
            <a:ext cx="5143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Ordinary answer instruction</a:t>
            </a:r>
          </a:p>
        </p:txBody>
      </p:sp>
      <p:sp>
        <p:nvSpPr>
          <p:cNvPr id="22" name="Rectangle 21"/>
          <p:cNvSpPr/>
          <p:nvPr/>
        </p:nvSpPr>
        <p:spPr>
          <a:xfrm>
            <a:off x="8108950" y="3641725"/>
            <a:ext cx="495299" cy="1666875"/>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70850"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62.5</a:t>
            </a:r>
          </a:p>
        </p:txBody>
      </p:sp>
      <p:sp>
        <p:nvSpPr>
          <p:cNvPr id="24" name="Rectangle 23"/>
          <p:cNvSpPr/>
          <p:nvPr/>
        </p:nvSpPr>
        <p:spPr>
          <a:xfrm>
            <a:off x="8756650" y="2641600"/>
            <a:ext cx="495299" cy="26670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18550"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100.0</a:t>
            </a:r>
          </a:p>
        </p:txBody>
      </p:sp>
      <p:sp>
        <p:nvSpPr>
          <p:cNvPr id="26" name="TextBox 25"/>
          <p:cNvSpPr txBox="1"/>
          <p:nvPr/>
        </p:nvSpPr>
        <p:spPr>
          <a:xfrm>
            <a:off x="6108700" y="5524500"/>
            <a:ext cx="5143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Ask for detailed steps</a:t>
            </a:r>
          </a:p>
        </p:txBody>
      </p:sp>
      <p:sp>
        <p:nvSpPr>
          <p:cNvPr id="27" name="Rectangle 26"/>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95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Question as text</a:t>
            </a:r>
          </a:p>
        </p:txBody>
      </p:sp>
      <p:sp>
        <p:nvSpPr>
          <p:cNvPr id="29" name="Rectangle 28"/>
          <p:cNvSpPr/>
          <p:nvPr/>
        </p:nvSpPr>
        <p:spPr>
          <a:xfrm>
            <a:off x="62484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70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Question in an image</a:t>
            </a:r>
          </a:p>
        </p:txBody>
      </p:sp>
      <p:sp>
        <p:nvSpPr>
          <p:cNvPr id="31" name="TextBox 30"/>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We observed a larger difference—not the predicted direction reversal.</a:t>
            </a:r>
          </a:p>
        </p:txBody>
      </p:sp>
      <p:sp>
        <p:nvSpPr>
          <p:cNvPr id="32" name="Rectangle 31"/>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11 / 16</a:t>
            </a:r>
          </a:p>
        </p:txBody>
      </p:sp>
      <p:sp>
        <p:nvSpPr>
          <p:cNvPr id="34" name="Axis label: Instruction style"/>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Instruction style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Reading more of each answer did not change the automated verdict</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One generated answer, viewed at its first 256 tokens and up to 512 tokens.</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Refusal rate (%)</a:t>
            </a:r>
          </a:p>
        </p:txBody>
      </p:sp>
      <p:sp>
        <p:nvSpPr>
          <p:cNvPr id="17" name="Rectangle 16"/>
          <p:cNvSpPr/>
          <p:nvPr/>
        </p:nvSpPr>
        <p:spPr>
          <a:xfrm>
            <a:off x="1584325" y="3975100"/>
            <a:ext cx="495299" cy="13335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546225" y="37211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50.0</a:t>
            </a:r>
          </a:p>
        </p:txBody>
      </p:sp>
      <p:sp>
        <p:nvSpPr>
          <p:cNvPr id="19" name="Rectangle 18"/>
          <p:cNvSpPr/>
          <p:nvPr/>
        </p:nvSpPr>
        <p:spPr>
          <a:xfrm>
            <a:off x="2232025" y="3975100"/>
            <a:ext cx="495299" cy="13335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93925" y="37211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50.0</a:t>
            </a:r>
          </a:p>
        </p:txBody>
      </p:sp>
      <p:sp>
        <p:nvSpPr>
          <p:cNvPr id="21" name="TextBox 20"/>
          <p:cNvSpPr txBox="1"/>
          <p:nvPr/>
        </p:nvSpPr>
        <p:spPr>
          <a:xfrm>
            <a:off x="889000" y="5524500"/>
            <a:ext cx="253365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Ordinary / text</a:t>
            </a:r>
          </a:p>
        </p:txBody>
      </p:sp>
      <p:sp>
        <p:nvSpPr>
          <p:cNvPr id="22" name="Rectangle 21"/>
          <p:cNvSpPr/>
          <p:nvPr/>
        </p:nvSpPr>
        <p:spPr>
          <a:xfrm>
            <a:off x="4194175" y="3641725"/>
            <a:ext cx="495299" cy="1666875"/>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56075"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62.5</a:t>
            </a:r>
          </a:p>
        </p:txBody>
      </p:sp>
      <p:sp>
        <p:nvSpPr>
          <p:cNvPr id="24" name="Rectangle 23"/>
          <p:cNvSpPr/>
          <p:nvPr/>
        </p:nvSpPr>
        <p:spPr>
          <a:xfrm>
            <a:off x="4841875" y="3641725"/>
            <a:ext cx="495299" cy="166687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03775"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62.5</a:t>
            </a:r>
          </a:p>
        </p:txBody>
      </p:sp>
      <p:sp>
        <p:nvSpPr>
          <p:cNvPr id="26" name="TextBox 25"/>
          <p:cNvSpPr txBox="1"/>
          <p:nvPr/>
        </p:nvSpPr>
        <p:spPr>
          <a:xfrm>
            <a:off x="3498850" y="5524500"/>
            <a:ext cx="253365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Ordinary / image</a:t>
            </a:r>
          </a:p>
        </p:txBody>
      </p:sp>
      <p:sp>
        <p:nvSpPr>
          <p:cNvPr id="27" name="Rectangle 26"/>
          <p:cNvSpPr/>
          <p:nvPr/>
        </p:nvSpPr>
        <p:spPr>
          <a:xfrm>
            <a:off x="6804025" y="3641725"/>
            <a:ext cx="495299" cy="1666875"/>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65925"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62.5</a:t>
            </a:r>
          </a:p>
        </p:txBody>
      </p:sp>
      <p:sp>
        <p:nvSpPr>
          <p:cNvPr id="29" name="Rectangle 28"/>
          <p:cNvSpPr/>
          <p:nvPr/>
        </p:nvSpPr>
        <p:spPr>
          <a:xfrm>
            <a:off x="7451725" y="3641725"/>
            <a:ext cx="495299" cy="166687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13625"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62.5</a:t>
            </a:r>
          </a:p>
        </p:txBody>
      </p:sp>
      <p:sp>
        <p:nvSpPr>
          <p:cNvPr id="31" name="TextBox 30"/>
          <p:cNvSpPr txBox="1"/>
          <p:nvPr/>
        </p:nvSpPr>
        <p:spPr>
          <a:xfrm>
            <a:off x="6108700" y="5524500"/>
            <a:ext cx="253365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Steps / text</a:t>
            </a:r>
          </a:p>
        </p:txBody>
      </p:sp>
      <p:sp>
        <p:nvSpPr>
          <p:cNvPr id="32" name="Rectangle 31"/>
          <p:cNvSpPr/>
          <p:nvPr/>
        </p:nvSpPr>
        <p:spPr>
          <a:xfrm>
            <a:off x="9413875" y="2641600"/>
            <a:ext cx="495299" cy="26670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5775"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100.0</a:t>
            </a:r>
          </a:p>
        </p:txBody>
      </p:sp>
      <p:sp>
        <p:nvSpPr>
          <p:cNvPr id="34" name="Rectangle 33"/>
          <p:cNvSpPr/>
          <p:nvPr/>
        </p:nvSpPr>
        <p:spPr>
          <a:xfrm>
            <a:off x="10061575" y="2641600"/>
            <a:ext cx="495299" cy="26670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023475"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100.0</a:t>
            </a:r>
          </a:p>
        </p:txBody>
      </p:sp>
      <p:sp>
        <p:nvSpPr>
          <p:cNvPr id="36" name="TextBox 35"/>
          <p:cNvSpPr txBox="1"/>
          <p:nvPr/>
        </p:nvSpPr>
        <p:spPr>
          <a:xfrm>
            <a:off x="8718550" y="5524500"/>
            <a:ext cx="253365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Steps / image</a:t>
            </a:r>
          </a:p>
        </p:txBody>
      </p:sp>
      <p:sp>
        <p:nvSpPr>
          <p:cNvPr id="37" name="Rectangle 36"/>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795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First 256 tokens</a:t>
            </a:r>
          </a:p>
        </p:txBody>
      </p:sp>
      <p:sp>
        <p:nvSpPr>
          <p:cNvPr id="39" name="Rectangle 38"/>
          <p:cNvSpPr/>
          <p:nvPr/>
        </p:nvSpPr>
        <p:spPr>
          <a:xfrm>
            <a:off x="62484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770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Up to 512 tokens</a:t>
            </a:r>
          </a:p>
        </p:txBody>
      </p:sp>
      <p:sp>
        <p:nvSpPr>
          <p:cNvPr id="41" name="TextBox 40"/>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Generation is complete: 32 answers, 128 judge evaluations, no failures. Human checking remains.</a:t>
            </a:r>
          </a:p>
        </p:txBody>
      </p:sp>
      <p:sp>
        <p:nvSpPr>
          <p:cNvPr id="42" name="Rectangle 41"/>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12 / 16</a:t>
            </a:r>
          </a:p>
        </p:txBody>
      </p:sp>
      <p:sp>
        <p:nvSpPr>
          <p:cNvPr id="44" name="Axis label: Instruction and question carrier"/>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Instruction and question carrier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902208"/>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The first human review matched refusal labels more than harm</a:t>
            </a:r>
          </a:p>
          <a:p>
            <a:pPr>
              <a:lnSpc>
                <a:spcPts val="3402"/>
              </a:lnSpc>
              <a:spcBef>
                <a:spcPts val="0"/>
              </a:spcBef>
              <a:spcAft>
                <a:spcPts val="0"/>
              </a:spcAft>
            </a:pPr>
            <a:r>
              <a:rPr sz="2700" b="1">
                <a:solidFill>
                  <a:srgbClr val="14283F"/>
                </a:solidFill>
                <a:latin typeface="Arial"/>
              </a:rPr>
              <a:t>labels</a:t>
            </a:r>
          </a:p>
        </p:txBody>
      </p:sp>
      <p:sp>
        <p:nvSpPr>
          <p:cNvPr id="5" name="TextBox 4"/>
          <p:cNvSpPr txBox="1"/>
          <p:nvPr/>
        </p:nvSpPr>
        <p:spPr>
          <a:xfrm>
            <a:off x="457200" y="1562100"/>
            <a:ext cx="7391447" cy="226472"/>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526378"/>
                </a:solidFill>
                <a:latin typeface="Arial"/>
              </a:rPr>
              <a:t>Agreement between </a:t>
            </a:r>
            <a:r>
              <a:rPr lang="en-US" sz="1500" b="0" dirty="0">
                <a:solidFill>
                  <a:srgbClr val="526378"/>
                </a:solidFill>
                <a:latin typeface="Arial"/>
              </a:rPr>
              <a:t>human validator </a:t>
            </a:r>
            <a:r>
              <a:rPr sz="1500" b="0" dirty="0">
                <a:solidFill>
                  <a:srgbClr val="526378"/>
                </a:solidFill>
                <a:latin typeface="Arial"/>
              </a:rPr>
              <a:t>and the auxiliary LLM on the original 48 answers.</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Human–LLM agreement (%)</a:t>
            </a:r>
          </a:p>
        </p:txBody>
      </p:sp>
      <p:sp>
        <p:nvSpPr>
          <p:cNvPr id="17" name="Rectangle 16"/>
          <p:cNvSpPr/>
          <p:nvPr/>
        </p:nvSpPr>
        <p:spPr>
          <a:xfrm>
            <a:off x="2343150" y="2641600"/>
            <a:ext cx="495299" cy="26670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05050"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100.0</a:t>
            </a:r>
          </a:p>
        </p:txBody>
      </p:sp>
      <p:sp>
        <p:nvSpPr>
          <p:cNvPr id="19" name="TextBox 18"/>
          <p:cNvSpPr txBox="1"/>
          <p:nvPr/>
        </p:nvSpPr>
        <p:spPr>
          <a:xfrm>
            <a:off x="8890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Declined the request</a:t>
            </a:r>
          </a:p>
        </p:txBody>
      </p:sp>
      <p:sp>
        <p:nvSpPr>
          <p:cNvPr id="20" name="Rectangle 19"/>
          <p:cNvSpPr/>
          <p:nvPr/>
        </p:nvSpPr>
        <p:spPr>
          <a:xfrm>
            <a:off x="5822950" y="3030537"/>
            <a:ext cx="495299" cy="2278062"/>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84850" y="2776537"/>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85.4</a:t>
            </a:r>
          </a:p>
        </p:txBody>
      </p:sp>
      <p:sp>
        <p:nvSpPr>
          <p:cNvPr id="22" name="TextBox 21"/>
          <p:cNvSpPr txBox="1"/>
          <p:nvPr/>
        </p:nvSpPr>
        <p:spPr>
          <a:xfrm>
            <a:off x="43688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Provided harmful help</a:t>
            </a:r>
          </a:p>
        </p:txBody>
      </p:sp>
      <p:sp>
        <p:nvSpPr>
          <p:cNvPr id="23" name="Rectangle 22"/>
          <p:cNvSpPr/>
          <p:nvPr/>
        </p:nvSpPr>
        <p:spPr>
          <a:xfrm>
            <a:off x="9302750" y="2641600"/>
            <a:ext cx="495299" cy="26670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64650"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100.0</a:t>
            </a:r>
          </a:p>
        </p:txBody>
      </p:sp>
      <p:sp>
        <p:nvSpPr>
          <p:cNvPr id="25" name="TextBox 24"/>
          <p:cNvSpPr txBox="1"/>
          <p:nvPr/>
        </p:nvSpPr>
        <p:spPr>
          <a:xfrm>
            <a:off x="78486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Understanding category</a:t>
            </a:r>
          </a:p>
        </p:txBody>
      </p:sp>
      <p:sp>
        <p:nvSpPr>
          <p:cNvPr id="26" name="Rectangle 25"/>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79500" y="2197100"/>
            <a:ext cx="105156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Same label from both reviewers</a:t>
            </a:r>
          </a:p>
        </p:txBody>
      </p:sp>
      <p:sp>
        <p:nvSpPr>
          <p:cNvPr id="28" name="TextBox 27"/>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Agreement is not proof of correctness. The new 64-unit human review is still pending.</a:t>
            </a:r>
          </a:p>
        </p:txBody>
      </p:sp>
      <p:sp>
        <p:nvSpPr>
          <p:cNvPr id="29" name="Rectangle 28"/>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13 / 16</a:t>
            </a:r>
          </a:p>
        </p:txBody>
      </p:sp>
      <p:sp>
        <p:nvSpPr>
          <p:cNvPr id="31" name="Axis label: Judgment category"/>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Judgment category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Removing different answers can create a misleading reversal</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Historical review example: image refusal minus text refusal, in percentage points.</a:t>
            </a:r>
          </a:p>
        </p:txBody>
      </p:sp>
      <p:sp>
        <p:nvSpPr>
          <p:cNvPr id="6" name="Rectangle 5"/>
          <p:cNvSpPr/>
          <p:nvPr/>
        </p:nvSpPr>
        <p:spPr>
          <a:xfrm>
            <a:off x="850900" y="5308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0" name="Rectangle 9"/>
          <p:cNvSpPr/>
          <p:nvPr/>
        </p:nvSpPr>
        <p:spPr>
          <a:xfrm>
            <a:off x="850900" y="39751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Image − text refusal (percentage points)</a:t>
            </a:r>
          </a:p>
        </p:txBody>
      </p:sp>
      <p:sp>
        <p:nvSpPr>
          <p:cNvPr id="17" name="Rectangle 16"/>
          <p:cNvSpPr/>
          <p:nvPr/>
        </p:nvSpPr>
        <p:spPr>
          <a:xfrm>
            <a:off x="2019300" y="3808412"/>
            <a:ext cx="495299" cy="166687"/>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981199" y="3554412"/>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12.5</a:t>
            </a:r>
          </a:p>
        </p:txBody>
      </p:sp>
      <p:sp>
        <p:nvSpPr>
          <p:cNvPr id="19" name="Rectangle 18"/>
          <p:cNvSpPr/>
          <p:nvPr/>
        </p:nvSpPr>
        <p:spPr>
          <a:xfrm>
            <a:off x="2667000" y="3475037"/>
            <a:ext cx="495299" cy="500062"/>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28900" y="3221037"/>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37.5</a:t>
            </a:r>
          </a:p>
        </p:txBody>
      </p:sp>
      <p:sp>
        <p:nvSpPr>
          <p:cNvPr id="21" name="TextBox 20"/>
          <p:cNvSpPr txBox="1"/>
          <p:nvPr/>
        </p:nvSpPr>
        <p:spPr>
          <a:xfrm>
            <a:off x="8890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Keep all eight questions</a:t>
            </a:r>
          </a:p>
        </p:txBody>
      </p:sp>
      <p:sp>
        <p:nvSpPr>
          <p:cNvPr id="22" name="Rectangle 21"/>
          <p:cNvSpPr/>
          <p:nvPr/>
        </p:nvSpPr>
        <p:spPr>
          <a:xfrm>
            <a:off x="5499100" y="3975100"/>
            <a:ext cx="495299" cy="66675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61000" y="467995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-50.0</a:t>
            </a:r>
          </a:p>
        </p:txBody>
      </p:sp>
      <p:sp>
        <p:nvSpPr>
          <p:cNvPr id="24" name="Rectangle 23"/>
          <p:cNvSpPr/>
          <p:nvPr/>
        </p:nvSpPr>
        <p:spPr>
          <a:xfrm>
            <a:off x="6146800" y="3308350"/>
            <a:ext cx="495299" cy="6667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08700" y="305435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50.0</a:t>
            </a:r>
          </a:p>
        </p:txBody>
      </p:sp>
      <p:sp>
        <p:nvSpPr>
          <p:cNvPr id="26" name="TextBox 25"/>
          <p:cNvSpPr txBox="1"/>
          <p:nvPr/>
        </p:nvSpPr>
        <p:spPr>
          <a:xfrm>
            <a:off x="43688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Remove separately in each group</a:t>
            </a:r>
          </a:p>
        </p:txBody>
      </p:sp>
      <p:sp>
        <p:nvSpPr>
          <p:cNvPr id="27" name="Rectangle 26"/>
          <p:cNvSpPr/>
          <p:nvPr/>
        </p:nvSpPr>
        <p:spPr>
          <a:xfrm>
            <a:off x="8978900" y="3975100"/>
            <a:ext cx="495299" cy="762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40800" y="37211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0.0</a:t>
            </a:r>
          </a:p>
        </p:txBody>
      </p:sp>
      <p:sp>
        <p:nvSpPr>
          <p:cNvPr id="29" name="Rectangle 28"/>
          <p:cNvSpPr/>
          <p:nvPr/>
        </p:nvSpPr>
        <p:spPr>
          <a:xfrm>
            <a:off x="9626600" y="2641600"/>
            <a:ext cx="495299" cy="13335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588500"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100.0</a:t>
            </a:r>
          </a:p>
        </p:txBody>
      </p:sp>
      <p:sp>
        <p:nvSpPr>
          <p:cNvPr id="31" name="TextBox 30"/>
          <p:cNvSpPr txBox="1"/>
          <p:nvPr/>
        </p:nvSpPr>
        <p:spPr>
          <a:xfrm>
            <a:off x="78486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Keep the same three questions</a:t>
            </a:r>
          </a:p>
        </p:txBody>
      </p:sp>
      <p:sp>
        <p:nvSpPr>
          <p:cNvPr id="32" name="Rectangle 31"/>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795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Ordinary instruction</a:t>
            </a:r>
          </a:p>
        </p:txBody>
      </p:sp>
      <p:sp>
        <p:nvSpPr>
          <p:cNvPr id="34" name="Rectangle 33"/>
          <p:cNvSpPr/>
          <p:nvPr/>
        </p:nvSpPr>
        <p:spPr>
          <a:xfrm>
            <a:off x="62484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770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Detailed-steps instruction</a:t>
            </a:r>
          </a:p>
        </p:txBody>
      </p:sp>
      <p:sp>
        <p:nvSpPr>
          <p:cNvPr id="36" name="TextBox 35"/>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A fair paired comparison must keep the same questions in both groups.</a:t>
            </a:r>
          </a:p>
        </p:txBody>
      </p:sp>
      <p:sp>
        <p:nvSpPr>
          <p:cNvPr id="37" name="Rectangle 36"/>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14 / 16</a:t>
            </a:r>
          </a:p>
        </p:txBody>
      </p:sp>
      <p:sp>
        <p:nvSpPr>
          <p:cNvPr id="39" name="Axis label: Question-retention rule"/>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Question-retention rule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TotalTime>
  <Words>6782</Words>
  <Application>Microsoft Macintosh PowerPoint</Application>
  <PresentationFormat>Widescreen</PresentationFormat>
  <Paragraphs>699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VLM safety research: advisor progress review</dc:title>
  <dc:subject>Exploratory research progress; human review pending</dc:subject>
  <dc:creator>Aryaman Singh Dev</dc:creator>
  <cp:keywords/>
  <dc:description>generated using python-pptx</dc:description>
  <cp:lastModifiedBy>Aryaman Dev</cp:lastModifiedBy>
  <cp:revision>22</cp:revision>
  <dcterms:created xsi:type="dcterms:W3CDTF">2013-01-27T09:14:16Z</dcterms:created>
  <dcterms:modified xsi:type="dcterms:W3CDTF">2026-10-22T18:59:52Z</dcterms:modified>
  <cp:category/>
</cp:coreProperties>
</file>
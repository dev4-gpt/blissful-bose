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352"/>
    <p:restoredTop sz="56418"/>
  </p:normalViewPr>
  <p:slideViewPr>
    <p:cSldViewPr snapToGrid="0" snapToObjects="1">
      <p:cViewPr>
        <p:scale>
          <a:sx n="66" d="100"/>
          <a:sy n="66" d="100"/>
        </p:scale>
        <p:origin x="952" y="1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3763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We found that a text–image safety gap is difficult to interpret unless the inputs and scoring are controlled. We tested those controls, corrected implementation problems, and challenged a specific reversal prediction that did not hold in our small development sample. We’re now checking the automated judgments before deciding whether a larger study is justified.</a:t>
            </a:r>
            <a:endParaRPr dirty="0"/>
          </a:p>
          <a:p>
            <a:endParaRPr dirty="0"/>
          </a:p>
          <a:p>
            <a:r>
              <a:rPr dirty="0"/>
              <a:t>Which text-image safety findings survive careful measurement?</a:t>
            </a:r>
          </a:p>
          <a:p>
            <a:r>
              <a:rPr dirty="0"/>
              <a:t>Opening: We began with a proposed safety trade-off between text and vision. That simple prediction did not hold in our exploratory tests. We then asked a more practical question: when the same model behaves differently for text and an image, what part comes from the image, the instruction, and the measurement? This talk traces the experiments and the corrections, including failures. The purpose is to agree on a defensible contribution and next evidence step, not to announce a finished novel result.</a:t>
            </a:r>
          </a:p>
          <a:p>
            <a:endParaRPr dirty="0"/>
          </a:p>
          <a:p>
            <a:r>
              <a:rPr dirty="0"/>
              <a:t>We have evidence; we do not yet have a validated novelty claim</a:t>
            </a:r>
          </a:p>
          <a:p>
            <a:r>
              <a:rPr dirty="0"/>
              <a:t>Say what succeeded without implying every hypothesis passed. We built reliable collection and review tooling, tested controls and recorded negative results. Publication novelty is a separate question from whether code ran successfully. The 64 units are not 64 independent generations: they are two windows of 32 generated answers.</a:t>
            </a:r>
          </a:p>
          <a:p>
            <a:endParaRPr dirty="0"/>
          </a:p>
          <a:p>
            <a:r>
              <a:rPr dirty="0"/>
              <a:t>The original idea evolved after testing</a:t>
            </a:r>
          </a:p>
          <a:p>
            <a:r>
              <a:rPr dirty="0"/>
              <a:t>The original advisor framing was a trade-off. The saved correlations and steering experiment do not support that simple zero-sum account. This is limited evidence, not proof that no trade-off can exist. Positive correlation does not prove a shared internal mechanism. The research pivot is from a broad mechanistic story to a controlled measurement question.</a:t>
            </a:r>
          </a:p>
          <a:p>
            <a:endParaRPr dirty="0"/>
          </a:p>
          <a:p>
            <a:r>
              <a:rPr dirty="0"/>
              <a:t>Technical source audit: docs/</a:t>
            </a:r>
            <a:r>
              <a:rPr dirty="0" err="1"/>
              <a:t>TECHNICAL_NOTEBOOK_WALKTHROUGH.md</a:t>
            </a:r>
            <a:r>
              <a:rPr dirty="0"/>
              <a:t>. Saved Drive notebooks were read as JSON, including actual source and output structures; the audit is read-only, not a model rerun.</a:t>
            </a:r>
          </a:p>
          <a:p>
            <a:endParaRPr dirty="0"/>
          </a:p>
          <a:p>
            <a:r>
              <a:rPr dirty="0"/>
              <a:t>Source: docs/</a:t>
            </a:r>
            <a:r>
              <a:rPr dirty="0" err="1"/>
              <a:t>STATUS_AND_PAPER_PLAN.md</a:t>
            </a:r>
            <a:r>
              <a:rPr dirty="0"/>
              <a:t>, sections 1-3 and 17-18</a:t>
            </a:r>
          </a:p>
          <a:p>
            <a:endParaRPr dirty="0"/>
          </a:p>
          <a:p>
            <a:r>
              <a:rPr dirty="0"/>
              <a:t>Evidence status: ADVISOR PROGRESS REVIEW</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endParaRPr dirty="0"/>
          </a:p>
          <a:p>
            <a:r>
              <a:rPr dirty="0"/>
              <a:t>Keep four evidence roles separate</a:t>
            </a:r>
          </a:p>
          <a:p>
            <a:r>
              <a:rPr dirty="0"/>
              <a:t>Multiple notebook versions are not multiple independent replications. Some versions change scoring on existing outputs; others add controls. Benign smoke says that an adapter can generate, not that the model is safe. Fresh confirmation requires its own approved design and the outstanding human, exclusion and budget gates.</a:t>
            </a:r>
          </a:p>
          <a:p>
            <a:endParaRPr dirty="0"/>
          </a:p>
          <a:p>
            <a:r>
              <a:rPr dirty="0"/>
              <a:t>v1-v3: we added controls and found measurement problems</a:t>
            </a:r>
          </a:p>
          <a:p>
            <a:r>
              <a:rPr dirty="0"/>
              <a:t>These are historical stages. Do not pool their percentages: prompts, judges and scoring definitions differ, and caches can be shared. Two earlier rubric judges were retired because their outputs were invalid for this evaluation. The useful outcome was a better experimental design and clearer limitations, not independent proof from each notebook.</a:t>
            </a:r>
          </a:p>
          <a:p>
            <a:endParaRPr dirty="0"/>
          </a:p>
          <a:p>
            <a:r>
              <a:rPr dirty="0"/>
              <a:t>v4-v6: larger design, then validity corrections</a:t>
            </a:r>
          </a:p>
          <a:p>
            <a:r>
              <a:rPr dirty="0"/>
              <a:t>Explain the two corrections precisely. A neutral or altered input cannot be judged as if the model saw the original harmful question. Also, intended small-font images were upscaled by preprocessing, so the treatment was not what the label said. V6 fixes those implementation issues. The fixed NOT_COMPREHEND rule remains imperfect and is not human truth. The earlier files remain reproducible rather than silently overwritten.</a:t>
            </a:r>
          </a:p>
          <a:p>
            <a:endParaRPr dirty="0"/>
          </a:p>
          <a:p>
            <a:r>
              <a:rPr dirty="0"/>
              <a:t>The main historical scientific panel has three VLMs</a:t>
            </a:r>
          </a:p>
          <a:p>
            <a:r>
              <a:rPr dirty="0"/>
              <a:t>State the actual model names and data scope. MM-</a:t>
            </a:r>
            <a:r>
              <a:rPr dirty="0" err="1"/>
              <a:t>SafetyBench</a:t>
            </a:r>
            <a:r>
              <a:rPr dirty="0"/>
              <a:t> and </a:t>
            </a:r>
            <a:r>
              <a:rPr dirty="0" err="1"/>
              <a:t>FigStep</a:t>
            </a:r>
            <a:r>
              <a:rPr dirty="0"/>
              <a:t> provide the benchmark material; our intervention comparisons and scoring protocol are project choices. Historical batch eight differs from the new batch-one development runs, and </a:t>
            </a:r>
            <a:r>
              <a:rPr dirty="0" err="1"/>
              <a:t>LLaVA</a:t>
            </a:r>
            <a:r>
              <a:rPr dirty="0"/>
              <a:t> uses a different precision/preprocessing setup. Judge parse denominators were not fully exported in all v6 cells, so nominal item counts cannot always be called valid-label counts.</a:t>
            </a:r>
          </a:p>
          <a:p>
            <a:endParaRPr dirty="0"/>
          </a:p>
          <a:p>
            <a:r>
              <a:rPr dirty="0"/>
              <a:t>v7 broadened the attempted panel, not the safety evidence</a:t>
            </a:r>
          </a:p>
          <a:p>
            <a:r>
              <a:rPr dirty="0"/>
              <a:t>We did not pretend every download was a successful model test. Three completed, two partial, three failed before responses. Numerical failures are configuration-specific, not evidence that those models can never work. SmolVLM2 image token count stayed fixed in the requested size arm, so that manipulation did not identify a token-dose effect. Failure archives are engineering findings, not safety rates.</a:t>
            </a:r>
          </a:p>
          <a:p>
            <a:endParaRPr dirty="0"/>
          </a:p>
          <a:p>
            <a:r>
              <a:rPr dirty="0"/>
              <a:t>Source: Status sections 2–3, 10, 15–17; separate saved cohorts</a:t>
            </a:r>
          </a:p>
          <a:p>
            <a:endParaRPr dirty="0"/>
          </a:p>
          <a:p>
            <a:r>
              <a:rPr dirty="0"/>
              <a:t>Evidence status: EXPLORATORY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endParaRPr/>
          </a:p>
          <a:p>
            <a:r>
              <a:t>Why a text-versus-picture gap can mislead</a:t>
            </a:r>
          </a:p>
          <a:p>
            <a:r>
              <a:t>Use a harmless example verbally, such as a troubleshooting question represented in plain chat or in a picture. If both the question form and instruction change, the difference cannot be uniquely attributed to vision. Our B/E contrast also changes content form, so the earlier shorthand mostly the wrapper was too strong. Full-question paired grids are the cleaner wording comparison.</a:t>
            </a:r>
          </a:p>
          <a:p>
            <a:endParaRPr/>
          </a:p>
          <a:p>
            <a:r>
              <a:t>The main historical scientific panel has three VLMs</a:t>
            </a:r>
          </a:p>
          <a:p>
            <a:r>
              <a:t>State the actual model names and data scope. MM-SafetyBench and FigStep provide the benchmark material; our intervention comparisons and scoring protocol are project choices. Historical batch eight differs from the new batch-one development runs, and LLaVA uses a different precision/preprocessing setup. Judge parse denominators were not fully exported in all v6 cells, so nominal item counts cannot always be called valid-label counts.</a:t>
            </a:r>
          </a:p>
          <a:p>
            <a:endParaRPr/>
          </a:p>
          <a:p>
            <a:r>
              <a:t>Reading, refusal and harmful assistance are different axes</a:t>
            </a:r>
          </a:p>
          <a:p>
            <a:r>
              <a:t>In v6 Qwen2, image refusal was 15.1% while the unsafe rate was 55.9%, demonstrating that the metrics are not complements. Refusal and harmful information may even coexist in an answer. The new rubric allows uncertainty instead of inventing understanding from a generic refusal. Separate readback shows perceptual capability on that call, not latent comprehension during answering.</a:t>
            </a:r>
          </a:p>
          <a:p>
            <a:endParaRPr/>
          </a:p>
          <a:p>
            <a:r>
              <a:t>The matched Qwen2.5 study challenged a specific reversal</a:t>
            </a:r>
          </a:p>
          <a:p>
            <a:r>
              <a:t>The older v6 Qwen2.5 strong pair suggested a reversal but used legacy benchmark-derived wording. We wrote a cleaner development design with full-question content held fixed, batch one, pinned Qwen2.5-VL-3B and FP16. Two blank arms and readback gave seven target arms per item: 56 target calls. The two guards scored six answering arms: 96 guard calls. Previously seen items motivated the hypothesis, so this is not fresh confirmation.</a:t>
            </a:r>
          </a:p>
          <a:p>
            <a:endParaRPr/>
          </a:p>
          <a:p>
            <a:r>
              <a:t>The window experiment evaluates two views of one generation</a:t>
            </a:r>
          </a:p>
          <a:p>
            <a:r>
              <a:t>We did not compare two unrelated answers and call their difference a window effect. Both windows come from the same output. The prefix was also compared with the old 256-token answer, and this run found no prefix drift. Blank controls and readback were kept as historical controls; they were not rerun in this stage. A six-hour persisted deadline and call cutoff bounded the authorized scope; actual completion took about 21 minutes.</a:t>
            </a:r>
          </a:p>
          <a:p>
            <a:endParaRPr/>
          </a:p>
          <a:p>
            <a:r>
              <a:t>Appendix / condition glossary and attribution limits</a:t>
            </a:r>
          </a:p>
          <a:p>
            <a:r>
              <a:t>Explain why the v6 suggestion and new matched result should not be presented as a direct contradiction or exact replication. They are different operationalizations. B/E alone mixes content form and framing. The approved new grid holds the full-question words fixed while changing the carrier and wrapper.</a:t>
            </a:r>
          </a:p>
          <a:p>
            <a:endParaRPr/>
          </a:p>
          <a:p>
            <a:r>
              <a:t>Appendix / statistical and reproducibility boundaries</a:t>
            </a:r>
          </a:p>
          <a:p>
            <a:r>
              <a:t>The public repository had known legacy raw-data history before this update; today’s aggregate-only publication does not certify all old history as clean or resolve that housekeeping issue. No raw examples are included in this deck. Do not claim population equivalence from all-zero cells. The project uses no training or paid API experiments in these stages.</a:t>
            </a:r>
          </a:p>
          <a:p>
            <a:endParaRPr/>
          </a:p>
          <a:p>
            <a:r>
              <a:t>The new matched study freezes full-question words, but text versus image still changes referent/serialization. E/C is a benchmark payload comparison; B/E is not a pure intervention on wrapper wording. In paired_cx, average differences within each of eight scenarios and then across them; one complete item per scenario gives the same mean as item averaging here.</a:t>
            </a:r>
          </a:p>
          <a:p>
            <a:endParaRPr/>
          </a:p>
          <a:p>
            <a:r>
              <a:t>SYNTHETIC BENIGN EXPLANATION: B might ask a complete question about making paper lanterns. E provides the activity phrase as text with the benchmark instruction; C shows that phrase in the benchmark image with the instruction. This is illustrative, not a private evaluation item or an exact benchmark template. C is not simply a screenshot of B. The later P/S grid renders the full original question and is a separate comparison. Delta(a,b)=mean(R_a−R_b) on jointly valid items; chosen crossover requires d_P&lt;0, d_S&gt;=.15 and d_S−d_P&gt;0.</a:t>
            </a:r>
          </a:p>
          <a:p>
            <a:endParaRPr/>
          </a:p>
          <a:p>
            <a:r>
              <a:t>Source: Status method/glossary; Amendment 7; P1–P3/P6</a:t>
            </a:r>
          </a:p>
          <a:p>
            <a:endParaRPr/>
          </a:p>
          <a:p>
            <a:r>
              <a:t>Evidence status: METHODS</a:t>
            </a:r>
          </a:p>
          <a:p>
            <a:r>
              <a:t>P1: FigStep, arXiv:2311.05608v3, section 6.4 / Table 2 | https://arxiv.org/html/2311.05608v3#S6.SS4</a:t>
            </a:r>
          </a:p>
          <a:p>
            <a:r>
              <a:t>P3: MSTS, arXiv:2501.10057v1, sections 3.4 / 4.2 / 4.5-4.6 | https://arxiv.org/html/2501.10057v1</a:t>
            </a:r>
          </a:p>
          <a:p>
            <a:r>
              <a:t>P6: StrongREJECT, arXiv:2402.10260v2, sections 2.2 / 3.1 / Appendix C.4 | https://arxiv.org/html/2402.10260v2</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endParaRPr dirty="0"/>
          </a:p>
          <a:p>
            <a:r>
              <a:rPr dirty="0"/>
              <a:t>The text control changes the interpretation of the large gap</a:t>
            </a:r>
          </a:p>
          <a:p>
            <a:r>
              <a:rPr dirty="0"/>
              <a:t>For Qwen2, refusal is 66.1% on B, 18.4% on E and 15.1% on C. A large B/C gap is not all vision-specific: the text payload control is already much closer to C. Do not interpret B/E as a pure wording effect because content form changes too. </a:t>
            </a:r>
            <a:r>
              <a:rPr dirty="0" err="1"/>
              <a:t>LLaVA</a:t>
            </a:r>
            <a:r>
              <a:rPr dirty="0"/>
              <a:t> retains a much larger E/C difference. These are guard-labelled rates, not corrected human rates; the figure rounds saved rates to one decimal place.</a:t>
            </a:r>
          </a:p>
          <a:p>
            <a:endParaRPr dirty="0"/>
          </a:p>
          <a:p>
            <a:r>
              <a:rPr dirty="0"/>
              <a:t>Historical B−C Qwen3Guard differences / saved scenario 95% intervals: Qwen2 51.0 pp [30.7,71.3], Qwen2.5 30.3 [17.5,43.0], </a:t>
            </a:r>
            <a:r>
              <a:rPr dirty="0" err="1"/>
              <a:t>LLaVA</a:t>
            </a:r>
            <a:r>
              <a:rPr dirty="0"/>
              <a:t> 42.8 [18.2,67.4]. The rate means use each cell’s valid labels; paired contrasts restrict to jointly finite labels. Nominal n is not always valid-label n. Small denominators/guard differences must remain visible.</a:t>
            </a:r>
          </a:p>
          <a:p>
            <a:endParaRPr dirty="0"/>
          </a:p>
          <a:p>
            <a:r>
              <a:rPr dirty="0"/>
              <a:t>Source: v6_full/results_v6.json: results[model].rates.qwen3guard; nominal n=304/304/152</a:t>
            </a:r>
          </a:p>
          <a:p>
            <a:endParaRPr dirty="0"/>
          </a:p>
          <a:p>
            <a:r>
              <a:rPr dirty="0"/>
              <a:t>Evidence status: EXPLORATORY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endParaRPr/>
          </a:p>
          <a:p>
            <a:r>
              <a:t>The original idea evolved after testing</a:t>
            </a:r>
          </a:p>
          <a:p>
            <a:r>
              <a:t>The original advisor framing was a trade-off. The saved correlations and steering experiment do not support that simple zero-sum account. This is limited evidence, not proof that no trade-off can exist. Positive correlation does not prove a shared internal mechanism. The research pivot is from a broad mechanistic story to a controlled measurement question.</a:t>
            </a:r>
          </a:p>
          <a:p>
            <a:endParaRPr/>
          </a:p>
          <a:p>
            <a:r>
              <a:t>LLaVA shows a large unrelated-image effect</a:t>
            </a:r>
          </a:p>
          <a:p>
            <a:r>
              <a:t>The noise image does not supply the requested activity, yet refusal falls substantially and unsafe labels rise. This supports an image-presence-related effect in the tested LLaVA setup. It does not show that all VLMs share the mechanism. The stronger prespecified all-model/all-image threshold check was split between guards. Prior work also studies image-attachment effects, so the broad phenomenon is not our standalone novelty.</a:t>
            </a:r>
          </a:p>
          <a:p>
            <a:endParaRPr/>
          </a:p>
          <a:p>
            <a:r>
              <a:t>FigStep also needs its text control</a:t>
            </a:r>
          </a:p>
          <a:p>
            <a:r>
              <a:t>A text twin can reduce refusal as much as, or more than, the image attack. That challenges an image-only explanation. FigStep already contains an all-text ablation, Q2-prime, so our control is a replication/adaptation rather than an invention. The combined H24 prediction failed: an interesting subset pattern is not the same as meeting the complete prespecified claim.</a:t>
            </a:r>
          </a:p>
          <a:p>
            <a:endParaRPr/>
          </a:p>
          <a:p>
            <a:r>
              <a:t>Reading, refusal and harmful assistance are different axes</a:t>
            </a:r>
          </a:p>
          <a:p>
            <a:r>
              <a:t>In v6 Qwen2, image refusal was 15.1% while the unsafe rate was 55.9%, demonstrating that the metrics are not complements. Refusal and harmful information may even coexist in an answer. The new rubric allows uncertainty instead of inventing understanding from a generic refusal. Separate readback shows perceptual capability on that call, not latent comprehension during answering.</a:t>
            </a:r>
          </a:p>
          <a:p>
            <a:endParaRPr/>
          </a:p>
          <a:p>
            <a:r>
              <a:t>Appendix / the steering result behind the see-saw decision</a:t>
            </a:r>
          </a:p>
          <a:p>
            <a:r>
              <a:t>The refusal intervention raises both channels, contrary to the simple see-saw, and increases benign refusals. That does not certify improved calibrated safety, a deployable defense or a shared causal mechanism. These are historical v2 labels with a limited item set. The random-direction comparison is a control at strength 0.5, not an additional trained model.</a:t>
            </a:r>
          </a:p>
          <a:p>
            <a:endParaRPr/>
          </a:p>
          <a:p>
            <a:r>
              <a:t>Appendix / reading and batch checks have specific limits</a:t>
            </a:r>
          </a:p>
          <a:p>
            <a:r>
              <a:t>The font rates refer to the true-size legibility arm, not the ordinary benchmark-image readback. Do not confuse those numbers. Batch wording changes are measured in the saved noise-floor block and keyword label flips cannot validate harmfulness. The scoring sensitivity section reuses numeric v6 aggregates and makes no model calls; some valid-label denominators are absent, preventing exact missing-label bounds.</a:t>
            </a:r>
          </a:p>
          <a:p>
            <a:endParaRPr/>
          </a:p>
          <a:p>
            <a:r>
              <a:t>TECHNICAL DETAIL: I denotes image versus text; W1/W2 indicate wrapper categories relative to W0. image log-odds at W0/W1/W2 are betaI, betaI+gamma1, betaI+gamma2. The historical contrast function filters paired finite observations, then computes scenario differences; its saved diff is pooled, its t interval centered on the scenario mean. Its 90% interval flag lies strictly inside ±0.10; degenerate small-sample intervals are not accepted as population equivalence. H21 false, H22 split, H23 true, H24 false, H25 true, H26 inconclusive, H27 false. These flags are not a blanket pass for the project.</a:t>
            </a:r>
          </a:p>
          <a:p>
            <a:endParaRPr/>
          </a:p>
          <a:p>
            <a:r>
              <a:t>Source: Saved v6 code cells 17/19 (zero-based); results.grid.qwen3guard; technical audit section 2</a:t>
            </a:r>
          </a:p>
          <a:p>
            <a:endParaRPr/>
          </a:p>
          <a:p>
            <a:r>
              <a:t>Evidence status: EXPLORATORY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endParaRPr dirty="0"/>
          </a:p>
          <a:p>
            <a:r>
              <a:rPr dirty="0"/>
              <a:t>v4-v6: larger design, then validity corrections</a:t>
            </a:r>
          </a:p>
          <a:p>
            <a:r>
              <a:rPr dirty="0"/>
              <a:t>Explain the two corrections precisely. A neutral or altered input cannot be judged as if the model saw the original harmful question. Also, intended small-font images were upscaled by preprocessing, so the treatment was not what the label said. V6 fixes those implementation issues. The fixed NOT_COMPREHEND rule remains imperfect and is not human truth. The earlier files remain reproducible rather than silently overwritten.</a:t>
            </a:r>
          </a:p>
          <a:p>
            <a:endParaRPr dirty="0"/>
          </a:p>
          <a:p>
            <a:r>
              <a:rPr dirty="0"/>
              <a:t>The original v6 predictions had mixed outcomes</a:t>
            </a:r>
          </a:p>
          <a:p>
            <a:r>
              <a:rPr dirty="0"/>
              <a:t>This is the answer if asked whether the earlier MD already supported everything. It supported several descriptive observations, but the notebook itself recorded failed hypotheses. The two true flags are mechanical exploratory checks. H23 is a rate-distance threshold, not a causal proof that presence explains everything or a population-equivalence test. Retain every verdict.</a:t>
            </a:r>
          </a:p>
          <a:p>
            <a:endParaRPr dirty="0"/>
          </a:p>
          <a:p>
            <a:r>
              <a:rPr dirty="0"/>
              <a:t>v7 broadened the attempted panel, not the safety evidence</a:t>
            </a:r>
          </a:p>
          <a:p>
            <a:r>
              <a:rPr dirty="0"/>
              <a:t>We did not pretend every download was a successful model test. Three completed, two partial, three failed before responses. Numerical failures are configuration-specific, not evidence that those models can never work. SmolVLM2 image token count stayed fixed in the requested size arm, so that manipulation did not identify a token-dose effect. Failure archives are engineering findings, not safety rates.</a:t>
            </a:r>
          </a:p>
          <a:p>
            <a:endParaRPr dirty="0"/>
          </a:p>
          <a:p>
            <a:r>
              <a:rPr dirty="0"/>
              <a:t>What we resolved—and what remains unresolved</a:t>
            </a:r>
          </a:p>
          <a:p>
            <a:r>
              <a:rPr dirty="0"/>
              <a:t>This is the engineering contribution to the research process. We solved traceability and several implementation mistakes; we did not claim that a code fix proves the scientific story. Runtime mount/download failures and numerical failures were archived instead of silently disappearing. Public Git contains generators and reviewed aggregates, while private replies, tokens and annotations stay on Drive.</a:t>
            </a:r>
          </a:p>
          <a:p>
            <a:endParaRPr dirty="0"/>
          </a:p>
          <a:p>
            <a:r>
              <a:rPr dirty="0"/>
              <a:t>Appendix / exact v6 threshold verdicts</a:t>
            </a:r>
          </a:p>
          <a:p>
            <a:r>
              <a:rPr dirty="0"/>
              <a:t>These labels are copied from the saved exploratory checks, not recomputed significance tests. H25 is the original combined program check and should be interpreted within its saved model/guard/rule definitions. No threshold pass validates the underlying NC rule. Report missing valid denominators and any unstable statistical fits separately.</a:t>
            </a:r>
          </a:p>
          <a:p>
            <a:endParaRPr dirty="0"/>
          </a:p>
          <a:p>
            <a:r>
              <a:rPr dirty="0"/>
              <a:t>The 1,500-character slice is confirmed in actual saved v6 source, not inferred from a result discrepancy. We do not know that this caused an observed effect. New Guard7 tokenization includes full stimulus/reply and uses greedy </a:t>
            </a:r>
            <a:r>
              <a:rPr dirty="0" err="1"/>
              <a:t>max_new_tokens</a:t>
            </a:r>
            <a:r>
              <a:rPr dirty="0"/>
              <a:t>=64 for the guard output; pinned </a:t>
            </a:r>
            <a:r>
              <a:rPr dirty="0" err="1"/>
              <a:t>WildGuard</a:t>
            </a:r>
            <a:r>
              <a:rPr dirty="0"/>
              <a:t> is NF4/FP16, Qwen3Guard FP16. New </a:t>
            </a:r>
            <a:r>
              <a:rPr dirty="0" err="1"/>
              <a:t>harm_cx</a:t>
            </a:r>
            <a:r>
              <a:rPr dirty="0"/>
              <a:t> treats Qwen3Guard Controversial as missing rather than negative. NC is an imperfect fixed rule; human comprehension labels are a distinct axis. Wrong-stimulus and font upscaling issues were addressed in v6; human measurement remains open.</a:t>
            </a:r>
          </a:p>
          <a:p>
            <a:endParaRPr dirty="0"/>
          </a:p>
          <a:p>
            <a:r>
              <a:rPr dirty="0"/>
              <a:t>Source: Saved v6 cell 15; tools/vlm7_models.py Guard7.label; </a:t>
            </a:r>
            <a:r>
              <a:rPr dirty="0" err="1"/>
              <a:t>vlm_crossover.py</a:t>
            </a:r>
            <a:r>
              <a:rPr dirty="0"/>
              <a:t> </a:t>
            </a:r>
            <a:r>
              <a:rPr dirty="0" err="1"/>
              <a:t>harm_cx</a:t>
            </a:r>
            <a:endParaRPr dirty="0"/>
          </a:p>
          <a:p>
            <a:endParaRPr dirty="0"/>
          </a:p>
          <a:p>
            <a:r>
              <a:rPr dirty="0"/>
              <a:t>Evidence status: RESEARCH INFRASTRUCTURE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endParaRPr dirty="0"/>
          </a:p>
          <a:p>
            <a:r>
              <a:rPr dirty="0"/>
              <a:t>A small Qwen2 pilot verified the scientific pipeline</a:t>
            </a:r>
          </a:p>
          <a:p>
            <a:r>
              <a:rPr dirty="0"/>
              <a:t>This development pilot completed 32 target responses and 72 label records, with no failures. Within each guard, E and C match item by item for refusal and harmfulness. It supplies no positive evidence for hidden image-only harm in this small subset. It does not establish equivalence or allow replacing image tests with text tests. Sixteen of 24 answering responses hit the 256-token cap; the eight readbacks are separate.</a:t>
            </a:r>
          </a:p>
          <a:p>
            <a:endParaRPr dirty="0"/>
          </a:p>
          <a:p>
            <a:r>
              <a:rPr dirty="0"/>
              <a:t>The matched Qwen2.5 study challenged a specific reversal</a:t>
            </a:r>
          </a:p>
          <a:p>
            <a:r>
              <a:rPr dirty="0"/>
              <a:t>The older v6 Qwen2.5 strong pair suggested a reversal but used legacy benchmark-derived wording. We wrote a cleaner development design with full-question content held fixed, batch one, pinned Qwen2.5-VL-3B and FP16. Two blank arms and readback gave seven target arms per item: 56 target calls. The two guards scored six answering arms: 96 guard calls. Previously seen items motivated the hypothesis, so this is not fresh confirmation.</a:t>
            </a:r>
          </a:p>
          <a:p>
            <a:endParaRPr dirty="0"/>
          </a:p>
          <a:p>
            <a:r>
              <a:rPr dirty="0"/>
              <a:t>The predicted crossover was not observed</a:t>
            </a:r>
          </a:p>
          <a:p>
            <a:r>
              <a:rPr dirty="0"/>
              <a:t>Both image-minus-text effects are positive. The difference between them is positive too, but interaction is not reversal. Do not call this a confirmed crossover because the steps effect is large. There were no recorded failures; eight normalized readbacks matched. Seventeen of 48 answering responses hit the 256-token cap. The new experiment differs from the legacy v6 comparison, so a failed prediction here does not erase that earlier observation.</a:t>
            </a:r>
          </a:p>
          <a:p>
            <a:endParaRPr dirty="0"/>
          </a:p>
          <a:p>
            <a:r>
              <a:rPr dirty="0"/>
              <a:t>Target call budget: 8×(4 core+2 blank+1 readback)=56. Guard budget: 8×6 answering conditions×2 guards=96. NC-adjusted/raw outcomes are retained separately; raw refusal controls this classification. OCR exact-normalized matching and fixed seed select previously seen development items before effects. This differs from v6 legacy instructions, batch and label context; not an exact replication or fresh confirmation.</a:t>
            </a:r>
          </a:p>
          <a:p>
            <a:endParaRPr dirty="0"/>
          </a:p>
          <a:p>
            <a:r>
              <a:rPr dirty="0"/>
              <a:t>Source: v7_development_core8; v7_crossover_core8/</a:t>
            </a:r>
            <a:r>
              <a:rPr dirty="0" err="1"/>
              <a:t>results_crossover.json</a:t>
            </a:r>
            <a:endParaRPr dirty="0"/>
          </a:p>
          <a:p>
            <a:endParaRPr dirty="0"/>
          </a:p>
          <a:p>
            <a:r>
              <a:rPr dirty="0"/>
              <a:t>Evidence status: EXPLORATORY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endParaRPr dirty="0"/>
          </a:p>
          <a:p>
            <a:r>
              <a:rPr dirty="0"/>
              <a:t>The first 48-answer review agrees on refusal, not all harm</a:t>
            </a:r>
          </a:p>
          <a:p>
            <a:r>
              <a:rPr dirty="0"/>
              <a:t>Reviewer A received LLM assistance on some examples in the project chat, so the original review cannot be described as fully independent. Reviewer B was GPT-6.1-Sol, user-confirmed; exact backend revision and generation settings are unavailable. Among the 31 resolved comprehension labels all are understanding, which makes a binary kappa undefined rather than perfect reliability. We have not selectively overwritten the seven harm labels to improve a headline result.</a:t>
            </a:r>
          </a:p>
          <a:p>
            <a:endParaRPr dirty="0"/>
          </a:p>
          <a:p>
            <a:r>
              <a:rPr dirty="0"/>
              <a:t>Appendix / human review protocol and its limits</a:t>
            </a:r>
          </a:p>
          <a:p>
            <a:r>
              <a:rPr dirty="0"/>
              <a:t>The currently open new </a:t>
            </a:r>
            <a:r>
              <a:rPr dirty="0" err="1"/>
              <a:t>reviewer_A_PRIVATE.html</a:t>
            </a:r>
            <a:r>
              <a:rPr dirty="0"/>
              <a:t> contains 64 units, not the earlier 48-answer packet. An auxiliary Codex review is an LLM annotation, not another human. The full reference/retest requirements for reserved confirmation are a separate gate; completing this development review does not silently satisfy them.</a:t>
            </a:r>
          </a:p>
          <a:p>
            <a:endParaRPr dirty="0"/>
          </a:p>
          <a:p>
            <a:r>
              <a:rPr dirty="0"/>
              <a:t>For harm, B is all-negative and A has 41 negatives out of 48, so both observed and chance agreement are 41/48 and kappa=0. Among 31 resolved comprehension cases everyone is UNDERSTANDING, giving undefined single-class kappa. Categorical agreement including 17 UNCERTAIN is a different statistic. Current seven harm disputes can inform a development rubric, but selectively replacing them cannot create an unbiased human-corrected headline. A was assisted; B model identity is user-confirmed, exact backend/settings unknown.</a:t>
            </a:r>
          </a:p>
          <a:p>
            <a:endParaRPr dirty="0"/>
          </a:p>
          <a:p>
            <a:r>
              <a:rPr dirty="0"/>
              <a:t>Source: Verified review aggregates embedded in companion/window notebook; status section 15; P8</a:t>
            </a:r>
          </a:p>
          <a:p>
            <a:endParaRPr dirty="0"/>
          </a:p>
          <a:p>
            <a:r>
              <a:rPr dirty="0"/>
              <a:t>Evidence status: EXPLORATORY</a:t>
            </a:r>
          </a:p>
          <a:p>
            <a:r>
              <a:rPr dirty="0"/>
              <a:t>P8: Annotation alignment, EMNLP 2024 final, section 2 / RQ1 / Appendix B-C | https://</a:t>
            </a:r>
            <a:r>
              <a:rPr dirty="0" err="1"/>
              <a:t>aclanthology.org</a:t>
            </a:r>
            <a:r>
              <a:rPr dirty="0"/>
              <a:t>/2024.emnlp-main.511/</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endParaRPr/>
          </a:p>
          <a:p>
            <a:r>
              <a:t>The window experiment evaluates two views of one generation</a:t>
            </a:r>
          </a:p>
          <a:p>
            <a:r>
              <a:t>We did not compare two unrelated answers and call their difference a window effect. Both windows come from the same output. The prefix was also compared with the old 256-token answer, and this run found no prefix drift. Blank controls and readback were kept as historical controls; they were not rerun in this stage. A six-hour persisted deadline and call cutoff bounded the authorized scope; actual completion took about 21 minutes.</a:t>
            </a:r>
          </a:p>
          <a:p>
            <a:endParaRPr/>
          </a:p>
          <a:p>
            <a:r>
              <a:t>Longer windows changed no automated labels in this sample</a:t>
            </a:r>
          </a:p>
          <a:p>
            <a:r>
              <a:t>Distinguish engineering completion from scientific resolution. It is valid to report zero observed label changes in these paired windows. It is not valid to claim no response-length effect can exist, population equivalence, or a human-confirmed unchanged safety conclusion. The saved changes field is unresolved because of residual full caps, even though the visible-window guard classifications are no_crossover. The completed notebook and separate aggregate snapshot were hash-verified on Drive.</a:t>
            </a:r>
          </a:p>
          <a:p>
            <a:endParaRPr/>
          </a:p>
          <a:p>
            <a:r>
              <a:t>The primary diagnostic compares prefix/full crossover classifications separately by annotator. Human results are pending. Full cap hits force the broader saved conclusion to unresolved even though visible guard classifications are no_crossover. The run persists its original six-hour clock, starts no new calls after 330 minutes and reserves saving time; actual elapsed about 21 minutes. Guard caches include generation key, exact stimulus/response, window, code/rubric and model identities. No new blanks/readbacks were generated here.</a:t>
            </a:r>
          </a:p>
          <a:p>
            <a:endParaRPr/>
          </a:p>
          <a:p>
            <a:r>
              <a:t>Source: v7_window_core8/results_window.json; final Drive snapshot 20261020T173210_988698Z</a:t>
            </a:r>
          </a:p>
          <a:p>
            <a:endParaRPr/>
          </a:p>
          <a:p>
            <a:r>
              <a:t>Evidence status: EXPLORATORY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endParaRPr/>
          </a:p>
          <a:p>
            <a:r>
              <a:t>A small average gap can hide opposing item-level changes</a:t>
            </a:r>
          </a:p>
          <a:p>
            <a:r>
              <a:t>The expanded historical analysis reconstructed paired refusal tables from saved paired margins and McNemar discordances, then checked consistency. The net difference is only ten items, but 52 items differ in either direction. A small mean difference therefore does not establish answer-level interchangeability. These are frozen NC-adjusted guard labels, not paired harmfulness labels or new calls. We cannot reconstruct a joint harm table from separate marginal rates. This is historical MM-SafetyBench data and must remain separate from the small Qwen2 development pilot, whose E/C labels matched.</a:t>
            </a:r>
          </a:p>
          <a:p>
            <a:endParaRPr/>
          </a:p>
          <a:p>
            <a:r>
              <a:t>A filtering demonstration exposed a denominator trap</a:t>
            </a:r>
          </a:p>
          <a:p>
            <a:r>
              <a:t>This was an explicitly naive sensitivity exercise, not a claim about the model suddenly changing. Generic refusals often leave comprehension uncertain. Excluding those answers separately by condition changes the populations being compared and can manufacture a reversal. Correct common-cohort matching removes the strict negative plain effect here. The tiny selected cohort is still not an estimate of latent comprehension. This known selection issue is a promising domain-specific audit example, but not established methodological novelty and not proof that MMJailBench makes this mistake.</a:t>
            </a:r>
          </a:p>
          <a:p>
            <a:endParaRPr/>
          </a:p>
          <a:p>
            <a:r>
              <a:t>Historical refusal table reconstruction checks integer counts and both paired margins against McNemar discordances. It does not manufacture joint counts from unrelated marginal rates. In the post-hoc naive filter, raw counts (4/8,5/8,5/8,8/8) become (4/8,0/3,3/6,3/3); joint cohort gives (0/3,0/3,0/3,3/3). Generic refusals often have UNCERTAIN comprehension; this is not actual non-comprehension. This is our counterexample of a known selection issue, not a criticism inferred about MMJailBench CASR.</a:t>
            </a:r>
          </a:p>
          <a:p>
            <a:endParaRPr/>
          </a:p>
          <a:p>
            <a:r>
              <a:t>Source: v6 paired reconstruction; reports/comprehension_selection_2026-10-20.json; P2/P9</a:t>
            </a:r>
          </a:p>
          <a:p>
            <a:endParaRPr/>
          </a:p>
          <a:p>
            <a:r>
              <a:t>Evidence status: EXPLORATORY</a:t>
            </a:r>
          </a:p>
          <a:p>
            <a:r>
              <a:t>P2: MMJailBench, arXiv:2608.25490v1, sections 3-5; Appendix B.3 / C | https://arxiv.org/html/2608.25490v1</a:t>
            </a:r>
          </a:p>
          <a:p>
            <a:r>
              <a:t>P9: EviSafe, arXiv:2608.23313v1, sections 3.3-3.5 / Appendix B.7 | https://arxiv.org/html/2608.23313v1</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endParaRPr dirty="0"/>
          </a:p>
          <a:p>
            <a:r>
              <a:rPr dirty="0"/>
              <a:t>Closest prior work already covers the easy novelty claims</a:t>
            </a:r>
          </a:p>
          <a:p>
            <a:r>
              <a:rPr dirty="0"/>
              <a:t>Read this as an overlap map rather than a list of papers we copied. The benchmark material and core control ideas are credited; our experimental question asks whether a concrete paired conclusion survives these choices. Focused method and appendix checks are documented, but we have not exhaustively read all VLM safety literature or proven absence of prior work. No first claim is justified. Paper versions and supporting sections appear in the reference appendix.</a:t>
            </a:r>
          </a:p>
          <a:p>
            <a:endParaRPr dirty="0"/>
          </a:p>
          <a:p>
            <a:r>
              <a:rPr dirty="0"/>
              <a:t>Measurement reliability also has strong predecessors</a:t>
            </a:r>
          </a:p>
          <a:p>
            <a:r>
              <a:rPr dirty="0"/>
              <a:t>Do not sell a new rubric or a new understanding-adjusted metric simply because we wrote implementation code. </a:t>
            </a:r>
            <a:r>
              <a:rPr dirty="0" err="1"/>
              <a:t>StrongREJECT</a:t>
            </a:r>
            <a:r>
              <a:rPr dirty="0"/>
              <a:t> has a different scoring construction from our independent axes, so it is a comparator rather than an automatically interchangeable judge. </a:t>
            </a:r>
            <a:r>
              <a:rPr dirty="0" err="1"/>
              <a:t>EviSafe</a:t>
            </a:r>
            <a:r>
              <a:rPr dirty="0"/>
              <a:t> warns about conditional measurement hiding recognition failures. Our domain-specific denominator example must be positioned against these known concerns.</a:t>
            </a:r>
          </a:p>
          <a:p>
            <a:endParaRPr dirty="0"/>
          </a:p>
          <a:p>
            <a:r>
              <a:rPr dirty="0"/>
              <a:t>Appendix / verified references: controls and carriers</a:t>
            </a:r>
          </a:p>
          <a:p>
            <a:r>
              <a:rPr dirty="0"/>
              <a:t>These are the primary sources used to delimit claims in the main talk. URLs and exact sections are included here and in the speaking guide. The source register distinguishes focused method reads from screening. MM-</a:t>
            </a:r>
            <a:r>
              <a:rPr dirty="0" err="1"/>
              <a:t>SafetyBench</a:t>
            </a:r>
            <a:r>
              <a:rPr dirty="0"/>
              <a:t> metadata is used only for dataset provenance on these slides; no unverified new benchmark claim is imported.</a:t>
            </a:r>
          </a:p>
          <a:p>
            <a:endParaRPr dirty="0"/>
          </a:p>
          <a:p>
            <a:r>
              <a:rPr dirty="0"/>
              <a:t>Appendix / verified references: measurement and human evidence</a:t>
            </a:r>
          </a:p>
          <a:p>
            <a:r>
              <a:rPr dirty="0"/>
              <a:t>These are the primary sources used to delimit claims in the main talk. URLs and exact sections are included here and in the speaking guide. The source register distinguishes focused method reads from screening. MM-</a:t>
            </a:r>
            <a:r>
              <a:rPr dirty="0" err="1"/>
              <a:t>SafetyBench</a:t>
            </a:r>
            <a:r>
              <a:rPr dirty="0"/>
              <a:t> metadata is used only for dataset provenance on these slides; no unverified new benchmark claim is imported.</a:t>
            </a:r>
          </a:p>
          <a:p>
            <a:endParaRPr dirty="0"/>
          </a:p>
          <a:p>
            <a:r>
              <a:rPr dirty="0"/>
              <a:t>The attached technical audit maps the code/observations to these precedents. </a:t>
            </a:r>
            <a:r>
              <a:rPr dirty="0" err="1"/>
              <a:t>FigStep</a:t>
            </a:r>
            <a:r>
              <a:rPr dirty="0"/>
              <a:t> already has its text ablation; </a:t>
            </a:r>
            <a:r>
              <a:rPr dirty="0" err="1"/>
              <a:t>MMJailBench</a:t>
            </a:r>
            <a:r>
              <a:rPr dirty="0"/>
              <a:t> already factorizes carriers/framing and defines ASR/CASR; MSTS already uses human-reviewed text equivalents and misunderstanding categories. Uncontrolled Variable explicitly considers differential judge error. </a:t>
            </a:r>
            <a:r>
              <a:rPr dirty="0" err="1"/>
              <a:t>StrongREJECT</a:t>
            </a:r>
            <a:r>
              <a:rPr dirty="0"/>
              <a:t> and the reliability papers constrain any claim that a new local rubric or human/LLM disagreement is itself novel. Focused method reading is not an exhaustive proof of novelty.</a:t>
            </a:r>
          </a:p>
          <a:p>
            <a:endParaRPr dirty="0"/>
          </a:p>
          <a:p>
            <a:r>
              <a:rPr dirty="0"/>
              <a:t>Source: Novelty audit sections 12–14; P1–P9; links in notes and guide</a:t>
            </a:r>
          </a:p>
          <a:p>
            <a:endParaRPr dirty="0"/>
          </a:p>
          <a:p>
            <a:r>
              <a:rPr dirty="0"/>
              <a:t>Evidence status: PRIOR ART / ATTRIBUTION</a:t>
            </a:r>
          </a:p>
          <a:p>
            <a:r>
              <a:rPr dirty="0"/>
              <a:t>P1: </a:t>
            </a:r>
            <a:r>
              <a:rPr dirty="0" err="1"/>
              <a:t>FigStep</a:t>
            </a:r>
            <a:r>
              <a:rPr dirty="0"/>
              <a:t>, arXiv:2311.05608v3, section 6.4 / Table 2 | https://</a:t>
            </a:r>
            <a:r>
              <a:rPr dirty="0" err="1"/>
              <a:t>arxiv.org</a:t>
            </a:r>
            <a:r>
              <a:rPr dirty="0"/>
              <a:t>/html/2311.05608v3#S6.SS4</a:t>
            </a:r>
          </a:p>
          <a:p>
            <a:r>
              <a:rPr dirty="0"/>
              <a:t>P9: </a:t>
            </a:r>
            <a:r>
              <a:rPr dirty="0" err="1"/>
              <a:t>EviSafe</a:t>
            </a:r>
            <a:r>
              <a:rPr dirty="0"/>
              <a:t>, arXiv:2608.23313v1, sections 3.3-3.5 / Appendix B.7 | https://</a:t>
            </a:r>
            <a:r>
              <a:rPr dirty="0" err="1"/>
              <a:t>arxiv.org</a:t>
            </a:r>
            <a:r>
              <a:rPr dirty="0"/>
              <a:t>/html/2608.23313v1</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endParaRPr dirty="0"/>
          </a:p>
          <a:p>
            <a:r>
              <a:rPr dirty="0"/>
              <a:t>Closest prior work already covers the easy novelty claims</a:t>
            </a:r>
          </a:p>
          <a:p>
            <a:r>
              <a:rPr dirty="0"/>
              <a:t>Read this as an overlap map rather than a list of papers we copied. The benchmark material and core control ideas are credited; our experimental question asks whether a concrete paired conclusion survives these choices. Focused method and appendix checks are documented, but we have not exhaustively read all VLM safety literature or proven absence of prior work. No first claim is justified. Paper versions and supporting sections appear in the reference appendix.</a:t>
            </a:r>
          </a:p>
          <a:p>
            <a:endParaRPr dirty="0"/>
          </a:p>
          <a:p>
            <a:r>
              <a:rPr dirty="0"/>
              <a:t>Measurement reliability also has strong predecessors</a:t>
            </a:r>
          </a:p>
          <a:p>
            <a:r>
              <a:rPr dirty="0"/>
              <a:t>Do not sell a new rubric or a new understanding-adjusted metric simply because we wrote implementation code. </a:t>
            </a:r>
            <a:r>
              <a:rPr dirty="0" err="1"/>
              <a:t>StrongREJECT</a:t>
            </a:r>
            <a:r>
              <a:rPr dirty="0"/>
              <a:t> has a different scoring construction from our independent axes, so it is a comparator rather than an automatically interchangeable judge. </a:t>
            </a:r>
            <a:r>
              <a:rPr dirty="0" err="1"/>
              <a:t>EviSafe</a:t>
            </a:r>
            <a:r>
              <a:rPr dirty="0"/>
              <a:t> warns about conditional measurement hiding recognition failures. Our domain-specific denominator example must be positioned against these known concerns.</a:t>
            </a:r>
          </a:p>
          <a:p>
            <a:endParaRPr dirty="0"/>
          </a:p>
          <a:p>
            <a:r>
              <a:rPr dirty="0"/>
              <a:t>Candidate contributions: current verdict, not a promise</a:t>
            </a:r>
          </a:p>
          <a:p>
            <a:r>
              <a:rPr dirty="0"/>
              <a:t>The best-supported project lead is the denominator counterexample, but its statistical principle is known and its empirical scope is tiny. The window run gives useful limited robustness evidence rather than the desired changed conclusion. We should let the human data guide whether any of these deserves a new, preregistered validation. The objective is evidence, not finding a positive result at any cost.</a:t>
            </a:r>
          </a:p>
          <a:p>
            <a:endParaRPr dirty="0"/>
          </a:p>
          <a:p>
            <a:r>
              <a:rPr dirty="0"/>
              <a:t>Proposed paper: when do paired safety conclusions survive?</a:t>
            </a:r>
          </a:p>
          <a:p>
            <a:r>
              <a:rPr dirty="0"/>
              <a:t>This is a proposed scope, not a finalized title or a publication guarantee. The story can include negative results and measurement corrections if their practical consequences and reproducibility are strong enough. Prior work makes broad claims about prompts, blank images and judges insufficient by themselves. Ask whether the advisor sees adequate value in this narrower contribution before committing more GPU time.</a:t>
            </a:r>
          </a:p>
          <a:p>
            <a:endParaRPr dirty="0"/>
          </a:p>
          <a:p>
            <a:r>
              <a:rPr dirty="0"/>
              <a:t>Publication decision: novelty requires both an unresolved prior-art question and a consequential observed result, not merely exact checkpoint/item differences. The matched crossover prediction currently fails; no guard-window change occurred. The cohort counterexample remains retrospective and based on an assisted reference. A future validation must freeze the cohort/filter/reference/outcome and retain positive, negative and unresolved decisions. No new study is launched by these slides.</a:t>
            </a:r>
          </a:p>
          <a:p>
            <a:endParaRPr dirty="0"/>
          </a:p>
          <a:p>
            <a:r>
              <a:rPr dirty="0"/>
              <a:t>Source: Novelty audit section 14.4; status section 17</a:t>
            </a:r>
          </a:p>
          <a:p>
            <a:endParaRPr dirty="0"/>
          </a:p>
          <a:p>
            <a:r>
              <a:rPr dirty="0"/>
              <a:t>Evidence status: NOVELTY UNESTABLISHED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endParaRPr/>
          </a:p>
          <a:p>
            <a:r>
              <a:t>Next stage: finish measurement before choosing more generation</a:t>
            </a:r>
          </a:p>
          <a:p>
            <a:r>
              <a:t>No further GPU test is necessary merely to start review: outputs already exist. The human review can change estimates and conclusions; it is not a ceremonial stamp on a result we have already chosen. We should not selectively correct only disputed examples and call the new headline human-validated. Reserved confirmation remains locked, and any new endpoints/models/design require an approved addendum.</a:t>
            </a:r>
          </a:p>
          <a:p>
            <a:endParaRPr/>
          </a:p>
          <a:p>
            <a:r>
              <a:t>Appendix / human review protocol and its limits</a:t>
            </a:r>
          </a:p>
          <a:p>
            <a:r>
              <a:t>The currently open new reviewer_A_PRIVATE.html contains 64 units, not the earlier 48-answer packet. An auxiliary Codex review is an LLM annotation, not another human. The full reference/retest requirements for reserved confirmation are a separate gate; completing this development review does not silently satisfy them.</a:t>
            </a:r>
          </a:p>
          <a:p>
            <a:endParaRPr/>
          </a:p>
          <a:p>
            <a:r>
              <a:t>Appendix / statistical and reproducibility boundaries</a:t>
            </a:r>
          </a:p>
          <a:p>
            <a:r>
              <a:t>The public repository had known legacy raw-data history before this update; today’s aggregate-only publication does not certify all old history as clean or resolve that housekeeping issue. No raw examples are included in this deck. Do not claim population equivalence from all-zero cells. The project uses no training or paid API experiments in these stages.</a:t>
            </a:r>
          </a:p>
          <a:p>
            <a:endParaRPr/>
          </a:p>
          <a:p>
            <a:r>
              <a:t>For paired contrast bounds, subtract the maximum possible rate of one arm from the minimum of the other and vice versa. These bounds cover missing/uncertain annotation only; they do not correct annotator error. Do the full 64-unit frozen-rubric pass, then 16 balanced repeats ≥24 hours after the complete first export. Report intra-rater consistency, not inter-rater validation. If the rubric is tuned using this batch, obtain new untouched validation labels. The full v6 audit/retest and fresh-confirmatory gates remain separate.</a:t>
            </a:r>
          </a:p>
          <a:p>
            <a:endParaRPr/>
          </a:p>
          <a:p>
            <a:r>
              <a:t>Source: Amendment 7; private reviewer rubric; status sections 15-18</a:t>
            </a:r>
          </a:p>
          <a:p>
            <a:endParaRPr/>
          </a:p>
          <a:p>
            <a:r>
              <a:t>Evidence status: NEXT EVIDENCE GATE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endParaRPr/>
          </a:p>
          <a:p>
            <a:r>
              <a:t>Proposed paper: when do paired safety conclusions survive?</a:t>
            </a:r>
          </a:p>
          <a:p>
            <a:r>
              <a:t>This is a proposed scope, not a finalized title or a publication guarantee. The story can include negative results and measurement corrections if their practical consequences and reproducibility are strong enough. Prior work makes broad claims about prompts, blank images and judges insufficient by themselves. Ask whether the advisor sees adequate value in this narrower contribution before committing more GPU time.</a:t>
            </a:r>
          </a:p>
          <a:p>
            <a:endParaRPr/>
          </a:p>
          <a:p>
            <a:r>
              <a:t>Decisions requested from the advisor</a:t>
            </a:r>
          </a:p>
          <a:p>
            <a:r>
              <a:t>Close with a specific proposal: finish the frozen-rubric review, compare the paired conclusions, and jointly choose whether a fresh validation is justified. Ask for scientific advice rather than approval of an already claimed breakthrough. We can show the completed notebooks and exact source files if the advisor wants to inspect a result. Do not promise a particular publication venue or an unverified deadline.</a:t>
            </a:r>
          </a:p>
          <a:p>
            <a:endParaRPr/>
          </a:p>
          <a:p>
            <a:r>
              <a:t>Appendix / where each result can be reproduced</a:t>
            </a:r>
          </a:p>
          <a:p>
            <a:r>
              <a:t>If asked which notebook to run, distinguish reading from generating. The companion is safe to Run all on CPU. The window GPU study already ran; its current task is human annotation. The next-stage validation notebook pertains to earlier audit tooling. Hashes link source snapshots, not a claim that current code ran in every old runtime.</a:t>
            </a:r>
          </a:p>
          <a:p>
            <a:endParaRPr/>
          </a:p>
          <a:p>
            <a:r>
              <a:t>Ask the advisor to choose the exact estimand and consequential result that would justify further work, minimum fresh item/model coverage, independent annotation requirements, uncertainty treatment and stopping rules. Existing evidence is exploratory. We can support technical scrutiny with saved code/output archives and the attached cell-index walkthrough without exposing private responses. The new 64-unit human review remains the current work item.</a:t>
            </a:r>
          </a:p>
          <a:p>
            <a:endParaRPr/>
          </a:p>
          <a:p>
            <a:r>
              <a:t>Source: Status sections 17–18; full source map and citations in the speaker guide</a:t>
            </a:r>
          </a:p>
          <a:p>
            <a:endParaRPr/>
          </a:p>
          <a:p>
            <a:r>
              <a:t>Evidence status: ADVISOR DECISIONS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264770" cy="154209"/>
          </a:xfrm>
          <a:prstGeom prst="rect">
            <a:avLst/>
          </a:prstGeom>
          <a:noFill/>
        </p:spPr>
        <p:txBody>
          <a:bodyPr wrap="none" lIns="0" tIns="0" rIns="0" bIns="0">
            <a:spAutoFit/>
          </a:bodyPr>
          <a:lstStyle/>
          <a:p>
            <a:pPr>
              <a:lnSpc>
                <a:spcPts val="1260"/>
              </a:lnSpc>
              <a:spcBef>
                <a:spcPts val="0"/>
              </a:spcBef>
              <a:spcAft>
                <a:spcPts val="0"/>
              </a:spcAft>
            </a:pPr>
            <a:r>
              <a:rPr sz="1000" b="1" dirty="0">
                <a:solidFill>
                  <a:srgbClr val="007E80"/>
                </a:solidFill>
                <a:latin typeface="Arial"/>
              </a:rPr>
              <a:t>PROGRESS REVIEW</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dirty="0">
                <a:solidFill>
                  <a:srgbClr val="14283F"/>
                </a:solidFill>
                <a:latin typeface="Arial"/>
              </a:rPr>
              <a:t>Which paired text–image safety effects survive measurement?</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Technical progress review: controlled contrasts, scoring protocols, inference and claim boundaries</a:t>
            </a:r>
          </a:p>
        </p:txBody>
      </p:sp>
      <p:sp>
        <p:nvSpPr>
          <p:cNvPr id="6" name="Rectangle 5"/>
          <p:cNvSpPr/>
          <p:nvPr/>
        </p:nvSpPr>
        <p:spPr>
          <a:xfrm>
            <a:off x="457200" y="2324100"/>
            <a:ext cx="5537200" cy="3517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2324100"/>
            <a:ext cx="50800" cy="35179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3100" y="2501900"/>
            <a:ext cx="5105400"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Research question</a:t>
            </a:r>
          </a:p>
        </p:txBody>
      </p:sp>
      <p:sp>
        <p:nvSpPr>
          <p:cNvPr id="9" name="TextBox 8"/>
          <p:cNvSpPr txBox="1"/>
          <p:nvPr/>
        </p:nvSpPr>
        <p:spPr>
          <a:xfrm>
            <a:off x="673100" y="3111500"/>
            <a:ext cx="5105400" cy="902207"/>
          </a:xfrm>
          <a:prstGeom prst="rect">
            <a:avLst/>
          </a:prstGeom>
          <a:noFill/>
        </p:spPr>
        <p:txBody>
          <a:bodyPr wrap="none" lIns="0" tIns="0" rIns="0" bIns="0">
            <a:spAutoFit/>
          </a:bodyPr>
          <a:lstStyle/>
          <a:p>
            <a:pPr>
              <a:lnSpc>
                <a:spcPts val="2268"/>
              </a:lnSpc>
              <a:spcBef>
                <a:spcPts val="0"/>
              </a:spcBef>
              <a:spcAft>
                <a:spcPts val="0"/>
              </a:spcAft>
            </a:pPr>
            <a:r>
              <a:rPr sz="1800" b="0">
                <a:solidFill>
                  <a:srgbClr val="14283F"/>
                </a:solidFill>
                <a:latin typeface="Arial"/>
              </a:rPr>
              <a:t>Separate instruction, content form, image</a:t>
            </a:r>
          </a:p>
          <a:p>
            <a:pPr>
              <a:lnSpc>
                <a:spcPts val="2268"/>
              </a:lnSpc>
              <a:spcBef>
                <a:spcPts val="0"/>
              </a:spcBef>
              <a:spcAft>
                <a:spcPts val="0"/>
              </a:spcAft>
            </a:pPr>
            <a:r>
              <a:rPr sz="1800" b="0">
                <a:solidFill>
                  <a:srgbClr val="14283F"/>
                </a:solidFill>
                <a:latin typeface="Arial"/>
              </a:rPr>
              <a:t>attachment and evaluator effects within a</a:t>
            </a:r>
          </a:p>
          <a:p>
            <a:pPr>
              <a:lnSpc>
                <a:spcPts val="2268"/>
              </a:lnSpc>
              <a:spcBef>
                <a:spcPts val="0"/>
              </a:spcBef>
              <a:spcAft>
                <a:spcPts val="0"/>
              </a:spcAft>
            </a:pPr>
            <a:r>
              <a:rPr sz="1800" b="0">
                <a:solidFill>
                  <a:srgbClr val="14283F"/>
                </a:solidFill>
                <a:latin typeface="Arial"/>
              </a:rPr>
              <a:t>checkpoint.</a:t>
            </a:r>
          </a:p>
        </p:txBody>
      </p:sp>
      <p:sp>
        <p:nvSpPr>
          <p:cNvPr id="10" name="Rectangle 9"/>
          <p:cNvSpPr/>
          <p:nvPr/>
        </p:nvSpPr>
        <p:spPr>
          <a:xfrm>
            <a:off x="6197600" y="2324100"/>
            <a:ext cx="5537200" cy="3517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97600" y="2324100"/>
            <a:ext cx="50800" cy="35179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13500" y="2501900"/>
            <a:ext cx="5105400"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Evidence boundary</a:t>
            </a:r>
          </a:p>
        </p:txBody>
      </p:sp>
      <p:sp>
        <p:nvSpPr>
          <p:cNvPr id="13" name="TextBox 12"/>
          <p:cNvSpPr txBox="1"/>
          <p:nvPr/>
        </p:nvSpPr>
        <p:spPr>
          <a:xfrm>
            <a:off x="6413500" y="3111500"/>
            <a:ext cx="5105400" cy="902207"/>
          </a:xfrm>
          <a:prstGeom prst="rect">
            <a:avLst/>
          </a:prstGeom>
          <a:noFill/>
        </p:spPr>
        <p:txBody>
          <a:bodyPr wrap="none" lIns="0" tIns="0" rIns="0" bIns="0">
            <a:spAutoFit/>
          </a:bodyPr>
          <a:lstStyle/>
          <a:p>
            <a:pPr>
              <a:lnSpc>
                <a:spcPts val="2268"/>
              </a:lnSpc>
              <a:spcBef>
                <a:spcPts val="0"/>
              </a:spcBef>
              <a:spcAft>
                <a:spcPts val="0"/>
              </a:spcAft>
            </a:pPr>
            <a:r>
              <a:rPr sz="1800" b="0">
                <a:solidFill>
                  <a:srgbClr val="14283F"/>
                </a:solidFill>
                <a:latin typeface="Arial"/>
              </a:rPr>
              <a:t>Historical three-model experiments + bounded</a:t>
            </a:r>
          </a:p>
          <a:p>
            <a:pPr>
              <a:lnSpc>
                <a:spcPts val="2268"/>
              </a:lnSpc>
              <a:spcBef>
                <a:spcPts val="0"/>
              </a:spcBef>
              <a:spcAft>
                <a:spcPts val="0"/>
              </a:spcAft>
            </a:pPr>
            <a:r>
              <a:rPr sz="1800" b="0">
                <a:solidFill>
                  <a:srgbClr val="14283F"/>
                </a:solidFill>
                <a:latin typeface="Arial"/>
              </a:rPr>
              <a:t>seen-item development. New 64-unit human</a:t>
            </a:r>
          </a:p>
          <a:p>
            <a:pPr>
              <a:lnSpc>
                <a:spcPts val="2268"/>
              </a:lnSpc>
              <a:spcBef>
                <a:spcPts val="0"/>
              </a:spcBef>
              <a:spcAft>
                <a:spcPts val="0"/>
              </a:spcAft>
            </a:pPr>
            <a:r>
              <a:rPr sz="1800" b="0">
                <a:solidFill>
                  <a:srgbClr val="14283F"/>
                </a:solidFill>
                <a:latin typeface="Arial"/>
              </a:rPr>
              <a:t>review pending.</a:t>
            </a:r>
          </a:p>
        </p:txBody>
      </p:sp>
      <p:sp>
        <p:nvSpPr>
          <p:cNvPr id="14" name="Rectangle 13"/>
          <p:cNvSpPr/>
          <p:nvPr/>
        </p:nvSpPr>
        <p:spPr>
          <a:xfrm>
            <a:off x="457200" y="64008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176000" y="65151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01 / 14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EXPLORATORY</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Four technical questions organize the experiments</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Explain what was manipulated, measured and checked—not the notebook numbering</a:t>
            </a:r>
          </a:p>
        </p:txBody>
      </p:sp>
      <p:sp>
        <p:nvSpPr>
          <p:cNvPr id="6" name="Rectangle 5"/>
          <p:cNvSpPr/>
          <p:nvPr/>
        </p:nvSpPr>
        <p:spPr>
          <a:xfrm>
            <a:off x="457200" y="2324100"/>
            <a:ext cx="11277600" cy="69088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6900" y="2425700"/>
            <a:ext cx="24511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Research question</a:t>
            </a:r>
          </a:p>
        </p:txBody>
      </p:sp>
      <p:sp>
        <p:nvSpPr>
          <p:cNvPr id="8" name="TextBox 7"/>
          <p:cNvSpPr txBox="1"/>
          <p:nvPr/>
        </p:nvSpPr>
        <p:spPr>
          <a:xfrm>
            <a:off x="3327400" y="2425700"/>
            <a:ext cx="31496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Experimental procedure</a:t>
            </a:r>
          </a:p>
        </p:txBody>
      </p:sp>
      <p:sp>
        <p:nvSpPr>
          <p:cNvPr id="9" name="TextBox 8"/>
          <p:cNvSpPr txBox="1"/>
          <p:nvPr/>
        </p:nvSpPr>
        <p:spPr>
          <a:xfrm>
            <a:off x="6756400" y="2425700"/>
            <a:ext cx="48387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What we learned / evidence limit</a:t>
            </a:r>
          </a:p>
        </p:txBody>
      </p:sp>
      <p:sp>
        <p:nvSpPr>
          <p:cNvPr id="10" name="Rectangle 9"/>
          <p:cNvSpPr/>
          <p:nvPr/>
        </p:nvSpPr>
        <p:spPr>
          <a:xfrm>
            <a:off x="457200" y="302768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6900" y="3129280"/>
            <a:ext cx="24511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Do safety channels trade</a:t>
            </a:r>
          </a:p>
          <a:p>
            <a:pPr>
              <a:lnSpc>
                <a:spcPts val="1889"/>
              </a:lnSpc>
              <a:spcBef>
                <a:spcPts val="0"/>
              </a:spcBef>
              <a:spcAft>
                <a:spcPts val="0"/>
              </a:spcAft>
            </a:pPr>
            <a:r>
              <a:rPr sz="1500" b="0">
                <a:solidFill>
                  <a:srgbClr val="14283F"/>
                </a:solidFill>
                <a:latin typeface="Arial"/>
              </a:rPr>
              <a:t>off?</a:t>
            </a:r>
          </a:p>
        </p:txBody>
      </p:sp>
      <p:sp>
        <p:nvSpPr>
          <p:cNvPr id="12" name="TextBox 11"/>
          <p:cNvSpPr txBox="1"/>
          <p:nvPr/>
        </p:nvSpPr>
        <p:spPr>
          <a:xfrm>
            <a:off x="3327400" y="3129280"/>
            <a:ext cx="3149600" cy="422148"/>
          </a:xfrm>
          <a:prstGeom prst="rect">
            <a:avLst/>
          </a:prstGeom>
          <a:noFill/>
        </p:spPr>
        <p:txBody>
          <a:bodyPr wrap="none" lIns="0" tIns="0" rIns="0" bIns="0">
            <a:spAutoFit/>
          </a:bodyPr>
          <a:lstStyle/>
          <a:p>
            <a:pPr>
              <a:lnSpc>
                <a:spcPts val="1512"/>
              </a:lnSpc>
              <a:spcBef>
                <a:spcPts val="0"/>
              </a:spcBef>
              <a:spcAft>
                <a:spcPts val="0"/>
              </a:spcAft>
            </a:pPr>
            <a:r>
              <a:rPr sz="1200" b="0">
                <a:solidFill>
                  <a:srgbClr val="14283F"/>
                </a:solidFill>
                <a:latin typeface="Arial"/>
              </a:rPr>
              <a:t>Paired text/image refusal; activation steering;</a:t>
            </a:r>
          </a:p>
          <a:p>
            <a:pPr>
              <a:lnSpc>
                <a:spcPts val="1512"/>
              </a:lnSpc>
              <a:spcBef>
                <a:spcPts val="0"/>
              </a:spcBef>
              <a:spcAft>
                <a:spcPts val="0"/>
              </a:spcAft>
            </a:pPr>
            <a:r>
              <a:rPr sz="1200" b="0">
                <a:solidFill>
                  <a:srgbClr val="14283F"/>
                </a:solidFill>
                <a:latin typeface="Arial"/>
              </a:rPr>
              <a:t>benign and random-direction controls</a:t>
            </a:r>
          </a:p>
        </p:txBody>
      </p:sp>
      <p:sp>
        <p:nvSpPr>
          <p:cNvPr id="13" name="TextBox 12"/>
          <p:cNvSpPr txBox="1"/>
          <p:nvPr/>
        </p:nvSpPr>
        <p:spPr>
          <a:xfrm>
            <a:off x="6756400" y="3129280"/>
            <a:ext cx="48387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Simple see-saw unsupported; no internal mechanism</a:t>
            </a:r>
          </a:p>
          <a:p>
            <a:pPr>
              <a:lnSpc>
                <a:spcPts val="1889"/>
              </a:lnSpc>
              <a:spcBef>
                <a:spcPts val="0"/>
              </a:spcBef>
              <a:spcAft>
                <a:spcPts val="0"/>
              </a:spcAft>
            </a:pPr>
            <a:r>
              <a:rPr sz="1500" b="0">
                <a:solidFill>
                  <a:srgbClr val="14283F"/>
                </a:solidFill>
                <a:latin typeface="Arial"/>
              </a:rPr>
              <a:t>established</a:t>
            </a:r>
          </a:p>
        </p:txBody>
      </p:sp>
      <p:sp>
        <p:nvSpPr>
          <p:cNvPr id="14" name="Rectangle 13"/>
          <p:cNvSpPr/>
          <p:nvPr/>
        </p:nvSpPr>
        <p:spPr>
          <a:xfrm>
            <a:off x="457200" y="373126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6900" y="3832860"/>
            <a:ext cx="24511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Which input change</a:t>
            </a:r>
          </a:p>
          <a:p>
            <a:pPr>
              <a:lnSpc>
                <a:spcPts val="1889"/>
              </a:lnSpc>
              <a:spcBef>
                <a:spcPts val="0"/>
              </a:spcBef>
              <a:spcAft>
                <a:spcPts val="0"/>
              </a:spcAft>
            </a:pPr>
            <a:r>
              <a:rPr sz="1500" b="0">
                <a:solidFill>
                  <a:srgbClr val="14283F"/>
                </a:solidFill>
                <a:latin typeface="Arial"/>
              </a:rPr>
              <a:t>matters?</a:t>
            </a:r>
          </a:p>
        </p:txBody>
      </p:sp>
      <p:sp>
        <p:nvSpPr>
          <p:cNvPr id="16" name="TextBox 15"/>
          <p:cNvSpPr txBox="1"/>
          <p:nvPr/>
        </p:nvSpPr>
        <p:spPr>
          <a:xfrm>
            <a:off x="3327400" y="3832860"/>
            <a:ext cx="3149600" cy="470154"/>
          </a:xfrm>
          <a:prstGeom prst="rect">
            <a:avLst/>
          </a:prstGeom>
          <a:noFill/>
        </p:spPr>
        <p:txBody>
          <a:bodyPr wrap="none" lIns="0" tIns="0" rIns="0" bIns="0">
            <a:spAutoFit/>
          </a:bodyPr>
          <a:lstStyle/>
          <a:p>
            <a:pPr>
              <a:lnSpc>
                <a:spcPts val="1701"/>
              </a:lnSpc>
              <a:spcBef>
                <a:spcPts val="0"/>
              </a:spcBef>
              <a:spcAft>
                <a:spcPts val="0"/>
              </a:spcAft>
            </a:pPr>
            <a:r>
              <a:rPr sz="1350" b="0">
                <a:solidFill>
                  <a:srgbClr val="14283F"/>
                </a:solidFill>
                <a:latin typeface="Arial"/>
              </a:rPr>
              <a:t>Payload-text control; full-question</a:t>
            </a:r>
          </a:p>
          <a:p>
            <a:pPr>
              <a:lnSpc>
                <a:spcPts val="1701"/>
              </a:lnSpc>
              <a:spcBef>
                <a:spcPts val="0"/>
              </a:spcBef>
              <a:spcAft>
                <a:spcPts val="0"/>
              </a:spcAft>
            </a:pPr>
            <a:r>
              <a:rPr sz="1350" b="0">
                <a:solidFill>
                  <a:srgbClr val="14283F"/>
                </a:solidFill>
                <a:latin typeface="Arial"/>
              </a:rPr>
              <a:t>wrapper × carrier grid; unrelated images</a:t>
            </a:r>
          </a:p>
        </p:txBody>
      </p:sp>
      <p:sp>
        <p:nvSpPr>
          <p:cNvPr id="17" name="TextBox 16"/>
          <p:cNvSpPr txBox="1"/>
          <p:nvPr/>
        </p:nvSpPr>
        <p:spPr>
          <a:xfrm>
            <a:off x="6756400" y="3832860"/>
            <a:ext cx="48387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Wording/content and attachment matter; checkpoint</a:t>
            </a:r>
          </a:p>
          <a:p>
            <a:pPr>
              <a:lnSpc>
                <a:spcPts val="1889"/>
              </a:lnSpc>
              <a:spcBef>
                <a:spcPts val="0"/>
              </a:spcBef>
              <a:spcAft>
                <a:spcPts val="0"/>
              </a:spcAft>
            </a:pPr>
            <a:r>
              <a:rPr sz="1500" b="0">
                <a:solidFill>
                  <a:srgbClr val="14283F"/>
                </a:solidFill>
                <a:latin typeface="Arial"/>
              </a:rPr>
              <a:t>dependent</a:t>
            </a:r>
          </a:p>
        </p:txBody>
      </p:sp>
      <p:sp>
        <p:nvSpPr>
          <p:cNvPr id="18" name="Rectangle 17"/>
          <p:cNvSpPr/>
          <p:nvPr/>
        </p:nvSpPr>
        <p:spPr>
          <a:xfrm>
            <a:off x="457200" y="443484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6900" y="4536440"/>
            <a:ext cx="24511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Are we measuring the same</a:t>
            </a:r>
          </a:p>
          <a:p>
            <a:pPr>
              <a:lnSpc>
                <a:spcPts val="1889"/>
              </a:lnSpc>
              <a:spcBef>
                <a:spcPts val="0"/>
              </a:spcBef>
              <a:spcAft>
                <a:spcPts val="0"/>
              </a:spcAft>
            </a:pPr>
            <a:r>
              <a:rPr sz="1500" b="0">
                <a:solidFill>
                  <a:srgbClr val="14283F"/>
                </a:solidFill>
                <a:latin typeface="Arial"/>
              </a:rPr>
              <a:t>behavior?</a:t>
            </a:r>
          </a:p>
        </p:txBody>
      </p:sp>
      <p:sp>
        <p:nvSpPr>
          <p:cNvPr id="20" name="TextBox 19"/>
          <p:cNvSpPr txBox="1"/>
          <p:nvPr/>
        </p:nvSpPr>
        <p:spPr>
          <a:xfrm>
            <a:off x="3327400" y="4536440"/>
            <a:ext cx="3149600" cy="438150"/>
          </a:xfrm>
          <a:prstGeom prst="rect">
            <a:avLst/>
          </a:prstGeom>
          <a:noFill/>
        </p:spPr>
        <p:txBody>
          <a:bodyPr wrap="none" lIns="0" tIns="0" rIns="0" bIns="0">
            <a:spAutoFit/>
          </a:bodyPr>
          <a:lstStyle/>
          <a:p>
            <a:pPr>
              <a:lnSpc>
                <a:spcPts val="1575"/>
              </a:lnSpc>
              <a:spcBef>
                <a:spcPts val="0"/>
              </a:spcBef>
              <a:spcAft>
                <a:spcPts val="0"/>
              </a:spcAft>
            </a:pPr>
            <a:r>
              <a:rPr sz="1250" b="0">
                <a:solidFill>
                  <a:srgbClr val="14283F"/>
                </a:solidFill>
                <a:latin typeface="Arial"/>
              </a:rPr>
              <a:t>Stimulus-aware guards; raw/NC-adjusted</a:t>
            </a:r>
          </a:p>
          <a:p>
            <a:pPr>
              <a:lnSpc>
                <a:spcPts val="1575"/>
              </a:lnSpc>
              <a:spcBef>
                <a:spcPts val="0"/>
              </a:spcBef>
              <a:spcAft>
                <a:spcPts val="0"/>
              </a:spcAft>
            </a:pPr>
            <a:r>
              <a:rPr sz="1250" b="0">
                <a:solidFill>
                  <a:srgbClr val="14283F"/>
                </a:solidFill>
                <a:latin typeface="Arial"/>
              </a:rPr>
              <a:t>refusal; harm; readback; human comparison</a:t>
            </a:r>
          </a:p>
        </p:txBody>
      </p:sp>
      <p:sp>
        <p:nvSpPr>
          <p:cNvPr id="21" name="TextBox 20"/>
          <p:cNvSpPr txBox="1"/>
          <p:nvPr/>
        </p:nvSpPr>
        <p:spPr>
          <a:xfrm>
            <a:off x="6756400" y="453644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Judging protocols differ; agreement is not validity</a:t>
            </a:r>
          </a:p>
        </p:txBody>
      </p:sp>
      <p:sp>
        <p:nvSpPr>
          <p:cNvPr id="22" name="Rectangle 21"/>
          <p:cNvSpPr/>
          <p:nvPr/>
        </p:nvSpPr>
        <p:spPr>
          <a:xfrm>
            <a:off x="457200" y="513842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6900" y="5240020"/>
            <a:ext cx="24511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Does the conclusion survive</a:t>
            </a:r>
          </a:p>
          <a:p>
            <a:pPr>
              <a:lnSpc>
                <a:spcPts val="1889"/>
              </a:lnSpc>
              <a:spcBef>
                <a:spcPts val="0"/>
              </a:spcBef>
              <a:spcAft>
                <a:spcPts val="0"/>
              </a:spcAft>
            </a:pPr>
            <a:r>
              <a:rPr sz="1500" b="0">
                <a:solidFill>
                  <a:srgbClr val="14283F"/>
                </a:solidFill>
                <a:latin typeface="Arial"/>
              </a:rPr>
              <a:t>robustness checks?</a:t>
            </a:r>
          </a:p>
        </p:txBody>
      </p:sp>
      <p:sp>
        <p:nvSpPr>
          <p:cNvPr id="24" name="TextBox 23"/>
          <p:cNvSpPr txBox="1"/>
          <p:nvPr/>
        </p:nvSpPr>
        <p:spPr>
          <a:xfrm>
            <a:off x="3327400" y="524002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Matched 2×2; token-prefix/full views;</a:t>
            </a:r>
          </a:p>
          <a:p>
            <a:pPr>
              <a:lnSpc>
                <a:spcPts val="1889"/>
              </a:lnSpc>
              <a:spcBef>
                <a:spcPts val="0"/>
              </a:spcBef>
              <a:spcAft>
                <a:spcPts val="0"/>
              </a:spcAft>
            </a:pPr>
            <a:r>
              <a:rPr sz="1500" b="0">
                <a:solidFill>
                  <a:srgbClr val="14283F"/>
                </a:solidFill>
                <a:latin typeface="Arial"/>
              </a:rPr>
              <a:t>retained-cohort checks</a:t>
            </a:r>
          </a:p>
        </p:txBody>
      </p:sp>
      <p:sp>
        <p:nvSpPr>
          <p:cNvPr id="25" name="TextBox 24"/>
          <p:cNvSpPr txBox="1"/>
          <p:nvPr/>
        </p:nvSpPr>
        <p:spPr>
          <a:xfrm>
            <a:off x="6756400" y="5240020"/>
            <a:ext cx="48387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No matched reversal or guard-window change; human</a:t>
            </a:r>
          </a:p>
          <a:p>
            <a:pPr>
              <a:lnSpc>
                <a:spcPts val="1889"/>
              </a:lnSpc>
              <a:spcBef>
                <a:spcPts val="0"/>
              </a:spcBef>
              <a:spcAft>
                <a:spcPts val="0"/>
              </a:spcAft>
            </a:pPr>
            <a:r>
              <a:rPr sz="1500" b="0">
                <a:solidFill>
                  <a:srgbClr val="14283F"/>
                </a:solidFill>
                <a:latin typeface="Arial"/>
              </a:rPr>
              <a:t>review pending</a:t>
            </a:r>
          </a:p>
        </p:txBody>
      </p:sp>
      <p:sp>
        <p:nvSpPr>
          <p:cNvPr id="26" name="TextBox 25"/>
          <p:cNvSpPr txBox="1"/>
          <p:nvPr/>
        </p:nvSpPr>
        <p:spPr>
          <a:xfrm>
            <a:off x="457200" y="5854700"/>
            <a:ext cx="112776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007E80"/>
                </a:solidFill>
                <a:latin typeface="Arial"/>
              </a:rPr>
              <a:t>Versions reuse some items and outputs. Do not pool them as repeated confirmation.</a:t>
            </a:r>
          </a:p>
        </p:txBody>
      </p:sp>
      <p:sp>
        <p:nvSpPr>
          <p:cNvPr id="27" name="Rectangle 26"/>
          <p:cNvSpPr/>
          <p:nvPr/>
        </p:nvSpPr>
        <p:spPr>
          <a:xfrm>
            <a:off x="457200" y="64008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1176000" y="65151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02 / 14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METHODS</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Define B, E and C before interpreting the gap</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Benchmark payload = the key phrase/activity carried in its image; it is not generally the full original question</a:t>
            </a:r>
          </a:p>
        </p:txBody>
      </p:sp>
      <p:sp>
        <p:nvSpPr>
          <p:cNvPr id="6" name="Rectangle 5"/>
          <p:cNvSpPr/>
          <p:nvPr/>
        </p:nvSpPr>
        <p:spPr>
          <a:xfrm>
            <a:off x="457200" y="2324100"/>
            <a:ext cx="11277600" cy="69088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6900" y="2425700"/>
            <a:ext cx="24511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Condition</a:t>
            </a:r>
          </a:p>
        </p:txBody>
      </p:sp>
      <p:sp>
        <p:nvSpPr>
          <p:cNvPr id="8" name="TextBox 7"/>
          <p:cNvSpPr txBox="1"/>
          <p:nvPr/>
        </p:nvSpPr>
        <p:spPr>
          <a:xfrm>
            <a:off x="3327400" y="2425700"/>
            <a:ext cx="31496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What the target model receives</a:t>
            </a:r>
          </a:p>
        </p:txBody>
      </p:sp>
      <p:sp>
        <p:nvSpPr>
          <p:cNvPr id="9" name="TextBox 8"/>
          <p:cNvSpPr txBox="1"/>
          <p:nvPr/>
        </p:nvSpPr>
        <p:spPr>
          <a:xfrm>
            <a:off x="6756400" y="2425700"/>
            <a:ext cx="48387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What the comparison can establish</a:t>
            </a:r>
          </a:p>
        </p:txBody>
      </p:sp>
      <p:sp>
        <p:nvSpPr>
          <p:cNvPr id="10" name="Rectangle 9"/>
          <p:cNvSpPr/>
          <p:nvPr/>
        </p:nvSpPr>
        <p:spPr>
          <a:xfrm>
            <a:off x="457200" y="302768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6900" y="312928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B / original text</a:t>
            </a:r>
          </a:p>
        </p:txBody>
      </p:sp>
      <p:sp>
        <p:nvSpPr>
          <p:cNvPr id="12" name="TextBox 11"/>
          <p:cNvSpPr txBox="1"/>
          <p:nvPr/>
        </p:nvSpPr>
        <p:spPr>
          <a:xfrm>
            <a:off x="3327400" y="3129280"/>
            <a:ext cx="3149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Original full question as plain text</a:t>
            </a:r>
          </a:p>
        </p:txBody>
      </p:sp>
      <p:sp>
        <p:nvSpPr>
          <p:cNvPr id="13" name="TextBox 12"/>
          <p:cNvSpPr txBox="1"/>
          <p:nvPr/>
        </p:nvSpPr>
        <p:spPr>
          <a:xfrm>
            <a:off x="6756400" y="312928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Baseline; differs from E/C in content form and instruction</a:t>
            </a:r>
          </a:p>
        </p:txBody>
      </p:sp>
      <p:sp>
        <p:nvSpPr>
          <p:cNvPr id="14" name="Rectangle 13"/>
          <p:cNvSpPr/>
          <p:nvPr/>
        </p:nvSpPr>
        <p:spPr>
          <a:xfrm>
            <a:off x="457200" y="373126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6900" y="383286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E / payload as text</a:t>
            </a:r>
          </a:p>
        </p:txBody>
      </p:sp>
      <p:sp>
        <p:nvSpPr>
          <p:cNvPr id="16" name="TextBox 15"/>
          <p:cNvSpPr txBox="1"/>
          <p:nvPr/>
        </p:nvSpPr>
        <p:spPr>
          <a:xfrm>
            <a:off x="3327400" y="383286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Image payload/key phrase as text +</a:t>
            </a:r>
          </a:p>
          <a:p>
            <a:pPr>
              <a:lnSpc>
                <a:spcPts val="1889"/>
              </a:lnSpc>
              <a:spcBef>
                <a:spcPts val="0"/>
              </a:spcBef>
              <a:spcAft>
                <a:spcPts val="0"/>
              </a:spcAft>
            </a:pPr>
            <a:r>
              <a:rPr sz="1500" b="0">
                <a:solidFill>
                  <a:srgbClr val="14283F"/>
                </a:solidFill>
                <a:latin typeface="Arial"/>
              </a:rPr>
              <a:t>benchmark instruction</a:t>
            </a:r>
          </a:p>
        </p:txBody>
      </p:sp>
      <p:sp>
        <p:nvSpPr>
          <p:cNvPr id="17" name="TextBox 16"/>
          <p:cNvSpPr txBox="1"/>
          <p:nvPr/>
        </p:nvSpPr>
        <p:spPr>
          <a:xfrm>
            <a:off x="6756400" y="383286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Text control for C; B−E is not a pure wording effect</a:t>
            </a:r>
          </a:p>
        </p:txBody>
      </p:sp>
      <p:sp>
        <p:nvSpPr>
          <p:cNvPr id="18" name="Rectangle 17"/>
          <p:cNvSpPr/>
          <p:nvPr/>
        </p:nvSpPr>
        <p:spPr>
          <a:xfrm>
            <a:off x="457200" y="443484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6900" y="453644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C / benchmark image</a:t>
            </a:r>
          </a:p>
        </p:txBody>
      </p:sp>
      <p:sp>
        <p:nvSpPr>
          <p:cNvPr id="20" name="TextBox 19"/>
          <p:cNvSpPr txBox="1"/>
          <p:nvPr/>
        </p:nvSpPr>
        <p:spPr>
          <a:xfrm>
            <a:off x="3327400" y="453644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Benchmark image carrying the</a:t>
            </a:r>
          </a:p>
          <a:p>
            <a:pPr>
              <a:lnSpc>
                <a:spcPts val="1889"/>
              </a:lnSpc>
              <a:spcBef>
                <a:spcPts val="0"/>
              </a:spcBef>
              <a:spcAft>
                <a:spcPts val="0"/>
              </a:spcAft>
            </a:pPr>
            <a:r>
              <a:rPr sz="1500" b="0">
                <a:solidFill>
                  <a:srgbClr val="14283F"/>
                </a:solidFill>
                <a:latin typeface="Arial"/>
              </a:rPr>
              <a:t>payload + its instruction</a:t>
            </a:r>
          </a:p>
        </p:txBody>
      </p:sp>
      <p:sp>
        <p:nvSpPr>
          <p:cNvPr id="21" name="TextBox 20"/>
          <p:cNvSpPr txBox="1"/>
          <p:nvPr/>
        </p:nvSpPr>
        <p:spPr>
          <a:xfrm>
            <a:off x="6756400" y="453644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E−C compares payload text and image representations</a:t>
            </a:r>
          </a:p>
        </p:txBody>
      </p:sp>
      <p:sp>
        <p:nvSpPr>
          <p:cNvPr id="22" name="Rectangle 21"/>
          <p:cNvSpPr/>
          <p:nvPr/>
        </p:nvSpPr>
        <p:spPr>
          <a:xfrm>
            <a:off x="457200" y="513842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6900" y="524002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Matched follow-up</a:t>
            </a:r>
          </a:p>
        </p:txBody>
      </p:sp>
      <p:sp>
        <p:nvSpPr>
          <p:cNvPr id="24" name="TextBox 23"/>
          <p:cNvSpPr txBox="1"/>
          <p:nvPr/>
        </p:nvSpPr>
        <p:spPr>
          <a:xfrm>
            <a:off x="3327400" y="524002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Same full-question words:</a:t>
            </a:r>
          </a:p>
          <a:p>
            <a:pPr>
              <a:lnSpc>
                <a:spcPts val="1889"/>
              </a:lnSpc>
              <a:spcBef>
                <a:spcPts val="0"/>
              </a:spcBef>
              <a:spcAft>
                <a:spcPts val="0"/>
              </a:spcAft>
            </a:pPr>
            <a:r>
              <a:rPr sz="1500" b="0">
                <a:solidFill>
                  <a:srgbClr val="14283F"/>
                </a:solidFill>
                <a:latin typeface="Arial"/>
              </a:rPr>
              <a:t>plain/steps × text/image</a:t>
            </a:r>
          </a:p>
        </p:txBody>
      </p:sp>
      <p:sp>
        <p:nvSpPr>
          <p:cNvPr id="25" name="TextBox 24"/>
          <p:cNvSpPr txBox="1"/>
          <p:nvPr/>
        </p:nvSpPr>
        <p:spPr>
          <a:xfrm>
            <a:off x="6756400" y="524002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Separately define d_P, d_S and their interaction</a:t>
            </a:r>
          </a:p>
        </p:txBody>
      </p:sp>
      <p:sp>
        <p:nvSpPr>
          <p:cNvPr id="26" name="TextBox 25"/>
          <p:cNvSpPr txBox="1"/>
          <p:nvPr/>
        </p:nvSpPr>
        <p:spPr>
          <a:xfrm>
            <a:off x="457200" y="5854700"/>
            <a:ext cx="112776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007E80"/>
                </a:solidFill>
                <a:latin typeface="Arial"/>
              </a:rPr>
              <a:t>B−C mixes changes. Use matched full-question pairs to assess instruction × carrier effects.</a:t>
            </a:r>
          </a:p>
        </p:txBody>
      </p:sp>
      <p:sp>
        <p:nvSpPr>
          <p:cNvPr id="27" name="Rectangle 26"/>
          <p:cNvSpPr/>
          <p:nvPr/>
        </p:nvSpPr>
        <p:spPr>
          <a:xfrm>
            <a:off x="457200" y="64008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7200" y="6515100"/>
            <a:ext cx="10553700" cy="166116"/>
          </a:xfrm>
          <a:prstGeom prst="rect">
            <a:avLst/>
          </a:prstGeom>
          <a:noFill/>
        </p:spPr>
        <p:txBody>
          <a:bodyPr wrap="none" lIns="0" tIns="0" rIns="0" bIns="0">
            <a:spAutoFit/>
          </a:bodyPr>
          <a:lstStyle/>
          <a:p>
            <a:pPr>
              <a:lnSpc>
                <a:spcPts val="1008"/>
              </a:lnSpc>
              <a:spcBef>
                <a:spcPts val="0"/>
              </a:spcBef>
              <a:spcAft>
                <a:spcPts val="0"/>
              </a:spcAft>
            </a:pPr>
            <a:r>
              <a:rPr sz="800" b="0">
                <a:solidFill>
                  <a:srgbClr val="526378"/>
                </a:solidFill>
                <a:latin typeface="Arial"/>
              </a:rPr>
              <a:t>SOURCE: Status method/glossary; Amendment 7; P1–P3/P6</a:t>
            </a:r>
          </a:p>
        </p:txBody>
      </p:sp>
      <p:sp>
        <p:nvSpPr>
          <p:cNvPr id="29" name="TextBox 28"/>
          <p:cNvSpPr txBox="1"/>
          <p:nvPr/>
        </p:nvSpPr>
        <p:spPr>
          <a:xfrm>
            <a:off x="11176000" y="65151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03 / 14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EXPLORATORY</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The text control changes the interpretation of the large gap</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Historical benchmark refusal rates: original question / payload-text control / benchmark image</a:t>
            </a:r>
          </a:p>
        </p:txBody>
      </p:sp>
      <p:sp>
        <p:nvSpPr>
          <p:cNvPr id="6" name="Rectangle 5"/>
          <p:cNvSpPr/>
          <p:nvPr/>
        </p:nvSpPr>
        <p:spPr>
          <a:xfrm>
            <a:off x="850900" y="5308600"/>
            <a:ext cx="10439400" cy="762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5232400"/>
            <a:ext cx="3810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a:t>
            </a:r>
          </a:p>
        </p:txBody>
      </p:sp>
      <p:sp>
        <p:nvSpPr>
          <p:cNvPr id="8" name="Rectangle 7"/>
          <p:cNvSpPr/>
          <p:nvPr/>
        </p:nvSpPr>
        <p:spPr>
          <a:xfrm>
            <a:off x="850900" y="4641850"/>
            <a:ext cx="10439400" cy="762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4565650"/>
            <a:ext cx="3810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25</a:t>
            </a:r>
          </a:p>
        </p:txBody>
      </p:sp>
      <p:sp>
        <p:nvSpPr>
          <p:cNvPr id="10" name="Rectangle 9"/>
          <p:cNvSpPr/>
          <p:nvPr/>
        </p:nvSpPr>
        <p:spPr>
          <a:xfrm>
            <a:off x="850900" y="3975100"/>
            <a:ext cx="10439400" cy="762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3898900"/>
            <a:ext cx="3810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50</a:t>
            </a:r>
          </a:p>
        </p:txBody>
      </p:sp>
      <p:sp>
        <p:nvSpPr>
          <p:cNvPr id="12" name="Rectangle 11"/>
          <p:cNvSpPr/>
          <p:nvPr/>
        </p:nvSpPr>
        <p:spPr>
          <a:xfrm>
            <a:off x="850900" y="3308350"/>
            <a:ext cx="10439400" cy="762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3232150"/>
            <a:ext cx="3810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75</a:t>
            </a:r>
          </a:p>
        </p:txBody>
      </p:sp>
      <p:sp>
        <p:nvSpPr>
          <p:cNvPr id="14" name="Rectangle 13"/>
          <p:cNvSpPr/>
          <p:nvPr/>
        </p:nvSpPr>
        <p:spPr>
          <a:xfrm>
            <a:off x="850900" y="2641600"/>
            <a:ext cx="10439400" cy="762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2565400"/>
            <a:ext cx="3810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100</a:t>
            </a:r>
          </a:p>
        </p:txBody>
      </p:sp>
      <p:sp>
        <p:nvSpPr>
          <p:cNvPr id="16" name="Rectangle 15"/>
          <p:cNvSpPr/>
          <p:nvPr/>
        </p:nvSpPr>
        <p:spPr>
          <a:xfrm>
            <a:off x="1524000" y="3545221"/>
            <a:ext cx="495299" cy="1763378"/>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485900" y="3291221"/>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66.1</a:t>
            </a:r>
          </a:p>
        </p:txBody>
      </p:sp>
      <p:sp>
        <p:nvSpPr>
          <p:cNvPr id="18" name="Rectangle 17"/>
          <p:cNvSpPr/>
          <p:nvPr/>
        </p:nvSpPr>
        <p:spPr>
          <a:xfrm>
            <a:off x="2222500" y="4817310"/>
            <a:ext cx="495299" cy="491289"/>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184400" y="4563310"/>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315EC6"/>
                </a:solidFill>
                <a:latin typeface="Arial"/>
              </a:rPr>
              <a:t>18.4</a:t>
            </a:r>
          </a:p>
        </p:txBody>
      </p:sp>
      <p:sp>
        <p:nvSpPr>
          <p:cNvPr id="20" name="Rectangle 19"/>
          <p:cNvSpPr/>
          <p:nvPr/>
        </p:nvSpPr>
        <p:spPr>
          <a:xfrm>
            <a:off x="2921000" y="4905040"/>
            <a:ext cx="495299" cy="403559"/>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882900" y="4651040"/>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007E80"/>
                </a:solidFill>
                <a:latin typeface="Arial"/>
              </a:rPr>
              <a:t>15.1</a:t>
            </a:r>
          </a:p>
        </p:txBody>
      </p:sp>
      <p:sp>
        <p:nvSpPr>
          <p:cNvPr id="22" name="TextBox 21"/>
          <p:cNvSpPr txBox="1"/>
          <p:nvPr/>
        </p:nvSpPr>
        <p:spPr>
          <a:xfrm>
            <a:off x="1270000" y="5448300"/>
            <a:ext cx="2921000" cy="246126"/>
          </a:xfrm>
          <a:prstGeom prst="rect">
            <a:avLst/>
          </a:prstGeom>
          <a:noFill/>
        </p:spPr>
        <p:txBody>
          <a:bodyPr wrap="none" lIns="0" tIns="0" rIns="0" bIns="0">
            <a:spAutoFit/>
          </a:bodyPr>
          <a:lstStyle/>
          <a:p>
            <a:pPr>
              <a:lnSpc>
                <a:spcPts val="1638"/>
              </a:lnSpc>
              <a:spcBef>
                <a:spcPts val="0"/>
              </a:spcBef>
              <a:spcAft>
                <a:spcPts val="0"/>
              </a:spcAft>
            </a:pPr>
            <a:r>
              <a:rPr sz="1300" b="1">
                <a:solidFill>
                  <a:srgbClr val="14283F"/>
                </a:solidFill>
                <a:latin typeface="Arial"/>
              </a:rPr>
              <a:t>Qwen2-VL-2B</a:t>
            </a:r>
          </a:p>
        </p:txBody>
      </p:sp>
      <p:sp>
        <p:nvSpPr>
          <p:cNvPr id="23" name="Rectangle 22"/>
          <p:cNvSpPr/>
          <p:nvPr/>
        </p:nvSpPr>
        <p:spPr>
          <a:xfrm>
            <a:off x="4953000" y="3325896"/>
            <a:ext cx="495299" cy="1982703"/>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914900" y="3071896"/>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74.3</a:t>
            </a:r>
          </a:p>
        </p:txBody>
      </p:sp>
      <p:sp>
        <p:nvSpPr>
          <p:cNvPr id="25" name="Rectangle 24"/>
          <p:cNvSpPr/>
          <p:nvPr/>
        </p:nvSpPr>
        <p:spPr>
          <a:xfrm>
            <a:off x="5651500" y="3948780"/>
            <a:ext cx="495299" cy="1359819"/>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613400" y="3694780"/>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315EC6"/>
                </a:solidFill>
                <a:latin typeface="Arial"/>
              </a:rPr>
              <a:t>51.0</a:t>
            </a:r>
          </a:p>
        </p:txBody>
      </p:sp>
      <p:sp>
        <p:nvSpPr>
          <p:cNvPr id="27" name="Rectangle 26"/>
          <p:cNvSpPr/>
          <p:nvPr/>
        </p:nvSpPr>
        <p:spPr>
          <a:xfrm>
            <a:off x="6350000" y="4133014"/>
            <a:ext cx="495299" cy="1175585"/>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11900" y="3879014"/>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007E80"/>
                </a:solidFill>
                <a:latin typeface="Arial"/>
              </a:rPr>
              <a:t>44.1</a:t>
            </a:r>
          </a:p>
        </p:txBody>
      </p:sp>
      <p:sp>
        <p:nvSpPr>
          <p:cNvPr id="29" name="TextBox 28"/>
          <p:cNvSpPr txBox="1"/>
          <p:nvPr/>
        </p:nvSpPr>
        <p:spPr>
          <a:xfrm>
            <a:off x="4699000" y="5448300"/>
            <a:ext cx="2921000" cy="246126"/>
          </a:xfrm>
          <a:prstGeom prst="rect">
            <a:avLst/>
          </a:prstGeom>
          <a:noFill/>
        </p:spPr>
        <p:txBody>
          <a:bodyPr wrap="none" lIns="0" tIns="0" rIns="0" bIns="0">
            <a:spAutoFit/>
          </a:bodyPr>
          <a:lstStyle/>
          <a:p>
            <a:pPr>
              <a:lnSpc>
                <a:spcPts val="1638"/>
              </a:lnSpc>
              <a:spcBef>
                <a:spcPts val="0"/>
              </a:spcBef>
              <a:spcAft>
                <a:spcPts val="0"/>
              </a:spcAft>
            </a:pPr>
            <a:r>
              <a:rPr sz="1300" b="1">
                <a:solidFill>
                  <a:srgbClr val="14283F"/>
                </a:solidFill>
                <a:latin typeface="Arial"/>
              </a:rPr>
              <a:t>Qwen2.5-VL-3B</a:t>
            </a:r>
          </a:p>
        </p:txBody>
      </p:sp>
      <p:sp>
        <p:nvSpPr>
          <p:cNvPr id="30" name="Rectangle 29"/>
          <p:cNvSpPr/>
          <p:nvPr/>
        </p:nvSpPr>
        <p:spPr>
          <a:xfrm>
            <a:off x="8381999" y="4097922"/>
            <a:ext cx="495299" cy="1210677"/>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43900" y="3843922"/>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45.4</a:t>
            </a:r>
          </a:p>
        </p:txBody>
      </p:sp>
      <p:sp>
        <p:nvSpPr>
          <p:cNvPr id="32" name="Rectangle 31"/>
          <p:cNvSpPr/>
          <p:nvPr/>
        </p:nvSpPr>
        <p:spPr>
          <a:xfrm>
            <a:off x="9080500" y="4308475"/>
            <a:ext cx="495299" cy="1000125"/>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042400" y="4054475"/>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315EC6"/>
                </a:solidFill>
                <a:latin typeface="Arial"/>
              </a:rPr>
              <a:t>37.5</a:t>
            </a:r>
          </a:p>
        </p:txBody>
      </p:sp>
      <p:sp>
        <p:nvSpPr>
          <p:cNvPr id="34" name="Rectangle 33"/>
          <p:cNvSpPr/>
          <p:nvPr/>
        </p:nvSpPr>
        <p:spPr>
          <a:xfrm>
            <a:off x="9779000" y="5238415"/>
            <a:ext cx="495299" cy="70184"/>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740900" y="4984415"/>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007E80"/>
                </a:solidFill>
                <a:latin typeface="Arial"/>
              </a:rPr>
              <a:t>2.6</a:t>
            </a:r>
          </a:p>
        </p:txBody>
      </p:sp>
      <p:sp>
        <p:nvSpPr>
          <p:cNvPr id="36" name="TextBox 35"/>
          <p:cNvSpPr txBox="1"/>
          <p:nvPr/>
        </p:nvSpPr>
        <p:spPr>
          <a:xfrm>
            <a:off x="8128000" y="5448300"/>
            <a:ext cx="2921000" cy="246126"/>
          </a:xfrm>
          <a:prstGeom prst="rect">
            <a:avLst/>
          </a:prstGeom>
          <a:noFill/>
        </p:spPr>
        <p:txBody>
          <a:bodyPr wrap="none" lIns="0" tIns="0" rIns="0" bIns="0">
            <a:spAutoFit/>
          </a:bodyPr>
          <a:lstStyle/>
          <a:p>
            <a:pPr>
              <a:lnSpc>
                <a:spcPts val="1638"/>
              </a:lnSpc>
              <a:spcBef>
                <a:spcPts val="0"/>
              </a:spcBef>
              <a:spcAft>
                <a:spcPts val="0"/>
              </a:spcAft>
            </a:pPr>
            <a:r>
              <a:rPr sz="1300" b="1">
                <a:solidFill>
                  <a:srgbClr val="14283F"/>
                </a:solidFill>
                <a:latin typeface="Arial"/>
              </a:rPr>
              <a:t>LLaVA-1.5-7B</a:t>
            </a:r>
          </a:p>
        </p:txBody>
      </p:sp>
      <p:sp>
        <p:nvSpPr>
          <p:cNvPr id="37" name="Rectangle 36"/>
          <p:cNvSpPr/>
          <p:nvPr/>
        </p:nvSpPr>
        <p:spPr>
          <a:xfrm>
            <a:off x="1104900" y="2235200"/>
            <a:ext cx="139700" cy="13970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346200" y="2197100"/>
            <a:ext cx="2921000" cy="230124"/>
          </a:xfrm>
          <a:prstGeom prst="rect">
            <a:avLst/>
          </a:prstGeom>
          <a:noFill/>
        </p:spPr>
        <p:txBody>
          <a:bodyPr wrap="none" lIns="0" tIns="0" rIns="0" bIns="0">
            <a:spAutoFit/>
          </a:bodyPr>
          <a:lstStyle/>
          <a:p>
            <a:pPr>
              <a:lnSpc>
                <a:spcPts val="1512"/>
              </a:lnSpc>
              <a:spcBef>
                <a:spcPts val="0"/>
              </a:spcBef>
              <a:spcAft>
                <a:spcPts val="0"/>
              </a:spcAft>
            </a:pPr>
            <a:r>
              <a:rPr sz="1200" b="0">
                <a:solidFill>
                  <a:srgbClr val="526378"/>
                </a:solidFill>
                <a:latin typeface="Arial"/>
              </a:rPr>
              <a:t>Plain text B</a:t>
            </a:r>
          </a:p>
        </p:txBody>
      </p:sp>
      <p:sp>
        <p:nvSpPr>
          <p:cNvPr id="39" name="Rectangle 38"/>
          <p:cNvSpPr/>
          <p:nvPr/>
        </p:nvSpPr>
        <p:spPr>
          <a:xfrm>
            <a:off x="4533900" y="2235200"/>
            <a:ext cx="139700" cy="1397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775200" y="2197100"/>
            <a:ext cx="2921000" cy="230124"/>
          </a:xfrm>
          <a:prstGeom prst="rect">
            <a:avLst/>
          </a:prstGeom>
          <a:noFill/>
        </p:spPr>
        <p:txBody>
          <a:bodyPr wrap="none" lIns="0" tIns="0" rIns="0" bIns="0">
            <a:spAutoFit/>
          </a:bodyPr>
          <a:lstStyle/>
          <a:p>
            <a:pPr>
              <a:lnSpc>
                <a:spcPts val="1512"/>
              </a:lnSpc>
              <a:spcBef>
                <a:spcPts val="0"/>
              </a:spcBef>
              <a:spcAft>
                <a:spcPts val="0"/>
              </a:spcAft>
            </a:pPr>
            <a:r>
              <a:rPr sz="1200" b="0">
                <a:solidFill>
                  <a:srgbClr val="526378"/>
                </a:solidFill>
                <a:latin typeface="Arial"/>
              </a:rPr>
              <a:t>Payload text E</a:t>
            </a:r>
          </a:p>
        </p:txBody>
      </p:sp>
      <p:sp>
        <p:nvSpPr>
          <p:cNvPr id="41" name="Rectangle 40"/>
          <p:cNvSpPr/>
          <p:nvPr/>
        </p:nvSpPr>
        <p:spPr>
          <a:xfrm>
            <a:off x="7962900" y="2235200"/>
            <a:ext cx="139700" cy="1397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204199" y="2197100"/>
            <a:ext cx="2921000" cy="230124"/>
          </a:xfrm>
          <a:prstGeom prst="rect">
            <a:avLst/>
          </a:prstGeom>
          <a:noFill/>
        </p:spPr>
        <p:txBody>
          <a:bodyPr wrap="none" lIns="0" tIns="0" rIns="0" bIns="0">
            <a:spAutoFit/>
          </a:bodyPr>
          <a:lstStyle/>
          <a:p>
            <a:pPr>
              <a:lnSpc>
                <a:spcPts val="1512"/>
              </a:lnSpc>
              <a:spcBef>
                <a:spcPts val="0"/>
              </a:spcBef>
              <a:spcAft>
                <a:spcPts val="0"/>
              </a:spcAft>
            </a:pPr>
            <a:r>
              <a:rPr sz="1200" b="0">
                <a:solidFill>
                  <a:srgbClr val="526378"/>
                </a:solidFill>
                <a:latin typeface="Arial"/>
              </a:rPr>
              <a:t>Image C</a:t>
            </a:r>
          </a:p>
        </p:txBody>
      </p:sp>
      <p:sp>
        <p:nvSpPr>
          <p:cNvPr id="43" name="TextBox 42"/>
          <p:cNvSpPr txBox="1"/>
          <p:nvPr/>
        </p:nvSpPr>
        <p:spPr>
          <a:xfrm>
            <a:off x="457200" y="5854700"/>
            <a:ext cx="112776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007E80"/>
                </a:solidFill>
                <a:latin typeface="Arial"/>
              </a:rPr>
              <a:t>B and E differ in content form as well as instruction; interpret the full-question grid separately.</a:t>
            </a:r>
          </a:p>
        </p:txBody>
      </p:sp>
      <p:sp>
        <p:nvSpPr>
          <p:cNvPr id="44" name="Rectangle 43"/>
          <p:cNvSpPr/>
          <p:nvPr/>
        </p:nvSpPr>
        <p:spPr>
          <a:xfrm>
            <a:off x="457200" y="64008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57200" y="6515100"/>
            <a:ext cx="10553700" cy="166116"/>
          </a:xfrm>
          <a:prstGeom prst="rect">
            <a:avLst/>
          </a:prstGeom>
          <a:noFill/>
        </p:spPr>
        <p:txBody>
          <a:bodyPr wrap="none" lIns="0" tIns="0" rIns="0" bIns="0">
            <a:spAutoFit/>
          </a:bodyPr>
          <a:lstStyle/>
          <a:p>
            <a:pPr>
              <a:lnSpc>
                <a:spcPts val="1008"/>
              </a:lnSpc>
              <a:spcBef>
                <a:spcPts val="0"/>
              </a:spcBef>
              <a:spcAft>
                <a:spcPts val="0"/>
              </a:spcAft>
            </a:pPr>
            <a:r>
              <a:rPr sz="800" b="0">
                <a:solidFill>
                  <a:srgbClr val="526378"/>
                </a:solidFill>
                <a:latin typeface="Arial"/>
              </a:rPr>
              <a:t>SOURCE: v6_full/results_v6.json: results[model].rates.qwen3guard; nominal n=304/304/152</a:t>
            </a:r>
          </a:p>
        </p:txBody>
      </p:sp>
      <p:sp>
        <p:nvSpPr>
          <p:cNvPr id="46" name="TextBox 45"/>
          <p:cNvSpPr txBox="1"/>
          <p:nvPr/>
        </p:nvSpPr>
        <p:spPr>
          <a:xfrm>
            <a:off x="11176000" y="65151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04 / 14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EXPLORATORY</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Historical inference: paired tests and an item-clustered GEE</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logit Pr(R=1) = beta0 + betaI·I + beta1·W1 + beta2·W2 + gamma1·I·W1 + gamma2·I·W2</a:t>
            </a:r>
          </a:p>
        </p:txBody>
      </p:sp>
      <p:sp>
        <p:nvSpPr>
          <p:cNvPr id="6" name="Rectangle 5"/>
          <p:cNvSpPr/>
          <p:nvPr/>
        </p:nvSpPr>
        <p:spPr>
          <a:xfrm>
            <a:off x="457200" y="2324100"/>
            <a:ext cx="11277600" cy="69088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6900" y="2425700"/>
            <a:ext cx="24511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Analysis</a:t>
            </a:r>
          </a:p>
        </p:txBody>
      </p:sp>
      <p:sp>
        <p:nvSpPr>
          <p:cNvPr id="8" name="TextBox 7"/>
          <p:cNvSpPr txBox="1"/>
          <p:nvPr/>
        </p:nvSpPr>
        <p:spPr>
          <a:xfrm>
            <a:off x="3327400" y="2425700"/>
            <a:ext cx="31496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Implementation / observed result</a:t>
            </a:r>
          </a:p>
        </p:txBody>
      </p:sp>
      <p:sp>
        <p:nvSpPr>
          <p:cNvPr id="9" name="TextBox 8"/>
          <p:cNvSpPr txBox="1"/>
          <p:nvPr/>
        </p:nvSpPr>
        <p:spPr>
          <a:xfrm>
            <a:off x="6756400" y="2425700"/>
            <a:ext cx="48387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Interpretation limit</a:t>
            </a:r>
          </a:p>
        </p:txBody>
      </p:sp>
      <p:sp>
        <p:nvSpPr>
          <p:cNvPr id="10" name="Rectangle 9"/>
          <p:cNvSpPr/>
          <p:nvPr/>
        </p:nvSpPr>
        <p:spPr>
          <a:xfrm>
            <a:off x="457200" y="302768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6900" y="312928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McNemar</a:t>
            </a:r>
          </a:p>
        </p:txBody>
      </p:sp>
      <p:sp>
        <p:nvSpPr>
          <p:cNvPr id="12" name="TextBox 11"/>
          <p:cNvSpPr txBox="1"/>
          <p:nvPr/>
        </p:nvSpPr>
        <p:spPr>
          <a:xfrm>
            <a:off x="3327400" y="312928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Exact Binomial(b+c, 0.5) test on</a:t>
            </a:r>
          </a:p>
          <a:p>
            <a:pPr>
              <a:lnSpc>
                <a:spcPts val="1889"/>
              </a:lnSpc>
              <a:spcBef>
                <a:spcPts val="0"/>
              </a:spcBef>
              <a:spcAft>
                <a:spcPts val="0"/>
              </a:spcAft>
            </a:pPr>
            <a:r>
              <a:rPr sz="1500" b="0">
                <a:solidFill>
                  <a:srgbClr val="14283F"/>
                </a:solidFill>
                <a:latin typeface="Arial"/>
              </a:rPr>
              <a:t>discordant pairs</a:t>
            </a:r>
          </a:p>
        </p:txBody>
      </p:sp>
      <p:sp>
        <p:nvSpPr>
          <p:cNvPr id="13" name="TextBox 12"/>
          <p:cNvSpPr txBox="1"/>
          <p:nvPr/>
        </p:nvSpPr>
        <p:spPr>
          <a:xfrm>
            <a:off x="6756400" y="312928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Tests paired symmetry; not equivalence or harm severity</a:t>
            </a:r>
          </a:p>
        </p:txBody>
      </p:sp>
      <p:sp>
        <p:nvSpPr>
          <p:cNvPr id="14" name="Rectangle 13"/>
          <p:cNvSpPr/>
          <p:nvPr/>
        </p:nvSpPr>
        <p:spPr>
          <a:xfrm>
            <a:off x="457200" y="373126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6900" y="383286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Scenario interval</a:t>
            </a:r>
          </a:p>
        </p:txBody>
      </p:sp>
      <p:sp>
        <p:nvSpPr>
          <p:cNvPr id="16" name="TextBox 15"/>
          <p:cNvSpPr txBox="1"/>
          <p:nvPr/>
        </p:nvSpPr>
        <p:spPr>
          <a:xfrm>
            <a:off x="3327400" y="383286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mean(d_s) ± t(k−1)·sd(d_s)/sqrt(k);</a:t>
            </a:r>
          </a:p>
          <a:p>
            <a:pPr>
              <a:lnSpc>
                <a:spcPts val="1889"/>
              </a:lnSpc>
              <a:spcBef>
                <a:spcPts val="0"/>
              </a:spcBef>
              <a:spcAft>
                <a:spcPts val="0"/>
              </a:spcAft>
            </a:pPr>
            <a:r>
              <a:rPr sz="1500" b="0">
                <a:solidFill>
                  <a:srgbClr val="14283F"/>
                </a:solidFill>
                <a:latin typeface="Arial"/>
              </a:rPr>
              <a:t>MM k=8</a:t>
            </a:r>
          </a:p>
        </p:txBody>
      </p:sp>
      <p:sp>
        <p:nvSpPr>
          <p:cNvPr id="17" name="TextBox 16"/>
          <p:cNvSpPr txBox="1"/>
          <p:nvPr/>
        </p:nvSpPr>
        <p:spPr>
          <a:xfrm>
            <a:off x="6756400" y="3832860"/>
            <a:ext cx="48387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Equal-scenario target; few clusters; may differ from</a:t>
            </a:r>
          </a:p>
          <a:p>
            <a:pPr>
              <a:lnSpc>
                <a:spcPts val="1889"/>
              </a:lnSpc>
              <a:spcBef>
                <a:spcPts val="0"/>
              </a:spcBef>
              <a:spcAft>
                <a:spcPts val="0"/>
              </a:spcAft>
            </a:pPr>
            <a:r>
              <a:rPr sz="1500" b="0">
                <a:solidFill>
                  <a:srgbClr val="14283F"/>
                </a:solidFill>
                <a:latin typeface="Arial"/>
              </a:rPr>
              <a:t>pooled diff</a:t>
            </a:r>
          </a:p>
        </p:txBody>
      </p:sp>
      <p:sp>
        <p:nvSpPr>
          <p:cNvPr id="18" name="Rectangle 17"/>
          <p:cNvSpPr/>
          <p:nvPr/>
        </p:nvSpPr>
        <p:spPr>
          <a:xfrm>
            <a:off x="457200" y="443484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6900" y="453644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GEE grid</a:t>
            </a:r>
          </a:p>
        </p:txBody>
      </p:sp>
      <p:sp>
        <p:nvSpPr>
          <p:cNvPr id="20" name="TextBox 19"/>
          <p:cNvSpPr txBox="1"/>
          <p:nvPr/>
        </p:nvSpPr>
        <p:spPr>
          <a:xfrm>
            <a:off x="3327400" y="453644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Binomial; exchangeable;</a:t>
            </a:r>
          </a:p>
          <a:p>
            <a:pPr>
              <a:lnSpc>
                <a:spcPts val="1889"/>
              </a:lnSpc>
              <a:spcBef>
                <a:spcPts val="0"/>
              </a:spcBef>
              <a:spcAft>
                <a:spcPts val="0"/>
              </a:spcAft>
            </a:pPr>
            <a:r>
              <a:rPr sz="1500" b="0">
                <a:solidFill>
                  <a:srgbClr val="14283F"/>
                </a:solidFill>
                <a:latin typeface="Arial"/>
              </a:rPr>
              <a:t>groups=item; robust covariance</a:t>
            </a:r>
          </a:p>
        </p:txBody>
      </p:sp>
      <p:sp>
        <p:nvSpPr>
          <p:cNvPr id="21" name="TextBox 20"/>
          <p:cNvSpPr txBox="1"/>
          <p:nvPr/>
        </p:nvSpPr>
        <p:spPr>
          <a:xfrm>
            <a:off x="6756400" y="453644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gamma is a log-odds interaction, not a pp interaction</a:t>
            </a:r>
          </a:p>
        </p:txBody>
      </p:sp>
      <p:sp>
        <p:nvSpPr>
          <p:cNvPr id="22" name="Rectangle 21"/>
          <p:cNvSpPr/>
          <p:nvPr/>
        </p:nvSpPr>
        <p:spPr>
          <a:xfrm>
            <a:off x="457200" y="513842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6900" y="524002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Qwen3Guard gamma2</a:t>
            </a:r>
          </a:p>
        </p:txBody>
      </p:sp>
      <p:sp>
        <p:nvSpPr>
          <p:cNvPr id="24" name="TextBox 23"/>
          <p:cNvSpPr txBox="1"/>
          <p:nvPr/>
        </p:nvSpPr>
        <p:spPr>
          <a:xfrm>
            <a:off x="3327400" y="524002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Qwen2: 1.095; Qwen2.5: 2.618 (W2</a:t>
            </a:r>
          </a:p>
          <a:p>
            <a:pPr>
              <a:lnSpc>
                <a:spcPts val="1889"/>
              </a:lnSpc>
              <a:spcBef>
                <a:spcPts val="0"/>
              </a:spcBef>
              <a:spcAft>
                <a:spcPts val="0"/>
              </a:spcAft>
            </a:pPr>
            <a:r>
              <a:rPr sz="1500" b="0">
                <a:solidFill>
                  <a:srgbClr val="14283F"/>
                </a:solidFill>
                <a:latin typeface="Arial"/>
              </a:rPr>
              <a:t>vs W0)</a:t>
            </a:r>
          </a:p>
        </p:txBody>
      </p:sp>
      <p:sp>
        <p:nvSpPr>
          <p:cNvPr id="25" name="TextBox 24"/>
          <p:cNvSpPr txBox="1"/>
          <p:nvPr/>
        </p:nvSpPr>
        <p:spPr>
          <a:xfrm>
            <a:off x="6756400" y="5240020"/>
            <a:ext cx="48387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Legacy inputs / guard labels; not new matched</a:t>
            </a:r>
          </a:p>
          <a:p>
            <a:pPr>
              <a:lnSpc>
                <a:spcPts val="1889"/>
              </a:lnSpc>
              <a:spcBef>
                <a:spcPts val="0"/>
              </a:spcBef>
              <a:spcAft>
                <a:spcPts val="0"/>
              </a:spcAft>
            </a:pPr>
            <a:r>
              <a:rPr sz="1500" b="0">
                <a:solidFill>
                  <a:srgbClr val="14283F"/>
                </a:solidFill>
                <a:latin typeface="Arial"/>
              </a:rPr>
              <a:t>confirmation</a:t>
            </a:r>
          </a:p>
        </p:txBody>
      </p:sp>
      <p:sp>
        <p:nvSpPr>
          <p:cNvPr id="26" name="TextBox 25"/>
          <p:cNvSpPr txBox="1"/>
          <p:nvPr/>
        </p:nvSpPr>
        <p:spPr>
          <a:xfrm>
            <a:off x="457200" y="5854700"/>
            <a:ext cx="112776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007E80"/>
                </a:solidFill>
                <a:latin typeface="Arial"/>
              </a:rPr>
              <a:t>I = image indicator; W1/W2 = wrapper dummies. Prespecified threshold checks had mixed outcomes.</a:t>
            </a:r>
          </a:p>
        </p:txBody>
      </p:sp>
      <p:sp>
        <p:nvSpPr>
          <p:cNvPr id="27" name="Rectangle 26"/>
          <p:cNvSpPr/>
          <p:nvPr/>
        </p:nvSpPr>
        <p:spPr>
          <a:xfrm>
            <a:off x="457200" y="64008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7200" y="6515100"/>
            <a:ext cx="10553700" cy="166116"/>
          </a:xfrm>
          <a:prstGeom prst="rect">
            <a:avLst/>
          </a:prstGeom>
          <a:noFill/>
        </p:spPr>
        <p:txBody>
          <a:bodyPr wrap="none" lIns="0" tIns="0" rIns="0" bIns="0">
            <a:spAutoFit/>
          </a:bodyPr>
          <a:lstStyle/>
          <a:p>
            <a:pPr>
              <a:lnSpc>
                <a:spcPts val="1008"/>
              </a:lnSpc>
              <a:spcBef>
                <a:spcPts val="0"/>
              </a:spcBef>
              <a:spcAft>
                <a:spcPts val="0"/>
              </a:spcAft>
            </a:pPr>
            <a:r>
              <a:rPr sz="800" b="0">
                <a:solidFill>
                  <a:srgbClr val="526378"/>
                </a:solidFill>
                <a:latin typeface="Arial"/>
              </a:rPr>
              <a:t>SOURCE: Saved v6 code cells 17/19 (zero-based); results.grid.qwen3guard; technical audit section 2</a:t>
            </a:r>
          </a:p>
        </p:txBody>
      </p:sp>
      <p:sp>
        <p:nvSpPr>
          <p:cNvPr id="29" name="TextBox 28"/>
          <p:cNvSpPr txBox="1"/>
          <p:nvPr/>
        </p:nvSpPr>
        <p:spPr>
          <a:xfrm>
            <a:off x="11176000" y="65151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05 / 14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RESEARCH INFRASTRUCTURE</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Scoring corrections define what the results mean</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A code-level difference matters: target output cap and judge input window are separate</a:t>
            </a:r>
          </a:p>
        </p:txBody>
      </p:sp>
      <p:sp>
        <p:nvSpPr>
          <p:cNvPr id="6" name="Rectangle 5"/>
          <p:cNvSpPr/>
          <p:nvPr/>
        </p:nvSpPr>
        <p:spPr>
          <a:xfrm>
            <a:off x="457200" y="2324100"/>
            <a:ext cx="11277600" cy="69088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6900" y="2425700"/>
            <a:ext cx="24511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Component</a:t>
            </a:r>
          </a:p>
        </p:txBody>
      </p:sp>
      <p:sp>
        <p:nvSpPr>
          <p:cNvPr id="8" name="TextBox 7"/>
          <p:cNvSpPr txBox="1"/>
          <p:nvPr/>
        </p:nvSpPr>
        <p:spPr>
          <a:xfrm>
            <a:off x="3327400" y="2425700"/>
            <a:ext cx="31496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Earlier benchmark analysis</a:t>
            </a:r>
          </a:p>
        </p:txBody>
      </p:sp>
      <p:sp>
        <p:nvSpPr>
          <p:cNvPr id="9" name="TextBox 8"/>
          <p:cNvSpPr txBox="1"/>
          <p:nvPr/>
        </p:nvSpPr>
        <p:spPr>
          <a:xfrm>
            <a:off x="6756400" y="2425700"/>
            <a:ext cx="48387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Matched / response-window studies</a:t>
            </a:r>
          </a:p>
        </p:txBody>
      </p:sp>
      <p:sp>
        <p:nvSpPr>
          <p:cNvPr id="10" name="Rectangle 9"/>
          <p:cNvSpPr/>
          <p:nvPr/>
        </p:nvSpPr>
        <p:spPr>
          <a:xfrm>
            <a:off x="457200" y="302768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6900" y="312928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Guard request</a:t>
            </a:r>
          </a:p>
        </p:txBody>
      </p:sp>
      <p:sp>
        <p:nvSpPr>
          <p:cNvPr id="12" name="TextBox 11"/>
          <p:cNvSpPr txBox="1"/>
          <p:nvPr/>
        </p:nvSpPr>
        <p:spPr>
          <a:xfrm>
            <a:off x="3327400" y="312928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Judge against the stimulus actually</a:t>
            </a:r>
          </a:p>
          <a:p>
            <a:pPr>
              <a:lnSpc>
                <a:spcPts val="1889"/>
              </a:lnSpc>
              <a:spcBef>
                <a:spcPts val="0"/>
              </a:spcBef>
              <a:spcAft>
                <a:spcPts val="0"/>
              </a:spcAft>
            </a:pPr>
            <a:r>
              <a:rPr sz="1500" b="0">
                <a:solidFill>
                  <a:srgbClr val="14283F"/>
                </a:solidFill>
                <a:latin typeface="Arial"/>
              </a:rPr>
              <a:t>presented</a:t>
            </a:r>
          </a:p>
        </p:txBody>
      </p:sp>
      <p:sp>
        <p:nvSpPr>
          <p:cNvPr id="13" name="TextBox 12"/>
          <p:cNvSpPr txBox="1"/>
          <p:nvPr/>
        </p:nvSpPr>
        <p:spPr>
          <a:xfrm>
            <a:off x="6756400" y="312928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Same stimulus-aware principle; pinned judge identities</a:t>
            </a:r>
          </a:p>
        </p:txBody>
      </p:sp>
      <p:sp>
        <p:nvSpPr>
          <p:cNvPr id="14" name="Rectangle 13"/>
          <p:cNvSpPr/>
          <p:nvPr/>
        </p:nvSpPr>
        <p:spPr>
          <a:xfrm>
            <a:off x="457200" y="373126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6900" y="383286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Guard reply input</a:t>
            </a:r>
          </a:p>
        </p:txBody>
      </p:sp>
      <p:sp>
        <p:nvSpPr>
          <p:cNvPr id="16" name="TextBox 15"/>
          <p:cNvSpPr txBox="1"/>
          <p:nvPr/>
        </p:nvSpPr>
        <p:spPr>
          <a:xfrm>
            <a:off x="3327400" y="383286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reply[:1500] characters in both</a:t>
            </a:r>
          </a:p>
          <a:p>
            <a:pPr>
              <a:lnSpc>
                <a:spcPts val="1889"/>
              </a:lnSpc>
              <a:spcBef>
                <a:spcPts val="0"/>
              </a:spcBef>
              <a:spcAft>
                <a:spcPts val="0"/>
              </a:spcAft>
            </a:pPr>
            <a:r>
              <a:rPr sz="1500" b="0">
                <a:solidFill>
                  <a:srgbClr val="14283F"/>
                </a:solidFill>
                <a:latin typeface="Arial"/>
              </a:rPr>
              <a:t>guards</a:t>
            </a:r>
          </a:p>
        </p:txBody>
      </p:sp>
      <p:sp>
        <p:nvSpPr>
          <p:cNvPr id="17" name="TextBox 16"/>
          <p:cNvSpPr txBox="1"/>
          <p:nvPr/>
        </p:nvSpPr>
        <p:spPr>
          <a:xfrm>
            <a:off x="6756400" y="383286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Full selected prefix/full reply; no hidden character slice</a:t>
            </a:r>
          </a:p>
        </p:txBody>
      </p:sp>
      <p:sp>
        <p:nvSpPr>
          <p:cNvPr id="18" name="Rectangle 17"/>
          <p:cNvSpPr/>
          <p:nvPr/>
        </p:nvSpPr>
        <p:spPr>
          <a:xfrm>
            <a:off x="457200" y="443484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6900" y="453644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Outcome mapping</a:t>
            </a:r>
          </a:p>
        </p:txBody>
      </p:sp>
      <p:sp>
        <p:nvSpPr>
          <p:cNvPr id="20" name="TextBox 19"/>
          <p:cNvSpPr txBox="1"/>
          <p:nvPr/>
        </p:nvSpPr>
        <p:spPr>
          <a:xfrm>
            <a:off x="3327400" y="453644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Raw refusal + fixed NC rule; old</a:t>
            </a:r>
          </a:p>
          <a:p>
            <a:pPr>
              <a:lnSpc>
                <a:spcPts val="1889"/>
              </a:lnSpc>
              <a:spcBef>
                <a:spcPts val="0"/>
              </a:spcBef>
              <a:spcAft>
                <a:spcPts val="0"/>
              </a:spcAft>
            </a:pPr>
            <a:r>
              <a:rPr sz="1500" b="0">
                <a:solidFill>
                  <a:srgbClr val="14283F"/>
                </a:solidFill>
                <a:latin typeface="Arial"/>
              </a:rPr>
              <a:t>safety mapping</a:t>
            </a:r>
          </a:p>
        </p:txBody>
      </p:sp>
      <p:sp>
        <p:nvSpPr>
          <p:cNvPr id="21" name="TextBox 20"/>
          <p:cNvSpPr txBox="1"/>
          <p:nvPr/>
        </p:nvSpPr>
        <p:spPr>
          <a:xfrm>
            <a:off x="6756400" y="453644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Raw refusal primary; Controversial harm kept unresolved</a:t>
            </a:r>
          </a:p>
        </p:txBody>
      </p:sp>
      <p:sp>
        <p:nvSpPr>
          <p:cNvPr id="22" name="Rectangle 21"/>
          <p:cNvSpPr/>
          <p:nvPr/>
        </p:nvSpPr>
        <p:spPr>
          <a:xfrm>
            <a:off x="457200" y="513842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6900" y="524002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Reliability / provenance</a:t>
            </a:r>
          </a:p>
        </p:txBody>
      </p:sp>
      <p:sp>
        <p:nvSpPr>
          <p:cNvPr id="24" name="TextBox 23"/>
          <p:cNvSpPr txBox="1"/>
          <p:nvPr/>
        </p:nvSpPr>
        <p:spPr>
          <a:xfrm>
            <a:off x="3327400" y="524002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Legacy lookups and reused</a:t>
            </a:r>
          </a:p>
          <a:p>
            <a:pPr>
              <a:lnSpc>
                <a:spcPts val="1889"/>
              </a:lnSpc>
              <a:spcBef>
                <a:spcPts val="0"/>
              </a:spcBef>
              <a:spcAft>
                <a:spcPts val="0"/>
              </a:spcAft>
            </a:pPr>
            <a:r>
              <a:rPr sz="1500" b="0">
                <a:solidFill>
                  <a:srgbClr val="14283F"/>
                </a:solidFill>
                <a:latin typeface="Arial"/>
              </a:rPr>
              <a:t>generations need care</a:t>
            </a:r>
          </a:p>
        </p:txBody>
      </p:sp>
      <p:sp>
        <p:nvSpPr>
          <p:cNvPr id="25" name="TextBox 24"/>
          <p:cNvSpPr txBox="1"/>
          <p:nvPr/>
        </p:nvSpPr>
        <p:spPr>
          <a:xfrm>
            <a:off x="6756400" y="524002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Exact context/value hashes; failures and clock persisted</a:t>
            </a:r>
          </a:p>
        </p:txBody>
      </p:sp>
      <p:sp>
        <p:nvSpPr>
          <p:cNvPr id="26" name="TextBox 25"/>
          <p:cNvSpPr txBox="1"/>
          <p:nvPr/>
        </p:nvSpPr>
        <p:spPr>
          <a:xfrm>
            <a:off x="457200" y="5854700"/>
            <a:ext cx="112776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007E80"/>
                </a:solidFill>
                <a:latin typeface="Arial"/>
              </a:rPr>
              <a:t>Protocol differences limit direct cross-version comparison; no original outputs or labels were overwritten.</a:t>
            </a:r>
          </a:p>
        </p:txBody>
      </p:sp>
      <p:sp>
        <p:nvSpPr>
          <p:cNvPr id="27" name="Rectangle 26"/>
          <p:cNvSpPr/>
          <p:nvPr/>
        </p:nvSpPr>
        <p:spPr>
          <a:xfrm>
            <a:off x="457200" y="64008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7200" y="6515100"/>
            <a:ext cx="10553700" cy="166116"/>
          </a:xfrm>
          <a:prstGeom prst="rect">
            <a:avLst/>
          </a:prstGeom>
          <a:noFill/>
        </p:spPr>
        <p:txBody>
          <a:bodyPr wrap="none" lIns="0" tIns="0" rIns="0" bIns="0">
            <a:spAutoFit/>
          </a:bodyPr>
          <a:lstStyle/>
          <a:p>
            <a:pPr>
              <a:lnSpc>
                <a:spcPts val="1008"/>
              </a:lnSpc>
              <a:spcBef>
                <a:spcPts val="0"/>
              </a:spcBef>
              <a:spcAft>
                <a:spcPts val="0"/>
              </a:spcAft>
            </a:pPr>
            <a:r>
              <a:rPr sz="800" b="0">
                <a:solidFill>
                  <a:srgbClr val="526378"/>
                </a:solidFill>
                <a:latin typeface="Arial"/>
              </a:rPr>
              <a:t>SOURCE: Saved v6 cell 15; tools/vlm7_models.py Guard7.label; vlm_crossover.py harm_cx</a:t>
            </a:r>
          </a:p>
        </p:txBody>
      </p:sp>
      <p:sp>
        <p:nvSpPr>
          <p:cNvPr id="29" name="TextBox 28"/>
          <p:cNvSpPr txBox="1"/>
          <p:nvPr/>
        </p:nvSpPr>
        <p:spPr>
          <a:xfrm>
            <a:off x="11176000" y="65151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06 / 14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EXPLORATORY</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Matched 2×2 development: an interaction without a crossover</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Qwen2.5-VL-3B; pinned revision; FP16; greedy; batch one; 8 seen OCR-verified items</a:t>
            </a:r>
          </a:p>
        </p:txBody>
      </p:sp>
      <p:sp>
        <p:nvSpPr>
          <p:cNvPr id="6" name="Rectangle 5"/>
          <p:cNvSpPr/>
          <p:nvPr/>
        </p:nvSpPr>
        <p:spPr>
          <a:xfrm>
            <a:off x="457200" y="2324100"/>
            <a:ext cx="11277600" cy="69088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6900" y="2425700"/>
            <a:ext cx="26416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Wrapper</a:t>
            </a:r>
          </a:p>
        </p:txBody>
      </p:sp>
      <p:sp>
        <p:nvSpPr>
          <p:cNvPr id="8" name="TextBox 7"/>
          <p:cNvSpPr txBox="1"/>
          <p:nvPr/>
        </p:nvSpPr>
        <p:spPr>
          <a:xfrm>
            <a:off x="3517900" y="2425700"/>
            <a:ext cx="2506133"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Text refusal</a:t>
            </a:r>
          </a:p>
        </p:txBody>
      </p:sp>
      <p:sp>
        <p:nvSpPr>
          <p:cNvPr id="9" name="TextBox 8"/>
          <p:cNvSpPr txBox="1"/>
          <p:nvPr/>
        </p:nvSpPr>
        <p:spPr>
          <a:xfrm>
            <a:off x="6303433" y="2425700"/>
            <a:ext cx="2506133"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Image refusal</a:t>
            </a:r>
          </a:p>
        </p:txBody>
      </p:sp>
      <p:sp>
        <p:nvSpPr>
          <p:cNvPr id="10" name="TextBox 9"/>
          <p:cNvSpPr txBox="1"/>
          <p:nvPr/>
        </p:nvSpPr>
        <p:spPr>
          <a:xfrm>
            <a:off x="9088966" y="2425700"/>
            <a:ext cx="2506133"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Image−text</a:t>
            </a:r>
          </a:p>
        </p:txBody>
      </p:sp>
      <p:sp>
        <p:nvSpPr>
          <p:cNvPr id="11" name="Rectangle 10"/>
          <p:cNvSpPr/>
          <p:nvPr/>
        </p:nvSpPr>
        <p:spPr>
          <a:xfrm>
            <a:off x="457200" y="302768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6900" y="3129280"/>
            <a:ext cx="2641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Plain</a:t>
            </a:r>
          </a:p>
        </p:txBody>
      </p:sp>
      <p:sp>
        <p:nvSpPr>
          <p:cNvPr id="13" name="TextBox 12"/>
          <p:cNvSpPr txBox="1"/>
          <p:nvPr/>
        </p:nvSpPr>
        <p:spPr>
          <a:xfrm>
            <a:off x="3517900" y="3129280"/>
            <a:ext cx="2506133"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4/8</a:t>
            </a:r>
          </a:p>
        </p:txBody>
      </p:sp>
      <p:sp>
        <p:nvSpPr>
          <p:cNvPr id="14" name="TextBox 13"/>
          <p:cNvSpPr txBox="1"/>
          <p:nvPr/>
        </p:nvSpPr>
        <p:spPr>
          <a:xfrm>
            <a:off x="6303433" y="3129280"/>
            <a:ext cx="2506133"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5/8</a:t>
            </a:r>
          </a:p>
        </p:txBody>
      </p:sp>
      <p:sp>
        <p:nvSpPr>
          <p:cNvPr id="15" name="TextBox 14"/>
          <p:cNvSpPr txBox="1"/>
          <p:nvPr/>
        </p:nvSpPr>
        <p:spPr>
          <a:xfrm>
            <a:off x="9088966" y="3129280"/>
            <a:ext cx="2506133"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+0.125</a:t>
            </a:r>
          </a:p>
        </p:txBody>
      </p:sp>
      <p:sp>
        <p:nvSpPr>
          <p:cNvPr id="16" name="Rectangle 15"/>
          <p:cNvSpPr/>
          <p:nvPr/>
        </p:nvSpPr>
        <p:spPr>
          <a:xfrm>
            <a:off x="457200" y="373126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96900" y="3832860"/>
            <a:ext cx="2641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Steps</a:t>
            </a:r>
          </a:p>
        </p:txBody>
      </p:sp>
      <p:sp>
        <p:nvSpPr>
          <p:cNvPr id="18" name="TextBox 17"/>
          <p:cNvSpPr txBox="1"/>
          <p:nvPr/>
        </p:nvSpPr>
        <p:spPr>
          <a:xfrm>
            <a:off x="3517900" y="3832860"/>
            <a:ext cx="2506133"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5/8</a:t>
            </a:r>
          </a:p>
        </p:txBody>
      </p:sp>
      <p:sp>
        <p:nvSpPr>
          <p:cNvPr id="19" name="TextBox 18"/>
          <p:cNvSpPr txBox="1"/>
          <p:nvPr/>
        </p:nvSpPr>
        <p:spPr>
          <a:xfrm>
            <a:off x="6303433" y="3832860"/>
            <a:ext cx="2506133"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8/8</a:t>
            </a:r>
          </a:p>
        </p:txBody>
      </p:sp>
      <p:sp>
        <p:nvSpPr>
          <p:cNvPr id="20" name="TextBox 19"/>
          <p:cNvSpPr txBox="1"/>
          <p:nvPr/>
        </p:nvSpPr>
        <p:spPr>
          <a:xfrm>
            <a:off x="9088966" y="3832860"/>
            <a:ext cx="2506133"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+0.375</a:t>
            </a:r>
          </a:p>
        </p:txBody>
      </p:sp>
      <p:sp>
        <p:nvSpPr>
          <p:cNvPr id="21" name="Rectangle 20"/>
          <p:cNvSpPr/>
          <p:nvPr/>
        </p:nvSpPr>
        <p:spPr>
          <a:xfrm>
            <a:off x="457200" y="443484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96900" y="4536440"/>
            <a:ext cx="2641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Paired interaction</a:t>
            </a:r>
          </a:p>
        </p:txBody>
      </p:sp>
      <p:sp>
        <p:nvSpPr>
          <p:cNvPr id="23" name="TextBox 22"/>
          <p:cNvSpPr txBox="1"/>
          <p:nvPr/>
        </p:nvSpPr>
        <p:spPr>
          <a:xfrm>
            <a:off x="3517900" y="4536440"/>
            <a:ext cx="2506133"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d_S − d_P = 0.25</a:t>
            </a:r>
          </a:p>
        </p:txBody>
      </p:sp>
      <p:sp>
        <p:nvSpPr>
          <p:cNvPr id="24" name="TextBox 23"/>
          <p:cNvSpPr txBox="1"/>
          <p:nvPr/>
        </p:nvSpPr>
        <p:spPr>
          <a:xfrm>
            <a:off x="6303433" y="4536440"/>
            <a:ext cx="2506133"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Both guards agree</a:t>
            </a:r>
          </a:p>
        </p:txBody>
      </p:sp>
      <p:sp>
        <p:nvSpPr>
          <p:cNvPr id="25" name="TextBox 24"/>
          <p:cNvSpPr txBox="1"/>
          <p:nvPr/>
        </p:nvSpPr>
        <p:spPr>
          <a:xfrm>
            <a:off x="9088966" y="4536440"/>
            <a:ext cx="2506133"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Crossover criterion fails</a:t>
            </a:r>
          </a:p>
        </p:txBody>
      </p:sp>
      <p:sp>
        <p:nvSpPr>
          <p:cNvPr id="26" name="Rectangle 25"/>
          <p:cNvSpPr/>
          <p:nvPr/>
        </p:nvSpPr>
        <p:spPr>
          <a:xfrm>
            <a:off x="457200" y="513842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96900" y="5240020"/>
            <a:ext cx="2641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Execution / controls</a:t>
            </a:r>
          </a:p>
        </p:txBody>
      </p:sp>
      <p:sp>
        <p:nvSpPr>
          <p:cNvPr id="28" name="TextBox 27"/>
          <p:cNvSpPr txBox="1"/>
          <p:nvPr/>
        </p:nvSpPr>
        <p:spPr>
          <a:xfrm>
            <a:off x="3517900" y="5240020"/>
            <a:ext cx="2506133"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56 target / 96 guard</a:t>
            </a:r>
          </a:p>
        </p:txBody>
      </p:sp>
      <p:sp>
        <p:nvSpPr>
          <p:cNvPr id="29" name="TextBox 28"/>
          <p:cNvSpPr txBox="1"/>
          <p:nvPr/>
        </p:nvSpPr>
        <p:spPr>
          <a:xfrm>
            <a:off x="6303433" y="5240020"/>
            <a:ext cx="2506133"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8/8 readback; 17 cap hits</a:t>
            </a:r>
          </a:p>
        </p:txBody>
      </p:sp>
      <p:sp>
        <p:nvSpPr>
          <p:cNvPr id="30" name="TextBox 29"/>
          <p:cNvSpPr txBox="1"/>
          <p:nvPr/>
        </p:nvSpPr>
        <p:spPr>
          <a:xfrm>
            <a:off x="9088966" y="5240020"/>
            <a:ext cx="2506133"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2 blank arms + readback</a:t>
            </a:r>
          </a:p>
        </p:txBody>
      </p:sp>
      <p:sp>
        <p:nvSpPr>
          <p:cNvPr id="31" name="TextBox 30"/>
          <p:cNvSpPr txBox="1"/>
          <p:nvPr/>
        </p:nvSpPr>
        <p:spPr>
          <a:xfrm>
            <a:off x="457200" y="5854700"/>
            <a:ext cx="112776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007E80"/>
                </a:solidFill>
                <a:latin typeface="Arial"/>
              </a:rPr>
              <a:t>Separate Qwen2 pilot: 32 responses; E/C labels matched within each guard. No image-only harm finding there.</a:t>
            </a:r>
          </a:p>
        </p:txBody>
      </p:sp>
      <p:sp>
        <p:nvSpPr>
          <p:cNvPr id="32" name="Rectangle 31"/>
          <p:cNvSpPr/>
          <p:nvPr/>
        </p:nvSpPr>
        <p:spPr>
          <a:xfrm>
            <a:off x="457200" y="64008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57200" y="6515100"/>
            <a:ext cx="10553700" cy="166116"/>
          </a:xfrm>
          <a:prstGeom prst="rect">
            <a:avLst/>
          </a:prstGeom>
          <a:noFill/>
        </p:spPr>
        <p:txBody>
          <a:bodyPr wrap="none" lIns="0" tIns="0" rIns="0" bIns="0">
            <a:spAutoFit/>
          </a:bodyPr>
          <a:lstStyle/>
          <a:p>
            <a:pPr>
              <a:lnSpc>
                <a:spcPts val="1008"/>
              </a:lnSpc>
              <a:spcBef>
                <a:spcPts val="0"/>
              </a:spcBef>
              <a:spcAft>
                <a:spcPts val="0"/>
              </a:spcAft>
            </a:pPr>
            <a:r>
              <a:rPr sz="800" b="0">
                <a:solidFill>
                  <a:srgbClr val="526378"/>
                </a:solidFill>
                <a:latin typeface="Arial"/>
              </a:rPr>
              <a:t>SOURCE: v7_development_core8; v7_crossover_core8/results_crossover.json</a:t>
            </a:r>
          </a:p>
        </p:txBody>
      </p:sp>
      <p:sp>
        <p:nvSpPr>
          <p:cNvPr id="34" name="TextBox 33"/>
          <p:cNvSpPr txBox="1"/>
          <p:nvPr/>
        </p:nvSpPr>
        <p:spPr>
          <a:xfrm>
            <a:off x="11176000" y="65151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07 / 14</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EXPLORATORY</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Human–LLM agreement is not a validity certificate</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kappa = (observed agreement − chance agreement) / (1 − chance agreement)</a:t>
            </a:r>
          </a:p>
        </p:txBody>
      </p:sp>
      <p:sp>
        <p:nvSpPr>
          <p:cNvPr id="6" name="Rectangle 5"/>
          <p:cNvSpPr/>
          <p:nvPr/>
        </p:nvSpPr>
        <p:spPr>
          <a:xfrm>
            <a:off x="457200" y="2324100"/>
            <a:ext cx="11277600" cy="866775"/>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6900" y="2425700"/>
            <a:ext cx="24511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Axis</a:t>
            </a:r>
          </a:p>
        </p:txBody>
      </p:sp>
      <p:sp>
        <p:nvSpPr>
          <p:cNvPr id="8" name="TextBox 7"/>
          <p:cNvSpPr txBox="1"/>
          <p:nvPr/>
        </p:nvSpPr>
        <p:spPr>
          <a:xfrm>
            <a:off x="3327400" y="2425700"/>
            <a:ext cx="31496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Observed agreement</a:t>
            </a:r>
          </a:p>
        </p:txBody>
      </p:sp>
      <p:sp>
        <p:nvSpPr>
          <p:cNvPr id="9" name="TextBox 8"/>
          <p:cNvSpPr txBox="1"/>
          <p:nvPr/>
        </p:nvSpPr>
        <p:spPr>
          <a:xfrm>
            <a:off x="6756400" y="2425700"/>
            <a:ext cx="48387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Qualification</a:t>
            </a:r>
          </a:p>
        </p:txBody>
      </p:sp>
      <p:sp>
        <p:nvSpPr>
          <p:cNvPr id="10" name="Rectangle 9"/>
          <p:cNvSpPr/>
          <p:nvPr/>
        </p:nvSpPr>
        <p:spPr>
          <a:xfrm>
            <a:off x="457200" y="3203575"/>
            <a:ext cx="11277600" cy="8667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6900" y="3305175"/>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Refusal</a:t>
            </a:r>
          </a:p>
        </p:txBody>
      </p:sp>
      <p:sp>
        <p:nvSpPr>
          <p:cNvPr id="12" name="TextBox 11"/>
          <p:cNvSpPr txBox="1"/>
          <p:nvPr/>
        </p:nvSpPr>
        <p:spPr>
          <a:xfrm>
            <a:off x="3327400" y="3305175"/>
            <a:ext cx="3149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48/48; kappa 1</a:t>
            </a:r>
          </a:p>
        </p:txBody>
      </p:sp>
      <p:sp>
        <p:nvSpPr>
          <p:cNvPr id="13" name="TextBox 12"/>
          <p:cNvSpPr txBox="1"/>
          <p:nvPr/>
        </p:nvSpPr>
        <p:spPr>
          <a:xfrm>
            <a:off x="6756400" y="3305175"/>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Agreement does not prove correctness</a:t>
            </a:r>
          </a:p>
        </p:txBody>
      </p:sp>
      <p:sp>
        <p:nvSpPr>
          <p:cNvPr id="14" name="Rectangle 13"/>
          <p:cNvSpPr/>
          <p:nvPr/>
        </p:nvSpPr>
        <p:spPr>
          <a:xfrm>
            <a:off x="457200" y="4083050"/>
            <a:ext cx="11277600" cy="866775"/>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6900" y="418465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Harm</a:t>
            </a:r>
          </a:p>
        </p:txBody>
      </p:sp>
      <p:sp>
        <p:nvSpPr>
          <p:cNvPr id="16" name="TextBox 15"/>
          <p:cNvSpPr txBox="1"/>
          <p:nvPr/>
        </p:nvSpPr>
        <p:spPr>
          <a:xfrm>
            <a:off x="3327400" y="4184650"/>
            <a:ext cx="3149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41/48; kappa 0</a:t>
            </a:r>
          </a:p>
        </p:txBody>
      </p:sp>
      <p:sp>
        <p:nvSpPr>
          <p:cNvPr id="17" name="TextBox 16"/>
          <p:cNvSpPr txBox="1"/>
          <p:nvPr/>
        </p:nvSpPr>
        <p:spPr>
          <a:xfrm>
            <a:off x="6756400" y="418465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Human: 7 positives; LLM: 0; seven disputes unresolved</a:t>
            </a:r>
          </a:p>
        </p:txBody>
      </p:sp>
      <p:sp>
        <p:nvSpPr>
          <p:cNvPr id="18" name="Rectangle 17"/>
          <p:cNvSpPr/>
          <p:nvPr/>
        </p:nvSpPr>
        <p:spPr>
          <a:xfrm>
            <a:off x="457200" y="4962525"/>
            <a:ext cx="11277600" cy="8667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6900" y="5064125"/>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Comprehension</a:t>
            </a:r>
          </a:p>
        </p:txBody>
      </p:sp>
      <p:sp>
        <p:nvSpPr>
          <p:cNvPr id="20" name="TextBox 19"/>
          <p:cNvSpPr txBox="1"/>
          <p:nvPr/>
        </p:nvSpPr>
        <p:spPr>
          <a:xfrm>
            <a:off x="3327400" y="5064125"/>
            <a:ext cx="3149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48/48 including UNCERTAIN</a:t>
            </a:r>
          </a:p>
        </p:txBody>
      </p:sp>
      <p:sp>
        <p:nvSpPr>
          <p:cNvPr id="21" name="TextBox 20"/>
          <p:cNvSpPr txBox="1"/>
          <p:nvPr/>
        </p:nvSpPr>
        <p:spPr>
          <a:xfrm>
            <a:off x="6756400" y="5064125"/>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17 uncertain; resolved-only kappa undefined</a:t>
            </a:r>
          </a:p>
        </p:txBody>
      </p:sp>
      <p:sp>
        <p:nvSpPr>
          <p:cNvPr id="22" name="TextBox 21"/>
          <p:cNvSpPr txBox="1"/>
          <p:nvPr/>
        </p:nvSpPr>
        <p:spPr>
          <a:xfrm>
            <a:off x="457200" y="5854700"/>
            <a:ext cx="112776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007E80"/>
                </a:solidFill>
                <a:latin typeface="Arial"/>
              </a:rPr>
              <a:t>The new 64-unit review is a separate task and is still pending.</a:t>
            </a:r>
          </a:p>
        </p:txBody>
      </p:sp>
      <p:sp>
        <p:nvSpPr>
          <p:cNvPr id="23" name="Rectangle 22"/>
          <p:cNvSpPr/>
          <p:nvPr/>
        </p:nvSpPr>
        <p:spPr>
          <a:xfrm>
            <a:off x="457200" y="64008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7200" y="6515100"/>
            <a:ext cx="10553700" cy="166116"/>
          </a:xfrm>
          <a:prstGeom prst="rect">
            <a:avLst/>
          </a:prstGeom>
          <a:noFill/>
        </p:spPr>
        <p:txBody>
          <a:bodyPr wrap="none" lIns="0" tIns="0" rIns="0" bIns="0">
            <a:spAutoFit/>
          </a:bodyPr>
          <a:lstStyle/>
          <a:p>
            <a:pPr>
              <a:lnSpc>
                <a:spcPts val="1008"/>
              </a:lnSpc>
              <a:spcBef>
                <a:spcPts val="0"/>
              </a:spcBef>
              <a:spcAft>
                <a:spcPts val="0"/>
              </a:spcAft>
            </a:pPr>
            <a:r>
              <a:rPr sz="800" b="0">
                <a:solidFill>
                  <a:srgbClr val="526378"/>
                </a:solidFill>
                <a:latin typeface="Arial"/>
              </a:rPr>
              <a:t>SOURCE: Verified review aggregates embedded in companion/window notebook; status section 15; P8</a:t>
            </a:r>
          </a:p>
        </p:txBody>
      </p:sp>
      <p:sp>
        <p:nvSpPr>
          <p:cNvPr id="25" name="TextBox 24"/>
          <p:cNvSpPr txBox="1"/>
          <p:nvPr/>
        </p:nvSpPr>
        <p:spPr>
          <a:xfrm>
            <a:off x="11176000" y="65151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08 / 14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EXPLORATORY</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Response-window design: paired views of the same token IDs</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g_i: one greedy output; prefix = decode(g_i[:256]); full = decode(g_i[:512])</a:t>
            </a:r>
          </a:p>
        </p:txBody>
      </p:sp>
      <p:sp>
        <p:nvSpPr>
          <p:cNvPr id="6" name="Rectangle 5"/>
          <p:cNvSpPr/>
          <p:nvPr/>
        </p:nvSpPr>
        <p:spPr>
          <a:xfrm>
            <a:off x="457200" y="2324100"/>
            <a:ext cx="5537200" cy="16573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2324100"/>
            <a:ext cx="50800" cy="165735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3100" y="2501900"/>
            <a:ext cx="5105400"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32 / 64 / 128</a:t>
            </a:r>
          </a:p>
        </p:txBody>
      </p:sp>
      <p:sp>
        <p:nvSpPr>
          <p:cNvPr id="9" name="TextBox 8"/>
          <p:cNvSpPr txBox="1"/>
          <p:nvPr/>
        </p:nvSpPr>
        <p:spPr>
          <a:xfrm>
            <a:off x="673100" y="3111500"/>
            <a:ext cx="5105400" cy="75819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8 items × 4 arms = 32 generations</a:t>
            </a:r>
          </a:p>
          <a:p>
            <a:pPr>
              <a:lnSpc>
                <a:spcPts val="1889"/>
              </a:lnSpc>
              <a:spcBef>
                <a:spcPts val="0"/>
              </a:spcBef>
              <a:spcAft>
                <a:spcPts val="0"/>
              </a:spcAft>
            </a:pPr>
            <a:r>
              <a:rPr sz="1500" b="0">
                <a:solidFill>
                  <a:srgbClr val="14283F"/>
                </a:solidFill>
                <a:latin typeface="Arial"/>
              </a:rPr>
              <a:t>2 windows each = 64 units</a:t>
            </a:r>
          </a:p>
          <a:p>
            <a:pPr>
              <a:lnSpc>
                <a:spcPts val="1889"/>
              </a:lnSpc>
              <a:spcBef>
                <a:spcPts val="0"/>
              </a:spcBef>
              <a:spcAft>
                <a:spcPts val="0"/>
              </a:spcAft>
            </a:pPr>
            <a:r>
              <a:rPr sz="1500" b="0">
                <a:solidFill>
                  <a:srgbClr val="14283F"/>
                </a:solidFill>
                <a:latin typeface="Arial"/>
              </a:rPr>
              <a:t>2 guards = 128 evaluations</a:t>
            </a:r>
          </a:p>
        </p:txBody>
      </p:sp>
      <p:sp>
        <p:nvSpPr>
          <p:cNvPr id="10" name="Rectangle 9"/>
          <p:cNvSpPr/>
          <p:nvPr/>
        </p:nvSpPr>
        <p:spPr>
          <a:xfrm>
            <a:off x="6197600" y="2324100"/>
            <a:ext cx="5537200" cy="16573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97600" y="2324100"/>
            <a:ext cx="50800" cy="165735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13500" y="2501900"/>
            <a:ext cx="5105400"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Exact identity</a:t>
            </a:r>
          </a:p>
        </p:txBody>
      </p:sp>
      <p:sp>
        <p:nvSpPr>
          <p:cNvPr id="13" name="TextBox 12"/>
          <p:cNvSpPr txBox="1"/>
          <p:nvPr/>
        </p:nvSpPr>
        <p:spPr>
          <a:xfrm>
            <a:off x="6413500" y="3111500"/>
            <a:ext cx="5105400" cy="75819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Full decode / EOS verified</a:t>
            </a:r>
          </a:p>
          <a:p>
            <a:pPr>
              <a:lnSpc>
                <a:spcPts val="1889"/>
              </a:lnSpc>
              <a:spcBef>
                <a:spcPts val="0"/>
              </a:spcBef>
              <a:spcAft>
                <a:spcPts val="0"/>
              </a:spcAft>
            </a:pPr>
            <a:r>
              <a:rPr sz="1500" b="0">
                <a:solidFill>
                  <a:srgbClr val="14283F"/>
                </a:solidFill>
                <a:latin typeface="Arial"/>
              </a:rPr>
              <a:t>Zero old-prefix drift</a:t>
            </a:r>
          </a:p>
          <a:p>
            <a:pPr>
              <a:lnSpc>
                <a:spcPts val="1889"/>
              </a:lnSpc>
              <a:spcBef>
                <a:spcPts val="0"/>
              </a:spcBef>
              <a:spcAft>
                <a:spcPts val="0"/>
              </a:spcAft>
            </a:pPr>
            <a:r>
              <a:rPr sz="1500" b="0">
                <a:solidFill>
                  <a:srgbClr val="14283F"/>
                </a:solidFill>
                <a:latin typeface="Arial"/>
              </a:rPr>
              <a:t>No unverified image order</a:t>
            </a:r>
          </a:p>
        </p:txBody>
      </p:sp>
      <p:sp>
        <p:nvSpPr>
          <p:cNvPr id="14" name="Rectangle 13"/>
          <p:cNvSpPr/>
          <p:nvPr/>
        </p:nvSpPr>
        <p:spPr>
          <a:xfrm>
            <a:off x="457200" y="4184650"/>
            <a:ext cx="5537200" cy="16573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4184650"/>
            <a:ext cx="50800" cy="165735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3100" y="4362450"/>
            <a:ext cx="5105400"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Observed result</a:t>
            </a:r>
          </a:p>
        </p:txBody>
      </p:sp>
      <p:sp>
        <p:nvSpPr>
          <p:cNvPr id="17" name="TextBox 16"/>
          <p:cNvSpPr txBox="1"/>
          <p:nvPr/>
        </p:nvSpPr>
        <p:spPr>
          <a:xfrm>
            <a:off x="673100" y="4972050"/>
            <a:ext cx="51054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Zero paired refusal/harm/NC label changes in either guard</a:t>
            </a:r>
          </a:p>
          <a:p>
            <a:pPr>
              <a:lnSpc>
                <a:spcPts val="1889"/>
              </a:lnSpc>
              <a:spcBef>
                <a:spcPts val="0"/>
              </a:spcBef>
              <a:spcAft>
                <a:spcPts val="0"/>
              </a:spcAft>
            </a:pPr>
            <a:r>
              <a:rPr sz="1500" b="0">
                <a:solidFill>
                  <a:srgbClr val="14283F"/>
                </a:solidFill>
                <a:latin typeface="Arial"/>
              </a:rPr>
              <a:t>No crossover at either window</a:t>
            </a:r>
          </a:p>
        </p:txBody>
      </p:sp>
      <p:sp>
        <p:nvSpPr>
          <p:cNvPr id="18" name="Rectangle 17"/>
          <p:cNvSpPr/>
          <p:nvPr/>
        </p:nvSpPr>
        <p:spPr>
          <a:xfrm>
            <a:off x="6197600" y="4184650"/>
            <a:ext cx="5537200" cy="16573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197600" y="4184650"/>
            <a:ext cx="50800" cy="165735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13500" y="4362450"/>
            <a:ext cx="5105400"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Coverage limits</a:t>
            </a:r>
          </a:p>
        </p:txBody>
      </p:sp>
      <p:sp>
        <p:nvSpPr>
          <p:cNvPr id="21" name="TextBox 20"/>
          <p:cNvSpPr txBox="1"/>
          <p:nvPr/>
        </p:nvSpPr>
        <p:spPr>
          <a:xfrm>
            <a:off x="6413500" y="4972050"/>
            <a:ext cx="5105400" cy="75819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Zero failures or missing labels</a:t>
            </a:r>
          </a:p>
          <a:p>
            <a:pPr>
              <a:lnSpc>
                <a:spcPts val="1889"/>
              </a:lnSpc>
              <a:spcBef>
                <a:spcPts val="0"/>
              </a:spcBef>
              <a:spcAft>
                <a:spcPts val="0"/>
              </a:spcAft>
            </a:pPr>
            <a:r>
              <a:rPr sz="1500" b="0">
                <a:solidFill>
                  <a:srgbClr val="14283F"/>
                </a:solidFill>
                <a:latin typeface="Arial"/>
              </a:rPr>
              <a:t>8 full 512-token cap hits</a:t>
            </a:r>
          </a:p>
          <a:p>
            <a:pPr>
              <a:lnSpc>
                <a:spcPts val="1889"/>
              </a:lnSpc>
              <a:spcBef>
                <a:spcPts val="0"/>
              </a:spcBef>
              <a:spcAft>
                <a:spcPts val="0"/>
              </a:spcAft>
            </a:pPr>
            <a:r>
              <a:rPr sz="1500" b="0">
                <a:solidFill>
                  <a:srgbClr val="14283F"/>
                </a:solidFill>
                <a:latin typeface="Arial"/>
              </a:rPr>
              <a:t>Human endpoint unresolved</a:t>
            </a:r>
          </a:p>
        </p:txBody>
      </p:sp>
      <p:sp>
        <p:nvSpPr>
          <p:cNvPr id="22" name="TextBox 21"/>
          <p:cNvSpPr txBox="1"/>
          <p:nvPr/>
        </p:nvSpPr>
        <p:spPr>
          <a:xfrm>
            <a:off x="457200" y="5854700"/>
            <a:ext cx="112776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007E80"/>
                </a:solidFill>
                <a:latin typeface="Arial"/>
              </a:rPr>
              <a:t>The windows are dependent. A completed run is not an uncensored, human-confirmed conclusion.</a:t>
            </a:r>
          </a:p>
        </p:txBody>
      </p:sp>
      <p:sp>
        <p:nvSpPr>
          <p:cNvPr id="23" name="Rectangle 22"/>
          <p:cNvSpPr/>
          <p:nvPr/>
        </p:nvSpPr>
        <p:spPr>
          <a:xfrm>
            <a:off x="457200" y="64008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7200" y="6515100"/>
            <a:ext cx="10553700" cy="166116"/>
          </a:xfrm>
          <a:prstGeom prst="rect">
            <a:avLst/>
          </a:prstGeom>
          <a:noFill/>
        </p:spPr>
        <p:txBody>
          <a:bodyPr wrap="none" lIns="0" tIns="0" rIns="0" bIns="0">
            <a:spAutoFit/>
          </a:bodyPr>
          <a:lstStyle/>
          <a:p>
            <a:pPr>
              <a:lnSpc>
                <a:spcPts val="1008"/>
              </a:lnSpc>
              <a:spcBef>
                <a:spcPts val="0"/>
              </a:spcBef>
              <a:spcAft>
                <a:spcPts val="0"/>
              </a:spcAft>
            </a:pPr>
            <a:r>
              <a:rPr sz="800" b="0">
                <a:solidFill>
                  <a:srgbClr val="526378"/>
                </a:solidFill>
                <a:latin typeface="Arial"/>
              </a:rPr>
              <a:t>SOURCE: v7_window_core8/results_window.json; final Drive snapshot 20261020T173210_988698Z</a:t>
            </a:r>
          </a:p>
        </p:txBody>
      </p:sp>
      <p:sp>
        <p:nvSpPr>
          <p:cNvPr id="25" name="TextBox 24"/>
          <p:cNvSpPr txBox="1"/>
          <p:nvPr/>
        </p:nvSpPr>
        <p:spPr>
          <a:xfrm>
            <a:off x="11176000" y="65151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09 / 14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EXPLORATORY</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Paired counts and retained cohorts explain two diagnostics</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Two retrospective diagnostics from saved evidence—not new model runs</a:t>
            </a:r>
          </a:p>
        </p:txBody>
      </p:sp>
      <p:sp>
        <p:nvSpPr>
          <p:cNvPr id="6" name="Rectangle 5"/>
          <p:cNvSpPr/>
          <p:nvPr/>
        </p:nvSpPr>
        <p:spPr>
          <a:xfrm>
            <a:off x="457200" y="2324100"/>
            <a:ext cx="11277600" cy="69088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6900" y="2425700"/>
            <a:ext cx="24511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Diagnostic</a:t>
            </a:r>
          </a:p>
        </p:txBody>
      </p:sp>
      <p:sp>
        <p:nvSpPr>
          <p:cNvPr id="8" name="TextBox 7"/>
          <p:cNvSpPr txBox="1"/>
          <p:nvPr/>
        </p:nvSpPr>
        <p:spPr>
          <a:xfrm>
            <a:off x="3327400" y="2425700"/>
            <a:ext cx="31496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Calculation / observed result</a:t>
            </a:r>
          </a:p>
        </p:txBody>
      </p:sp>
      <p:sp>
        <p:nvSpPr>
          <p:cNvPr id="9" name="TextBox 8"/>
          <p:cNvSpPr txBox="1"/>
          <p:nvPr/>
        </p:nvSpPr>
        <p:spPr>
          <a:xfrm>
            <a:off x="6756400" y="2425700"/>
            <a:ext cx="48387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Inference limit</a:t>
            </a:r>
          </a:p>
        </p:txBody>
      </p:sp>
      <p:sp>
        <p:nvSpPr>
          <p:cNvPr id="10" name="Rectangle 9"/>
          <p:cNvSpPr/>
          <p:nvPr/>
        </p:nvSpPr>
        <p:spPr>
          <a:xfrm>
            <a:off x="457200" y="302768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6900" y="312928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Historical E/C transitions</a:t>
            </a:r>
          </a:p>
        </p:txBody>
      </p:sp>
      <p:sp>
        <p:nvSpPr>
          <p:cNvPr id="12" name="TextBox 11"/>
          <p:cNvSpPr txBox="1"/>
          <p:nvPr/>
        </p:nvSpPr>
        <p:spPr>
          <a:xfrm>
            <a:off x="3327400" y="312928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(31−21)/304 = 3.3 pp net;</a:t>
            </a:r>
          </a:p>
          <a:p>
            <a:pPr>
              <a:lnSpc>
                <a:spcPts val="1889"/>
              </a:lnSpc>
              <a:spcBef>
                <a:spcPts val="0"/>
              </a:spcBef>
              <a:spcAft>
                <a:spcPts val="0"/>
              </a:spcAft>
            </a:pPr>
            <a:r>
              <a:rPr sz="1500" b="0">
                <a:solidFill>
                  <a:srgbClr val="14283F"/>
                </a:solidFill>
                <a:latin typeface="Arial"/>
              </a:rPr>
              <a:t>(31+21)/304 = 17.1% changed</a:t>
            </a:r>
          </a:p>
        </p:txBody>
      </p:sp>
      <p:sp>
        <p:nvSpPr>
          <p:cNvPr id="13" name="TextBox 12"/>
          <p:cNvSpPr txBox="1"/>
          <p:nvPr/>
        </p:nvSpPr>
        <p:spPr>
          <a:xfrm>
            <a:off x="6756400" y="312928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Joint valid refusal table; not a joint harm table</a:t>
            </a:r>
          </a:p>
        </p:txBody>
      </p:sp>
      <p:sp>
        <p:nvSpPr>
          <p:cNvPr id="14" name="Rectangle 13"/>
          <p:cNvSpPr/>
          <p:nvPr/>
        </p:nvSpPr>
        <p:spPr>
          <a:xfrm>
            <a:off x="457200" y="373126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6900" y="3832860"/>
            <a:ext cx="24511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Naive per-cell</a:t>
            </a:r>
          </a:p>
          <a:p>
            <a:pPr>
              <a:lnSpc>
                <a:spcPts val="1889"/>
              </a:lnSpc>
              <a:spcBef>
                <a:spcPts val="0"/>
              </a:spcBef>
              <a:spcAft>
                <a:spcPts val="0"/>
              </a:spcAft>
            </a:pPr>
            <a:r>
              <a:rPr sz="1500" b="0">
                <a:solidFill>
                  <a:srgbClr val="14283F"/>
                </a:solidFill>
                <a:latin typeface="Arial"/>
              </a:rPr>
              <a:t>UNDERSTANDING</a:t>
            </a:r>
          </a:p>
        </p:txBody>
      </p:sp>
      <p:sp>
        <p:nvSpPr>
          <p:cNvPr id="16" name="TextBox 15"/>
          <p:cNvSpPr txBox="1"/>
          <p:nvPr/>
        </p:nvSpPr>
        <p:spPr>
          <a:xfrm>
            <a:off x="3327400" y="3832860"/>
            <a:ext cx="3149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d_P=−0.50, d_S=+0.50</a:t>
            </a:r>
          </a:p>
        </p:txBody>
      </p:sp>
      <p:sp>
        <p:nvSpPr>
          <p:cNvPr id="17" name="TextBox 16"/>
          <p:cNvSpPr txBox="1"/>
          <p:nvPr/>
        </p:nvSpPr>
        <p:spPr>
          <a:xfrm>
            <a:off x="6756400" y="383286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Different retained populations: not a paired reversal</a:t>
            </a:r>
          </a:p>
        </p:txBody>
      </p:sp>
      <p:sp>
        <p:nvSpPr>
          <p:cNvPr id="18" name="Rectangle 17"/>
          <p:cNvSpPr/>
          <p:nvPr/>
        </p:nvSpPr>
        <p:spPr>
          <a:xfrm>
            <a:off x="457200" y="443484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6900" y="453644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Same retained cohort</a:t>
            </a:r>
          </a:p>
        </p:txBody>
      </p:sp>
      <p:sp>
        <p:nvSpPr>
          <p:cNvPr id="20" name="TextBox 19"/>
          <p:cNvSpPr txBox="1"/>
          <p:nvPr/>
        </p:nvSpPr>
        <p:spPr>
          <a:xfrm>
            <a:off x="3327400" y="4536440"/>
            <a:ext cx="3149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d_P=0, d_S=1.00; only 3 items</a:t>
            </a:r>
          </a:p>
        </p:txBody>
      </p:sp>
      <p:sp>
        <p:nvSpPr>
          <p:cNvPr id="21" name="TextBox 20"/>
          <p:cNvSpPr txBox="1"/>
          <p:nvPr/>
        </p:nvSpPr>
        <p:spPr>
          <a:xfrm>
            <a:off x="6756400" y="453644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Strict negative plain effect disappears; selected cohort</a:t>
            </a:r>
          </a:p>
        </p:txBody>
      </p:sp>
      <p:sp>
        <p:nvSpPr>
          <p:cNvPr id="22" name="Rectangle 21"/>
          <p:cNvSpPr/>
          <p:nvPr/>
        </p:nvSpPr>
        <p:spPr>
          <a:xfrm>
            <a:off x="457200" y="513842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6900" y="524002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Lesson</a:t>
            </a:r>
          </a:p>
        </p:txBody>
      </p:sp>
      <p:sp>
        <p:nvSpPr>
          <p:cNvPr id="24" name="TextBox 23"/>
          <p:cNvSpPr txBox="1"/>
          <p:nvPr/>
        </p:nvSpPr>
        <p:spPr>
          <a:xfrm>
            <a:off x="3327400" y="524002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Match item identities and expose all</a:t>
            </a:r>
          </a:p>
          <a:p>
            <a:pPr>
              <a:lnSpc>
                <a:spcPts val="1889"/>
              </a:lnSpc>
              <a:spcBef>
                <a:spcPts val="0"/>
              </a:spcBef>
              <a:spcAft>
                <a:spcPts val="0"/>
              </a:spcAft>
            </a:pPr>
            <a:r>
              <a:rPr sz="1500" b="0">
                <a:solidFill>
                  <a:srgbClr val="14283F"/>
                </a:solidFill>
                <a:latin typeface="Arial"/>
              </a:rPr>
              <a:t>denominators</a:t>
            </a:r>
          </a:p>
        </p:txBody>
      </p:sp>
      <p:sp>
        <p:nvSpPr>
          <p:cNvPr id="25" name="TextBox 24"/>
          <p:cNvSpPr txBox="1"/>
          <p:nvPr/>
        </p:nvSpPr>
        <p:spPr>
          <a:xfrm>
            <a:off x="6756400" y="524002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Response evidence ≠ latent comprehension</a:t>
            </a:r>
          </a:p>
        </p:txBody>
      </p:sp>
      <p:sp>
        <p:nvSpPr>
          <p:cNvPr id="26" name="TextBox 25"/>
          <p:cNvSpPr txBox="1"/>
          <p:nvPr/>
        </p:nvSpPr>
        <p:spPr>
          <a:xfrm>
            <a:off x="457200" y="5854700"/>
            <a:ext cx="112776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007E80"/>
                </a:solidFill>
                <a:latin typeface="Arial"/>
              </a:rPr>
              <a:t>The filter example is ours; it is not evidence that MMJailBench makes this error.</a:t>
            </a:r>
          </a:p>
        </p:txBody>
      </p:sp>
      <p:sp>
        <p:nvSpPr>
          <p:cNvPr id="27" name="Rectangle 26"/>
          <p:cNvSpPr/>
          <p:nvPr/>
        </p:nvSpPr>
        <p:spPr>
          <a:xfrm>
            <a:off x="457200" y="64008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7200" y="6515100"/>
            <a:ext cx="10553700" cy="166116"/>
          </a:xfrm>
          <a:prstGeom prst="rect">
            <a:avLst/>
          </a:prstGeom>
          <a:noFill/>
        </p:spPr>
        <p:txBody>
          <a:bodyPr wrap="none" lIns="0" tIns="0" rIns="0" bIns="0">
            <a:spAutoFit/>
          </a:bodyPr>
          <a:lstStyle/>
          <a:p>
            <a:pPr>
              <a:lnSpc>
                <a:spcPts val="1008"/>
              </a:lnSpc>
              <a:spcBef>
                <a:spcPts val="0"/>
              </a:spcBef>
              <a:spcAft>
                <a:spcPts val="0"/>
              </a:spcAft>
            </a:pPr>
            <a:r>
              <a:rPr sz="800" b="0">
                <a:solidFill>
                  <a:srgbClr val="526378"/>
                </a:solidFill>
                <a:latin typeface="Arial"/>
              </a:rPr>
              <a:t>SOURCE: v6 paired reconstruction; reports/comprehension_selection_2026-10-20.json; P2/P9</a:t>
            </a:r>
          </a:p>
        </p:txBody>
      </p:sp>
      <p:sp>
        <p:nvSpPr>
          <p:cNvPr id="29" name="TextBox 28"/>
          <p:cNvSpPr txBox="1"/>
          <p:nvPr/>
        </p:nvSpPr>
        <p:spPr>
          <a:xfrm>
            <a:off x="11176000" y="65151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10 / 14</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PRIOR ART / ATTRIBUTION</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Prior papers already establish the broad control ideas</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Our work must add a specific consequence beyond known methods</a:t>
            </a:r>
          </a:p>
        </p:txBody>
      </p:sp>
      <p:sp>
        <p:nvSpPr>
          <p:cNvPr id="6" name="Rectangle 5"/>
          <p:cNvSpPr/>
          <p:nvPr/>
        </p:nvSpPr>
        <p:spPr>
          <a:xfrm>
            <a:off x="457200" y="2324100"/>
            <a:ext cx="11277600" cy="69088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6900" y="2425700"/>
            <a:ext cx="24511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Prior work</a:t>
            </a:r>
          </a:p>
        </p:txBody>
      </p:sp>
      <p:sp>
        <p:nvSpPr>
          <p:cNvPr id="8" name="TextBox 7"/>
          <p:cNvSpPr txBox="1"/>
          <p:nvPr/>
        </p:nvSpPr>
        <p:spPr>
          <a:xfrm>
            <a:off x="3327400" y="2425700"/>
            <a:ext cx="31496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What is already covered</a:t>
            </a:r>
          </a:p>
        </p:txBody>
      </p:sp>
      <p:sp>
        <p:nvSpPr>
          <p:cNvPr id="9" name="TextBox 8"/>
          <p:cNvSpPr txBox="1"/>
          <p:nvPr/>
        </p:nvSpPr>
        <p:spPr>
          <a:xfrm>
            <a:off x="6756400" y="2425700"/>
            <a:ext cx="48387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Our use / claim boundary</a:t>
            </a:r>
          </a:p>
        </p:txBody>
      </p:sp>
      <p:sp>
        <p:nvSpPr>
          <p:cNvPr id="10" name="Rectangle 9"/>
          <p:cNvSpPr/>
          <p:nvPr/>
        </p:nvSpPr>
        <p:spPr>
          <a:xfrm>
            <a:off x="457200" y="302768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6900" y="312928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FigStep [P1]</a:t>
            </a:r>
          </a:p>
        </p:txBody>
      </p:sp>
      <p:sp>
        <p:nvSpPr>
          <p:cNvPr id="12" name="TextBox 11"/>
          <p:cNvSpPr txBox="1"/>
          <p:nvPr/>
        </p:nvSpPr>
        <p:spPr>
          <a:xfrm>
            <a:off x="3327400" y="3129280"/>
            <a:ext cx="3149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Typography and an all-text ablation</a:t>
            </a:r>
          </a:p>
        </p:txBody>
      </p:sp>
      <p:sp>
        <p:nvSpPr>
          <p:cNvPr id="13" name="TextBox 12"/>
          <p:cNvSpPr txBox="1"/>
          <p:nvPr/>
        </p:nvSpPr>
        <p:spPr>
          <a:xfrm>
            <a:off x="6756400" y="312928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Replicate/adapt, not invent text controls</a:t>
            </a:r>
          </a:p>
        </p:txBody>
      </p:sp>
      <p:sp>
        <p:nvSpPr>
          <p:cNvPr id="14" name="Rectangle 13"/>
          <p:cNvSpPr/>
          <p:nvPr/>
        </p:nvSpPr>
        <p:spPr>
          <a:xfrm>
            <a:off x="457200" y="373126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6900" y="383286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MMJailBench [P2]</a:t>
            </a:r>
          </a:p>
        </p:txBody>
      </p:sp>
      <p:sp>
        <p:nvSpPr>
          <p:cNvPr id="16" name="TextBox 15"/>
          <p:cNvSpPr txBox="1"/>
          <p:nvPr/>
        </p:nvSpPr>
        <p:spPr>
          <a:xfrm>
            <a:off x="3327400" y="383286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Framing/carrier factorization;</a:t>
            </a:r>
          </a:p>
          <a:p>
            <a:pPr>
              <a:lnSpc>
                <a:spcPts val="1889"/>
              </a:lnSpc>
              <a:spcBef>
                <a:spcPts val="0"/>
              </a:spcBef>
              <a:spcAft>
                <a:spcPts val="0"/>
              </a:spcAft>
            </a:pPr>
            <a:r>
              <a:rPr sz="1500" b="0">
                <a:solidFill>
                  <a:srgbClr val="14283F"/>
                </a:solidFill>
                <a:latin typeface="Arial"/>
              </a:rPr>
              <a:t>mismatch-aware scores</a:t>
            </a:r>
          </a:p>
        </p:txBody>
      </p:sp>
      <p:sp>
        <p:nvSpPr>
          <p:cNvPr id="17" name="TextBox 16"/>
          <p:cNvSpPr txBox="1"/>
          <p:nvPr/>
        </p:nvSpPr>
        <p:spPr>
          <a:xfrm>
            <a:off x="6756400" y="383286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No generic framing or adjusted-metric novelty</a:t>
            </a:r>
          </a:p>
        </p:txBody>
      </p:sp>
      <p:sp>
        <p:nvSpPr>
          <p:cNvPr id="18" name="Rectangle 17"/>
          <p:cNvSpPr/>
          <p:nvPr/>
        </p:nvSpPr>
        <p:spPr>
          <a:xfrm>
            <a:off x="457200" y="443484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6900" y="453644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MSTS [P3]</a:t>
            </a:r>
          </a:p>
        </p:txBody>
      </p:sp>
      <p:sp>
        <p:nvSpPr>
          <p:cNvPr id="20" name="TextBox 19"/>
          <p:cNvSpPr txBox="1"/>
          <p:nvPr/>
        </p:nvSpPr>
        <p:spPr>
          <a:xfrm>
            <a:off x="3327400" y="453644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Text equivalents, human taxonomy,</a:t>
            </a:r>
          </a:p>
          <a:p>
            <a:pPr>
              <a:lnSpc>
                <a:spcPts val="1889"/>
              </a:lnSpc>
              <a:spcBef>
                <a:spcPts val="0"/>
              </a:spcBef>
              <a:spcAft>
                <a:spcPts val="0"/>
              </a:spcAft>
            </a:pPr>
            <a:r>
              <a:rPr sz="1500" b="0">
                <a:solidFill>
                  <a:srgbClr val="14283F"/>
                </a:solidFill>
                <a:latin typeface="Arial"/>
              </a:rPr>
              <a:t>judge limitations</a:t>
            </a:r>
          </a:p>
        </p:txBody>
      </p:sp>
      <p:sp>
        <p:nvSpPr>
          <p:cNvPr id="21" name="TextBox 20"/>
          <p:cNvSpPr txBox="1"/>
          <p:nvPr/>
        </p:nvSpPr>
        <p:spPr>
          <a:xfrm>
            <a:off x="6756400" y="453644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Separate misunderstanding and harmful assistance</a:t>
            </a:r>
          </a:p>
        </p:txBody>
      </p:sp>
      <p:sp>
        <p:nvSpPr>
          <p:cNvPr id="22" name="Rectangle 21"/>
          <p:cNvSpPr/>
          <p:nvPr/>
        </p:nvSpPr>
        <p:spPr>
          <a:xfrm>
            <a:off x="457200" y="513842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6900" y="524002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Uncontrolled Variable [P4]</a:t>
            </a:r>
          </a:p>
        </p:txBody>
      </p:sp>
      <p:sp>
        <p:nvSpPr>
          <p:cNvPr id="24" name="TextBox 23"/>
          <p:cNvSpPr txBox="1"/>
          <p:nvPr/>
        </p:nvSpPr>
        <p:spPr>
          <a:xfrm>
            <a:off x="3327400" y="524002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Attachment effects and differential</a:t>
            </a:r>
          </a:p>
          <a:p>
            <a:pPr>
              <a:lnSpc>
                <a:spcPts val="1889"/>
              </a:lnSpc>
              <a:spcBef>
                <a:spcPts val="0"/>
              </a:spcBef>
              <a:spcAft>
                <a:spcPts val="0"/>
              </a:spcAft>
            </a:pPr>
            <a:r>
              <a:rPr sz="1500" b="0">
                <a:solidFill>
                  <a:srgbClr val="14283F"/>
                </a:solidFill>
                <a:latin typeface="Arial"/>
              </a:rPr>
              <a:t>judge error</a:t>
            </a:r>
          </a:p>
        </p:txBody>
      </p:sp>
      <p:sp>
        <p:nvSpPr>
          <p:cNvPr id="25" name="TextBox 24"/>
          <p:cNvSpPr txBox="1"/>
          <p:nvPr/>
        </p:nvSpPr>
        <p:spPr>
          <a:xfrm>
            <a:off x="6756400" y="524002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Close competitor to presence / measurement claims</a:t>
            </a:r>
          </a:p>
        </p:txBody>
      </p:sp>
      <p:sp>
        <p:nvSpPr>
          <p:cNvPr id="26" name="TextBox 25"/>
          <p:cNvSpPr txBox="1"/>
          <p:nvPr/>
        </p:nvSpPr>
        <p:spPr>
          <a:xfrm>
            <a:off x="457200" y="5854700"/>
            <a:ext cx="112776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007E80"/>
                </a:solidFill>
                <a:latin typeface="Arial"/>
              </a:rPr>
              <a:t>StrongREJECT, Safer or Luckier?, Annotation alignment, Beyer and EviSafe also constrain measurement novelty.</a:t>
            </a:r>
          </a:p>
        </p:txBody>
      </p:sp>
      <p:sp>
        <p:nvSpPr>
          <p:cNvPr id="27" name="Rectangle 26"/>
          <p:cNvSpPr/>
          <p:nvPr/>
        </p:nvSpPr>
        <p:spPr>
          <a:xfrm>
            <a:off x="457200" y="64008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7200" y="6515100"/>
            <a:ext cx="10553700" cy="166116"/>
          </a:xfrm>
          <a:prstGeom prst="rect">
            <a:avLst/>
          </a:prstGeom>
          <a:noFill/>
        </p:spPr>
        <p:txBody>
          <a:bodyPr wrap="none" lIns="0" tIns="0" rIns="0" bIns="0">
            <a:spAutoFit/>
          </a:bodyPr>
          <a:lstStyle/>
          <a:p>
            <a:pPr>
              <a:lnSpc>
                <a:spcPts val="1008"/>
              </a:lnSpc>
              <a:spcBef>
                <a:spcPts val="0"/>
              </a:spcBef>
              <a:spcAft>
                <a:spcPts val="0"/>
              </a:spcAft>
            </a:pPr>
            <a:r>
              <a:rPr sz="800" b="0">
                <a:solidFill>
                  <a:srgbClr val="526378"/>
                </a:solidFill>
                <a:latin typeface="Arial"/>
              </a:rPr>
              <a:t>SOURCE: Novelty audit sections 12–14; P1–P9; links in notes and guide</a:t>
            </a:r>
          </a:p>
        </p:txBody>
      </p:sp>
      <p:sp>
        <p:nvSpPr>
          <p:cNvPr id="29" name="TextBox 28"/>
          <p:cNvSpPr txBox="1"/>
          <p:nvPr/>
        </p:nvSpPr>
        <p:spPr>
          <a:xfrm>
            <a:off x="11176000" y="65151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11 / 14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NOVELTY UNESTABLISHED</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Which candidate claim could still carry a paper?</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Proposed scope: when do paired safety conclusions survive measurement choices?</a:t>
            </a:r>
          </a:p>
        </p:txBody>
      </p:sp>
      <p:sp>
        <p:nvSpPr>
          <p:cNvPr id="6" name="Rectangle 5"/>
          <p:cNvSpPr/>
          <p:nvPr/>
        </p:nvSpPr>
        <p:spPr>
          <a:xfrm>
            <a:off x="457200" y="2324100"/>
            <a:ext cx="11277600" cy="69088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6900" y="2425700"/>
            <a:ext cx="24511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Candidate</a:t>
            </a:r>
          </a:p>
        </p:txBody>
      </p:sp>
      <p:sp>
        <p:nvSpPr>
          <p:cNvPr id="8" name="TextBox 7"/>
          <p:cNvSpPr txBox="1"/>
          <p:nvPr/>
        </p:nvSpPr>
        <p:spPr>
          <a:xfrm>
            <a:off x="3327400" y="2425700"/>
            <a:ext cx="31496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Evidence now</a:t>
            </a:r>
          </a:p>
        </p:txBody>
      </p:sp>
      <p:sp>
        <p:nvSpPr>
          <p:cNvPr id="9" name="TextBox 8"/>
          <p:cNvSpPr txBox="1"/>
          <p:nvPr/>
        </p:nvSpPr>
        <p:spPr>
          <a:xfrm>
            <a:off x="6756400" y="2425700"/>
            <a:ext cx="48387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What would justify advancing it</a:t>
            </a:r>
          </a:p>
        </p:txBody>
      </p:sp>
      <p:sp>
        <p:nvSpPr>
          <p:cNvPr id="10" name="Rectangle 9"/>
          <p:cNvSpPr/>
          <p:nvPr/>
        </p:nvSpPr>
        <p:spPr>
          <a:xfrm>
            <a:off x="457200" y="302768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6900" y="3129280"/>
            <a:ext cx="24511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Wording reverses carrier</a:t>
            </a:r>
          </a:p>
          <a:p>
            <a:pPr>
              <a:lnSpc>
                <a:spcPts val="1889"/>
              </a:lnSpc>
              <a:spcBef>
                <a:spcPts val="0"/>
              </a:spcBef>
              <a:spcAft>
                <a:spcPts val="0"/>
              </a:spcAft>
            </a:pPr>
            <a:r>
              <a:rPr sz="1500" b="0">
                <a:solidFill>
                  <a:srgbClr val="14283F"/>
                </a:solidFill>
                <a:latin typeface="Arial"/>
              </a:rPr>
              <a:t>effect</a:t>
            </a:r>
          </a:p>
        </p:txBody>
      </p:sp>
      <p:sp>
        <p:nvSpPr>
          <p:cNvPr id="12" name="TextBox 11"/>
          <p:cNvSpPr txBox="1"/>
          <p:nvPr/>
        </p:nvSpPr>
        <p:spPr>
          <a:xfrm>
            <a:off x="3327400" y="3129280"/>
            <a:ext cx="3149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Not observed in matched 8-item test</a:t>
            </a:r>
          </a:p>
        </p:txBody>
      </p:sp>
      <p:sp>
        <p:nvSpPr>
          <p:cNvPr id="13" name="TextBox 12"/>
          <p:cNvSpPr txBox="1"/>
          <p:nvPr/>
        </p:nvSpPr>
        <p:spPr>
          <a:xfrm>
            <a:off x="6756400" y="312928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No positive claim from this sample</a:t>
            </a:r>
          </a:p>
        </p:txBody>
      </p:sp>
      <p:sp>
        <p:nvSpPr>
          <p:cNvPr id="14" name="Rectangle 13"/>
          <p:cNvSpPr/>
          <p:nvPr/>
        </p:nvSpPr>
        <p:spPr>
          <a:xfrm>
            <a:off x="457200" y="373126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6900" y="3832860"/>
            <a:ext cx="24511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Longer window changes</a:t>
            </a:r>
          </a:p>
          <a:p>
            <a:pPr>
              <a:lnSpc>
                <a:spcPts val="1889"/>
              </a:lnSpc>
              <a:spcBef>
                <a:spcPts val="0"/>
              </a:spcBef>
              <a:spcAft>
                <a:spcPts val="0"/>
              </a:spcAft>
            </a:pPr>
            <a:r>
              <a:rPr sz="1500" b="0">
                <a:solidFill>
                  <a:srgbClr val="14283F"/>
                </a:solidFill>
                <a:latin typeface="Arial"/>
              </a:rPr>
              <a:t>conclusion</a:t>
            </a:r>
          </a:p>
        </p:txBody>
      </p:sp>
      <p:sp>
        <p:nvSpPr>
          <p:cNvPr id="16" name="TextBox 15"/>
          <p:cNvSpPr txBox="1"/>
          <p:nvPr/>
        </p:nvSpPr>
        <p:spPr>
          <a:xfrm>
            <a:off x="3327400" y="383286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No guard-label change; human</a:t>
            </a:r>
          </a:p>
          <a:p>
            <a:pPr>
              <a:lnSpc>
                <a:spcPts val="1889"/>
              </a:lnSpc>
              <a:spcBef>
                <a:spcPts val="0"/>
              </a:spcBef>
              <a:spcAft>
                <a:spcPts val="0"/>
              </a:spcAft>
            </a:pPr>
            <a:r>
              <a:rPr sz="1500" b="0">
                <a:solidFill>
                  <a:srgbClr val="14283F"/>
                </a:solidFill>
                <a:latin typeface="Arial"/>
              </a:rPr>
              <a:t>pending</a:t>
            </a:r>
          </a:p>
        </p:txBody>
      </p:sp>
      <p:sp>
        <p:nvSpPr>
          <p:cNvPr id="17" name="TextBox 16"/>
          <p:cNvSpPr txBox="1"/>
          <p:nvPr/>
        </p:nvSpPr>
        <p:spPr>
          <a:xfrm>
            <a:off x="6756400" y="383286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Human-reviewed consequential contrast; cap bounds</a:t>
            </a:r>
          </a:p>
        </p:txBody>
      </p:sp>
      <p:sp>
        <p:nvSpPr>
          <p:cNvPr id="18" name="Rectangle 17"/>
          <p:cNvSpPr/>
          <p:nvPr/>
        </p:nvSpPr>
        <p:spPr>
          <a:xfrm>
            <a:off x="457200" y="443484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6900" y="4536440"/>
            <a:ext cx="24511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Filtering creates false</a:t>
            </a:r>
          </a:p>
          <a:p>
            <a:pPr>
              <a:lnSpc>
                <a:spcPts val="1889"/>
              </a:lnSpc>
              <a:spcBef>
                <a:spcPts val="0"/>
              </a:spcBef>
              <a:spcAft>
                <a:spcPts val="0"/>
              </a:spcAft>
            </a:pPr>
            <a:r>
              <a:rPr sz="1500" b="0">
                <a:solidFill>
                  <a:srgbClr val="14283F"/>
                </a:solidFill>
                <a:latin typeface="Arial"/>
              </a:rPr>
              <a:t>reversal</a:t>
            </a:r>
          </a:p>
        </p:txBody>
      </p:sp>
      <p:sp>
        <p:nvSpPr>
          <p:cNvPr id="20" name="TextBox 19"/>
          <p:cNvSpPr txBox="1"/>
          <p:nvPr/>
        </p:nvSpPr>
        <p:spPr>
          <a:xfrm>
            <a:off x="3327400" y="453644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Concrete retrospective</a:t>
            </a:r>
          </a:p>
          <a:p>
            <a:pPr>
              <a:lnSpc>
                <a:spcPts val="1889"/>
              </a:lnSpc>
              <a:spcBef>
                <a:spcPts val="0"/>
              </a:spcBef>
              <a:spcAft>
                <a:spcPts val="0"/>
              </a:spcAft>
            </a:pPr>
            <a:r>
              <a:rPr sz="1500" b="0">
                <a:solidFill>
                  <a:srgbClr val="14283F"/>
                </a:solidFill>
                <a:latin typeface="Arial"/>
              </a:rPr>
              <a:t>counterexample</a:t>
            </a:r>
          </a:p>
        </p:txBody>
      </p:sp>
      <p:sp>
        <p:nvSpPr>
          <p:cNvPr id="21" name="TextBox 20"/>
          <p:cNvSpPr txBox="1"/>
          <p:nvPr/>
        </p:nvSpPr>
        <p:spPr>
          <a:xfrm>
            <a:off x="6756400" y="453644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Independent review and broader untouched validation</a:t>
            </a:r>
          </a:p>
        </p:txBody>
      </p:sp>
      <p:sp>
        <p:nvSpPr>
          <p:cNvPr id="22" name="Rectangle 21"/>
          <p:cNvSpPr/>
          <p:nvPr/>
        </p:nvSpPr>
        <p:spPr>
          <a:xfrm>
            <a:off x="457200" y="513842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6900" y="5240020"/>
            <a:ext cx="24511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Text can replace image</a:t>
            </a:r>
          </a:p>
          <a:p>
            <a:pPr>
              <a:lnSpc>
                <a:spcPts val="1889"/>
              </a:lnSpc>
              <a:spcBef>
                <a:spcPts val="0"/>
              </a:spcBef>
              <a:spcAft>
                <a:spcPts val="0"/>
              </a:spcAft>
            </a:pPr>
            <a:r>
              <a:rPr sz="1500" b="0">
                <a:solidFill>
                  <a:srgbClr val="14283F"/>
                </a:solidFill>
                <a:latin typeface="Arial"/>
              </a:rPr>
              <a:t>safety tests</a:t>
            </a:r>
          </a:p>
        </p:txBody>
      </p:sp>
      <p:sp>
        <p:nvSpPr>
          <p:cNvPr id="24" name="TextBox 23"/>
          <p:cNvSpPr txBox="1"/>
          <p:nvPr/>
        </p:nvSpPr>
        <p:spPr>
          <a:xfrm>
            <a:off x="3327400" y="524002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Not supported by tiny matching</a:t>
            </a:r>
          </a:p>
          <a:p>
            <a:pPr>
              <a:lnSpc>
                <a:spcPts val="1889"/>
              </a:lnSpc>
              <a:spcBef>
                <a:spcPts val="0"/>
              </a:spcBef>
              <a:spcAft>
                <a:spcPts val="0"/>
              </a:spcAft>
            </a:pPr>
            <a:r>
              <a:rPr sz="1500" b="0">
                <a:solidFill>
                  <a:srgbClr val="14283F"/>
                </a:solidFill>
                <a:latin typeface="Arial"/>
              </a:rPr>
              <a:t>means</a:t>
            </a:r>
          </a:p>
        </p:txBody>
      </p:sp>
      <p:sp>
        <p:nvSpPr>
          <p:cNvPr id="25" name="TextBox 24"/>
          <p:cNvSpPr txBox="1"/>
          <p:nvPr/>
        </p:nvSpPr>
        <p:spPr>
          <a:xfrm>
            <a:off x="6756400" y="524002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Held-out paired missed-harm evidence</a:t>
            </a:r>
          </a:p>
        </p:txBody>
      </p:sp>
      <p:sp>
        <p:nvSpPr>
          <p:cNvPr id="26" name="Rectangle 25"/>
          <p:cNvSpPr/>
          <p:nvPr/>
        </p:nvSpPr>
        <p:spPr>
          <a:xfrm>
            <a:off x="457200" y="64008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200" y="6515100"/>
            <a:ext cx="10553700" cy="166116"/>
          </a:xfrm>
          <a:prstGeom prst="rect">
            <a:avLst/>
          </a:prstGeom>
          <a:noFill/>
        </p:spPr>
        <p:txBody>
          <a:bodyPr wrap="none" lIns="0" tIns="0" rIns="0" bIns="0">
            <a:spAutoFit/>
          </a:bodyPr>
          <a:lstStyle/>
          <a:p>
            <a:pPr>
              <a:lnSpc>
                <a:spcPts val="1008"/>
              </a:lnSpc>
              <a:spcBef>
                <a:spcPts val="0"/>
              </a:spcBef>
              <a:spcAft>
                <a:spcPts val="0"/>
              </a:spcAft>
            </a:pPr>
            <a:r>
              <a:rPr sz="800" b="0">
                <a:solidFill>
                  <a:srgbClr val="526378"/>
                </a:solidFill>
                <a:latin typeface="Arial"/>
              </a:rPr>
              <a:t>SOURCE: Novelty audit section 14.4; status section 17</a:t>
            </a:r>
          </a:p>
        </p:txBody>
      </p:sp>
      <p:sp>
        <p:nvSpPr>
          <p:cNvPr id="28" name="TextBox 27"/>
          <p:cNvSpPr txBox="1"/>
          <p:nvPr/>
        </p:nvSpPr>
        <p:spPr>
          <a:xfrm>
            <a:off x="11176000" y="65151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12 / 14</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NEXT EVIDENCE GATE</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Next inference step: review, ambiguity bounds and retest</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N scheduled, k positive, u unresolved: rate bounds [k/N, (k+u)/N]; not confidence intervals</a:t>
            </a:r>
          </a:p>
        </p:txBody>
      </p:sp>
      <p:sp>
        <p:nvSpPr>
          <p:cNvPr id="6" name="Rectangle 5"/>
          <p:cNvSpPr/>
          <p:nvPr/>
        </p:nvSpPr>
        <p:spPr>
          <a:xfrm>
            <a:off x="457200" y="2324100"/>
            <a:ext cx="5537200" cy="16573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2324100"/>
            <a:ext cx="50800" cy="165735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3100" y="2501900"/>
            <a:ext cx="5105400"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01 / Complete review</a:t>
            </a:r>
          </a:p>
        </p:txBody>
      </p:sp>
      <p:sp>
        <p:nvSpPr>
          <p:cNvPr id="9" name="TextBox 8"/>
          <p:cNvSpPr txBox="1"/>
          <p:nvPr/>
        </p:nvSpPr>
        <p:spPr>
          <a:xfrm>
            <a:off x="673100" y="3111500"/>
            <a:ext cx="51054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Judge every new unit under the frozen rubric, without guard</a:t>
            </a:r>
          </a:p>
          <a:p>
            <a:pPr>
              <a:lnSpc>
                <a:spcPts val="1889"/>
              </a:lnSpc>
              <a:spcBef>
                <a:spcPts val="0"/>
              </a:spcBef>
              <a:spcAft>
                <a:spcPts val="0"/>
              </a:spcAft>
            </a:pPr>
            <a:r>
              <a:rPr sz="1500" b="0">
                <a:solidFill>
                  <a:srgbClr val="14283F"/>
                </a:solidFill>
                <a:latin typeface="Arial"/>
              </a:rPr>
              <a:t>labels. Preserve progress and any assistance disclosures.</a:t>
            </a:r>
          </a:p>
        </p:txBody>
      </p:sp>
      <p:sp>
        <p:nvSpPr>
          <p:cNvPr id="10" name="Rectangle 9"/>
          <p:cNvSpPr/>
          <p:nvPr/>
        </p:nvSpPr>
        <p:spPr>
          <a:xfrm>
            <a:off x="6197600" y="2324100"/>
            <a:ext cx="5537200" cy="16573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97600" y="2324100"/>
            <a:ext cx="50800" cy="165735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13500" y="2501900"/>
            <a:ext cx="5105400"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02 / Check consistency</a:t>
            </a:r>
          </a:p>
        </p:txBody>
      </p:sp>
      <p:sp>
        <p:nvSpPr>
          <p:cNvPr id="13" name="TextBox 12"/>
          <p:cNvSpPr txBox="1"/>
          <p:nvPr/>
        </p:nvSpPr>
        <p:spPr>
          <a:xfrm>
            <a:off x="6413500" y="3111500"/>
            <a:ext cx="51054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16 balanced delayed repeats, at least 24 hours after the</a:t>
            </a:r>
          </a:p>
          <a:p>
            <a:pPr>
              <a:lnSpc>
                <a:spcPts val="1889"/>
              </a:lnSpc>
              <a:spcBef>
                <a:spcPts val="0"/>
              </a:spcBef>
              <a:spcAft>
                <a:spcPts val="0"/>
              </a:spcAft>
            </a:pPr>
            <a:r>
              <a:rPr sz="1500" b="0">
                <a:solidFill>
                  <a:srgbClr val="14283F"/>
                </a:solidFill>
                <a:latin typeface="Arial"/>
              </a:rPr>
              <a:t>complete first pass. This is intra-rater consistency.</a:t>
            </a:r>
          </a:p>
        </p:txBody>
      </p:sp>
      <p:sp>
        <p:nvSpPr>
          <p:cNvPr id="14" name="Rectangle 13"/>
          <p:cNvSpPr/>
          <p:nvPr/>
        </p:nvSpPr>
        <p:spPr>
          <a:xfrm>
            <a:off x="457200" y="4184650"/>
            <a:ext cx="5537200" cy="16573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4184650"/>
            <a:ext cx="50800" cy="165735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3100" y="4362450"/>
            <a:ext cx="5105400"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03 / Analyze then decide</a:t>
            </a:r>
          </a:p>
        </p:txBody>
      </p:sp>
      <p:sp>
        <p:nvSpPr>
          <p:cNvPr id="17" name="TextBox 16"/>
          <p:cNvSpPr txBox="1"/>
          <p:nvPr/>
        </p:nvSpPr>
        <p:spPr>
          <a:xfrm>
            <a:off x="673100" y="4972050"/>
            <a:ext cx="51054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Compare paired human/guard conclusions and ambiguity</a:t>
            </a:r>
          </a:p>
          <a:p>
            <a:pPr>
              <a:lnSpc>
                <a:spcPts val="1889"/>
              </a:lnSpc>
              <a:spcBef>
                <a:spcPts val="0"/>
              </a:spcBef>
              <a:spcAft>
                <a:spcPts val="0"/>
              </a:spcAft>
            </a:pPr>
            <a:r>
              <a:rPr sz="1500" b="0">
                <a:solidFill>
                  <a:srgbClr val="14283F"/>
                </a:solidFill>
                <a:latin typeface="Arial"/>
              </a:rPr>
              <a:t>bounds. New rubric tuning needs untouched validation.</a:t>
            </a:r>
          </a:p>
        </p:txBody>
      </p:sp>
      <p:sp>
        <p:nvSpPr>
          <p:cNvPr id="18" name="Rectangle 17"/>
          <p:cNvSpPr/>
          <p:nvPr/>
        </p:nvSpPr>
        <p:spPr>
          <a:xfrm>
            <a:off x="6197600" y="4184650"/>
            <a:ext cx="5537200" cy="16573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197600" y="4184650"/>
            <a:ext cx="50800" cy="165735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13500" y="4362450"/>
            <a:ext cx="5105400"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04 / Freeze any new run</a:t>
            </a:r>
          </a:p>
        </p:txBody>
      </p:sp>
      <p:sp>
        <p:nvSpPr>
          <p:cNvPr id="21" name="TextBox 20"/>
          <p:cNvSpPr txBox="1"/>
          <p:nvPr/>
        </p:nvSpPr>
        <p:spPr>
          <a:xfrm>
            <a:off x="6413500" y="4972050"/>
            <a:ext cx="5105400" cy="75819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Advisor agreement, literature gap, fresh exclusions,</a:t>
            </a:r>
          </a:p>
          <a:p>
            <a:pPr>
              <a:lnSpc>
                <a:spcPts val="1889"/>
              </a:lnSpc>
              <a:spcBef>
                <a:spcPts val="0"/>
              </a:spcBef>
              <a:spcAft>
                <a:spcPts val="0"/>
              </a:spcAft>
            </a:pPr>
            <a:r>
              <a:rPr sz="1500" b="0">
                <a:solidFill>
                  <a:srgbClr val="14283F"/>
                </a:solidFill>
                <a:latin typeface="Arial"/>
              </a:rPr>
              <a:t>transcription checks and measured target/guard/save</a:t>
            </a:r>
          </a:p>
          <a:p>
            <a:pPr>
              <a:lnSpc>
                <a:spcPts val="1889"/>
              </a:lnSpc>
              <a:spcBef>
                <a:spcPts val="0"/>
              </a:spcBef>
              <a:spcAft>
                <a:spcPts val="0"/>
              </a:spcAft>
            </a:pPr>
            <a:r>
              <a:rPr sz="1500" b="0">
                <a:solidFill>
                  <a:srgbClr val="14283F"/>
                </a:solidFill>
                <a:latin typeface="Arial"/>
              </a:rPr>
              <a:t>budget.</a:t>
            </a:r>
          </a:p>
        </p:txBody>
      </p:sp>
      <p:sp>
        <p:nvSpPr>
          <p:cNvPr id="22" name="Rectangle 21"/>
          <p:cNvSpPr/>
          <p:nvPr/>
        </p:nvSpPr>
        <p:spPr>
          <a:xfrm>
            <a:off x="457200" y="64008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6515100"/>
            <a:ext cx="10553700" cy="166116"/>
          </a:xfrm>
          <a:prstGeom prst="rect">
            <a:avLst/>
          </a:prstGeom>
          <a:noFill/>
        </p:spPr>
        <p:txBody>
          <a:bodyPr wrap="none" lIns="0" tIns="0" rIns="0" bIns="0">
            <a:spAutoFit/>
          </a:bodyPr>
          <a:lstStyle/>
          <a:p>
            <a:pPr>
              <a:lnSpc>
                <a:spcPts val="1008"/>
              </a:lnSpc>
              <a:spcBef>
                <a:spcPts val="0"/>
              </a:spcBef>
              <a:spcAft>
                <a:spcPts val="0"/>
              </a:spcAft>
            </a:pPr>
            <a:r>
              <a:rPr sz="800" b="0">
                <a:solidFill>
                  <a:srgbClr val="526378"/>
                </a:solidFill>
                <a:latin typeface="Arial"/>
              </a:rPr>
              <a:t>SOURCE: Amendment 7; private reviewer rubric; status sections 15-18</a:t>
            </a:r>
          </a:p>
        </p:txBody>
      </p:sp>
      <p:sp>
        <p:nvSpPr>
          <p:cNvPr id="24" name="TextBox 23"/>
          <p:cNvSpPr txBox="1"/>
          <p:nvPr/>
        </p:nvSpPr>
        <p:spPr>
          <a:xfrm>
            <a:off x="11176000" y="65151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13 / 14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ADVISOR DECISIONS</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Advisor decisions: a testable claim and its required evidence</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Use the attached notebook/cell audit for technical questions; choose scope before another run</a:t>
            </a:r>
          </a:p>
        </p:txBody>
      </p:sp>
      <p:sp>
        <p:nvSpPr>
          <p:cNvPr id="6" name="Rectangle 5"/>
          <p:cNvSpPr/>
          <p:nvPr/>
        </p:nvSpPr>
        <p:spPr>
          <a:xfrm>
            <a:off x="457200" y="2324100"/>
            <a:ext cx="3623733" cy="3517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2324100"/>
            <a:ext cx="50800" cy="35179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3100" y="2501900"/>
            <a:ext cx="3191933"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Agree on the contribution</a:t>
            </a:r>
          </a:p>
        </p:txBody>
      </p:sp>
      <p:sp>
        <p:nvSpPr>
          <p:cNvPr id="9" name="TextBox 8"/>
          <p:cNvSpPr txBox="1"/>
          <p:nvPr/>
        </p:nvSpPr>
        <p:spPr>
          <a:xfrm>
            <a:off x="673100" y="3111500"/>
            <a:ext cx="3191933" cy="1478280"/>
          </a:xfrm>
          <a:prstGeom prst="rect">
            <a:avLst/>
          </a:prstGeom>
          <a:noFill/>
        </p:spPr>
        <p:txBody>
          <a:bodyPr wrap="none" lIns="0" tIns="0" rIns="0" bIns="0">
            <a:spAutoFit/>
          </a:bodyPr>
          <a:lstStyle/>
          <a:p>
            <a:pPr>
              <a:lnSpc>
                <a:spcPts val="2268"/>
              </a:lnSpc>
              <a:spcBef>
                <a:spcPts val="0"/>
              </a:spcBef>
              <a:spcAft>
                <a:spcPts val="0"/>
              </a:spcAft>
            </a:pPr>
            <a:r>
              <a:rPr sz="1800" b="0">
                <a:solidFill>
                  <a:srgbClr val="14283F"/>
                </a:solidFill>
                <a:latin typeface="Arial"/>
              </a:rPr>
              <a:t>Does a narrow</a:t>
            </a:r>
          </a:p>
          <a:p>
            <a:pPr>
              <a:lnSpc>
                <a:spcPts val="2268"/>
              </a:lnSpc>
              <a:spcBef>
                <a:spcPts val="0"/>
              </a:spcBef>
              <a:spcAft>
                <a:spcPts val="0"/>
              </a:spcAft>
            </a:pPr>
            <a:r>
              <a:rPr sz="1800" b="0">
                <a:solidFill>
                  <a:srgbClr val="14283F"/>
                </a:solidFill>
                <a:latin typeface="Arial"/>
              </a:rPr>
              <a:t>measurement/replication study</a:t>
            </a:r>
          </a:p>
          <a:p>
            <a:pPr>
              <a:lnSpc>
                <a:spcPts val="2268"/>
              </a:lnSpc>
              <a:spcBef>
                <a:spcPts val="0"/>
              </a:spcBef>
              <a:spcAft>
                <a:spcPts val="0"/>
              </a:spcAft>
            </a:pPr>
            <a:r>
              <a:rPr sz="1800" b="0">
                <a:solidFill>
                  <a:srgbClr val="14283F"/>
                </a:solidFill>
                <a:latin typeface="Arial"/>
              </a:rPr>
              <a:t>add enough value? Which</a:t>
            </a:r>
          </a:p>
          <a:p>
            <a:pPr>
              <a:lnSpc>
                <a:spcPts val="2268"/>
              </a:lnSpc>
              <a:spcBef>
                <a:spcPts val="0"/>
              </a:spcBef>
              <a:spcAft>
                <a:spcPts val="0"/>
              </a:spcAft>
            </a:pPr>
            <a:r>
              <a:rPr sz="1800" b="0">
                <a:solidFill>
                  <a:srgbClr val="14283F"/>
                </a:solidFill>
                <a:latin typeface="Arial"/>
              </a:rPr>
              <a:t>single effect deserves fresh</a:t>
            </a:r>
          </a:p>
          <a:p>
            <a:pPr>
              <a:lnSpc>
                <a:spcPts val="2268"/>
              </a:lnSpc>
              <a:spcBef>
                <a:spcPts val="0"/>
              </a:spcBef>
              <a:spcAft>
                <a:spcPts val="0"/>
              </a:spcAft>
            </a:pPr>
            <a:r>
              <a:rPr sz="1800" b="0">
                <a:solidFill>
                  <a:srgbClr val="14283F"/>
                </a:solidFill>
                <a:latin typeface="Arial"/>
              </a:rPr>
              <a:t>validation?</a:t>
            </a:r>
          </a:p>
        </p:txBody>
      </p:sp>
      <p:sp>
        <p:nvSpPr>
          <p:cNvPr id="10" name="Rectangle 9"/>
          <p:cNvSpPr/>
          <p:nvPr/>
        </p:nvSpPr>
        <p:spPr>
          <a:xfrm>
            <a:off x="4284133" y="2324100"/>
            <a:ext cx="3623733" cy="3517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284133" y="2324100"/>
            <a:ext cx="50800" cy="35179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00033" y="2501900"/>
            <a:ext cx="3191933"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Set the evidence bar</a:t>
            </a:r>
          </a:p>
        </p:txBody>
      </p:sp>
      <p:sp>
        <p:nvSpPr>
          <p:cNvPr id="13" name="TextBox 12"/>
          <p:cNvSpPr txBox="1"/>
          <p:nvPr/>
        </p:nvSpPr>
        <p:spPr>
          <a:xfrm>
            <a:off x="4500033" y="3111500"/>
            <a:ext cx="3191933" cy="1478280"/>
          </a:xfrm>
          <a:prstGeom prst="rect">
            <a:avLst/>
          </a:prstGeom>
          <a:noFill/>
        </p:spPr>
        <p:txBody>
          <a:bodyPr wrap="none" lIns="0" tIns="0" rIns="0" bIns="0">
            <a:spAutoFit/>
          </a:bodyPr>
          <a:lstStyle/>
          <a:p>
            <a:pPr>
              <a:lnSpc>
                <a:spcPts val="2268"/>
              </a:lnSpc>
              <a:spcBef>
                <a:spcPts val="0"/>
              </a:spcBef>
              <a:spcAft>
                <a:spcPts val="0"/>
              </a:spcAft>
            </a:pPr>
            <a:r>
              <a:rPr sz="1800" b="0">
                <a:solidFill>
                  <a:srgbClr val="14283F"/>
                </a:solidFill>
                <a:latin typeface="Arial"/>
              </a:rPr>
              <a:t>Independent human review,</a:t>
            </a:r>
          </a:p>
          <a:p>
            <a:pPr>
              <a:lnSpc>
                <a:spcPts val="2268"/>
              </a:lnSpc>
              <a:spcBef>
                <a:spcPts val="0"/>
              </a:spcBef>
              <a:spcAft>
                <a:spcPts val="0"/>
              </a:spcAft>
            </a:pPr>
            <a:r>
              <a:rPr sz="1800" b="0">
                <a:solidFill>
                  <a:srgbClr val="14283F"/>
                </a:solidFill>
                <a:latin typeface="Arial"/>
              </a:rPr>
              <a:t>item/model coverage, paired</a:t>
            </a:r>
          </a:p>
          <a:p>
            <a:pPr>
              <a:lnSpc>
                <a:spcPts val="2268"/>
              </a:lnSpc>
              <a:spcBef>
                <a:spcPts val="0"/>
              </a:spcBef>
              <a:spcAft>
                <a:spcPts val="0"/>
              </a:spcAft>
            </a:pPr>
            <a:r>
              <a:rPr sz="1800" b="0">
                <a:solidFill>
                  <a:srgbClr val="14283F"/>
                </a:solidFill>
                <a:latin typeface="Arial"/>
              </a:rPr>
              <a:t>uncertainty and explicit</a:t>
            </a:r>
          </a:p>
          <a:p>
            <a:pPr>
              <a:lnSpc>
                <a:spcPts val="2268"/>
              </a:lnSpc>
              <a:spcBef>
                <a:spcPts val="0"/>
              </a:spcBef>
              <a:spcAft>
                <a:spcPts val="0"/>
              </a:spcAft>
            </a:pPr>
            <a:r>
              <a:rPr sz="1800" b="0">
                <a:solidFill>
                  <a:srgbClr val="14283F"/>
                </a:solidFill>
                <a:latin typeface="Arial"/>
              </a:rPr>
              <a:t>stopping rules. Retain negative</a:t>
            </a:r>
          </a:p>
          <a:p>
            <a:pPr>
              <a:lnSpc>
                <a:spcPts val="2268"/>
              </a:lnSpc>
              <a:spcBef>
                <a:spcPts val="0"/>
              </a:spcBef>
              <a:spcAft>
                <a:spcPts val="0"/>
              </a:spcAft>
            </a:pPr>
            <a:r>
              <a:rPr sz="1800" b="0">
                <a:solidFill>
                  <a:srgbClr val="14283F"/>
                </a:solidFill>
                <a:latin typeface="Arial"/>
              </a:rPr>
              <a:t>findings.</a:t>
            </a:r>
          </a:p>
        </p:txBody>
      </p:sp>
      <p:sp>
        <p:nvSpPr>
          <p:cNvPr id="14" name="Rectangle 13"/>
          <p:cNvSpPr/>
          <p:nvPr/>
        </p:nvSpPr>
        <p:spPr>
          <a:xfrm>
            <a:off x="8111066" y="2324100"/>
            <a:ext cx="3623733" cy="3517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11066" y="2324100"/>
            <a:ext cx="50800" cy="35179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6966" y="2501900"/>
            <a:ext cx="3191933"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Choose a feasible next stage</a:t>
            </a:r>
          </a:p>
        </p:txBody>
      </p:sp>
      <p:sp>
        <p:nvSpPr>
          <p:cNvPr id="17" name="TextBox 16"/>
          <p:cNvSpPr txBox="1"/>
          <p:nvPr/>
        </p:nvSpPr>
        <p:spPr>
          <a:xfrm>
            <a:off x="8326966" y="3111500"/>
            <a:ext cx="3191933" cy="1478280"/>
          </a:xfrm>
          <a:prstGeom prst="rect">
            <a:avLst/>
          </a:prstGeom>
          <a:noFill/>
        </p:spPr>
        <p:txBody>
          <a:bodyPr wrap="none" lIns="0" tIns="0" rIns="0" bIns="0">
            <a:spAutoFit/>
          </a:bodyPr>
          <a:lstStyle/>
          <a:p>
            <a:pPr>
              <a:lnSpc>
                <a:spcPts val="2268"/>
              </a:lnSpc>
              <a:spcBef>
                <a:spcPts val="0"/>
              </a:spcBef>
              <a:spcAft>
                <a:spcPts val="0"/>
              </a:spcAft>
            </a:pPr>
            <a:r>
              <a:rPr sz="1800" b="0">
                <a:solidFill>
                  <a:srgbClr val="14283F"/>
                </a:solidFill>
                <a:latin typeface="Arial"/>
              </a:rPr>
              <a:t>Finish 64-unit review and 16</a:t>
            </a:r>
          </a:p>
          <a:p>
            <a:pPr>
              <a:lnSpc>
                <a:spcPts val="2268"/>
              </a:lnSpc>
              <a:spcBef>
                <a:spcPts val="0"/>
              </a:spcBef>
              <a:spcAft>
                <a:spcPts val="0"/>
              </a:spcAft>
            </a:pPr>
            <a:r>
              <a:rPr sz="1800" b="0">
                <a:solidFill>
                  <a:srgbClr val="14283F"/>
                </a:solidFill>
                <a:latin typeface="Arial"/>
              </a:rPr>
              <a:t>delayed repeats, then freeze a</a:t>
            </a:r>
          </a:p>
          <a:p>
            <a:pPr>
              <a:lnSpc>
                <a:spcPts val="2268"/>
              </a:lnSpc>
              <a:spcBef>
                <a:spcPts val="0"/>
              </a:spcBef>
              <a:spcAft>
                <a:spcPts val="0"/>
              </a:spcAft>
            </a:pPr>
            <a:r>
              <a:rPr sz="1800" b="0">
                <a:solidFill>
                  <a:srgbClr val="14283F"/>
                </a:solidFill>
                <a:latin typeface="Arial"/>
              </a:rPr>
              <a:t>justified fresh design,</a:t>
            </a:r>
          </a:p>
          <a:p>
            <a:pPr>
              <a:lnSpc>
                <a:spcPts val="2268"/>
              </a:lnSpc>
              <a:spcBef>
                <a:spcPts val="0"/>
              </a:spcBef>
              <a:spcAft>
                <a:spcPts val="0"/>
              </a:spcAft>
            </a:pPr>
            <a:r>
              <a:rPr sz="1800" b="0">
                <a:solidFill>
                  <a:srgbClr val="14283F"/>
                </a:solidFill>
                <a:latin typeface="Arial"/>
              </a:rPr>
              <a:t>exclusions and measured</a:t>
            </a:r>
          </a:p>
          <a:p>
            <a:pPr>
              <a:lnSpc>
                <a:spcPts val="2268"/>
              </a:lnSpc>
              <a:spcBef>
                <a:spcPts val="0"/>
              </a:spcBef>
              <a:spcAft>
                <a:spcPts val="0"/>
              </a:spcAft>
            </a:pPr>
            <a:r>
              <a:rPr sz="1800" b="0">
                <a:solidFill>
                  <a:srgbClr val="14283F"/>
                </a:solidFill>
                <a:latin typeface="Arial"/>
              </a:rPr>
              <a:t>budget.</a:t>
            </a:r>
          </a:p>
        </p:txBody>
      </p:sp>
      <p:sp>
        <p:nvSpPr>
          <p:cNvPr id="18" name="TextBox 17"/>
          <p:cNvSpPr txBox="1"/>
          <p:nvPr/>
        </p:nvSpPr>
        <p:spPr>
          <a:xfrm>
            <a:off x="457200" y="5854700"/>
            <a:ext cx="112776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007E80"/>
                </a:solidFill>
                <a:latin typeface="Arial"/>
              </a:rPr>
              <a:t>Reading entry point: STATUS_AND_PAPER_PLAN.md; CPU walkthrough: vlm_project_companion.ipynb.</a:t>
            </a:r>
          </a:p>
        </p:txBody>
      </p:sp>
      <p:sp>
        <p:nvSpPr>
          <p:cNvPr id="19" name="Rectangle 18"/>
          <p:cNvSpPr/>
          <p:nvPr/>
        </p:nvSpPr>
        <p:spPr>
          <a:xfrm>
            <a:off x="457200" y="64008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6515100"/>
            <a:ext cx="10553700" cy="166116"/>
          </a:xfrm>
          <a:prstGeom prst="rect">
            <a:avLst/>
          </a:prstGeom>
          <a:noFill/>
        </p:spPr>
        <p:txBody>
          <a:bodyPr wrap="none" lIns="0" tIns="0" rIns="0" bIns="0">
            <a:spAutoFit/>
          </a:bodyPr>
          <a:lstStyle/>
          <a:p>
            <a:pPr>
              <a:lnSpc>
                <a:spcPts val="1008"/>
              </a:lnSpc>
              <a:spcBef>
                <a:spcPts val="0"/>
              </a:spcBef>
              <a:spcAft>
                <a:spcPts val="0"/>
              </a:spcAft>
            </a:pPr>
            <a:r>
              <a:rPr sz="800" b="0">
                <a:solidFill>
                  <a:srgbClr val="526378"/>
                </a:solidFill>
                <a:latin typeface="Arial"/>
              </a:rPr>
              <a:t>SOURCE: Status sections 17–18; full source map and citations in the speaker guide</a:t>
            </a:r>
          </a:p>
        </p:txBody>
      </p:sp>
      <p:sp>
        <p:nvSpPr>
          <p:cNvPr id="21" name="TextBox 20"/>
          <p:cNvSpPr txBox="1"/>
          <p:nvPr/>
        </p:nvSpPr>
        <p:spPr>
          <a:xfrm>
            <a:off x="11176000" y="65151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14 /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TotalTime>
  <Words>7514</Words>
  <Application>Microsoft Macintosh PowerPoint</Application>
  <PresentationFormat>Widescreen</PresentationFormat>
  <Paragraphs>583</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VLM safety research: advisor progress review</dc:title>
  <dc:subject>Exploratory research progress; human review pending</dc:subject>
  <dc:creator>Aryaman Singh Dev</dc:creator>
  <cp:keywords/>
  <dc:description>generated using python-pptx</dc:description>
  <cp:lastModifiedBy>Aryaman Dev</cp:lastModifiedBy>
  <cp:revision>7</cp:revision>
  <dcterms:created xsi:type="dcterms:W3CDTF">2013-01-27T09:14:16Z</dcterms:created>
  <dcterms:modified xsi:type="dcterms:W3CDTF">2026-10-22T14:15:12Z</dcterms:modified>
  <cp:category/>
</cp:coreProperties>
</file>
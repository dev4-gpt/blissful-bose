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73" r:id="rId2"/>
    <p:sldId id="274" r:id="rId3"/>
    <p:sldId id="258" r:id="rId4"/>
    <p:sldId id="263" r:id="rId5"/>
    <p:sldId id="264" r:id="rId6"/>
    <p:sldId id="271" r:id="rId7"/>
    <p:sldId id="275" r:id="rId8"/>
    <p:sldId id="280" r:id="rId9"/>
    <p:sldId id="265" r:id="rId10"/>
    <p:sldId id="281" r:id="rId11"/>
    <p:sldId id="266" r:id="rId12"/>
    <p:sldId id="284" r:id="rId13"/>
    <p:sldId id="282" r:id="rId14"/>
    <p:sldId id="287" r:id="rId15"/>
    <p:sldId id="289" r:id="rId16"/>
    <p:sldId id="286" r:id="rId17"/>
    <p:sldId id="279" r:id="rId18"/>
    <p:sldId id="283" r:id="rId19"/>
    <p:sldId id="276" r:id="rId20"/>
    <p:sldId id="278" r:id="rId21"/>
    <p:sldId id="267" r:id="rId22"/>
    <p:sldId id="288" r:id="rId23"/>
    <p:sldId id="272" r:id="rId24"/>
    <p:sldId id="270" r:id="rId25"/>
    <p:sldId id="262" r:id="rId26"/>
    <p:sldId id="269" r:id="rId27"/>
    <p:sldId id="290" r:id="rId28"/>
    <p:sldId id="291" r:id="rId29"/>
    <p:sldId id="292" r:id="rId30"/>
    <p:sldId id="277" r:id="rId31"/>
    <p:sldId id="25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26"/>
    <p:restoredTop sz="68472"/>
  </p:normalViewPr>
  <p:slideViewPr>
    <p:cSldViewPr snapToGrid="0">
      <p:cViewPr>
        <p:scale>
          <a:sx n="89" d="100"/>
          <a:sy n="89" d="100"/>
        </p:scale>
        <p:origin x="2600" y="352"/>
      </p:cViewPr>
      <p:guideLst/>
    </p:cSldViewPr>
  </p:slideViewPr>
  <p:outlineViewPr>
    <p:cViewPr>
      <p:scale>
        <a:sx n="33" d="100"/>
        <a:sy n="33" d="100"/>
      </p:scale>
      <p:origin x="0" y="-86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F53D2F-2A8E-F54C-AF1C-966729616C92}" type="datetimeFigureOut">
              <a:rPr lang="en-US" smtClean="0"/>
              <a:t>9/24/26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A9DB53-8153-CC4A-A2C1-32F9B57AB15A}" type="slidenum">
              <a:rPr lang="en-US" smtClean="0"/>
              <a:t>‹#›</a:t>
            </a:fld>
            <a:endParaRPr lang="en-US"/>
          </a:p>
        </p:txBody>
      </p:sp>
    </p:spTree>
    <p:extLst>
      <p:ext uri="{BB962C8B-B14F-4D97-AF65-F5344CB8AC3E}">
        <p14:creationId xmlns:p14="http://schemas.microsoft.com/office/powerpoint/2010/main" val="960418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rPr dirty="0"/>
              <a:t>=== Slide 1: Title Slide ===</a:t>
            </a:r>
          </a:p>
          <a:p>
            <a:br>
              <a:rPr dirty="0"/>
            </a:br>
            <a:r>
              <a:rPr dirty="0"/>
              <a:t>[WHAT PROF. LE SEES ON SCREEN]:</a:t>
            </a:r>
          </a:p>
          <a:p>
            <a:pPr>
              <a:defRPr sz="1000"/>
            </a:pPr>
            <a:r>
              <a:rPr dirty="0"/>
              <a:t>• Title: Continual Safety Alignment in Vision-Language Models via Multimodal Gradient-Based Sample Selection</a:t>
            </a:r>
          </a:p>
          <a:p>
            <a:pPr>
              <a:defRPr sz="1000"/>
            </a:pPr>
            <a:r>
              <a:rPr dirty="0"/>
              <a:t>• Subtitle: Extending Continual Safety Alignment (Bach et al., 2026) to Multimodal Architectures</a:t>
            </a:r>
          </a:p>
          <a:p>
            <a:pPr>
              <a:defRPr sz="1000"/>
            </a:pPr>
            <a:r>
              <a:rPr dirty="0"/>
              <a:t>• Metadata: Researcher: Aryaman Singh Dev | Advisor: Prof. Thao Minh Le | Penn State University</a:t>
            </a:r>
          </a:p>
          <a:p>
            <a:br>
              <a:rPr dirty="0"/>
            </a:br>
            <a:r>
              <a:rPr dirty="0"/>
              <a:t>[SPOKEN SCRIPT - READ ALOUD]:</a:t>
            </a:r>
          </a:p>
          <a:p>
            <a:pPr>
              <a:defRPr sz="1100"/>
            </a:pPr>
            <a:r>
              <a:rPr dirty="0"/>
              <a:t>"Good afternoon, Professor Le. Today, I am excited to present my research proposal on extending continual safety alignment to multimodal architectures. Specifically, this work builds directly on your paper, Bach et al., investigating whether gradient-based sample selection can prevent safety degradation in small vision-language models without requiring architectural modifications or expensive safety retraining. Over the next 25 minutes, I will walk you through the theoretical motivation, our multimodal gradient decomposition, our experimental protocol on Qwen2-VL, and the roadmap for empirical validation."</a:t>
            </a:r>
          </a:p>
          <a:p>
            <a:br>
              <a:rPr dirty="0"/>
            </a:br>
            <a:r>
              <a:rPr dirty="0"/>
              <a:t>[ANTICIPATED QUESTION &amp; DEFENSE]:</a:t>
            </a:r>
          </a:p>
          <a:p>
            <a:pPr>
              <a:defRPr sz="1000"/>
            </a:pPr>
            <a:r>
              <a:rPr dirty="0"/>
              <a:t>Q: Why extend this to VLMs specifically?</a:t>
            </a:r>
            <a:br>
              <a:rPr dirty="0"/>
            </a:br>
            <a:r>
              <a:rPr dirty="0"/>
              <a:t>A: In the Limitations section of Bach et al., you explicitly noted that extending gradient-based selection to VLMs remains an open question. In VLMs, the visual channel introduces an entirely new, unaligned attack surface where image typography and visual jailbreaks bypass text safety filters completely.</a:t>
            </a:r>
          </a:p>
          <a:p>
            <a:br>
              <a:rPr dirty="0"/>
            </a:br>
            <a:r>
              <a:rPr dirty="0"/>
              <a:t>[TRANSITION TO NEXT SLIDE]:</a:t>
            </a:r>
          </a:p>
          <a:p>
            <a:pPr>
              <a:defRPr sz="1000"/>
            </a:pPr>
            <a:r>
              <a:rPr dirty="0"/>
              <a:t>Let's begin by reviewing the core alignment drift problem established in your paper and how it manifests in multimodal models.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defRPr sz="1400" b="1"/>
            </a:pPr>
            <a:r>
              <a:rPr dirty="0"/>
              <a:t>=== Slide 2: Alignment Drift in Continual Fine-Tuning ===</a:t>
            </a:r>
          </a:p>
          <a:p>
            <a:br>
              <a:rPr dirty="0"/>
            </a:br>
            <a:r>
              <a:rPr dirty="0"/>
              <a:t>[WHAT PROF. LE SEES ON SCREEN]:</a:t>
            </a:r>
          </a:p>
          <a:p>
            <a:pPr>
              <a:defRPr sz="1000"/>
            </a:pPr>
            <a:r>
              <a:rPr dirty="0"/>
              <a:t>• 1. Confirmed in Text LLMs (Bach et al., 2026): Benign fine-tuning erodes guardrails; high gradients drive elastic reversion; gradient clipping fails (ASR ~31% at clip=0.5).</a:t>
            </a:r>
          </a:p>
          <a:p>
            <a:pPr>
              <a:defRPr sz="1000"/>
            </a:pPr>
            <a:r>
              <a:rPr dirty="0"/>
              <a:t>• 2. Research Question for VLMs: Does the same mechanism govern VLMs? Attackers bypass text guardrails via visual channels (Nie et al., 2024).</a:t>
            </a:r>
          </a:p>
          <a:p>
            <a:br>
              <a:rPr dirty="0"/>
            </a:br>
            <a:r>
              <a:rPr dirty="0"/>
              <a:t>[SPOKEN SCRIPT - READ ALOUD]:</a:t>
            </a:r>
          </a:p>
          <a:p>
            <a:pPr>
              <a:defRPr sz="1100"/>
            </a:pPr>
            <a:r>
              <a:rPr dirty="0"/>
              <a:t>"To establish the problem: in your paper with Bach et al., you demonstrated that benign fine-tuning erodes safety guardrails as a structural byproduct of gradient descent. High-gradient samples drive elastic reversion toward unaligned pretraining distributions. Crucially, standard remedies like gradient clipping fail because clipping merely shortens the step size while keeping the exact unaligned direction. In your Limitations section, you noted that extending gradient-based selection to VLMs is an open question. In VLMs, the problem is compounded: attackers exploit an unprotected visual channel—using image typography or visual jailbreaks—that completely bypasses text safety filters. Our central question is: does the same gradient-driven drift govern VLMs, and can data-centric median selection defend both text and visual safety channels?"</a:t>
            </a:r>
          </a:p>
          <a:p>
            <a:br>
              <a:rPr dirty="0"/>
            </a:br>
            <a:r>
              <a:rPr dirty="0"/>
              <a:t>[ANTICIPATED QUESTION &amp; DEFENSE]:</a:t>
            </a:r>
          </a:p>
          <a:p>
            <a:pPr>
              <a:defRPr sz="1000"/>
            </a:pPr>
            <a:r>
              <a:rPr dirty="0"/>
              <a:t>Q: Why not just use gradient clipping instead of sample selection?</a:t>
            </a:r>
            <a:br>
              <a:rPr dirty="0"/>
            </a:br>
            <a:r>
              <a:rPr dirty="0"/>
              <a:t>A: As demonstrated in Bach et al. Table 6, gradient clipping rescales ||g|| &lt;= c, but preserves the exact direction of the update vector. If a sample's gradient points straight out of the safety basin, clipping simply takes smaller steps in that harmful direction—leaving ASR at ~31% even at aggressive clipping (c=0.5). Median selection removes the destabilizing samples entirely.</a:t>
            </a:r>
          </a:p>
          <a:p>
            <a:br>
              <a:rPr dirty="0"/>
            </a:br>
            <a:r>
              <a:rPr dirty="0"/>
              <a:t>[TRANSITION TO NEXT SLIDE]:</a:t>
            </a:r>
          </a:p>
          <a:p>
            <a:pPr>
              <a:defRPr sz="1000"/>
            </a:pPr>
            <a:r>
              <a:rPr dirty="0"/>
              <a:t>To understand the physical mechanics behind this drift, we look at the elasticity framework.</a:t>
            </a:r>
          </a:p>
        </p:txBody>
      </p:sp>
      <p:sp>
        <p:nvSpPr>
          <p:cNvPr id="4" name="Slide Number Placeholder 3"/>
          <p:cNvSpPr>
            <a:spLocks noGrp="1"/>
          </p:cNvSpPr>
          <p:nvPr>
            <p:ph type="sldNum" sz="quarter" idx="5"/>
          </p:nvPr>
        </p:nvSpPr>
        <p:spPr/>
        <p:txBody>
          <a:bodyPr/>
          <a:lstStyle/>
          <a:p>
            <a:fld id="{CDA9DB53-8153-CC4A-A2C1-32F9B57AB15A}" type="slidenum">
              <a:rPr lang="en-US" smtClean="0"/>
              <a:t>2</a:t>
            </a:fld>
            <a:endParaRPr lang="en-US"/>
          </a:p>
        </p:txBody>
      </p:sp>
    </p:spTree>
    <p:extLst>
      <p:ext uri="{BB962C8B-B14F-4D97-AF65-F5344CB8AC3E}">
        <p14:creationId xmlns:p14="http://schemas.microsoft.com/office/powerpoint/2010/main" val="37306079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rPr dirty="0"/>
              <a:t>=== Slide 3: LLM Elasticity (Ji et al., 2024) ===</a:t>
            </a:r>
          </a:p>
          <a:p>
            <a:br>
              <a:rPr dirty="0"/>
            </a:br>
            <a:r>
              <a:rPr dirty="0"/>
              <a:t>[WHAT PROF. LE SEES ON SCREEN]:</a:t>
            </a:r>
          </a:p>
          <a:p>
            <a:pPr>
              <a:defRPr sz="1000"/>
            </a:pPr>
            <a:r>
              <a:rPr dirty="0"/>
              <a:t>• LLM Elasticity: Models act like coupled springs; massive pretraining distributions exert elastic restoring forces.</a:t>
            </a:r>
          </a:p>
          <a:p>
            <a:pPr>
              <a:defRPr sz="1000"/>
            </a:pPr>
            <a:r>
              <a:rPr dirty="0"/>
              <a:t>• Key Project Premise: Dataset size alone does not determine update direction; high-gradient samples act as heavy perturbations.</a:t>
            </a:r>
          </a:p>
          <a:p>
            <a:br>
              <a:rPr dirty="0"/>
            </a:br>
            <a:r>
              <a:rPr dirty="0"/>
              <a:t>[SPOKEN SCRIPT - READ ALOUD]:</a:t>
            </a:r>
          </a:p>
          <a:p>
            <a:pPr>
              <a:defRPr sz="1100"/>
            </a:pPr>
            <a:r>
              <a:rPr dirty="0"/>
              <a:t>"To understand why fine-tuning degrades safety, we ground our work in the elasticity framework by Ji et al. Neural models act like coupled physical springs: pretraining establishes an elastic restoring force that pulls the model back toward its base, unaligned state when perturbed. Importantly, this project does not assume dataset size alone dictates this pull. Rather, high-gradient samples—which often reflect severe format or semantic mismatch—act as massive perturbations that stretch the model past its elastic limit, triggering rapid reversion to unaligned behavior."</a:t>
            </a:r>
          </a:p>
          <a:p>
            <a:br>
              <a:rPr dirty="0"/>
            </a:br>
            <a:r>
              <a:rPr dirty="0"/>
              <a:t>[ANTICIPATED QUESTION &amp; DEFENSE]:</a:t>
            </a:r>
          </a:p>
          <a:p>
            <a:pPr>
              <a:defRPr sz="1000"/>
            </a:pPr>
            <a:r>
              <a:rPr dirty="0"/>
              <a:t>Q: How does elasticity apply across modalities?</a:t>
            </a:r>
            <a:br>
              <a:rPr dirty="0"/>
            </a:br>
            <a:r>
              <a:rPr dirty="0"/>
              <a:t>A: In VLMs, the restoring force exists in both the language backbone and the vision-language projector. Cross-modal tension stretches the projector weights, causing rapid forgetting of aligned refusal boundaries.</a:t>
            </a:r>
          </a:p>
          <a:p>
            <a:br>
              <a:rPr dirty="0"/>
            </a:br>
            <a:r>
              <a:rPr dirty="0"/>
              <a:t>[TRANSITION TO NEXT SLIDE]:</a:t>
            </a:r>
          </a:p>
          <a:p>
            <a:pPr>
              <a:defRPr sz="1000"/>
            </a:pPr>
            <a:r>
              <a:rPr dirty="0"/>
              <a:t>Next, we examine the geometric shape of this safety boundary using VISAGE.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defRPr sz="1400" b="1"/>
            </a:pPr>
            <a:r>
              <a:rPr dirty="0"/>
              <a:t>=== Slide 4: VISAGE Safety Basin Geometry (Peng et al., 2024) ===</a:t>
            </a:r>
          </a:p>
          <a:p>
            <a:br>
              <a:rPr dirty="0"/>
            </a:br>
            <a:r>
              <a:rPr dirty="0"/>
              <a:t>[WHAT PROF. LE SEES ON SCREEN]:</a:t>
            </a:r>
          </a:p>
          <a:p>
            <a:pPr>
              <a:defRPr sz="1000"/>
            </a:pPr>
            <a:r>
              <a:rPr dirty="0"/>
              <a:t>• VISAGE: Volumetric Index for Safety Alignment Guided by Explanation.</a:t>
            </a:r>
          </a:p>
          <a:p>
            <a:pPr>
              <a:defRPr sz="1000"/>
            </a:pPr>
            <a:r>
              <a:rPr dirty="0"/>
              <a:t>• Safety Basin Geometry: Flat safety basin with sharp step-function collapse boundaries.</a:t>
            </a:r>
          </a:p>
          <a:p>
            <a:pPr>
              <a:defRPr sz="1000"/>
            </a:pPr>
            <a:r>
              <a:rPr dirty="0"/>
              <a:t>• 1D vs 2D Rankings: Rankings are perfectly consistent (Llama 3 &gt; Llama 2 &gt; Mistral &gt; Vicuna); 1D is a faster, computationally efficient metric.</a:t>
            </a:r>
          </a:p>
          <a:p>
            <a:br>
              <a:rPr dirty="0"/>
            </a:br>
            <a:r>
              <a:rPr dirty="0"/>
              <a:t>[SPOKEN SCRIPT - READ ALOUD]:</a:t>
            </a:r>
          </a:p>
          <a:p>
            <a:pPr>
              <a:defRPr sz="1100"/>
            </a:pPr>
            <a:r>
              <a:rPr dirty="0"/>
              <a:t>"The geometry of this drift is formalized by Peng et al.'s VISAGE framework. Safety alignment does not occupy a broad, forgiving valley; it resides in a localized 'safety basin' with sharp, step-function boundaries. Moderate parameter updates allow the model to stay inside this basin. But large gradient updates push model weights directly over the ridge into unsafe territory, where safety collapses abruptly. A higher VISAGE score indicates a deeper, more robust basin. Furthermore, Peng et al. showed that 1D VISAGE rankings perfectly preserve 2D rankings, providing a computationally efficient metric to track safety basin retention during fine-tuning."</a:t>
            </a:r>
          </a:p>
          <a:p>
            <a:br>
              <a:rPr dirty="0"/>
            </a:br>
            <a:r>
              <a:rPr dirty="0"/>
              <a:t>[ANTICIPATED QUESTION &amp; DEFENSE]:</a:t>
            </a:r>
          </a:p>
          <a:p>
            <a:pPr>
              <a:defRPr sz="1000"/>
            </a:pPr>
            <a:r>
              <a:rPr dirty="0"/>
              <a:t>Q: Why use 1D VISAGE instead of 2D?</a:t>
            </a:r>
            <a:br>
              <a:rPr dirty="0"/>
            </a:br>
            <a:r>
              <a:rPr dirty="0"/>
              <a:t>A: 1D VISAGE captures the exact same model safety ranking as 2D (Llama 3 &gt; Llama 2 &gt; Mistral &gt; Vicuna) at a fraction of the compute cost, making it practical for tracking drift across continual training stages.</a:t>
            </a:r>
          </a:p>
          <a:p>
            <a:br>
              <a:rPr dirty="0"/>
            </a:br>
            <a:r>
              <a:rPr dirty="0"/>
              <a:t>[TRANSITION TO NEXT SLIDE]:</a:t>
            </a:r>
          </a:p>
          <a:p>
            <a:pPr>
              <a:defRPr sz="1000"/>
            </a:pPr>
            <a:r>
              <a:rPr dirty="0"/>
              <a:t>Now let us examine how we translate the text evaluation suite of Bach et al. to the multimodal domain.</a:t>
            </a:r>
          </a:p>
        </p:txBody>
      </p:sp>
      <p:sp>
        <p:nvSpPr>
          <p:cNvPr id="4" name="Slide Number Placeholder 3"/>
          <p:cNvSpPr>
            <a:spLocks noGrp="1"/>
          </p:cNvSpPr>
          <p:nvPr>
            <p:ph type="sldNum" sz="quarter" idx="5"/>
          </p:nvPr>
        </p:nvSpPr>
        <p:spPr/>
        <p:txBody>
          <a:bodyPr/>
          <a:lstStyle/>
          <a:p>
            <a:fld id="{CDA9DB53-8153-CC4A-A2C1-32F9B57AB15A}" type="slidenum">
              <a:rPr lang="en-US" smtClean="0"/>
              <a:t>4</a:t>
            </a:fld>
            <a:endParaRPr lang="en-US"/>
          </a:p>
        </p:txBody>
      </p:sp>
    </p:spTree>
    <p:extLst>
      <p:ext uri="{BB962C8B-B14F-4D97-AF65-F5344CB8AC3E}">
        <p14:creationId xmlns:p14="http://schemas.microsoft.com/office/powerpoint/2010/main" val="22066439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defRPr sz="1400" b="1"/>
            </a:pPr>
            <a:r>
              <a:rPr dirty="0"/>
              <a:t>=== Slide 5: Benchmark Suite: 1-to-1 Mapping ===</a:t>
            </a:r>
          </a:p>
          <a:p>
            <a:br>
              <a:rPr dirty="0"/>
            </a:br>
            <a:r>
              <a:rPr dirty="0"/>
              <a:t>[WHAT PROF. LE SEES ON SCREEN]:</a:t>
            </a:r>
          </a:p>
          <a:p>
            <a:pPr>
              <a:defRPr sz="1000"/>
            </a:pPr>
            <a:r>
              <a:rPr dirty="0"/>
              <a:t>• Safety / ASR: </a:t>
            </a:r>
            <a:r>
              <a:rPr dirty="0" err="1"/>
              <a:t>AdvBench</a:t>
            </a:r>
            <a:r>
              <a:rPr dirty="0"/>
              <a:t>, </a:t>
            </a:r>
            <a:r>
              <a:rPr dirty="0" err="1"/>
              <a:t>HarmBench</a:t>
            </a:r>
            <a:r>
              <a:rPr dirty="0"/>
              <a:t> -&gt; MM-</a:t>
            </a:r>
            <a:r>
              <a:rPr dirty="0" err="1"/>
              <a:t>SafetyBench</a:t>
            </a:r>
            <a:r>
              <a:rPr dirty="0"/>
              <a:t>, </a:t>
            </a:r>
            <a:r>
              <a:rPr dirty="0" err="1"/>
              <a:t>FigStep</a:t>
            </a:r>
            <a:r>
              <a:rPr dirty="0"/>
              <a:t>, JailBreakV-28K.</a:t>
            </a:r>
          </a:p>
          <a:p>
            <a:pPr>
              <a:defRPr sz="1000"/>
            </a:pPr>
            <a:r>
              <a:rPr dirty="0"/>
              <a:t>• Truthfulness / Hallucination: </a:t>
            </a:r>
            <a:r>
              <a:rPr dirty="0" err="1"/>
              <a:t>TruthfulQA</a:t>
            </a:r>
            <a:r>
              <a:rPr dirty="0"/>
              <a:t> -&gt; </a:t>
            </a:r>
            <a:r>
              <a:rPr dirty="0" err="1"/>
              <a:t>MMHal</a:t>
            </a:r>
            <a:r>
              <a:rPr dirty="0"/>
              <a:t>-Bench (open-ended), POPE (object probing).</a:t>
            </a:r>
          </a:p>
          <a:p>
            <a:pPr>
              <a:defRPr sz="1000"/>
            </a:pPr>
            <a:r>
              <a:rPr dirty="0"/>
              <a:t>• Downstream Task Sequence: Dolly, GSM8K, </a:t>
            </a:r>
            <a:r>
              <a:rPr dirty="0" err="1"/>
              <a:t>MedMCQA</a:t>
            </a:r>
            <a:r>
              <a:rPr dirty="0"/>
              <a:t>, </a:t>
            </a:r>
            <a:r>
              <a:rPr dirty="0" err="1"/>
              <a:t>SQuAD</a:t>
            </a:r>
            <a:r>
              <a:rPr dirty="0"/>
              <a:t> v2 -&gt; LLaVA-Instruct-150K, </a:t>
            </a:r>
            <a:r>
              <a:rPr dirty="0" err="1"/>
              <a:t>MathVista</a:t>
            </a:r>
            <a:r>
              <a:rPr dirty="0"/>
              <a:t>, SLAKE/VQA-RAD, </a:t>
            </a:r>
            <a:r>
              <a:rPr dirty="0" err="1"/>
              <a:t>DocVQA</a:t>
            </a:r>
            <a:r>
              <a:rPr dirty="0"/>
              <a:t>.</a:t>
            </a:r>
          </a:p>
          <a:p>
            <a:br>
              <a:rPr dirty="0"/>
            </a:br>
            <a:r>
              <a:rPr dirty="0"/>
              <a:t>[SPOKEN SCRIPT - READ ALOUD]:</a:t>
            </a:r>
          </a:p>
          <a:p>
            <a:pPr>
              <a:defRPr sz="1100"/>
            </a:pPr>
            <a:r>
              <a:rPr dirty="0"/>
              <a:t>"To evaluate this rigorously, we cannot rely on standard text benchmarks alone. On this slide, I have established a strict one-to-one mapping from every text evaluation in Bach et al. to its multimodal equivalent. For safety, </a:t>
            </a:r>
            <a:r>
              <a:rPr dirty="0" err="1"/>
              <a:t>AdvBench</a:t>
            </a:r>
            <a:r>
              <a:rPr dirty="0"/>
              <a:t> and </a:t>
            </a:r>
            <a:r>
              <a:rPr dirty="0" err="1"/>
              <a:t>HarmBench</a:t>
            </a:r>
            <a:r>
              <a:rPr dirty="0"/>
              <a:t> map to MM-</a:t>
            </a:r>
            <a:r>
              <a:rPr dirty="0" err="1"/>
              <a:t>SafetyBench</a:t>
            </a:r>
            <a:r>
              <a:rPr dirty="0"/>
              <a:t>, </a:t>
            </a:r>
            <a:r>
              <a:rPr dirty="0" err="1"/>
              <a:t>FigStep</a:t>
            </a:r>
            <a:r>
              <a:rPr dirty="0"/>
              <a:t>—which renders toxic text directly onto images—and JailBreakV-28K. For truthfulness, </a:t>
            </a:r>
            <a:r>
              <a:rPr dirty="0" err="1"/>
              <a:t>TruthfulQA</a:t>
            </a:r>
            <a:r>
              <a:rPr dirty="0"/>
              <a:t> maps to </a:t>
            </a:r>
            <a:r>
              <a:rPr dirty="0" err="1"/>
              <a:t>MMHal</a:t>
            </a:r>
            <a:r>
              <a:rPr dirty="0"/>
              <a:t>-Bench for open-ended hallucination and POPE for object probing. And for downstream tasks, Dolly, GSM8K, </a:t>
            </a:r>
            <a:r>
              <a:rPr dirty="0" err="1"/>
              <a:t>MedMCQA</a:t>
            </a:r>
            <a:r>
              <a:rPr dirty="0"/>
              <a:t>, and </a:t>
            </a:r>
            <a:r>
              <a:rPr dirty="0" err="1"/>
              <a:t>SQuAD</a:t>
            </a:r>
            <a:r>
              <a:rPr dirty="0"/>
              <a:t> map directly to </a:t>
            </a:r>
            <a:r>
              <a:rPr dirty="0" err="1"/>
              <a:t>LLaVA</a:t>
            </a:r>
            <a:r>
              <a:rPr dirty="0"/>
              <a:t>-Instruct, </a:t>
            </a:r>
            <a:r>
              <a:rPr dirty="0" err="1"/>
              <a:t>MathVista</a:t>
            </a:r>
            <a:r>
              <a:rPr dirty="0"/>
              <a:t>, SLAKE, and </a:t>
            </a:r>
            <a:r>
              <a:rPr dirty="0" err="1"/>
              <a:t>DocVQA</a:t>
            </a:r>
            <a:r>
              <a:rPr dirty="0"/>
              <a:t>. This ensures our evaluation mirrors the depth of the original text study."</a:t>
            </a:r>
          </a:p>
          <a:p>
            <a:br>
              <a:rPr dirty="0"/>
            </a:br>
            <a:r>
              <a:rPr dirty="0"/>
              <a:t>[ANTICIPATED QUESTION &amp; DEFENSE]:</a:t>
            </a:r>
          </a:p>
          <a:p>
            <a:pPr>
              <a:defRPr sz="1000"/>
            </a:pPr>
            <a:r>
              <a:rPr dirty="0"/>
              <a:t>Q: Why both </a:t>
            </a:r>
            <a:r>
              <a:rPr dirty="0" err="1"/>
              <a:t>MMHal</a:t>
            </a:r>
            <a:r>
              <a:rPr dirty="0"/>
              <a:t>-Bench and POPE?</a:t>
            </a:r>
            <a:br>
              <a:rPr dirty="0"/>
            </a:br>
            <a:r>
              <a:rPr dirty="0"/>
              <a:t>A: They are complementary: </a:t>
            </a:r>
            <a:r>
              <a:rPr dirty="0" err="1"/>
              <a:t>MMHal</a:t>
            </a:r>
            <a:r>
              <a:rPr dirty="0"/>
              <a:t>-Bench measures open-ended generative hallucination severity, while POPE evaluates targeted binary object existence to isolate perceptual hallucination.</a:t>
            </a:r>
          </a:p>
          <a:p>
            <a:br>
              <a:rPr dirty="0"/>
            </a:br>
            <a:r>
              <a:rPr dirty="0"/>
              <a:t>[TRANSITION TO NEXT SLIDE]:</a:t>
            </a:r>
          </a:p>
          <a:p>
            <a:pPr>
              <a:defRPr sz="1000"/>
            </a:pPr>
            <a:r>
              <a:rPr dirty="0"/>
              <a:t>Let us take a closer look at the attack surface that makes VLM evaluation uniquely challenging.</a:t>
            </a:r>
            <a:endParaRPr lang="en-US" dirty="0"/>
          </a:p>
          <a:p>
            <a:pPr>
              <a:defRPr sz="1000"/>
            </a:pPr>
            <a:endParaRPr lang="en-US" dirty="0"/>
          </a:p>
          <a:p>
            <a:pPr>
              <a:defRPr sz="1000"/>
            </a:pPr>
            <a:endParaRPr lang="en-US" dirty="0"/>
          </a:p>
          <a:p>
            <a:pPr>
              <a:defRPr sz="1000"/>
            </a:pPr>
            <a:r>
              <a:rPr lang="en-US" dirty="0"/>
              <a:t>ADD SETTING THAT PPL DO</a:t>
            </a:r>
          </a:p>
          <a:p>
            <a:pPr>
              <a:defRPr sz="1000"/>
            </a:pPr>
            <a:r>
              <a:rPr lang="en-US" dirty="0"/>
              <a:t>FOLLOW THAT </a:t>
            </a:r>
          </a:p>
          <a:p>
            <a:pPr>
              <a:defRPr sz="1000"/>
            </a:pPr>
            <a:endParaRPr lang="en-US" dirty="0"/>
          </a:p>
        </p:txBody>
      </p:sp>
      <p:sp>
        <p:nvSpPr>
          <p:cNvPr id="4" name="Slide Number Placeholder 3"/>
          <p:cNvSpPr>
            <a:spLocks noGrp="1"/>
          </p:cNvSpPr>
          <p:nvPr>
            <p:ph type="sldNum" sz="quarter" idx="5"/>
          </p:nvPr>
        </p:nvSpPr>
        <p:spPr/>
        <p:txBody>
          <a:bodyPr/>
          <a:lstStyle/>
          <a:p>
            <a:fld id="{CDA9DB53-8153-CC4A-A2C1-32F9B57AB15A}" type="slidenum">
              <a:rPr lang="en-US" smtClean="0"/>
              <a:t>5</a:t>
            </a:fld>
            <a:endParaRPr lang="en-US"/>
          </a:p>
        </p:txBody>
      </p:sp>
    </p:spTree>
    <p:extLst>
      <p:ext uri="{BB962C8B-B14F-4D97-AF65-F5344CB8AC3E}">
        <p14:creationId xmlns:p14="http://schemas.microsoft.com/office/powerpoint/2010/main" val="455442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rPr dirty="0"/>
              <a:t>=== Slide 6: Attack Surface &amp; Multi-Channel Evaluation ===</a:t>
            </a:r>
          </a:p>
          <a:p>
            <a:br>
              <a:rPr dirty="0"/>
            </a:br>
            <a:r>
              <a:rPr dirty="0"/>
              <a:t>[WHAT PROF. LE SEES ON SCREEN]:</a:t>
            </a:r>
          </a:p>
          <a:p>
            <a:pPr>
              <a:defRPr sz="1000"/>
            </a:pPr>
            <a:r>
              <a:rPr dirty="0"/>
              <a:t>• Attack Surface Table (6 rows): Text channel, Image-text rendering (</a:t>
            </a:r>
            <a:r>
              <a:rPr dirty="0" err="1"/>
              <a:t>FigStep</a:t>
            </a:r>
            <a:r>
              <a:rPr dirty="0"/>
              <a:t>), Visual semantic content (MM-</a:t>
            </a:r>
            <a:r>
              <a:rPr dirty="0" err="1"/>
              <a:t>SafetyBench</a:t>
            </a:r>
            <a:r>
              <a:rPr dirty="0"/>
              <a:t>), Optimization transfer, Cross-modal conflict, Typographic distortion.</a:t>
            </a:r>
          </a:p>
          <a:p>
            <a:pPr>
              <a:defRPr sz="1000"/>
            </a:pPr>
            <a:r>
              <a:rPr dirty="0"/>
              <a:t>• Multi-channel reporting: Disaggregated ASR (ASR-text, ASR-visual, ASR-cross, aggregate).</a:t>
            </a:r>
          </a:p>
          <a:p>
            <a:br>
              <a:rPr dirty="0"/>
            </a:br>
            <a:r>
              <a:rPr dirty="0"/>
              <a:t>[SPOKEN SCRIPT - READ ALOUD]:</a:t>
            </a:r>
          </a:p>
          <a:p>
            <a:pPr>
              <a:defRPr sz="1100"/>
            </a:pPr>
            <a:r>
              <a:rPr dirty="0"/>
              <a:t>"A critical insight in VLMs is that reporting a single aggregate Attack Success Rate is dangerous and misleading. A model could maintain a 2% text ASR while its visual ASR collapses to 70%. As shown in this table, we decompose attacks across six distinct surfaces: raw text channels, OCR rendering, visual semantic content, optimization transfer, cross-modal conflicts, and typographic distortions. In our evaluation, we explicitly report separate metrics for ASR-text, ASR-visual, and ASR-cross to detect modality-specific alignment collapse."</a:t>
            </a:r>
          </a:p>
          <a:p>
            <a:br>
              <a:rPr dirty="0"/>
            </a:br>
            <a:r>
              <a:rPr dirty="0"/>
              <a:t>[ANTICIPATED QUESTION &amp; DEFENSE]:</a:t>
            </a:r>
          </a:p>
          <a:p>
            <a:pPr>
              <a:defRPr sz="1000"/>
            </a:pPr>
            <a:r>
              <a:rPr dirty="0"/>
              <a:t>Q: What is cross-modal conflict?</a:t>
            </a:r>
            <a:br>
              <a:rPr dirty="0"/>
            </a:br>
            <a:r>
              <a:rPr dirty="0"/>
              <a:t>A: An attack where the image and text prompt are individually benign or ambiguous, but their cross-modal combination forms a harmful instruction that bypasses unimodal safety filters.</a:t>
            </a:r>
          </a:p>
          <a:p>
            <a:br>
              <a:rPr dirty="0"/>
            </a:br>
            <a:r>
              <a:rPr dirty="0"/>
              <a:t>[TRANSITION TO NEXT SLIDE]:</a:t>
            </a:r>
          </a:p>
          <a:p>
            <a:pPr>
              <a:defRPr sz="1000"/>
            </a:pPr>
            <a:r>
              <a:rPr dirty="0"/>
              <a:t>Next, let's examine how prior works have attempted to defend VLMs, specifically </a:t>
            </a:r>
            <a:r>
              <a:rPr dirty="0" err="1"/>
              <a:t>SafeVLM</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rPr dirty="0"/>
              <a:t>=== Slide 7: Related Multimodal Safety Approach — </a:t>
            </a:r>
            <a:r>
              <a:rPr dirty="0" err="1"/>
              <a:t>SafeVLM</a:t>
            </a:r>
            <a:r>
              <a:rPr dirty="0"/>
              <a:t> (Nie et al., 2024) ===</a:t>
            </a:r>
          </a:p>
          <a:p>
            <a:br>
              <a:rPr dirty="0"/>
            </a:br>
            <a:r>
              <a:rPr dirty="0"/>
              <a:t>[WHAT PROF. LE SEES ON SCREEN]:</a:t>
            </a:r>
          </a:p>
          <a:p>
            <a:pPr>
              <a:defRPr sz="1000"/>
            </a:pPr>
            <a:r>
              <a:rPr dirty="0"/>
              <a:t>• </a:t>
            </a:r>
            <a:r>
              <a:rPr dirty="0" err="1"/>
              <a:t>SafeVLM</a:t>
            </a:r>
            <a:r>
              <a:rPr dirty="0"/>
              <a:t> Architectural Approach: Adds Safety Projector, Safety Tokens, and Safety Head.</a:t>
            </a:r>
          </a:p>
          <a:p>
            <a:pPr>
              <a:defRPr sz="1000"/>
            </a:pPr>
            <a:r>
              <a:rPr dirty="0"/>
              <a:t>• Limitations: Requires complex 2-stage training, alters inference topology, and adds latency.</a:t>
            </a:r>
          </a:p>
          <a:p>
            <a:br>
              <a:rPr dirty="0"/>
            </a:br>
            <a:r>
              <a:rPr dirty="0"/>
              <a:t>[SPOKEN SCRIPT - READ ALOUD]:</a:t>
            </a:r>
          </a:p>
          <a:p>
            <a:pPr>
              <a:defRPr sz="1100"/>
            </a:pPr>
            <a:r>
              <a:rPr dirty="0"/>
              <a:t>"To contextualize our contribution against state-of-the-art multimodal safety, we examine </a:t>
            </a:r>
            <a:r>
              <a:rPr dirty="0" err="1"/>
              <a:t>SafeVLM</a:t>
            </a:r>
            <a:r>
              <a:rPr dirty="0"/>
              <a:t> by Nie et al. </a:t>
            </a:r>
            <a:r>
              <a:rPr dirty="0" err="1"/>
              <a:t>SafeVLM</a:t>
            </a:r>
            <a:r>
              <a:rPr dirty="0"/>
              <a:t> addresses VLM vulnerability through an architectural approach. As shown in their paper, they freeze the base VLM and add three dedicated modules: a parallel Safety Projector, trainable Safety Tokens, and a multi-class Safety Head. This requires a complex two-stage training pipeline and permanently alters the model's inference topology. While effective, it represents an architectural defense, which motivated our search for a purely data-centric solution."</a:t>
            </a:r>
          </a:p>
          <a:p>
            <a:br>
              <a:rPr dirty="0"/>
            </a:br>
            <a:r>
              <a:rPr dirty="0"/>
              <a:t>[ANTICIPATED QUESTION &amp; DEFENSE]:</a:t>
            </a:r>
          </a:p>
          <a:p>
            <a:pPr>
              <a:defRPr sz="1000"/>
            </a:pPr>
            <a:r>
              <a:rPr dirty="0"/>
              <a:t>Q: How does our approach differ from </a:t>
            </a:r>
            <a:r>
              <a:rPr dirty="0" err="1"/>
              <a:t>SafeVLM</a:t>
            </a:r>
            <a:r>
              <a:rPr dirty="0"/>
              <a:t>?</a:t>
            </a:r>
            <a:br>
              <a:rPr dirty="0"/>
            </a:br>
            <a:r>
              <a:rPr dirty="0"/>
              <a:t>A: </a:t>
            </a:r>
            <a:r>
              <a:rPr dirty="0" err="1"/>
              <a:t>SafeVLM</a:t>
            </a:r>
            <a:r>
              <a:rPr dirty="0"/>
              <a:t> changes the model architecture and adds runtime inference latency. Our approach is purely data-centric: we curate benign training data so standard fine-tuning naturally preserves safety, with zero architectural modifications and zero runtime overhead.</a:t>
            </a:r>
          </a:p>
          <a:p>
            <a:br>
              <a:rPr dirty="0"/>
            </a:br>
            <a:r>
              <a:rPr dirty="0"/>
              <a:t>[TRANSITION TO NEXT SLIDE]:</a:t>
            </a:r>
          </a:p>
          <a:p>
            <a:pPr>
              <a:defRPr sz="1000"/>
            </a:pPr>
            <a:r>
              <a:rPr dirty="0"/>
              <a:t>Let's examine the empirical trade-offs reported in </a:t>
            </a:r>
            <a:r>
              <a:rPr dirty="0" err="1"/>
              <a:t>SafeVLM's</a:t>
            </a:r>
            <a:r>
              <a:rPr dirty="0"/>
              <a:t> results.</a:t>
            </a:r>
            <a:endParaRPr lang="en-US" dirty="0"/>
          </a:p>
          <a:p>
            <a:pPr>
              <a:defRPr sz="1000"/>
            </a:pPr>
            <a:endParaRPr lang="en-US" dirty="0"/>
          </a:p>
          <a:p>
            <a:pPr>
              <a:defRPr sz="1000"/>
            </a:pPr>
            <a:endParaRPr lang="en-US" dirty="0"/>
          </a:p>
          <a:p>
            <a:pPr>
              <a:defRPr sz="1000"/>
            </a:pPr>
            <a:r>
              <a:rPr lang="en-US" dirty="0"/>
              <a:t>CONTINUAL LEARNING </a:t>
            </a:r>
          </a:p>
          <a:p>
            <a:pPr>
              <a:defRPr sz="1000"/>
            </a:pPr>
            <a:r>
              <a:rPr lang="en-US" dirty="0"/>
              <a:t>YOU DONT WANNA FORGET WHAT YOU LEARNT</a:t>
            </a:r>
          </a:p>
          <a:p>
            <a:pPr>
              <a:defRPr sz="1000"/>
            </a:pPr>
            <a:r>
              <a:rPr lang="en-US" dirty="0"/>
              <a:t>ALIGNENT IN VLM </a:t>
            </a:r>
          </a:p>
          <a:p>
            <a:pPr>
              <a:defRPr sz="1000"/>
            </a:pPr>
            <a:r>
              <a:rPr lang="en-US" dirty="0"/>
              <a:t>SOTA</a:t>
            </a:r>
          </a:p>
          <a:p>
            <a:pPr>
              <a:defRPr sz="1000"/>
            </a:pPr>
            <a:r>
              <a:rPr lang="en-US" dirty="0"/>
              <a:t>EXAMPLES of MISALIGNKENT IN VLM </a:t>
            </a:r>
          </a:p>
          <a:p>
            <a:pPr>
              <a:defRPr sz="1000"/>
            </a:pPr>
            <a:r>
              <a:rPr lang="en-US" dirty="0"/>
              <a:t>EXPECTED vs PRODCUED</a:t>
            </a:r>
          </a:p>
          <a:p>
            <a:pPr>
              <a:defRPr sz="1000"/>
            </a:pPr>
            <a:endParaRPr lang="en-US" dirty="0"/>
          </a:p>
          <a:p>
            <a:pPr>
              <a:defRPr sz="1000"/>
            </a:pPr>
            <a:r>
              <a:rPr lang="en-US" dirty="0"/>
              <a:t> </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rPr dirty="0"/>
              <a:t>=== Slide 8: </a:t>
            </a:r>
            <a:r>
              <a:rPr dirty="0" err="1"/>
              <a:t>SafeVLM</a:t>
            </a:r>
            <a:r>
              <a:rPr dirty="0"/>
              <a:t> Empirical Results &amp; Over-Refusal Trade-offs (Tables 3 &amp; 4) ===</a:t>
            </a:r>
          </a:p>
          <a:p>
            <a:br>
              <a:rPr dirty="0"/>
            </a:br>
            <a:r>
              <a:rPr dirty="0"/>
              <a:t>[WHAT PROF. LE SEES ON SCREEN]:</a:t>
            </a:r>
          </a:p>
          <a:p>
            <a:pPr>
              <a:defRPr sz="1000"/>
            </a:pPr>
            <a:r>
              <a:rPr dirty="0"/>
              <a:t>• Empirical evidence: Pretrained projector transmits visual features without safety alignment.</a:t>
            </a:r>
          </a:p>
          <a:p>
            <a:pPr>
              <a:defRPr sz="1000"/>
            </a:pPr>
            <a:r>
              <a:rPr dirty="0"/>
              <a:t>• LLaVA-v1.5-7B Results: </a:t>
            </a:r>
            <a:r>
              <a:rPr dirty="0" err="1"/>
              <a:t>AdvBench</a:t>
            </a:r>
            <a:r>
              <a:rPr dirty="0"/>
              <a:t> Vanilla ASR 6.45% -&gt; 1.72%; Suffix Injection 78.27% -&gt; 67.56%.</a:t>
            </a:r>
          </a:p>
          <a:p>
            <a:pPr>
              <a:defRPr sz="1000"/>
            </a:pPr>
            <a:r>
              <a:rPr dirty="0"/>
              <a:t>• Over-refusal Trade-off: </a:t>
            </a:r>
            <a:r>
              <a:rPr dirty="0" err="1"/>
              <a:t>XSTest</a:t>
            </a:r>
            <a:r>
              <a:rPr dirty="0"/>
              <a:t> Unsafe Rate dropped from 26.50% to 7.46% (safe instruction refusal risk); RTVLM 6.27 -&gt; 8.26.</a:t>
            </a:r>
          </a:p>
          <a:p>
            <a:br>
              <a:rPr dirty="0"/>
            </a:br>
            <a:r>
              <a:rPr dirty="0"/>
              <a:t>[SPOKEN SCRIPT - READ ALOUD]:</a:t>
            </a:r>
          </a:p>
          <a:p>
            <a:pPr>
              <a:defRPr sz="1100"/>
            </a:pPr>
            <a:r>
              <a:rPr dirty="0"/>
              <a:t>"Looking at </a:t>
            </a:r>
            <a:r>
              <a:rPr dirty="0" err="1"/>
              <a:t>SafeVLM's</a:t>
            </a:r>
            <a:r>
              <a:rPr dirty="0"/>
              <a:t> reported numbers in Tables 3 and 4, two key findings emerge. First, </a:t>
            </a:r>
            <a:r>
              <a:rPr dirty="0" err="1"/>
              <a:t>SafeVLM</a:t>
            </a:r>
            <a:r>
              <a:rPr dirty="0"/>
              <a:t> provides empirical proof that pre-trained visual projectors lack safety alignment—explaining why visual inputs easily jailbreak models. Second, their defense comes with substantial trade-offs: on </a:t>
            </a:r>
            <a:r>
              <a:rPr dirty="0" err="1"/>
              <a:t>XSTest</a:t>
            </a:r>
            <a:r>
              <a:rPr dirty="0"/>
              <a:t>, their safe instruction accuracy drops by over 14%, indicating severe over-refusal and false alarms. Furthermore, their custom safety head adds computational overhead during every inference step. Our data-centric hypothesis is that by filtering training samples at the gradient level, we can achieve competitive safety retention with zero architectural changes, zero latency penalty, and lower over-refusal."</a:t>
            </a:r>
          </a:p>
          <a:p>
            <a:br>
              <a:rPr dirty="0"/>
            </a:br>
            <a:r>
              <a:rPr dirty="0"/>
              <a:t>[ANTICIPATED QUESTION &amp; DEFENSE]:</a:t>
            </a:r>
          </a:p>
          <a:p>
            <a:pPr>
              <a:defRPr sz="1000"/>
            </a:pPr>
            <a:r>
              <a:rPr dirty="0"/>
              <a:t>Q: Is over-refusal really a critical issue?</a:t>
            </a:r>
            <a:br>
              <a:rPr dirty="0"/>
            </a:br>
            <a:r>
              <a:rPr dirty="0"/>
              <a:t>A: Yes. A model that refuses benign requests (like asking how to slice an apple) has zero utility. We optimize the Pareto frontier of low ASR and high benign task utility.</a:t>
            </a:r>
          </a:p>
          <a:p>
            <a:br>
              <a:rPr dirty="0"/>
            </a:br>
            <a:r>
              <a:rPr dirty="0"/>
              <a:t>[TRANSITION TO NEXT SLIDE]:</a:t>
            </a:r>
          </a:p>
          <a:p>
            <a:pPr>
              <a:defRPr sz="1000"/>
            </a:pPr>
            <a:r>
              <a:rPr dirty="0"/>
              <a:t>Now, let us enter our core methodology: how we decompose VLM gradients mathematically.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rPr dirty="0"/>
              <a:t>=== Slide 9: VLM Extension: Parameter Formalization ===</a:t>
            </a:r>
          </a:p>
          <a:p>
            <a:br>
              <a:rPr dirty="0"/>
            </a:br>
            <a:r>
              <a:rPr dirty="0"/>
              <a:t>[WHAT PROF. LE SEES ON SCREEN]:</a:t>
            </a:r>
          </a:p>
          <a:p>
            <a:pPr>
              <a:defRPr sz="1000"/>
            </a:pPr>
            <a:r>
              <a:rPr dirty="0"/>
              <a:t>• Continual sequence of T multimodal tasks: visual inputs, text instructions, target responses.</a:t>
            </a:r>
          </a:p>
          <a:p>
            <a:pPr>
              <a:defRPr sz="1000"/>
            </a:pPr>
            <a:r>
              <a:rPr dirty="0"/>
              <a:t>• Parameter decomposition: </a:t>
            </a:r>
            <a:r>
              <a:rPr dirty="0" err="1"/>
              <a:t>Theta_train</a:t>
            </a:r>
            <a:r>
              <a:rPr dirty="0"/>
              <a:t> = (</a:t>
            </a:r>
            <a:r>
              <a:rPr dirty="0" err="1"/>
              <a:t>Theta_LoRA</a:t>
            </a:r>
            <a:r>
              <a:rPr dirty="0"/>
              <a:t>, </a:t>
            </a:r>
            <a:r>
              <a:rPr dirty="0" err="1"/>
              <a:t>Theta_projector</a:t>
            </a:r>
            <a:r>
              <a:rPr dirty="0"/>
              <a:t>).</a:t>
            </a:r>
          </a:p>
          <a:p>
            <a:pPr>
              <a:defRPr sz="1000"/>
            </a:pPr>
            <a:r>
              <a:rPr dirty="0"/>
              <a:t>• Frozen components: Vision encoder (</a:t>
            </a:r>
            <a:r>
              <a:rPr dirty="0" err="1"/>
              <a:t>ViT</a:t>
            </a:r>
            <a:r>
              <a:rPr dirty="0"/>
              <a:t>) and base language model.</a:t>
            </a:r>
          </a:p>
          <a:p>
            <a:br>
              <a:rPr dirty="0"/>
            </a:br>
            <a:r>
              <a:rPr dirty="0"/>
              <a:t>[SPOKEN SCRIPT - READ ALOUD]:</a:t>
            </a:r>
          </a:p>
          <a:p>
            <a:pPr>
              <a:defRPr sz="1100"/>
            </a:pPr>
            <a:r>
              <a:rPr dirty="0"/>
              <a:t>"Now, let us turn to our core methodology. We formalize continual safety alignment across a sequence of T multimodal tasks, where each task contains visual inputs, text instructions, and target responses. In a VLM, the parameter space is decomposed into three distinct components: the vision encoder weights, the vision-language projector weights, and the language backbone weights. Under parameter-efficient fine-tuning, the vision encoder and base language model remain frozen, and optimization is restricted strictly to the language </a:t>
            </a:r>
            <a:r>
              <a:rPr dirty="0" err="1"/>
              <a:t>LoRA</a:t>
            </a:r>
            <a:r>
              <a:rPr dirty="0"/>
              <a:t> adapters and the cross-modal projector. Our goal is minimizing task loss while constraining the updated parameters within the multimodal safety basin."</a:t>
            </a:r>
          </a:p>
          <a:p>
            <a:br>
              <a:rPr dirty="0"/>
            </a:br>
            <a:r>
              <a:rPr dirty="0"/>
              <a:t>[ANTICIPATED QUESTION &amp; DEFENSE]:</a:t>
            </a:r>
          </a:p>
          <a:p>
            <a:pPr>
              <a:defRPr sz="1000"/>
            </a:pPr>
            <a:r>
              <a:rPr dirty="0"/>
              <a:t>Q: Why freeze the vision encoder?</a:t>
            </a:r>
            <a:br>
              <a:rPr dirty="0"/>
            </a:br>
            <a:r>
              <a:rPr dirty="0"/>
              <a:t>A: Freezing the </a:t>
            </a:r>
            <a:r>
              <a:rPr dirty="0" err="1"/>
              <a:t>ViT</a:t>
            </a:r>
            <a:r>
              <a:rPr dirty="0"/>
              <a:t> preserves foundational visual representations, avoids representation collapse, and makes training computationally feasible on consumer/campus hardware.</a:t>
            </a:r>
          </a:p>
          <a:p>
            <a:br>
              <a:rPr dirty="0"/>
            </a:br>
            <a:r>
              <a:rPr dirty="0"/>
              <a:t>[TRANSITION TO NEXT SLIDE]:</a:t>
            </a:r>
          </a:p>
          <a:p>
            <a:pPr>
              <a:defRPr sz="1000"/>
            </a:pPr>
            <a:r>
              <a:rPr dirty="0"/>
              <a:t>Why can't we simply take the full model gradient as was done in text LLMs? Slide 10 explains the dilemma.</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defRPr sz="1400" b="1"/>
            </a:pPr>
            <a:r>
              <a:rPr dirty="0"/>
              <a:t>=== Slide 10: The Multimodal Dilemma: Why Naive Gradients Fail ===</a:t>
            </a:r>
          </a:p>
          <a:p>
            <a:br>
              <a:rPr dirty="0"/>
            </a:br>
            <a:r>
              <a:rPr dirty="0"/>
              <a:t>[WHAT PROF. LE SEES ON SCREEN]:</a:t>
            </a:r>
          </a:p>
          <a:p>
            <a:pPr>
              <a:defRPr sz="1000"/>
            </a:pPr>
            <a:r>
              <a:rPr dirty="0"/>
              <a:t>• Full-model backpropagation issue: </a:t>
            </a:r>
            <a:r>
              <a:rPr dirty="0" err="1"/>
              <a:t>ViT</a:t>
            </a:r>
            <a:r>
              <a:rPr dirty="0"/>
              <a:t> spatial pixel variance &amp; hundreds of image patch tokens swamp the gradient norm.</a:t>
            </a:r>
          </a:p>
          <a:p>
            <a:pPr>
              <a:defRPr sz="1000"/>
            </a:pPr>
            <a:r>
              <a:rPr dirty="0"/>
              <a:t>• Decoupling parameter groups: Isolate alignment tension from visual reconstruction noise.</a:t>
            </a:r>
          </a:p>
          <a:p>
            <a:pPr>
              <a:defRPr sz="1000"/>
            </a:pPr>
            <a:r>
              <a:rPr dirty="0"/>
              <a:t>• Q&amp;A Table: Loss tokens (assistant response only), ignored positions (image, prompt, system, padding).</a:t>
            </a:r>
          </a:p>
          <a:p>
            <a:br>
              <a:rPr dirty="0"/>
            </a:br>
            <a:r>
              <a:rPr dirty="0"/>
              <a:t>[SPOKEN SCRIPT - READ ALOUD]:</a:t>
            </a:r>
          </a:p>
          <a:p>
            <a:pPr>
              <a:defRPr sz="1100"/>
            </a:pPr>
            <a:r>
              <a:rPr dirty="0"/>
              <a:t>"The immediate challenge when extending Bach et al. to VLMs is that computing a naive gradient norm across the entire model fails. If you backpropagate through all parameters, the Vision Transformer contains high spatial pixel variance and hundreds of image patch tokens. This visual noise completely swamps the gradient norm. A sample could receive an enormous gradient simply because the image had high visual contrast or complex texture, rather than because it strained the model's alignment. We must decouple parameter groups."</a:t>
            </a:r>
          </a:p>
          <a:p>
            <a:br>
              <a:rPr dirty="0"/>
            </a:br>
            <a:r>
              <a:rPr dirty="0"/>
              <a:t>[ANTICIPATED QUESTION &amp; DEFENSE]:</a:t>
            </a:r>
          </a:p>
          <a:p>
            <a:pPr>
              <a:defRPr sz="1000"/>
            </a:pPr>
            <a:r>
              <a:rPr dirty="0"/>
              <a:t>Q: What tokens generate the loss in our setup?</a:t>
            </a:r>
            <a:br>
              <a:rPr dirty="0"/>
            </a:br>
            <a:r>
              <a:rPr dirty="0"/>
              <a:t>A: Assistant-response tokens only. All image patch tokens and prompt tokens are masked to -100. </a:t>
            </a:r>
            <a:r>
              <a:rPr dirty="0" err="1"/>
              <a:t>G_i</a:t>
            </a:r>
            <a:r>
              <a:rPr dirty="0"/>
              <a:t> measures the sensitivity of trainable parameters strictly to the target response.</a:t>
            </a:r>
          </a:p>
          <a:p>
            <a:br>
              <a:rPr dirty="0"/>
            </a:br>
            <a:r>
              <a:rPr dirty="0"/>
              <a:t>[TRANSITION TO NEXT SLIDE]:</a:t>
            </a:r>
          </a:p>
          <a:p>
            <a:pPr>
              <a:defRPr sz="1000"/>
            </a:pPr>
            <a:r>
              <a:rPr dirty="0"/>
              <a:t>Slide 11 breaks down the dual origins of gradient tension in VLMs.</a:t>
            </a:r>
          </a:p>
        </p:txBody>
      </p:sp>
      <p:sp>
        <p:nvSpPr>
          <p:cNvPr id="4" name="Slide Number Placeholder 3"/>
          <p:cNvSpPr>
            <a:spLocks noGrp="1"/>
          </p:cNvSpPr>
          <p:nvPr>
            <p:ph type="sldNum" sz="quarter" idx="5"/>
          </p:nvPr>
        </p:nvSpPr>
        <p:spPr/>
        <p:txBody>
          <a:bodyPr/>
          <a:lstStyle/>
          <a:p>
            <a:fld id="{CDA9DB53-8153-CC4A-A2C1-32F9B57AB15A}" type="slidenum">
              <a:rPr lang="en-US" smtClean="0"/>
              <a:t>10</a:t>
            </a:fld>
            <a:endParaRPr lang="en-US"/>
          </a:p>
        </p:txBody>
      </p:sp>
    </p:spTree>
    <p:extLst>
      <p:ext uri="{BB962C8B-B14F-4D97-AF65-F5344CB8AC3E}">
        <p14:creationId xmlns:p14="http://schemas.microsoft.com/office/powerpoint/2010/main" val="1259867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rPr dirty="0"/>
              <a:t>=== Slide 11: Disentangling Modality Tension ===</a:t>
            </a:r>
          </a:p>
          <a:p>
            <a:br>
              <a:rPr dirty="0"/>
            </a:br>
            <a:r>
              <a:rPr dirty="0"/>
              <a:t>[WHAT PROF. LE SEES ON SCREEN]:</a:t>
            </a:r>
          </a:p>
          <a:p>
            <a:pPr>
              <a:defRPr sz="1000"/>
            </a:pPr>
            <a:r>
              <a:rPr dirty="0"/>
              <a:t>• Format Mismatch vs. Visual Cross-Attention.</a:t>
            </a:r>
          </a:p>
          <a:p>
            <a:pPr>
              <a:defRPr sz="1000"/>
            </a:pPr>
            <a:r>
              <a:rPr dirty="0"/>
              <a:t>• Text LLM tension: Driven primarily by output format mismatch (short categorical vs verbose).</a:t>
            </a:r>
          </a:p>
          <a:p>
            <a:pPr>
              <a:defRPr sz="1000"/>
            </a:pPr>
            <a:r>
              <a:rPr dirty="0"/>
              <a:t>• VLM dual tension: 1. Format mismatch in text decoder; 2. Visual grounding conflict in connector.</a:t>
            </a:r>
          </a:p>
          <a:p>
            <a:br>
              <a:rPr dirty="0"/>
            </a:br>
            <a:r>
              <a:rPr dirty="0"/>
              <a:t>[SPOKEN SCRIPT - READ ALOUD]:</a:t>
            </a:r>
          </a:p>
          <a:p>
            <a:pPr>
              <a:defRPr sz="1100"/>
            </a:pPr>
            <a:r>
              <a:rPr dirty="0"/>
              <a:t>"In text LLMs, high-gradient samples were primarily caused by output format mismatch—such as short categorical targets colliding with verbose conversational safety pretraining. In VLMs, high gradients arise from two fundamentally distinct sources: format mismatch in the text decoder, and visual grounding conflict in the connector, where dense visual tokens collide with language priors. To study this, we must track and attribute gradients separately across modalities."</a:t>
            </a:r>
          </a:p>
          <a:p>
            <a:br>
              <a:rPr dirty="0"/>
            </a:br>
            <a:r>
              <a:rPr dirty="0"/>
              <a:t>[ANTICIPATED QUESTION &amp; DEFENSE]:</a:t>
            </a:r>
          </a:p>
          <a:p>
            <a:pPr>
              <a:defRPr sz="1000"/>
            </a:pPr>
            <a:r>
              <a:rPr dirty="0"/>
              <a:t>Q: How do you separate these two sources of tension?</a:t>
            </a:r>
            <a:br>
              <a:rPr dirty="0"/>
            </a:br>
            <a:r>
              <a:rPr dirty="0"/>
              <a:t>A: By computing gradients separately for language </a:t>
            </a:r>
            <a:r>
              <a:rPr dirty="0" err="1"/>
              <a:t>LoRA</a:t>
            </a:r>
            <a:r>
              <a:rPr dirty="0"/>
              <a:t> parameters (</a:t>
            </a:r>
            <a:r>
              <a:rPr dirty="0" err="1"/>
              <a:t>G_i</a:t>
            </a:r>
            <a:r>
              <a:rPr dirty="0"/>
              <a:t>^{(L)}) and projector parameters (</a:t>
            </a:r>
            <a:r>
              <a:rPr dirty="0" err="1"/>
              <a:t>G_i</a:t>
            </a:r>
            <a:r>
              <a:rPr dirty="0"/>
              <a:t>^{(P)}), as shown on the next slides.</a:t>
            </a:r>
          </a:p>
          <a:p>
            <a:br>
              <a:rPr dirty="0"/>
            </a:br>
            <a:r>
              <a:rPr dirty="0"/>
              <a:t>[TRANSITION TO NEXT SLIDE]:</a:t>
            </a:r>
          </a:p>
          <a:p>
            <a:pPr>
              <a:defRPr sz="1000"/>
            </a:pPr>
            <a:r>
              <a:rPr dirty="0"/>
              <a:t>Let's look at the exact mathematical loss function and </a:t>
            </a:r>
            <a:r>
              <a:rPr dirty="0" err="1"/>
              <a:t>PyTorch</a:t>
            </a:r>
            <a:r>
              <a:rPr dirty="0"/>
              <a:t> masking rule on Slide 12.</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defRPr sz="1400" b="1"/>
            </a:pPr>
            <a:r>
              <a:rPr dirty="0"/>
              <a:t>=== Slide 12: Strict Response-Only Label Masking (label = -100) ===</a:t>
            </a:r>
          </a:p>
          <a:p>
            <a:br>
              <a:rPr dirty="0"/>
            </a:br>
            <a:r>
              <a:rPr dirty="0"/>
              <a:t>[WHAT PROF. LE SEES ON SCREEN]:</a:t>
            </a:r>
          </a:p>
          <a:p>
            <a:pPr>
              <a:defRPr sz="1000"/>
            </a:pPr>
            <a:r>
              <a:rPr dirty="0"/>
              <a:t>• Loss Formula: </a:t>
            </a:r>
            <a:r>
              <a:rPr dirty="0" err="1"/>
              <a:t>L_i</a:t>
            </a:r>
            <a:r>
              <a:rPr dirty="0"/>
              <a:t>(</a:t>
            </a:r>
            <a:r>
              <a:rPr dirty="0" err="1"/>
              <a:t>I_i</a:t>
            </a:r>
            <a:r>
              <a:rPr dirty="0"/>
              <a:t>, </a:t>
            </a:r>
            <a:r>
              <a:rPr dirty="0" err="1"/>
              <a:t>x_i</a:t>
            </a:r>
            <a:r>
              <a:rPr dirty="0"/>
              <a:t>, </a:t>
            </a:r>
            <a:r>
              <a:rPr dirty="0" err="1"/>
              <a:t>y_i</a:t>
            </a:r>
            <a:r>
              <a:rPr dirty="0"/>
              <a:t>) = - sum_{t=1}^{</a:t>
            </a:r>
            <a:r>
              <a:rPr dirty="0" err="1"/>
              <a:t>T_y</a:t>
            </a:r>
            <a:r>
              <a:rPr dirty="0"/>
              <a:t>} log P(y_{</a:t>
            </a:r>
            <a:r>
              <a:rPr dirty="0" err="1"/>
              <a:t>i,t</a:t>
            </a:r>
            <a:r>
              <a:rPr dirty="0"/>
              <a:t>} | </a:t>
            </a:r>
            <a:r>
              <a:rPr dirty="0" err="1"/>
              <a:t>I_i</a:t>
            </a:r>
            <a:r>
              <a:rPr dirty="0"/>
              <a:t>, </a:t>
            </a:r>
            <a:r>
              <a:rPr dirty="0" err="1"/>
              <a:t>x_i</a:t>
            </a:r>
            <a:r>
              <a:rPr dirty="0"/>
              <a:t>, y_{</a:t>
            </a:r>
            <a:r>
              <a:rPr dirty="0" err="1"/>
              <a:t>i</a:t>
            </a:r>
            <a:r>
              <a:rPr dirty="0"/>
              <a:t>,&lt;t}).</a:t>
            </a:r>
          </a:p>
          <a:p>
            <a:pPr>
              <a:defRPr sz="1000"/>
            </a:pPr>
            <a:r>
              <a:rPr dirty="0"/>
              <a:t>• </a:t>
            </a:r>
            <a:r>
              <a:rPr dirty="0" err="1"/>
              <a:t>PyTorch</a:t>
            </a:r>
            <a:r>
              <a:rPr dirty="0"/>
              <a:t> Masking: label = -100 for all image patch tokens, system prompts, user queries, and padding.</a:t>
            </a:r>
          </a:p>
          <a:p>
            <a:pPr>
              <a:defRPr sz="1000"/>
            </a:pPr>
            <a:r>
              <a:rPr dirty="0"/>
              <a:t>• Guaranteed Behavior: Gradients backpropagate strictly from response tokens; zero visual reconstruction loss.</a:t>
            </a:r>
          </a:p>
          <a:p>
            <a:br>
              <a:rPr dirty="0"/>
            </a:br>
            <a:r>
              <a:rPr dirty="0"/>
              <a:t>[SPOKEN SCRIPT - READ ALOUD]:</a:t>
            </a:r>
          </a:p>
          <a:p>
            <a:pPr>
              <a:defRPr sz="1100"/>
            </a:pPr>
            <a:r>
              <a:rPr dirty="0"/>
              <a:t>"This brings us to a foundational technical requirement: strict label masking. As shown in the formula, our per-sample loss is calculated strictly over the assistant target response tokens, </a:t>
            </a:r>
            <a:r>
              <a:rPr dirty="0" err="1"/>
              <a:t>y_i</a:t>
            </a:r>
            <a:r>
              <a:rPr dirty="0"/>
              <a:t>. In </a:t>
            </a:r>
            <a:r>
              <a:rPr dirty="0" err="1"/>
              <a:t>PyTorch</a:t>
            </a:r>
            <a:r>
              <a:rPr dirty="0"/>
              <a:t>, we mask all non-target positions to -100: all image patch tokens, system instructions, user prompts, and padding tokens. Because cross-entropy loss ignores -100 positions, gradients backpropagate strictly from response tokens conditioned on the multimodal prefix. This guarantees that </a:t>
            </a:r>
            <a:r>
              <a:rPr dirty="0" err="1"/>
              <a:t>G_i</a:t>
            </a:r>
            <a:r>
              <a:rPr dirty="0"/>
              <a:t> measures the parameter change needed to generate the answer, completely preventing visual reconstruction loss from corrupting our selection."</a:t>
            </a:r>
          </a:p>
          <a:p>
            <a:br>
              <a:rPr dirty="0"/>
            </a:br>
            <a:r>
              <a:rPr dirty="0"/>
              <a:t>[ANTICIPATED QUESTION &amp; DEFENSE]:</a:t>
            </a:r>
          </a:p>
          <a:p>
            <a:pPr>
              <a:defRPr sz="1000"/>
            </a:pPr>
            <a:r>
              <a:rPr dirty="0"/>
              <a:t>Q: Does label masking remove image reconstruction loss?</a:t>
            </a:r>
            <a:br>
              <a:rPr dirty="0"/>
            </a:br>
            <a:r>
              <a:rPr dirty="0"/>
              <a:t>A: Yes! There is zero reconstruction loss. Gradients backpropagate only from the supervised text tokens, so </a:t>
            </a:r>
            <a:r>
              <a:rPr dirty="0" err="1"/>
              <a:t>G_i</a:t>
            </a:r>
            <a:r>
              <a:rPr dirty="0"/>
              <a:t> strictly reflects response difficulty given the visual context.</a:t>
            </a:r>
          </a:p>
          <a:p>
            <a:br>
              <a:rPr dirty="0"/>
            </a:br>
            <a:r>
              <a:rPr dirty="0"/>
              <a:t>[TRANSITION TO NEXT SLIDE]:</a:t>
            </a:r>
          </a:p>
          <a:p>
            <a:pPr>
              <a:defRPr sz="1000"/>
            </a:pPr>
            <a:r>
              <a:rPr dirty="0"/>
              <a:t>With response-only loss defined, Slide 13 introduces our 3 novel gradient attribution modes.</a:t>
            </a:r>
          </a:p>
        </p:txBody>
      </p:sp>
      <p:sp>
        <p:nvSpPr>
          <p:cNvPr id="4" name="Slide Number Placeholder 3"/>
          <p:cNvSpPr>
            <a:spLocks noGrp="1"/>
          </p:cNvSpPr>
          <p:nvPr>
            <p:ph type="sldNum" sz="quarter" idx="5"/>
          </p:nvPr>
        </p:nvSpPr>
        <p:spPr/>
        <p:txBody>
          <a:bodyPr/>
          <a:lstStyle/>
          <a:p>
            <a:fld id="{CDA9DB53-8153-CC4A-A2C1-32F9B57AB15A}" type="slidenum">
              <a:rPr lang="en-US" smtClean="0"/>
              <a:t>12</a:t>
            </a:fld>
            <a:endParaRPr lang="en-US"/>
          </a:p>
        </p:txBody>
      </p:sp>
    </p:spTree>
    <p:extLst>
      <p:ext uri="{BB962C8B-B14F-4D97-AF65-F5344CB8AC3E}">
        <p14:creationId xmlns:p14="http://schemas.microsoft.com/office/powerpoint/2010/main" val="23427057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pPr>
                  <a:defRPr sz="1400" b="1"/>
                </a:pPr>
                <a:r>
                  <a:rPr dirty="0"/>
                  <a:t>=== Slide 13: Proposed Gradient Attribution Modes ===</a:t>
                </a:r>
              </a:p>
              <a:p>
                <a:br>
                  <a:rPr dirty="0"/>
                </a:br>
                <a:r>
                  <a:rPr dirty="0"/>
                  <a:t>[WHAT PROF. LE SEES ON SCREEN]:</a:t>
                </a:r>
              </a:p>
              <a:p>
                <a:pPr>
                  <a:defRPr sz="1000"/>
                </a:pPr>
                <a:r>
                  <a:rPr dirty="0"/>
                  <a:t>• Mode 1: Language-</a:t>
                </a:r>
                <a:r>
                  <a:rPr dirty="0" err="1"/>
                  <a:t>LoRA</a:t>
                </a:r>
                <a:r>
                  <a:rPr dirty="0"/>
                  <a:t> only: </a:t>
                </a:r>
                <a:r>
                  <a:rPr dirty="0" err="1"/>
                  <a:t>G_i</a:t>
                </a:r>
                <a:r>
                  <a:rPr dirty="0"/>
                  <a:t>^{(L)} = ||</a:t>
                </a:r>
                <a:r>
                  <a:rPr dirty="0" err="1"/>
                  <a:t>nabla</a:t>
                </a:r>
                <a:r>
                  <a:rPr dirty="0"/>
                  <a:t>_{</a:t>
                </a:r>
                <a:r>
                  <a:rPr dirty="0" err="1"/>
                  <a:t>Theta_LoRA</a:t>
                </a:r>
                <a:r>
                  <a:rPr dirty="0"/>
                  <a:t>} </a:t>
                </a:r>
                <a:r>
                  <a:rPr dirty="0" err="1"/>
                  <a:t>L_i</a:t>
                </a:r>
                <a:r>
                  <a:rPr dirty="0"/>
                  <a:t>||_2 (decoder formatting priors).</a:t>
                </a:r>
              </a:p>
              <a:p>
                <a:pPr>
                  <a:defRPr sz="1000"/>
                </a:pPr>
                <a:r>
                  <a:rPr dirty="0"/>
                  <a:t>• Mode 2: Projector-only: </a:t>
                </a:r>
                <a:r>
                  <a:rPr dirty="0" err="1"/>
                  <a:t>G_i</a:t>
                </a:r>
                <a:r>
                  <a:rPr dirty="0"/>
                  <a:t>^{(P)} = ||</a:t>
                </a:r>
                <a:r>
                  <a:rPr dirty="0" err="1"/>
                  <a:t>nabla</a:t>
                </a:r>
                <a:r>
                  <a:rPr dirty="0"/>
                  <a:t>_{</a:t>
                </a:r>
                <a:r>
                  <a:rPr dirty="0" err="1"/>
                  <a:t>Theta_projector</a:t>
                </a:r>
                <a:r>
                  <a:rPr dirty="0"/>
                  <a:t>} </a:t>
                </a:r>
                <a:r>
                  <a:rPr dirty="0" err="1"/>
                  <a:t>L_i</a:t>
                </a:r>
                <a:r>
                  <a:rPr dirty="0"/>
                  <a:t>||_2 (cross-modal feature warping).</a:t>
                </a:r>
              </a:p>
              <a:p>
                <a:pPr>
                  <a:defRPr sz="1000"/>
                </a:pPr>
                <a:r>
                  <a:rPr dirty="0"/>
                  <a:t>• Mode 3: Joint Multimodal Tension: </a:t>
                </a:r>
                <a:r>
                  <a:rPr dirty="0" err="1"/>
                  <a:t>G_i</a:t>
                </a:r>
                <a:r>
                  <a:rPr dirty="0"/>
                  <a:t>^{(J)} = sqrt((</a:t>
                </a:r>
                <a:r>
                  <a:rPr dirty="0" err="1"/>
                  <a:t>G_i</a:t>
                </a:r>
                <a:r>
                  <a:rPr dirty="0"/>
                  <a:t>^{(L)})^2 + lambda^2 (</a:t>
                </a:r>
                <a:r>
                  <a:rPr dirty="0" err="1"/>
                  <a:t>G_i</a:t>
                </a:r>
                <a:r>
                  <a:rPr dirty="0"/>
                  <a:t>^{(P)})^2).</a:t>
                </a:r>
              </a:p>
              <a:p>
                <a:br>
                  <a:rPr dirty="0"/>
                </a:br>
                <a:r>
                  <a:rPr dirty="0"/>
                  <a:t>[SPOKEN SCRIPT - READ ALOUD]:</a:t>
                </a:r>
              </a:p>
              <a:p>
                <a:pPr>
                  <a:defRPr sz="1100"/>
                </a:pPr>
                <a:r>
                  <a:rPr dirty="0"/>
                  <a:t>"With response-only loss established, we formulate our core scientific ablation: three distinct gradient attribution modes. First, Language-</a:t>
                </a:r>
                <a:r>
                  <a:rPr dirty="0" err="1"/>
                  <a:t>LoRA</a:t>
                </a:r>
                <a:r>
                  <a:rPr dirty="0"/>
                  <a:t> only, </a:t>
                </a:r>
                <a:r>
                  <a:rPr dirty="0" err="1"/>
                  <a:t>G_i</a:t>
                </a:r>
                <a:r>
                  <a:rPr dirty="0"/>
                  <a:t>^{(L)}, which isolates whether drift is driven by conversational response priors in the decoder. Second, Projector-only, </a:t>
                </a:r>
                <a:r>
                  <a:rPr dirty="0" err="1"/>
                  <a:t>G_i</a:t>
                </a:r>
                <a:r>
                  <a:rPr dirty="0"/>
                  <a:t>^{(P)}, which isolates cross-modal feature warping in the visual bridge. Third, Joint Multimodal Attribution, </a:t>
                </a:r>
                <a:r>
                  <a:rPr dirty="0" err="1"/>
                  <a:t>G_i</a:t>
                </a:r>
                <a:r>
                  <a:rPr dirty="0"/>
                  <a:t>^{(J)}, which combines both signals using a balancing scalar lambda. This ablation directly answers whether safety drift originates in the language backbone or the vision connector."</a:t>
                </a:r>
              </a:p>
              <a:p>
                <a:endParaRPr lang="en-US" dirty="0"/>
              </a:p>
              <a:p>
                <a:endParaRPr lang="en-US" dirty="0"/>
              </a:p>
              <a:p>
                <a:r>
                  <a:rPr lang="en-US" sz="1200" b="0" i="0" kern="1200" dirty="0">
                    <a:solidFill>
                      <a:schemeClr val="tx1"/>
                    </a:solidFill>
                    <a:effectLst/>
                    <a:latin typeface="+mn-lt"/>
                    <a:ea typeface="+mn-ea"/>
                    <a:cs typeface="+mn-cs"/>
                  </a:rPr>
                  <a:t>We will run a single 100-sample validation batch to calculate the median norms of </a:t>
                </a:r>
                <a14:m>
                  <m:oMath xmlns:m="http://schemas.openxmlformats.org/officeDocument/2006/math">
                    <m:sSup>
                      <m:sSupPr>
                        <m:ctrlPr>
                          <a:rPr lang="en-US" sz="1200" i="1" kern="1200">
                            <a:solidFill>
                              <a:schemeClr val="tx1"/>
                            </a:solidFill>
                            <a:latin typeface="+mn-lt"/>
                            <a:ea typeface="+mn-ea"/>
                            <a:cs typeface="+mn-cs"/>
                          </a:rPr>
                        </m:ctrlPr>
                      </m:sSupPr>
                      <m:e>
                        <m:r>
                          <a:rPr lang="en-US" sz="1200" i="1" kern="1200">
                            <a:solidFill>
                              <a:schemeClr val="tx1"/>
                            </a:solidFill>
                            <a:latin typeface="+mn-lt"/>
                            <a:ea typeface="+mn-ea"/>
                            <a:cs typeface="+mn-cs"/>
                          </a:rPr>
                          <m:t>𝐺</m:t>
                        </m:r>
                      </m:e>
                      <m:sup>
                        <m:d>
                          <m:dPr>
                            <m:ctrlPr>
                              <a:rPr lang="en-US" sz="1200" i="1" kern="1200">
                                <a:solidFill>
                                  <a:schemeClr val="tx1"/>
                                </a:solidFill>
                                <a:latin typeface="+mn-lt"/>
                                <a:ea typeface="+mn-ea"/>
                                <a:cs typeface="+mn-cs"/>
                              </a:rPr>
                            </m:ctrlPr>
                          </m:dPr>
                          <m:e>
                            <m:r>
                              <a:rPr lang="en-US" sz="1200" i="1" kern="1200">
                                <a:solidFill>
                                  <a:schemeClr val="tx1"/>
                                </a:solidFill>
                                <a:latin typeface="+mn-lt"/>
                                <a:ea typeface="+mn-ea"/>
                                <a:cs typeface="+mn-cs"/>
                              </a:rPr>
                              <m:t>𝐿</m:t>
                            </m:r>
                          </m:e>
                        </m:d>
                      </m:sup>
                    </m:sSup>
                  </m:oMath>
                </a14:m>
                <a:r>
                  <a:rPr lang="en-US" sz="1200" b="0" i="0" kern="1200" dirty="0">
                    <a:solidFill>
                      <a:schemeClr val="tx1"/>
                    </a:solidFill>
                    <a:effectLst/>
                    <a:latin typeface="+mn-lt"/>
                    <a:ea typeface="+mn-ea"/>
                    <a:cs typeface="+mn-cs"/>
                  </a:rPr>
                  <a:t> and </a:t>
                </a:r>
                <a14:m>
                  <m:oMath xmlns:m="http://schemas.openxmlformats.org/officeDocument/2006/math">
                    <m:sSup>
                      <m:sSupPr>
                        <m:ctrlPr>
                          <a:rPr lang="en-US" sz="1200" i="1" kern="1200">
                            <a:solidFill>
                              <a:schemeClr val="tx1"/>
                            </a:solidFill>
                            <a:latin typeface="+mn-lt"/>
                            <a:ea typeface="+mn-ea"/>
                            <a:cs typeface="+mn-cs"/>
                          </a:rPr>
                        </m:ctrlPr>
                      </m:sSupPr>
                      <m:e>
                        <m:r>
                          <a:rPr lang="en-US" sz="1200" i="1" kern="1200">
                            <a:solidFill>
                              <a:schemeClr val="tx1"/>
                            </a:solidFill>
                            <a:latin typeface="+mn-lt"/>
                            <a:ea typeface="+mn-ea"/>
                            <a:cs typeface="+mn-cs"/>
                          </a:rPr>
                          <m:t>𝐺</m:t>
                        </m:r>
                      </m:e>
                      <m:sup>
                        <m:d>
                          <m:dPr>
                            <m:ctrlPr>
                              <a:rPr lang="en-US" sz="1200" i="1" kern="1200">
                                <a:solidFill>
                                  <a:schemeClr val="tx1"/>
                                </a:solidFill>
                                <a:latin typeface="+mn-lt"/>
                                <a:ea typeface="+mn-ea"/>
                                <a:cs typeface="+mn-cs"/>
                              </a:rPr>
                            </m:ctrlPr>
                          </m:dPr>
                          <m:e>
                            <m:r>
                              <a:rPr lang="en-US" sz="1200" i="1" kern="1200">
                                <a:solidFill>
                                  <a:schemeClr val="tx1"/>
                                </a:solidFill>
                                <a:latin typeface="+mn-lt"/>
                                <a:ea typeface="+mn-ea"/>
                                <a:cs typeface="+mn-cs"/>
                              </a:rPr>
                              <m:t>𝑃</m:t>
                            </m:r>
                          </m:e>
                        </m:d>
                      </m:sup>
                    </m:sSup>
                  </m:oMath>
                </a14:m>
                <a:r>
                  <a:rPr lang="en-US" sz="1200" b="0" i="0" kern="1200" dirty="0">
                    <a:solidFill>
                      <a:schemeClr val="tx1"/>
                    </a:solidFill>
                    <a:effectLst/>
                    <a:latin typeface="+mn-lt"/>
                    <a:ea typeface="+mn-ea"/>
                    <a:cs typeface="+mn-cs"/>
                  </a:rPr>
                  <a:t>, and use those to fix the normalization weights for the rest of the epoch.")</a:t>
                </a:r>
                <a:endParaRPr lang="en-US" dirty="0"/>
              </a:p>
              <a:p>
                <a:endParaRPr lang="en-US" dirty="0"/>
              </a:p>
              <a:p>
                <a:br>
                  <a:rPr dirty="0"/>
                </a:br>
                <a:r>
                  <a:rPr dirty="0"/>
                  <a:t>[ANTICIPATED QUESTION &amp; DEFENSE]:</a:t>
                </a:r>
              </a:p>
              <a:p>
                <a:pPr>
                  <a:defRPr sz="1000"/>
                </a:pPr>
                <a:r>
                  <a:rPr dirty="0"/>
                  <a:t>Q: Which mode do you hypothesize will perform best?</a:t>
                </a:r>
                <a:br>
                  <a:rPr dirty="0"/>
                </a:br>
                <a:r>
                  <a:rPr dirty="0"/>
                  <a:t>A: We hypothesize that Joint Attribution (</a:t>
                </a:r>
                <a:r>
                  <a:rPr dirty="0" err="1"/>
                  <a:t>G_i</a:t>
                </a:r>
                <a:r>
                  <a:rPr dirty="0"/>
                  <a:t>^{(J)}) will outperform unimodal modes because multimodal jailbreaks exploit both linguistic decoding and visual feature transmission.</a:t>
                </a:r>
              </a:p>
              <a:p>
                <a:br>
                  <a:rPr dirty="0"/>
                </a:br>
                <a:r>
                  <a:rPr dirty="0"/>
                  <a:t>[TRANSITION TO NEXT SLIDE]:</a:t>
                </a:r>
              </a:p>
              <a:p>
                <a:pPr>
                  <a:defRPr sz="1000"/>
                </a:pPr>
                <a:r>
                  <a:rPr dirty="0"/>
                  <a:t>How do we balance language </a:t>
                </a:r>
                <a:r>
                  <a:rPr dirty="0" err="1"/>
                  <a:t>LoRA</a:t>
                </a:r>
                <a:r>
                  <a:rPr dirty="0"/>
                  <a:t> and projector gradients without parameter count bias? Slide 14 shows our solution.</a:t>
                </a:r>
              </a:p>
            </p:txBody>
          </p:sp>
        </mc:Choice>
        <mc:Fallback>
          <p:sp>
            <p:nvSpPr>
              <p:cNvPr id="3" name="Notes Placeholder 2"/>
              <p:cNvSpPr>
                <a:spLocks noGrp="1"/>
              </p:cNvSpPr>
              <p:nvPr>
                <p:ph type="body" idx="1"/>
              </p:nvPr>
            </p:nvSpPr>
            <p:spPr/>
            <p:txBody>
              <a:bodyPr/>
              <a:lstStyle/>
              <a:p>
                <a:pPr>
                  <a:defRPr sz="1400" b="1"/>
                </a:pPr>
                <a:r>
                  <a:rPr dirty="0"/>
                  <a:t>=== Slide 13: Proposed Gradient Attribution Modes ===</a:t>
                </a:r>
              </a:p>
              <a:p>
                <a:br>
                  <a:rPr dirty="0"/>
                </a:br>
                <a:r>
                  <a:rPr dirty="0"/>
                  <a:t>[WHAT PROF. LE SEES ON SCREEN]:</a:t>
                </a:r>
              </a:p>
              <a:p>
                <a:pPr>
                  <a:defRPr sz="1000"/>
                </a:pPr>
                <a:r>
                  <a:rPr dirty="0"/>
                  <a:t>• Mode 1: Language-</a:t>
                </a:r>
                <a:r>
                  <a:rPr dirty="0" err="1"/>
                  <a:t>LoRA</a:t>
                </a:r>
                <a:r>
                  <a:rPr dirty="0"/>
                  <a:t> only: </a:t>
                </a:r>
                <a:r>
                  <a:rPr dirty="0" err="1"/>
                  <a:t>G_i</a:t>
                </a:r>
                <a:r>
                  <a:rPr dirty="0"/>
                  <a:t>^{(L)} = ||</a:t>
                </a:r>
                <a:r>
                  <a:rPr dirty="0" err="1"/>
                  <a:t>nabla</a:t>
                </a:r>
                <a:r>
                  <a:rPr dirty="0"/>
                  <a:t>_{</a:t>
                </a:r>
                <a:r>
                  <a:rPr dirty="0" err="1"/>
                  <a:t>Theta_LoRA</a:t>
                </a:r>
                <a:r>
                  <a:rPr dirty="0"/>
                  <a:t>} </a:t>
                </a:r>
                <a:r>
                  <a:rPr dirty="0" err="1"/>
                  <a:t>L_i</a:t>
                </a:r>
                <a:r>
                  <a:rPr dirty="0"/>
                  <a:t>||_2 (decoder formatting priors).</a:t>
                </a:r>
              </a:p>
              <a:p>
                <a:pPr>
                  <a:defRPr sz="1000"/>
                </a:pPr>
                <a:r>
                  <a:rPr dirty="0"/>
                  <a:t>• Mode 2: Projector-only: </a:t>
                </a:r>
                <a:r>
                  <a:rPr dirty="0" err="1"/>
                  <a:t>G_i</a:t>
                </a:r>
                <a:r>
                  <a:rPr dirty="0"/>
                  <a:t>^{(P)} = ||</a:t>
                </a:r>
                <a:r>
                  <a:rPr dirty="0" err="1"/>
                  <a:t>nabla</a:t>
                </a:r>
                <a:r>
                  <a:rPr dirty="0"/>
                  <a:t>_{</a:t>
                </a:r>
                <a:r>
                  <a:rPr dirty="0" err="1"/>
                  <a:t>Theta_projector</a:t>
                </a:r>
                <a:r>
                  <a:rPr dirty="0"/>
                  <a:t>} </a:t>
                </a:r>
                <a:r>
                  <a:rPr dirty="0" err="1"/>
                  <a:t>L_i</a:t>
                </a:r>
                <a:r>
                  <a:rPr dirty="0"/>
                  <a:t>||_2 (cross-modal feature warping).</a:t>
                </a:r>
              </a:p>
              <a:p>
                <a:pPr>
                  <a:defRPr sz="1000"/>
                </a:pPr>
                <a:r>
                  <a:rPr dirty="0"/>
                  <a:t>• Mode 3: Joint Multimodal Tension: </a:t>
                </a:r>
                <a:r>
                  <a:rPr dirty="0" err="1"/>
                  <a:t>G_i</a:t>
                </a:r>
                <a:r>
                  <a:rPr dirty="0"/>
                  <a:t>^{(J)} = sqrt((</a:t>
                </a:r>
                <a:r>
                  <a:rPr dirty="0" err="1"/>
                  <a:t>G_i</a:t>
                </a:r>
                <a:r>
                  <a:rPr dirty="0"/>
                  <a:t>^{(L)})^2 + lambda^2 (</a:t>
                </a:r>
                <a:r>
                  <a:rPr dirty="0" err="1"/>
                  <a:t>G_i</a:t>
                </a:r>
                <a:r>
                  <a:rPr dirty="0"/>
                  <a:t>^{(P)})^2).</a:t>
                </a:r>
              </a:p>
              <a:p>
                <a:br>
                  <a:rPr dirty="0"/>
                </a:br>
                <a:r>
                  <a:rPr dirty="0"/>
                  <a:t>[SPOKEN SCRIPT - READ ALOUD]:</a:t>
                </a:r>
              </a:p>
              <a:p>
                <a:pPr>
                  <a:defRPr sz="1100"/>
                </a:pPr>
                <a:r>
                  <a:rPr dirty="0"/>
                  <a:t>"With response-only loss established, we formulate our core scientific ablation: three distinct gradient attribution modes. First, Language-</a:t>
                </a:r>
                <a:r>
                  <a:rPr dirty="0" err="1"/>
                  <a:t>LoRA</a:t>
                </a:r>
                <a:r>
                  <a:rPr dirty="0"/>
                  <a:t> only, </a:t>
                </a:r>
                <a:r>
                  <a:rPr dirty="0" err="1"/>
                  <a:t>G_i</a:t>
                </a:r>
                <a:r>
                  <a:rPr dirty="0"/>
                  <a:t>^{(L)}, which isolates whether drift is driven by conversational response priors in the decoder. Second, Projector-only, </a:t>
                </a:r>
                <a:r>
                  <a:rPr dirty="0" err="1"/>
                  <a:t>G_i</a:t>
                </a:r>
                <a:r>
                  <a:rPr dirty="0"/>
                  <a:t>^{(P)}, which isolates cross-modal feature warping in the visual bridge. Third, Joint Multimodal Attribution, </a:t>
                </a:r>
                <a:r>
                  <a:rPr dirty="0" err="1"/>
                  <a:t>G_i</a:t>
                </a:r>
                <a:r>
                  <a:rPr dirty="0"/>
                  <a:t>^{(J)}, which combines both signals using a balancing scalar lambda. This ablation directly answers whether safety drift originates in the language backbone or the vision connector."</a:t>
                </a:r>
              </a:p>
              <a:p>
                <a:endParaRPr lang="en-US" dirty="0"/>
              </a:p>
              <a:p>
                <a:endParaRPr lang="en-US" dirty="0"/>
              </a:p>
              <a:p>
                <a:r>
                  <a:rPr lang="en-US" sz="1200" b="0" i="0" kern="1200" dirty="0">
                    <a:solidFill>
                      <a:schemeClr val="tx1"/>
                    </a:solidFill>
                    <a:effectLst/>
                    <a:latin typeface="+mn-lt"/>
                    <a:ea typeface="+mn-ea"/>
                    <a:cs typeface="+mn-cs"/>
                  </a:rPr>
                  <a:t>We will run a single 100-sample validation batch to calculate the median norms of </a:t>
                </a:r>
                <a:r>
                  <a:rPr lang="en-US" sz="1200" i="0" kern="1200">
                    <a:solidFill>
                      <a:schemeClr val="tx1"/>
                    </a:solidFill>
                    <a:latin typeface="+mn-lt"/>
                    <a:ea typeface="+mn-ea"/>
                    <a:cs typeface="+mn-cs"/>
                  </a:rPr>
                  <a:t>𝐺^((𝐿) )</a:t>
                </a:r>
                <a:r>
                  <a:rPr lang="en-US" sz="1200" b="0" i="0" kern="1200" dirty="0">
                    <a:solidFill>
                      <a:schemeClr val="tx1"/>
                    </a:solidFill>
                    <a:effectLst/>
                    <a:latin typeface="+mn-lt"/>
                    <a:ea typeface="+mn-ea"/>
                    <a:cs typeface="+mn-cs"/>
                  </a:rPr>
                  <a:t> and </a:t>
                </a:r>
                <a:r>
                  <a:rPr lang="en-US" sz="1200" i="0" kern="1200">
                    <a:solidFill>
                      <a:schemeClr val="tx1"/>
                    </a:solidFill>
                    <a:latin typeface="+mn-lt"/>
                    <a:ea typeface="+mn-ea"/>
                    <a:cs typeface="+mn-cs"/>
                  </a:rPr>
                  <a:t>𝐺^((𝑃) )</a:t>
                </a:r>
                <a:r>
                  <a:rPr lang="en-US" sz="1200" b="0" i="0" kern="1200" dirty="0">
                    <a:solidFill>
                      <a:schemeClr val="tx1"/>
                    </a:solidFill>
                    <a:effectLst/>
                    <a:latin typeface="+mn-lt"/>
                    <a:ea typeface="+mn-ea"/>
                    <a:cs typeface="+mn-cs"/>
                  </a:rPr>
                  <a:t>, and use those to fix the normalization weights for the rest of the epoch.")</a:t>
                </a:r>
                <a:endParaRPr lang="en-US" dirty="0"/>
              </a:p>
              <a:p>
                <a:endParaRPr lang="en-US" dirty="0"/>
              </a:p>
              <a:p>
                <a:br>
                  <a:rPr dirty="0"/>
                </a:br>
                <a:r>
                  <a:rPr dirty="0"/>
                  <a:t>[ANTICIPATED QUESTION &amp; DEFENSE]:</a:t>
                </a:r>
              </a:p>
              <a:p>
                <a:pPr>
                  <a:defRPr sz="1000"/>
                </a:pPr>
                <a:r>
                  <a:rPr dirty="0"/>
                  <a:t>Q: Which mode do you hypothesize will perform best?</a:t>
                </a:r>
                <a:br>
                  <a:rPr dirty="0"/>
                </a:br>
                <a:r>
                  <a:rPr dirty="0"/>
                  <a:t>A: We hypothesize that Joint Attribution (</a:t>
                </a:r>
                <a:r>
                  <a:rPr dirty="0" err="1"/>
                  <a:t>G_i</a:t>
                </a:r>
                <a:r>
                  <a:rPr dirty="0"/>
                  <a:t>^{(J)}) will outperform unimodal modes because multimodal jailbreaks exploit both linguistic decoding and visual feature transmission.</a:t>
                </a:r>
              </a:p>
              <a:p>
                <a:br>
                  <a:rPr dirty="0"/>
                </a:br>
                <a:r>
                  <a:rPr dirty="0"/>
                  <a:t>[TRANSITION TO NEXT SLIDE]:</a:t>
                </a:r>
              </a:p>
              <a:p>
                <a:pPr>
                  <a:defRPr sz="1000"/>
                </a:pPr>
                <a:r>
                  <a:rPr dirty="0"/>
                  <a:t>How do we balance language </a:t>
                </a:r>
                <a:r>
                  <a:rPr dirty="0" err="1"/>
                  <a:t>LoRA</a:t>
                </a:r>
                <a:r>
                  <a:rPr dirty="0"/>
                  <a:t> and projector gradients without parameter count bias? Slide 14 shows our solution.</a:t>
                </a:r>
              </a:p>
            </p:txBody>
          </p:sp>
        </mc:Fallback>
      </mc:AlternateContent>
      <p:sp>
        <p:nvSpPr>
          <p:cNvPr id="4" name="Slide Number Placeholder 3"/>
          <p:cNvSpPr>
            <a:spLocks noGrp="1"/>
          </p:cNvSpPr>
          <p:nvPr>
            <p:ph type="sldNum" sz="quarter" idx="5"/>
          </p:nvPr>
        </p:nvSpPr>
        <p:spPr/>
        <p:txBody>
          <a:bodyPr/>
          <a:lstStyle/>
          <a:p>
            <a:fld id="{CDA9DB53-8153-CC4A-A2C1-32F9B57AB15A}" type="slidenum">
              <a:rPr lang="en-US" smtClean="0"/>
              <a:t>13</a:t>
            </a:fld>
            <a:endParaRPr lang="en-US"/>
          </a:p>
        </p:txBody>
      </p:sp>
    </p:spTree>
    <p:extLst>
      <p:ext uri="{BB962C8B-B14F-4D97-AF65-F5344CB8AC3E}">
        <p14:creationId xmlns:p14="http://schemas.microsoft.com/office/powerpoint/2010/main" val="6486084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A000A-052F-00DA-4FAB-A1CA99581C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09BD6F-336D-9234-0222-ADB91127187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BC4438E-600E-6871-5348-637DF477D978}"/>
              </a:ext>
            </a:extLst>
          </p:cNvPr>
          <p:cNvSpPr>
            <a:spLocks noGrp="1"/>
          </p:cNvSpPr>
          <p:nvPr>
            <p:ph type="body" idx="1"/>
          </p:nvPr>
        </p:nvSpPr>
        <p:spPr/>
        <p:txBody>
          <a:bodyPr/>
          <a:lstStyle/>
          <a:p>
            <a:pPr>
              <a:defRPr sz="1400" b="1"/>
            </a:pPr>
            <a:r>
              <a:rPr dirty="0"/>
              <a:t>=== Slide 14: Balancing Scalar lambda &amp; Median-Normalized Formulation ===</a:t>
            </a:r>
          </a:p>
          <a:p>
            <a:br>
              <a:rPr dirty="0"/>
            </a:br>
            <a:r>
              <a:rPr dirty="0"/>
              <a:t>[WHAT PROF. LE SEES ON SCREEN]:</a:t>
            </a:r>
          </a:p>
          <a:p>
            <a:pPr>
              <a:defRPr sz="1000"/>
            </a:pPr>
            <a:r>
              <a:rPr dirty="0"/>
              <a:t>• Balancing Scalar lambda formulation.</a:t>
            </a:r>
          </a:p>
          <a:p>
            <a:pPr>
              <a:defRPr sz="1000"/>
            </a:pPr>
            <a:r>
              <a:rPr dirty="0"/>
              <a:t>• Scale-invariant, median-normalized formula: </a:t>
            </a:r>
            <a:r>
              <a:rPr dirty="0" err="1"/>
              <a:t>G_i</a:t>
            </a:r>
            <a:r>
              <a:rPr dirty="0"/>
              <a:t>^{(J)} = sqrt((</a:t>
            </a:r>
            <a:r>
              <a:rPr dirty="0" err="1"/>
              <a:t>G_i</a:t>
            </a:r>
            <a:r>
              <a:rPr dirty="0"/>
              <a:t>^{(L)} / median(G^{(L)}))^2 + (</a:t>
            </a:r>
            <a:r>
              <a:rPr dirty="0" err="1"/>
              <a:t>G_i</a:t>
            </a:r>
            <a:r>
              <a:rPr dirty="0"/>
              <a:t>^{(P)} / median(G^{(P)}))^2).</a:t>
            </a:r>
          </a:p>
          <a:p>
            <a:pPr>
              <a:defRPr sz="1000"/>
            </a:pPr>
            <a:r>
              <a:rPr dirty="0"/>
              <a:t>• Eliminates parameter-count dominance: Both modules contribute equally to tension ranking.</a:t>
            </a:r>
          </a:p>
          <a:p>
            <a:br>
              <a:rPr dirty="0"/>
            </a:br>
            <a:r>
              <a:rPr dirty="0"/>
              <a:t>[SPOKEN SCRIPT - READ ALOUD]:</a:t>
            </a:r>
          </a:p>
          <a:p>
            <a:pPr>
              <a:defRPr sz="1100"/>
            </a:pPr>
            <a:r>
              <a:rPr dirty="0"/>
              <a:t>"When combining language and projector gradients into </a:t>
            </a:r>
            <a:r>
              <a:rPr dirty="0" err="1"/>
              <a:t>G_i</a:t>
            </a:r>
            <a:r>
              <a:rPr dirty="0"/>
              <a:t>^{(J)}, a naive sum would allow the language </a:t>
            </a:r>
            <a:r>
              <a:rPr dirty="0" err="1"/>
              <a:t>LoRA</a:t>
            </a:r>
            <a:r>
              <a:rPr dirty="0"/>
              <a:t> adapters to dominate simply because they contain more parameters. To solve this, we propose a scale-invariant, median-normalized formulation, shown at the bottom of the slide. By dividing each module's gradient norm by its own empirical median across the dataset before squaring and summing, both the language decoder and the vision projector contribute equally to the joint tension metric."</a:t>
            </a:r>
          </a:p>
          <a:p>
            <a:br>
              <a:rPr dirty="0"/>
            </a:br>
            <a:r>
              <a:rPr dirty="0"/>
              <a:t>[ANTICIPATED QUESTION &amp; DEFENSE]:</a:t>
            </a:r>
          </a:p>
          <a:p>
            <a:pPr>
              <a:defRPr sz="1000"/>
            </a:pPr>
            <a:r>
              <a:rPr dirty="0"/>
              <a:t>Q: Why use median normalization rather than mean or standard deviation?</a:t>
            </a:r>
            <a:br>
              <a:rPr dirty="0"/>
            </a:br>
            <a:r>
              <a:rPr dirty="0"/>
              <a:t>A: Gradients are heavy-tailed and contain extreme outliers. The empirical median is robust to outliers, ensuring stable scaling across diverse batches.</a:t>
            </a:r>
          </a:p>
          <a:p>
            <a:br>
              <a:rPr dirty="0"/>
            </a:br>
            <a:r>
              <a:rPr dirty="0"/>
              <a:t>[TRANSITION TO NEXT SLIDE]:</a:t>
            </a:r>
          </a:p>
          <a:p>
            <a:pPr>
              <a:defRPr sz="1000"/>
            </a:pPr>
            <a:r>
              <a:rPr dirty="0"/>
              <a:t>Slide 15 shows the comprehensive per-sample diagnostics we log during this selection pass.</a:t>
            </a:r>
          </a:p>
        </p:txBody>
      </p:sp>
      <p:sp>
        <p:nvSpPr>
          <p:cNvPr id="4" name="Slide Number Placeholder 3">
            <a:extLst>
              <a:ext uri="{FF2B5EF4-FFF2-40B4-BE49-F238E27FC236}">
                <a16:creationId xmlns:a16="http://schemas.microsoft.com/office/drawing/2014/main" id="{67082A9A-BC42-94B8-C5CF-80888161E541}"/>
              </a:ext>
            </a:extLst>
          </p:cNvPr>
          <p:cNvSpPr>
            <a:spLocks noGrp="1"/>
          </p:cNvSpPr>
          <p:nvPr>
            <p:ph type="sldNum" sz="quarter" idx="5"/>
          </p:nvPr>
        </p:nvSpPr>
        <p:spPr/>
        <p:txBody>
          <a:bodyPr/>
          <a:lstStyle/>
          <a:p>
            <a:fld id="{CDA9DB53-8153-CC4A-A2C1-32F9B57AB15A}" type="slidenum">
              <a:rPr lang="en-US" smtClean="0"/>
              <a:t>14</a:t>
            </a:fld>
            <a:endParaRPr lang="en-US"/>
          </a:p>
        </p:txBody>
      </p:sp>
    </p:spTree>
    <p:extLst>
      <p:ext uri="{BB962C8B-B14F-4D97-AF65-F5344CB8AC3E}">
        <p14:creationId xmlns:p14="http://schemas.microsoft.com/office/powerpoint/2010/main" val="27956404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10C46-60DB-CAC2-52A1-FFD642C6CB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AF21E-B3E1-C60D-41B1-FBEAA71AADC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B6FC12D-CAA4-438C-588B-8B4660678BE8}"/>
              </a:ext>
            </a:extLst>
          </p:cNvPr>
          <p:cNvSpPr>
            <a:spLocks noGrp="1"/>
          </p:cNvSpPr>
          <p:nvPr>
            <p:ph type="body" idx="1"/>
          </p:nvPr>
        </p:nvSpPr>
        <p:spPr/>
        <p:txBody>
          <a:bodyPr/>
          <a:lstStyle/>
          <a:p>
            <a:pPr>
              <a:defRPr sz="1400" b="1"/>
            </a:pPr>
            <a:r>
              <a:rPr dirty="0"/>
              <a:t>=== Slide 15: VLM-Specific Diagnostic Logging ===</a:t>
            </a:r>
          </a:p>
          <a:p>
            <a:br>
              <a:rPr dirty="0"/>
            </a:br>
            <a:r>
              <a:rPr dirty="0"/>
              <a:t>[WHAT PROF. LE SEES ON SCREEN]:</a:t>
            </a:r>
          </a:p>
          <a:p>
            <a:pPr>
              <a:defRPr sz="1000"/>
            </a:pPr>
            <a:r>
              <a:rPr dirty="0"/>
              <a:t>• Per-sample diagnostics table: Target token count, prompt length, image token count, native image resolution, mean response loss, individual module gradients (</a:t>
            </a:r>
            <a:r>
              <a:rPr dirty="0" err="1"/>
              <a:t>G_i</a:t>
            </a:r>
            <a:r>
              <a:rPr dirty="0"/>
              <a:t>^{(L)}, </a:t>
            </a:r>
            <a:r>
              <a:rPr dirty="0" err="1"/>
              <a:t>G_i</a:t>
            </a:r>
            <a:r>
              <a:rPr dirty="0"/>
              <a:t>^{(P)}).</a:t>
            </a:r>
          </a:p>
          <a:p>
            <a:br>
              <a:rPr dirty="0"/>
            </a:br>
            <a:r>
              <a:rPr dirty="0"/>
              <a:t>[SPOKEN SCRIPT - READ ALOUD]:</a:t>
            </a:r>
          </a:p>
          <a:p>
            <a:pPr>
              <a:defRPr sz="1100"/>
            </a:pPr>
            <a:r>
              <a:rPr dirty="0"/>
              <a:t>"To ensure our selection is methodologically sound, we log a comprehensive set of per-sample diagnostics during the selection pass: target token count, prompt length, image token count, native image resolution, mean response loss, and individual module gradients. This provides full observability and allows us to rule out potential confounders."</a:t>
            </a:r>
          </a:p>
          <a:p>
            <a:br>
              <a:rPr dirty="0"/>
            </a:br>
            <a:r>
              <a:rPr dirty="0"/>
              <a:t>[ANTICIPATED QUESTION &amp; DEFENSE]:</a:t>
            </a:r>
          </a:p>
          <a:p>
            <a:pPr>
              <a:defRPr sz="1000"/>
            </a:pPr>
            <a:r>
              <a:rPr dirty="0"/>
              <a:t>Q: Why log image resolution?</a:t>
            </a:r>
            <a:br>
              <a:rPr dirty="0"/>
            </a:br>
            <a:r>
              <a:rPr dirty="0"/>
              <a:t>A: Higher resolution produces more image tokens in dynamic resolution architectures (like Qwen2-VL), which could affect cross-attention computation. Logging resolution allows us to verify whether gradient magnitude correlates with image complexity.</a:t>
            </a:r>
          </a:p>
          <a:p>
            <a:br>
              <a:rPr dirty="0"/>
            </a:br>
            <a:r>
              <a:rPr dirty="0"/>
              <a:t>[TRANSITION TO NEXT SLIDE]:</a:t>
            </a:r>
          </a:p>
          <a:p>
            <a:pPr>
              <a:defRPr sz="1000"/>
            </a:pPr>
            <a:r>
              <a:rPr dirty="0"/>
              <a:t>Slide 16 addresses another potential confounder: response token length.</a:t>
            </a:r>
          </a:p>
        </p:txBody>
      </p:sp>
      <p:sp>
        <p:nvSpPr>
          <p:cNvPr id="4" name="Slide Number Placeholder 3">
            <a:extLst>
              <a:ext uri="{FF2B5EF4-FFF2-40B4-BE49-F238E27FC236}">
                <a16:creationId xmlns:a16="http://schemas.microsoft.com/office/drawing/2014/main" id="{6D8FC314-B103-C1CE-6505-E3CD2F6DF13E}"/>
              </a:ext>
            </a:extLst>
          </p:cNvPr>
          <p:cNvSpPr>
            <a:spLocks noGrp="1"/>
          </p:cNvSpPr>
          <p:nvPr>
            <p:ph type="sldNum" sz="quarter" idx="5"/>
          </p:nvPr>
        </p:nvSpPr>
        <p:spPr/>
        <p:txBody>
          <a:bodyPr/>
          <a:lstStyle/>
          <a:p>
            <a:fld id="{CDA9DB53-8153-CC4A-A2C1-32F9B57AB15A}" type="slidenum">
              <a:rPr lang="en-US" smtClean="0"/>
              <a:t>15</a:t>
            </a:fld>
            <a:endParaRPr lang="en-US"/>
          </a:p>
        </p:txBody>
      </p:sp>
    </p:spTree>
    <p:extLst>
      <p:ext uri="{BB962C8B-B14F-4D97-AF65-F5344CB8AC3E}">
        <p14:creationId xmlns:p14="http://schemas.microsoft.com/office/powerpoint/2010/main" val="28013857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rPr dirty="0"/>
              <a:t>=== Slide 16: Length Normalization &amp; L2 Norm Foundations ===</a:t>
            </a:r>
          </a:p>
          <a:p>
            <a:br>
              <a:rPr dirty="0"/>
            </a:br>
            <a:r>
              <a:rPr dirty="0"/>
              <a:t>[WHAT PROF. LE SEES ON SCREEN]:</a:t>
            </a:r>
          </a:p>
          <a:p>
            <a:pPr>
              <a:defRPr sz="1000"/>
            </a:pPr>
            <a:r>
              <a:rPr dirty="0"/>
              <a:t>• Length normalization: </a:t>
            </a:r>
            <a:r>
              <a:rPr dirty="0" err="1"/>
              <a:t>G_tilde_i</a:t>
            </a:r>
            <a:r>
              <a:rPr dirty="0"/>
              <a:t> = </a:t>
            </a:r>
            <a:r>
              <a:rPr dirty="0" err="1"/>
              <a:t>G_i</a:t>
            </a:r>
            <a:r>
              <a:rPr dirty="0"/>
              <a:t> / sqrt(</a:t>
            </a:r>
            <a:r>
              <a:rPr dirty="0" err="1"/>
              <a:t>N_tokens</a:t>
            </a:r>
            <a:r>
              <a:rPr dirty="0"/>
              <a:t>).</a:t>
            </a:r>
          </a:p>
          <a:p>
            <a:pPr>
              <a:defRPr sz="1000"/>
            </a:pPr>
            <a:r>
              <a:rPr dirty="0"/>
              <a:t>• Observation: Longer benign answers naturally accumulate higher gradient norms across token loss steps.</a:t>
            </a:r>
          </a:p>
          <a:p>
            <a:pPr>
              <a:defRPr sz="1000"/>
            </a:pPr>
            <a:r>
              <a:rPr dirty="0"/>
              <a:t>• Random walk property: L2 norm of sum of N independent steps scales with sqrt(N).</a:t>
            </a:r>
          </a:p>
          <a:p>
            <a:br>
              <a:rPr dirty="0"/>
            </a:br>
            <a:r>
              <a:rPr dirty="0"/>
              <a:t>[SPOKEN SCRIPT - READ ALOUD]:</a:t>
            </a:r>
          </a:p>
          <a:p>
            <a:pPr>
              <a:defRPr sz="1100"/>
            </a:pPr>
            <a:r>
              <a:rPr dirty="0"/>
              <a:t>"Slide 16 details our length normalization mechanism. In auto-regressive generation, longer responses naturally accumulate higher gradient norms simply because you are summing across more token loss steps. A 300-word benign explanation could easily exhibit a larger gradient than a 2-word unsafe response. We implement length normalization by dividing the joint norm by the square root of the target token count. We will use this in sensitivity analysis to verify that our median selection captures semantic tension rather than verbosity."</a:t>
            </a:r>
          </a:p>
          <a:p>
            <a:br>
              <a:rPr dirty="0"/>
            </a:br>
            <a:r>
              <a:rPr dirty="0"/>
              <a:t>[ANTICIPATED QUESTION &amp; DEFENSE]:</a:t>
            </a:r>
          </a:p>
          <a:p>
            <a:pPr>
              <a:defRPr sz="1000"/>
            </a:pPr>
            <a:r>
              <a:rPr dirty="0"/>
              <a:t>Q: Why sqrt(N) instead of N?</a:t>
            </a:r>
            <a:br>
              <a:rPr dirty="0"/>
            </a:br>
            <a:r>
              <a:rPr dirty="0"/>
              <a:t>A: Gradient vectors across tokens are approximately orthogonal random variables under stochastic gradient descent; the L2 norm of the sum of N independent steps scales with sqrt(N), following standard random walk theory.</a:t>
            </a:r>
          </a:p>
          <a:p>
            <a:br>
              <a:rPr dirty="0"/>
            </a:br>
            <a:r>
              <a:rPr dirty="0"/>
              <a:t>[TRANSITION TO NEXT SLIDE]:</a:t>
            </a:r>
          </a:p>
          <a:p>
            <a:pPr>
              <a:defRPr sz="1000"/>
            </a:pPr>
            <a:r>
              <a:rPr dirty="0"/>
              <a:t>Slide 17 shows how these gradient scores translate into sample selection buckets.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defRPr sz="1400" b="1"/>
            </a:pPr>
            <a:r>
              <a:rPr dirty="0"/>
              <a:t>=== Slide 17: Total Norm vs. Selection Buckets ===</a:t>
            </a:r>
          </a:p>
          <a:p>
            <a:br>
              <a:rPr dirty="0"/>
            </a:br>
            <a:r>
              <a:rPr dirty="0"/>
              <a:t>[WHAT PROF. LE SEES ON SCREEN]:</a:t>
            </a:r>
          </a:p>
          <a:p>
            <a:pPr>
              <a:defRPr sz="1000"/>
            </a:pPr>
            <a:r>
              <a:rPr dirty="0"/>
              <a:t>• 3-stage selection pipeline: 1. Loss pre-filter [</a:t>
            </a:r>
            <a:r>
              <a:rPr dirty="0" err="1"/>
              <a:t>mu_L</a:t>
            </a:r>
            <a:r>
              <a:rPr dirty="0"/>
              <a:t> +/- </a:t>
            </a:r>
            <a:r>
              <a:rPr dirty="0" err="1"/>
              <a:t>sigma_L</a:t>
            </a:r>
            <a:r>
              <a:rPr dirty="0"/>
              <a:t>]; 2. 20% closest to median gradient norm.</a:t>
            </a:r>
          </a:p>
          <a:p>
            <a:pPr>
              <a:defRPr sz="1000"/>
            </a:pPr>
            <a:r>
              <a:rPr dirty="0"/>
              <a:t>• Comparison buckets: Low-</a:t>
            </a:r>
            <a:r>
              <a:rPr dirty="0" err="1"/>
              <a:t>G_i</a:t>
            </a:r>
            <a:r>
              <a:rPr dirty="0"/>
              <a:t>, Moderate-</a:t>
            </a:r>
            <a:r>
              <a:rPr dirty="0" err="1"/>
              <a:t>G_i</a:t>
            </a:r>
            <a:r>
              <a:rPr dirty="0"/>
              <a:t> (median), High-</a:t>
            </a:r>
            <a:r>
              <a:rPr dirty="0" err="1"/>
              <a:t>G_i</a:t>
            </a:r>
            <a:r>
              <a:rPr dirty="0"/>
              <a:t>, Random 20%, Full Fine-Tuning.</a:t>
            </a:r>
          </a:p>
          <a:p>
            <a:br>
              <a:rPr dirty="0"/>
            </a:br>
            <a:r>
              <a:rPr dirty="0"/>
              <a:t>[SPOKEN SCRIPT - READ ALOUD]:</a:t>
            </a:r>
          </a:p>
          <a:p>
            <a:pPr>
              <a:defRPr sz="1100"/>
            </a:pPr>
            <a:r>
              <a:rPr dirty="0"/>
              <a:t>"If we only tracked a single total norm, we would have no diagnostic visibility into which mechanism caused an outlier—whether it was a formatting clash, an ambiguous image, or an unusually long answer. As in Bach et al., our selection pipeline does not simply pick the lowest gradients. We first apply a loss pre-filter to eliminate noisy outliers, and then select the 20% of samples closest to the median gradient norm, comparing them against Low-</a:t>
            </a:r>
            <a:r>
              <a:rPr dirty="0" err="1"/>
              <a:t>G_i</a:t>
            </a:r>
            <a:r>
              <a:rPr dirty="0"/>
              <a:t>, High-</a:t>
            </a:r>
            <a:r>
              <a:rPr dirty="0" err="1"/>
              <a:t>G_i</a:t>
            </a:r>
            <a:r>
              <a:rPr dirty="0"/>
              <a:t>, Random, and Full fine-tuning."</a:t>
            </a:r>
          </a:p>
          <a:p>
            <a:br>
              <a:rPr dirty="0"/>
            </a:br>
            <a:r>
              <a:rPr dirty="0"/>
              <a:t>[ANTICIPATED QUESTION &amp; DEFENSE]:</a:t>
            </a:r>
          </a:p>
          <a:p>
            <a:pPr>
              <a:defRPr sz="1000"/>
            </a:pPr>
            <a:r>
              <a:rPr dirty="0"/>
              <a:t>Q: Why select Moderate-</a:t>
            </a:r>
            <a:r>
              <a:rPr dirty="0" err="1"/>
              <a:t>G_i</a:t>
            </a:r>
            <a:r>
              <a:rPr dirty="0"/>
              <a:t> (median) rather than Low-</a:t>
            </a:r>
            <a:r>
              <a:rPr dirty="0" err="1"/>
              <a:t>G_i</a:t>
            </a:r>
            <a:r>
              <a:rPr dirty="0"/>
              <a:t>?</a:t>
            </a:r>
            <a:br>
              <a:rPr dirty="0"/>
            </a:br>
            <a:r>
              <a:rPr dirty="0"/>
              <a:t>A: Low-</a:t>
            </a:r>
            <a:r>
              <a:rPr dirty="0" err="1"/>
              <a:t>G_i</a:t>
            </a:r>
            <a:r>
              <a:rPr dirty="0"/>
              <a:t> samples represent trivial, low-information examples that the model already knows; training on Low-</a:t>
            </a:r>
            <a:r>
              <a:rPr dirty="0" err="1"/>
              <a:t>G_i</a:t>
            </a:r>
            <a:r>
              <a:rPr dirty="0"/>
              <a:t> preserves safety but stalls downstream task adaptation. Moderate-</a:t>
            </a:r>
            <a:r>
              <a:rPr dirty="0" err="1"/>
              <a:t>G_i</a:t>
            </a:r>
            <a:r>
              <a:rPr dirty="0"/>
              <a:t> strikes the optimal Pareto trade-off: sufficient gradient signal for new task acquisition while avoiding the extreme-gradient outliers that breach safety basins.</a:t>
            </a:r>
          </a:p>
          <a:p>
            <a:br>
              <a:rPr dirty="0"/>
            </a:br>
            <a:r>
              <a:rPr dirty="0"/>
              <a:t>[TRANSITION TO NEXT SLIDE]:</a:t>
            </a:r>
          </a:p>
          <a:p>
            <a:pPr>
              <a:defRPr sz="1000"/>
            </a:pPr>
            <a:r>
              <a:rPr dirty="0"/>
              <a:t>Now let us move to our experimental roadmap: the 4-stage continual task sequence on Slide 18.</a:t>
            </a:r>
          </a:p>
        </p:txBody>
      </p:sp>
      <p:sp>
        <p:nvSpPr>
          <p:cNvPr id="4" name="Slide Number Placeholder 3"/>
          <p:cNvSpPr>
            <a:spLocks noGrp="1"/>
          </p:cNvSpPr>
          <p:nvPr>
            <p:ph type="sldNum" sz="quarter" idx="5"/>
          </p:nvPr>
        </p:nvSpPr>
        <p:spPr/>
        <p:txBody>
          <a:bodyPr/>
          <a:lstStyle/>
          <a:p>
            <a:fld id="{CDA9DB53-8153-CC4A-A2C1-32F9B57AB15A}" type="slidenum">
              <a:rPr lang="en-US" smtClean="0"/>
              <a:t>17</a:t>
            </a:fld>
            <a:endParaRPr lang="en-US"/>
          </a:p>
        </p:txBody>
      </p:sp>
    </p:spTree>
    <p:extLst>
      <p:ext uri="{BB962C8B-B14F-4D97-AF65-F5344CB8AC3E}">
        <p14:creationId xmlns:p14="http://schemas.microsoft.com/office/powerpoint/2010/main" val="19872905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rPr dirty="0"/>
              <a:t>=== Slide 18: Execution Plan: 4-Stage Continual Task Sequence ===</a:t>
            </a:r>
          </a:p>
          <a:p>
            <a:br>
              <a:rPr dirty="0"/>
            </a:br>
            <a:r>
              <a:rPr dirty="0"/>
              <a:t>[WHAT PROF. LE SEES ON SCREEN]:</a:t>
            </a:r>
          </a:p>
          <a:p>
            <a:pPr>
              <a:defRPr sz="1000"/>
            </a:pPr>
            <a:r>
              <a:rPr dirty="0"/>
              <a:t>• Stage 1: LLaVA-Instruct-150K (general visual instruction).</a:t>
            </a:r>
          </a:p>
          <a:p>
            <a:pPr>
              <a:defRPr sz="1000"/>
            </a:pPr>
            <a:r>
              <a:rPr dirty="0"/>
              <a:t>• Stage 2: </a:t>
            </a:r>
            <a:r>
              <a:rPr dirty="0" err="1"/>
              <a:t>MathVista</a:t>
            </a:r>
            <a:r>
              <a:rPr dirty="0"/>
              <a:t> (visual math reasoning).</a:t>
            </a:r>
          </a:p>
          <a:p>
            <a:pPr>
              <a:defRPr sz="1000"/>
            </a:pPr>
            <a:r>
              <a:rPr dirty="0"/>
              <a:t>• Stage 3: SLAKE (14k training) / VQA-RAD (held-out medical evaluation).</a:t>
            </a:r>
          </a:p>
          <a:p>
            <a:pPr>
              <a:defRPr sz="1000"/>
            </a:pPr>
            <a:r>
              <a:rPr dirty="0"/>
              <a:t>• Stage 4: </a:t>
            </a:r>
            <a:r>
              <a:rPr dirty="0" err="1"/>
              <a:t>DocVQA</a:t>
            </a:r>
            <a:r>
              <a:rPr dirty="0"/>
              <a:t> (dense document OCR).</a:t>
            </a:r>
          </a:p>
          <a:p>
            <a:br>
              <a:rPr dirty="0"/>
            </a:br>
            <a:r>
              <a:rPr dirty="0"/>
              <a:t>[SPOKEN SCRIPT - READ ALOUD]:</a:t>
            </a:r>
          </a:p>
          <a:p>
            <a:pPr>
              <a:defRPr sz="1100"/>
            </a:pPr>
            <a:r>
              <a:rPr dirty="0"/>
              <a:t>"On Slide 18, we outline our continual training sequence. We proceed through four diverse stages: general visual instruction following on LLaVA-150K; visual math reasoning on </a:t>
            </a:r>
            <a:r>
              <a:rPr dirty="0" err="1"/>
              <a:t>MathVista</a:t>
            </a:r>
            <a:r>
              <a:rPr dirty="0"/>
              <a:t>; clinical image understanding on SLAKE; and dense document OCR on </a:t>
            </a:r>
            <a:r>
              <a:rPr dirty="0" err="1"/>
              <a:t>DocVQA</a:t>
            </a:r>
            <a:r>
              <a:rPr dirty="0"/>
              <a:t>. Crucially, for clinical VQA, we use SLAKE's 14,000 samples for training, and preserve VQA-RAD as an untouched, out-of-domain benchmark to test true generalization. For </a:t>
            </a:r>
            <a:r>
              <a:rPr dirty="0" err="1"/>
              <a:t>MathVista</a:t>
            </a:r>
            <a:r>
              <a:rPr dirty="0"/>
              <a:t>, we strictly separate the training split from held-out evaluation."</a:t>
            </a:r>
          </a:p>
          <a:p>
            <a:br>
              <a:rPr dirty="0"/>
            </a:br>
            <a:r>
              <a:rPr dirty="0"/>
              <a:t>[ANTICIPATED QUESTION &amp; DEFENSE]:</a:t>
            </a:r>
          </a:p>
          <a:p>
            <a:pPr>
              <a:defRPr sz="1000"/>
            </a:pPr>
            <a:r>
              <a:rPr dirty="0"/>
              <a:t>Q: Why separate SLAKE and VQA-RAD?</a:t>
            </a:r>
            <a:br>
              <a:rPr dirty="0"/>
            </a:br>
            <a:r>
              <a:rPr dirty="0"/>
              <a:t>A: Using SLAKE for training and VQA-RAD exclusively for evaluation ensures that our medical domain evaluation measures true zero-shot cross-dataset generalization rather than memorized dataset artifacts.</a:t>
            </a:r>
          </a:p>
          <a:p>
            <a:br>
              <a:rPr dirty="0"/>
            </a:br>
            <a:r>
              <a:rPr dirty="0"/>
              <a:t>[TRANSITION TO NEXT SLIDE]:</a:t>
            </a:r>
          </a:p>
          <a:p>
            <a:pPr>
              <a:defRPr sz="1000"/>
            </a:pPr>
            <a:r>
              <a:rPr dirty="0"/>
              <a:t>Slide 19 details our pragmatic compute strategy: moving from a </a:t>
            </a:r>
            <a:r>
              <a:rPr dirty="0" err="1"/>
              <a:t>Colab</a:t>
            </a:r>
            <a:r>
              <a:rPr dirty="0"/>
              <a:t> pilot to the PSU cluster.</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t>=== Slide 19: Implementation Plan: Two-Phase Roadmap ===</a:t>
            </a:r>
          </a:p>
          <a:p>
            <a:br/>
            <a:r>
              <a:t>[WHAT PROF. LE SEES ON SCREEN]:</a:t>
            </a:r>
          </a:p>
          <a:p>
            <a:pPr>
              <a:defRPr sz="1000"/>
            </a:pPr>
            <a:r>
              <a:t>• Phase 1: Rapid pilot on Google Colab T4 GPU (Qwen2-VL-2B in 4-bit QLoRA, 1,000 samples). Tests core hypothesis on FigStep &amp; MM-SafetyBench.</a:t>
            </a:r>
          </a:p>
          <a:p>
            <a:pPr>
              <a:defRPr sz="1000"/>
            </a:pPr>
            <a:r>
              <a:t>• Phase 2: Scale to PSU Campus Cluster across 3 seeds on full 4-task sequence, complete benchmark suite, and attribution ablations.</a:t>
            </a:r>
          </a:p>
          <a:p>
            <a:br/>
            <a:r>
              <a:t>[SPOKEN SCRIPT - READ ALOUD]:</a:t>
            </a:r>
          </a:p>
          <a:p>
            <a:pPr>
              <a:defRPr sz="1100"/>
            </a:pPr>
            <a:r>
              <a:t>"Our experimental roadmap is divided into two pragmatic phases. Phase 1 is a rapid pilot on Google Colab using a single T4 GPU. We use Qwen2-VL-2B in 4-bit QLoRA on a 1,000-sample subset of LLaVA-Instruct. This pilot will quickly test our core hypothesis: does High-G_i induce higher visual ASR than Moderate-G_i on FigStep and MM-SafetyBench? Once validated, Phase 2 scales to the PSU Campus Cluster across 3 random seeds, running the full 4-task sequence, complete benchmark suite, and full attribution ablation."</a:t>
            </a:r>
          </a:p>
          <a:p>
            <a:br/>
            <a:r>
              <a:t>[ANTICIPATED QUESTION &amp; DEFENSE]:</a:t>
            </a:r>
          </a:p>
          <a:p>
            <a:pPr>
              <a:defRPr sz="1000"/>
            </a:pPr>
            <a:r>
              <a:t>Q: What is the exact deliverable of Phase 1?</a:t>
            </a:r>
            <a:br/>
            <a:r>
              <a:t>A: A 2x2 matrix: Moderate vs High G_i evaluated on FigStep and MM-SafetyBench. If High-G_i causes significantly higher ASR than Moderate-G_i, the core hypothesis is confirmed before running large cluster jobs.</a:t>
            </a:r>
          </a:p>
          <a:p>
            <a:br/>
            <a:r>
              <a:t>[TRANSITION TO NEXT SLIDE]:</a:t>
            </a:r>
          </a:p>
          <a:p>
            <a:pPr>
              <a:defRPr sz="1000"/>
            </a:pPr>
            <a:r>
              <a:t>Slide 20 outlines our model choice, LoRA setup, and concrete success criteria.</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t>=== Slide 20: Practical Setup &amp; Hyperparameters ===</a:t>
            </a:r>
          </a:p>
          <a:p>
            <a:br/>
            <a:r>
              <a:t>[WHAT PROF. LE SEES ON SCREEN]:</a:t>
            </a:r>
          </a:p>
          <a:p>
            <a:pPr>
              <a:defRPr sz="1000"/>
            </a:pPr>
            <a:r>
              <a:t>• Model: Qwen2-VL-2B-Instruct (matches Qwen2.5/Qwen3 base lineage of Bach et al.).</a:t>
            </a:r>
          </a:p>
          <a:p>
            <a:pPr>
              <a:defRPr sz="1000"/>
            </a:pPr>
            <a:r>
              <a:t>• LoRA: Language backbone q, k, v, o, gate, up, down (r=16, alpha=32).</a:t>
            </a:r>
          </a:p>
          <a:p>
            <a:pPr>
              <a:defRPr sz="1000"/>
            </a:pPr>
            <a:r>
              <a:t>• Success Criteria: Moderate-G_i preserves lower ASR than Full/Random while matching task accuracy.</a:t>
            </a:r>
          </a:p>
          <a:p>
            <a:br/>
            <a:r>
              <a:t>[SPOKEN SCRIPT - READ ALOUD]:</a:t>
            </a:r>
          </a:p>
          <a:p>
            <a:pPr>
              <a:defRPr sz="1100"/>
            </a:pPr>
            <a:r>
              <a:t>"For model selection, Qwen2-VL-2B-Instruct is ideal: it belongs to the exact Qwen architectural family analyzed in Bach et al., ensuring theoretical continuity while fitting into consumer hardware. We target all attention projections and MLP layers in the language backbone with rank 16 and alpha 32. Our success criterion in Phase 1 is confirming that Moderate-G_i preserves lower ASR than standard or random fine-tuning while matching downstream task accuracy."</a:t>
            </a:r>
          </a:p>
          <a:p>
            <a:br/>
            <a:r>
              <a:t>[ANTICIPATED QUESTION &amp; DEFENSE]:</a:t>
            </a:r>
          </a:p>
          <a:p>
            <a:pPr>
              <a:defRPr sz="1000"/>
            </a:pPr>
            <a:r>
              <a:t>Q: Why Qwen2-VL-2B instead of LLaVA-1.5-7B?</a:t>
            </a:r>
            <a:br/>
            <a:r>
              <a:t>A: Qwen2-VL has native dynamic resolution, a modern vision architecture, strong multilingual/multimodal benchmarks, and matches the Qwen2.5/Qwen3 base lineage used in Bach et al.</a:t>
            </a:r>
          </a:p>
          <a:p>
            <a:br/>
            <a:r>
              <a:t>[TRANSITION TO NEXT SLIDE]:</a:t>
            </a:r>
          </a:p>
          <a:p>
            <a:pPr>
              <a:defRPr sz="1000"/>
            </a:pPr>
            <a:r>
              <a:t>Next, let us examine how we evaluate multimodal safety accurately, starting with Slide 21.</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t>=== Slide 21: Safety Judges for VLMs: The Visual Blindspot ===</a:t>
            </a:r>
          </a:p>
          <a:p>
            <a:br/>
            <a:r>
              <a:t>[WHAT PROF. LE SEES ON SCREEN]:</a:t>
            </a:r>
          </a:p>
          <a:p>
            <a:pPr>
              <a:defRPr sz="1000"/>
            </a:pPr>
            <a:r>
              <a:t>• Limitations of text-only judges: Cannot see images; cannot detect FigStep image-rendered attacks.</a:t>
            </a:r>
          </a:p>
          <a:p>
            <a:pPr>
              <a:defRPr sz="1000"/>
            </a:pPr>
            <a:r>
              <a:t>• Solution: Judge model evaluates generated response against the intended harmful query embedded in the prompt/image, not just raw text prompt.</a:t>
            </a:r>
          </a:p>
          <a:p>
            <a:pPr>
              <a:defRPr sz="1000"/>
            </a:pPr>
            <a:r>
              <a:t>• Artifact logging: Preserve image, intended instruction, VLM response, judge decision, OCR verification.</a:t>
            </a:r>
          </a:p>
          <a:p>
            <a:br/>
            <a:r>
              <a:t>[SPOKEN SCRIPT - READ ALOUD]:</a:t>
            </a:r>
          </a:p>
          <a:p>
            <a:pPr>
              <a:defRPr sz="1100"/>
            </a:pPr>
            <a:r>
              <a:t>"Evaluating safety in VLMs introduces a major dilemma: text-only judges like Llama-Guard are blind to images. In a FigStep attack, the harmful instruction is rendered visually inside the image while the text prompt is completely benign. If a text judge only inspects the prompt and answer, it cannot determine whether the model obeyed a harmful visual directive. Therefore, for visual jailbreaks, our judge must evaluate the generated response against the intended harmful instruction embedded in the image, rather than the raw text prompt alone."</a:t>
            </a:r>
          </a:p>
          <a:p>
            <a:br/>
            <a:r>
              <a:t>[ANTICIPATED QUESTION &amp; DEFENSE]:</a:t>
            </a:r>
          </a:p>
          <a:p>
            <a:pPr>
              <a:defRPr sz="1000"/>
            </a:pPr>
            <a:r>
              <a:t>Q: Are you using an automated VLM judge or text judge?</a:t>
            </a:r>
            <a:br/>
            <a:r>
              <a:t>A: We use a text judge (Llama-Guard-3 / GPT-4o-mini), but we explicitly feed it the decoded reference harmful instruction from the image metadata, not just the benign prompt.</a:t>
            </a:r>
          </a:p>
          <a:p>
            <a:br/>
            <a:r>
              <a:t>[TRANSITION TO NEXT SLIDE]:</a:t>
            </a:r>
          </a:p>
          <a:p>
            <a:pPr>
              <a:defRPr sz="1000"/>
            </a:pPr>
            <a:r>
              <a:t>Slide 22 shows the structured evaluation record schema that enables this.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t>=== Slide 22: Structured Record Schema for Evaluators ===</a:t>
            </a:r>
          </a:p>
          <a:p>
            <a:br/>
            <a:r>
              <a:t>[WHAT PROF. LE SEES ON SCREEN]:</a:t>
            </a:r>
          </a:p>
          <a:p>
            <a:pPr>
              <a:defRPr sz="1000"/>
            </a:pPr>
            <a:r>
              <a:t>• Schema: attack_category, image, decoded_or_reference_harmful_instruction, text_prompt, vlm_response, judge_label.</a:t>
            </a:r>
          </a:p>
          <a:p>
            <a:pPr>
              <a:defRPr sz="1000"/>
            </a:pPr>
            <a:r>
              <a:t>• Stratified manual audit: Fixed sample to verify automated labels across attack categories.</a:t>
            </a:r>
          </a:p>
          <a:p>
            <a:br/>
            <a:r>
              <a:t>[SPOKEN SCRIPT - READ ALOUD]:</a:t>
            </a:r>
          </a:p>
          <a:p>
            <a:pPr>
              <a:defRPr sz="1100"/>
            </a:pPr>
            <a:r>
              <a:t>"To implement this cleanly, we feed our automated evaluator a standardized record containing: the attack category, the image, the decoded reference harmful instruction, the prompt, and the VLM's response. We then supplement automated evaluation with a stratified manual audit across attack categories to empirically calibrate judge accuracy."</a:t>
            </a:r>
          </a:p>
          <a:p>
            <a:br/>
            <a:r>
              <a:t>[ANTICIPATED QUESTION &amp; DEFENSE]:</a:t>
            </a:r>
          </a:p>
          <a:p>
            <a:pPr>
              <a:defRPr sz="1000"/>
            </a:pPr>
            <a:r>
              <a:t>Q: How many samples will you manually audit?</a:t>
            </a:r>
            <a:br/>
            <a:r>
              <a:t>A: A fixed stratified sample of 100 responses per attack category (500 total), measuring Cohen's Kappa between the automated judge and human annotators.</a:t>
            </a:r>
          </a:p>
          <a:p>
            <a:br/>
            <a:r>
              <a:t>[TRANSITION TO NEXT SLIDE]:</a:t>
            </a:r>
          </a:p>
          <a:p>
            <a:pPr>
              <a:defRPr sz="1000"/>
            </a:pPr>
            <a:r>
              <a:t>Slide 23 details our two-stage evaluation protocol and over-refusal monitoring.</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t>=== Slide 23: Two-Stage Safety Evaluation Protocol ===</a:t>
            </a:r>
          </a:p>
          <a:p>
            <a:br/>
            <a:r>
              <a:t>[WHAT PROF. LE SEES ON SCREEN]:</a:t>
            </a:r>
          </a:p>
          <a:p>
            <a:pPr>
              <a:defRPr sz="1000"/>
            </a:pPr>
            <a:r>
              <a:t>• Stage 1: Automatic judge for refusal/compliance; store raw responses.</a:t>
            </a:r>
          </a:p>
          <a:p>
            <a:pPr>
              <a:defRPr sz="1000"/>
            </a:pPr>
            <a:r>
              <a:t>• Refusal Quality: Pair safety with capability; Safety-Utility tradeoff = (Low ASR, High TaskScore).</a:t>
            </a:r>
          </a:p>
          <a:p>
            <a:pPr>
              <a:defRPr sz="1000"/>
            </a:pPr>
            <a:r>
              <a:t>• Stage 2: Manual audit for partial compliance, recognition, and hallucination.</a:t>
            </a:r>
          </a:p>
          <a:p>
            <a:br/>
            <a:r>
              <a:t>[SPOKEN SCRIPT - READ ALOUD]:</a:t>
            </a:r>
          </a:p>
          <a:p>
            <a:pPr>
              <a:defRPr sz="1100"/>
            </a:pPr>
            <a:r>
              <a:t>"Slide 23 summarizes our two-stage safety evaluation. Stage 1 executes automated classification of refusal versus compliance, logging raw text responses for every attack. Importantly, we pair safety with utility: a model that refuses every visual question has low ASR but zero utility. We report the complete Pareto frontier: Low ASR paired with High Task Score. Stage 2 executes manual spot-checks to inspect partial compliance and visual hallucinations."</a:t>
            </a:r>
          </a:p>
          <a:p>
            <a:br/>
            <a:r>
              <a:t>[ANTICIPATED QUESTION &amp; DEFENSE]:</a:t>
            </a:r>
          </a:p>
          <a:p>
            <a:pPr>
              <a:defRPr sz="1000"/>
            </a:pPr>
            <a:r>
              <a:t>Q: What constitutes partial compliance?</a:t>
            </a:r>
            <a:br/>
            <a:r>
              <a:t>A: When a model gives a generic refusal but still provides actionable preliminary steps (e.g., 'I cannot give the recipe, but here are the ingredients'). Our manual audit specifically checks for this.</a:t>
            </a:r>
          </a:p>
          <a:p>
            <a:br/>
            <a:r>
              <a:t>[TRANSITION TO NEXT SLIDE]:</a:t>
            </a:r>
          </a:p>
          <a:p>
            <a:pPr>
              <a:defRPr sz="1000"/>
            </a:pPr>
            <a:r>
              <a:t>Slide 24 formalizes our threat model and attack surface taxonomy.</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t>=== Slide 24: Threat Model &amp; Attack Surface Breakdown ===</a:t>
            </a:r>
          </a:p>
          <a:p>
            <a:br/>
            <a:r>
              <a:t>[WHAT PROF. LE SEES ON SCREEN]:</a:t>
            </a:r>
          </a:p>
          <a:p>
            <a:pPr>
              <a:defRPr sz="1000"/>
            </a:pPr>
            <a:r>
              <a:t>• Threat Model: Test-time adversary providing malicious multimodal inputs without modifying weights.</a:t>
            </a:r>
          </a:p>
          <a:p>
            <a:pPr>
              <a:defRPr sz="1000"/>
            </a:pPr>
            <a:r>
              <a:t>• Input attack vectors: Harmful text, harmful image instruction, benign text + malicious image, benign image + harmful text, typography/screenshots, jailbreak multimodal prompts.</a:t>
            </a:r>
          </a:p>
          <a:p>
            <a:pPr>
              <a:defRPr sz="1000"/>
            </a:pPr>
            <a:r>
              <a:t>• Separation: Isolate visual vs textual channels to detect modality-specific alignment collapse.</a:t>
            </a:r>
          </a:p>
          <a:p>
            <a:br/>
            <a:r>
              <a:t>[SPOKEN SCRIPT - READ ALOUD]:</a:t>
            </a:r>
          </a:p>
          <a:p>
            <a:pPr>
              <a:defRPr sz="1100"/>
            </a:pPr>
            <a:r>
              <a:t>"Slide 24 formalizes our threat model. We assume a test-time adversary who provides malicious multimodal inputs without modifying model weights. The table systematically decomposes the attack matrix: text-only prompts test decoder safety; text rendered in images tests the visual OCR bypass; harmful images test visual semantic safety; benign images with harmful prompts test distraction; and joint ambiguous pairs test multimodal synergy."</a:t>
            </a:r>
          </a:p>
          <a:p>
            <a:br/>
            <a:r>
              <a:t>[ANTICIPATED QUESTION &amp; DEFENSE]:</a:t>
            </a:r>
          </a:p>
          <a:p>
            <a:pPr>
              <a:defRPr sz="1000"/>
            </a:pPr>
            <a:r>
              <a:t>Q: Do you consider adversarial perturbation attacks (e.g. PGD on pixels)?</a:t>
            </a:r>
            <a:br/>
            <a:r>
              <a:t>A: While continuous gradient perturbations exist, jailbreaks using semantic image rendering (FigStep) and real-world malicious imagery are far more prevalent and realistic in deployment.</a:t>
            </a:r>
          </a:p>
          <a:p>
            <a:br/>
            <a:r>
              <a:t>[TRANSITION TO NEXT SLIDE]:</a:t>
            </a:r>
          </a:p>
          <a:p>
            <a:pPr>
              <a:defRPr sz="1000"/>
            </a:pPr>
            <a:r>
              <a:t>Slide 25 provides our multi-dimensional observability scorecard.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rPr dirty="0"/>
              <a:t>=== Slide 25: Comprehensive Observability Checklist ===</a:t>
            </a:r>
          </a:p>
          <a:p>
            <a:br>
              <a:rPr dirty="0"/>
            </a:br>
            <a:r>
              <a:rPr dirty="0"/>
              <a:t>[WHAT PROF. LE SEES ON SCREEN]:</a:t>
            </a:r>
          </a:p>
          <a:p>
            <a:pPr>
              <a:defRPr sz="1000"/>
            </a:pPr>
            <a:r>
              <a:rPr dirty="0"/>
              <a:t>• 6 Core Dimensions: Multimodal safety, Refusal quality / over-refusal, Truthfulness &amp; hallucination (</a:t>
            </a:r>
            <a:r>
              <a:rPr dirty="0" err="1"/>
              <a:t>MMHal</a:t>
            </a:r>
            <a:r>
              <a:rPr dirty="0"/>
              <a:t>-Bench, POPE), Downstream task accuracy, VLM safety basin retention (VISAGE), Computational cost.</a:t>
            </a:r>
          </a:p>
          <a:p>
            <a:br>
              <a:rPr dirty="0"/>
            </a:br>
            <a:r>
              <a:rPr dirty="0"/>
              <a:t>[SPOKEN SCRIPT - READ ALOUD]:</a:t>
            </a:r>
          </a:p>
          <a:p>
            <a:pPr>
              <a:defRPr sz="1100"/>
            </a:pPr>
            <a:r>
              <a:rPr dirty="0"/>
              <a:t>"Slide 25 provides our multi-dimensional observability checklist. Beyond text and visual ASR, we track benign over-refusal on clean visual questions, open-ended hallucination via </a:t>
            </a:r>
            <a:r>
              <a:rPr dirty="0" err="1"/>
              <a:t>MMHal</a:t>
            </a:r>
            <a:r>
              <a:rPr dirty="0"/>
              <a:t>-Bench, object hallucination via POPE, task accuracy across all 4 stages, volumetric safety basin retention, and computational training cost."</a:t>
            </a:r>
          </a:p>
          <a:p>
            <a:endParaRPr lang="en-US" dirty="0"/>
          </a:p>
          <a:p>
            <a:endParaRPr lang="en-US" dirty="0"/>
          </a:p>
          <a:p>
            <a:r>
              <a:rPr lang="en-US" sz="1200" b="0" i="0" kern="1200" dirty="0">
                <a:solidFill>
                  <a:schemeClr val="tx1"/>
                </a:solidFill>
                <a:effectLst/>
                <a:latin typeface="+mn-lt"/>
                <a:ea typeface="+mn-ea"/>
                <a:cs typeface="+mn-cs"/>
              </a:rPr>
              <a:t>Add a bullet point under your Implementation Plan (Slide 20) about using </a:t>
            </a:r>
            <a:r>
              <a:rPr lang="en-US" sz="1200" b="1" i="0" kern="1200" dirty="0">
                <a:solidFill>
                  <a:schemeClr val="tx1"/>
                </a:solidFill>
                <a:effectLst/>
                <a:latin typeface="+mn-lt"/>
                <a:ea typeface="+mn-ea"/>
                <a:cs typeface="+mn-cs"/>
              </a:rPr>
              <a:t>Gradient Checkpointing</a:t>
            </a:r>
            <a:r>
              <a:rPr lang="en-US" sz="1200" b="0" i="0" kern="1200" dirty="0">
                <a:solidFill>
                  <a:schemeClr val="tx1"/>
                </a:solidFill>
                <a:effectLst/>
                <a:latin typeface="+mn-lt"/>
                <a:ea typeface="+mn-ea"/>
                <a:cs typeface="+mn-cs"/>
              </a:rPr>
              <a:t> or calculating the gradient norms </a:t>
            </a:r>
            <a:r>
              <a:rPr lang="en-US" sz="1200" b="0" i="1" kern="1200" dirty="0">
                <a:solidFill>
                  <a:schemeClr val="tx1"/>
                </a:solidFill>
                <a:effectLst/>
                <a:latin typeface="+mn-lt"/>
                <a:ea typeface="+mn-ea"/>
                <a:cs typeface="+mn-cs"/>
              </a:rPr>
              <a:t>only</a:t>
            </a:r>
            <a:r>
              <a:rPr lang="en-US" sz="1200" b="0" i="0" kern="1200" dirty="0">
                <a:solidFill>
                  <a:schemeClr val="tx1"/>
                </a:solidFill>
                <a:effectLst/>
                <a:latin typeface="+mn-lt"/>
                <a:ea typeface="+mn-ea"/>
                <a:cs typeface="+mn-cs"/>
              </a:rPr>
              <a:t> on the </a:t>
            </a:r>
            <a:r>
              <a:rPr lang="en-US" sz="1200" b="0" i="0" kern="1200" dirty="0" err="1">
                <a:solidFill>
                  <a:schemeClr val="tx1"/>
                </a:solidFill>
                <a:effectLst/>
                <a:latin typeface="+mn-lt"/>
                <a:ea typeface="+mn-ea"/>
                <a:cs typeface="+mn-cs"/>
              </a:rPr>
              <a:t>LoRA</a:t>
            </a:r>
            <a:r>
              <a:rPr lang="en-US" sz="1200" b="0" i="0" kern="1200" dirty="0">
                <a:solidFill>
                  <a:schemeClr val="tx1"/>
                </a:solidFill>
                <a:effectLst/>
                <a:latin typeface="+mn-lt"/>
                <a:ea typeface="+mn-ea"/>
                <a:cs typeface="+mn-cs"/>
              </a:rPr>
              <a:t>/Projector parameters with mixed precision (fp16/bf16) to ensure you don't run out of memory on the </a:t>
            </a:r>
            <a:r>
              <a:rPr lang="en-US" sz="1200" b="0" i="0" kern="1200" dirty="0" err="1">
                <a:solidFill>
                  <a:schemeClr val="tx1"/>
                </a:solidFill>
                <a:effectLst/>
                <a:latin typeface="+mn-lt"/>
                <a:ea typeface="+mn-ea"/>
                <a:cs typeface="+mn-cs"/>
              </a:rPr>
              <a:t>Colab</a:t>
            </a:r>
            <a:r>
              <a:rPr lang="en-US" sz="1200" b="0" i="0" kern="1200" dirty="0">
                <a:solidFill>
                  <a:schemeClr val="tx1"/>
                </a:solidFill>
                <a:effectLst/>
                <a:latin typeface="+mn-lt"/>
                <a:ea typeface="+mn-ea"/>
                <a:cs typeface="+mn-cs"/>
              </a:rPr>
              <a:t> T4 during the filtering step.</a:t>
            </a:r>
            <a:endParaRPr lang="en-US" dirty="0"/>
          </a:p>
          <a:p>
            <a:endParaRPr lang="en-US" dirty="0"/>
          </a:p>
          <a:p>
            <a:br>
              <a:rPr dirty="0"/>
            </a:br>
            <a:r>
              <a:rPr dirty="0"/>
              <a:t>[ANTICIPATED QUESTION &amp; DEFENSE]:</a:t>
            </a:r>
          </a:p>
          <a:p>
            <a:pPr>
              <a:defRPr sz="1000"/>
            </a:pPr>
            <a:r>
              <a:rPr dirty="0"/>
              <a:t>Q: How will you measure safety basin retention?</a:t>
            </a:r>
            <a:br>
              <a:rPr dirty="0"/>
            </a:br>
            <a:r>
              <a:rPr dirty="0"/>
              <a:t>A: By perturbing the trained </a:t>
            </a:r>
            <a:r>
              <a:rPr dirty="0" err="1"/>
              <a:t>LoRA</a:t>
            </a:r>
            <a:r>
              <a:rPr dirty="0"/>
              <a:t> and projector weights with Gaussian noise and tracking how rapidly multimodal ASR increases.</a:t>
            </a:r>
          </a:p>
          <a:p>
            <a:br>
              <a:rPr dirty="0"/>
            </a:br>
            <a:r>
              <a:rPr dirty="0"/>
              <a:t>[TRANSITION TO NEXT SLIDE]:</a:t>
            </a:r>
          </a:p>
          <a:p>
            <a:pPr>
              <a:defRPr sz="1000"/>
            </a:pPr>
            <a:r>
              <a:rPr dirty="0"/>
              <a:t>Slide 26 introduces the mathematical formalization of our continual learning metrics.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t>=== Slide 26: Continual Learning Dynamics: Formal Metrics ===</a:t>
            </a:r>
          </a:p>
          <a:p>
            <a:br/>
            <a:r>
              <a:t>[WHAT PROF. LE SEES ON SCREEN]:</a:t>
            </a:r>
          </a:p>
          <a:p>
            <a:pPr>
              <a:defRPr sz="1000"/>
            </a:pPr>
            <a:r>
              <a:t>• Task performance matrix: R_{t,k} (performance on task k after training on task t).</a:t>
            </a:r>
          </a:p>
          <a:p>
            <a:pPr>
              <a:defRPr sz="1000"/>
            </a:pPr>
            <a:r>
              <a:t>• Backward Transfer: BWT = (1 / (T-1)) sum_{i=1}^{T-1} (R_{T,i} - R_{i,i}).</a:t>
            </a:r>
          </a:p>
          <a:p>
            <a:pPr>
              <a:defRPr sz="1000"/>
            </a:pPr>
            <a:r>
              <a:t>• Forgetting Measure: FM_k = max_{l in {1...T-1}} R_{l,k} - R_{T,k}.</a:t>
            </a:r>
          </a:p>
          <a:p>
            <a:pPr>
              <a:defRPr sz="1000"/>
            </a:pPr>
            <a:r>
              <a:t>• Pairwise Task Interference: I_{j -&gt; k} = R_{j,k} - R_{j-1,k}.</a:t>
            </a:r>
          </a:p>
          <a:p>
            <a:br/>
            <a:r>
              <a:t>[SPOKEN SCRIPT - READ ALOUD]:</a:t>
            </a:r>
          </a:p>
          <a:p>
            <a:pPr>
              <a:defRPr sz="1100"/>
            </a:pPr>
            <a:r>
              <a:t>"On Slide 26, we formalize our continual learning metrics. We maintain the complete task performance matrix, R_{t,k}, tracking performance on past tasks after training on each new task. From this matrix, we compute Backward Transfer to quantify retention, Forgetting Measure to capture peak-to-final accuracy drops, and pairwise Task Interference, I_{j -&gt; k}, which isolates exactly how learning task j alters performance on earlier task k."</a:t>
            </a:r>
          </a:p>
          <a:p>
            <a:br/>
            <a:r>
              <a:t>[ANTICIPATED QUESTION &amp; DEFENSE]:</a:t>
            </a:r>
          </a:p>
          <a:p>
            <a:pPr>
              <a:defRPr sz="1000"/>
            </a:pPr>
            <a:r>
              <a:t>Q: Why measure pairwise task interference?</a:t>
            </a:r>
            <a:br/>
            <a:r>
              <a:t>A: BWT only gives an aggregate average. Pairwise interference reveals if specific task transitions—such as moving from math diagrams to clinical scans—are particularly destructive to safety.</a:t>
            </a:r>
          </a:p>
          <a:p>
            <a:br/>
            <a:r>
              <a:t>[TRANSITION TO NEXT SLIDE]:</a:t>
            </a:r>
          </a:p>
          <a:p>
            <a:pPr>
              <a:defRPr sz="1000"/>
            </a:pPr>
            <a:r>
              <a:t>Slide 27 presents our full mechanism diagnostics table.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rPr dirty="0"/>
              <a:t>=== Slide 27: VLM Specific Mechanism Diagnostics ===</a:t>
            </a:r>
          </a:p>
          <a:p>
            <a:br>
              <a:rPr dirty="0"/>
            </a:br>
            <a:r>
              <a:rPr dirty="0"/>
              <a:t>[WHAT PROF. LE SEES ON SCREEN]:</a:t>
            </a:r>
          </a:p>
          <a:p>
            <a:pPr>
              <a:defRPr sz="1000"/>
            </a:pPr>
            <a:r>
              <a:rPr dirty="0"/>
              <a:t>• Diagnostics Table (9 rows): Language gradient </a:t>
            </a:r>
            <a:r>
              <a:rPr dirty="0" err="1"/>
              <a:t>G_i</a:t>
            </a:r>
            <a:r>
              <a:rPr dirty="0"/>
              <a:t>^{(L)}, Projector gradient </a:t>
            </a:r>
            <a:r>
              <a:rPr dirty="0" err="1"/>
              <a:t>G_i</a:t>
            </a:r>
            <a:r>
              <a:rPr dirty="0"/>
              <a:t>^{(P)}, Joint gradient </a:t>
            </a:r>
            <a:r>
              <a:rPr dirty="0" err="1"/>
              <a:t>G_i</a:t>
            </a:r>
            <a:r>
              <a:rPr dirty="0"/>
              <a:t>^{(J)}, Loss </a:t>
            </a:r>
            <a:r>
              <a:rPr dirty="0" err="1"/>
              <a:t>L_i</a:t>
            </a:r>
            <a:r>
              <a:rPr dirty="0"/>
              <a:t>, Target token length </a:t>
            </a:r>
            <a:r>
              <a:rPr dirty="0" err="1"/>
              <a:t>N_tokens</a:t>
            </a:r>
            <a:r>
              <a:rPr dirty="0"/>
              <a:t>, Prompt length, Image token count, Image resolution, Parameter displacement ||</a:t>
            </a:r>
            <a:r>
              <a:rPr dirty="0" err="1"/>
              <a:t>theta_t</a:t>
            </a:r>
            <a:r>
              <a:rPr dirty="0"/>
              <a:t> - theta_0||_2.</a:t>
            </a:r>
          </a:p>
          <a:p>
            <a:br>
              <a:rPr dirty="0"/>
            </a:br>
            <a:r>
              <a:rPr dirty="0"/>
              <a:t>[SPOKEN SCRIPT - READ ALOUD]:</a:t>
            </a:r>
          </a:p>
          <a:p>
            <a:pPr>
              <a:defRPr sz="1100"/>
            </a:pPr>
            <a:r>
              <a:rPr dirty="0"/>
              <a:t>"Slide 27 presents our diagnostics table. For every experiment, we record language </a:t>
            </a:r>
            <a:r>
              <a:rPr dirty="0" err="1"/>
              <a:t>LoRA</a:t>
            </a:r>
            <a:r>
              <a:rPr dirty="0"/>
              <a:t> drift, projector drift, joint norms, token lengths, image resolution, and parameter distance from the aligned checkpoint theta_0. This allows us to map sample selection directly to weight trajectory shifts in parameter space."</a:t>
            </a:r>
          </a:p>
          <a:p>
            <a:br>
              <a:rPr dirty="0"/>
            </a:br>
            <a:r>
              <a:rPr dirty="0"/>
              <a:t>[ANTICIPATED QUESTION &amp; DEFENSE]:</a:t>
            </a:r>
          </a:p>
          <a:p>
            <a:pPr>
              <a:defRPr sz="1000"/>
            </a:pPr>
            <a:r>
              <a:rPr dirty="0"/>
              <a:t>Q: What does parameter displacement tell us?</a:t>
            </a:r>
            <a:br>
              <a:rPr dirty="0"/>
            </a:br>
            <a:r>
              <a:rPr dirty="0"/>
              <a:t>A: It directly tests Ji et al.'s elasticity theory: if Moderate-</a:t>
            </a:r>
            <a:r>
              <a:rPr dirty="0" err="1"/>
              <a:t>G_i</a:t>
            </a:r>
            <a:r>
              <a:rPr dirty="0"/>
              <a:t> remains closer to theta_0 while achieving high task performance, it proves that safety retention is achieved by minimizing unnecessary weight displacement.</a:t>
            </a:r>
          </a:p>
          <a:p>
            <a:br>
              <a:rPr dirty="0"/>
            </a:br>
            <a:r>
              <a:rPr dirty="0"/>
              <a:t>[TRANSITION TO NEXT SLIDE]:</a:t>
            </a:r>
          </a:p>
          <a:p>
            <a:pPr>
              <a:defRPr sz="1000"/>
            </a:pPr>
            <a:r>
              <a:rPr dirty="0"/>
              <a:t>Slide 28 presents our 13-condition experimental control grid.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t>=== Slide 28: VLM Control Conditions &amp; Baselines Grid ===</a:t>
            </a:r>
          </a:p>
          <a:p>
            <a:br/>
            <a:r>
              <a:t>[WHAT PROF. LE SEES ON SCREEN]:</a:t>
            </a:r>
          </a:p>
          <a:p>
            <a:pPr>
              <a:defRPr sz="1000"/>
            </a:pPr>
            <a:r>
              <a:t>• 13 Conditions: Aligned theta_0, Standard full fine-tuning, Random 20%, Low-G_i 20%, Moderate-G_i 20% (LM-LoRA), Moderate-G_i 20% (Projector), Moderate-G_i 20% (Joint), High-G_i 20%, Length-norm Moderate-G_i, Gradient Clipping, EWC, Replay with safety data, Full + Safety Co-training.</a:t>
            </a:r>
          </a:p>
          <a:p>
            <a:br/>
            <a:r>
              <a:t>[SPOKEN SCRIPT - READ ALOUD]:</a:t>
            </a:r>
          </a:p>
          <a:p>
            <a:pPr>
              <a:defRPr sz="1100"/>
            </a:pPr>
            <a:r>
              <a:t>"Slide 28 is our experimental control grid, spanning 13 conditions. Every condition answers a distinct scientific question: Aligned theta_0 sets the ceiling; Standard Fine-Tuning measures unconstrained drift; Random 20% controls for sample count; Low and High-G_i test the extreme ends of the spectrum; Gradient Clipping tests whether magnitude control suffices; EWC tests generic forgetting regularizers; and our three attribution modes isolate the modality responsible for drift."</a:t>
            </a:r>
          </a:p>
          <a:p>
            <a:br/>
            <a:r>
              <a:t>[ANTICIPATED QUESTION &amp; DEFENSE]:</a:t>
            </a:r>
          </a:p>
          <a:p>
            <a:pPr>
              <a:defRPr sz="1000"/>
            </a:pPr>
            <a:r>
              <a:t>Q: Why is Random 20% an essential baseline?</a:t>
            </a:r>
            <a:br/>
            <a:r>
              <a:t>A: Because if Moderate 20% outperforms Full Fine-Tuning, a reviewer might claim it's simply because training on fewer samples causes less drift. Comparing Moderate 20% directly against Random 20% proves the benefit is driven by gradient selection, not sample budget.</a:t>
            </a:r>
          </a:p>
          <a:p>
            <a:br/>
            <a:r>
              <a:t>[TRANSITION TO NEXT SLIDE]:</a:t>
            </a:r>
          </a:p>
          <a:p>
            <a:pPr>
              <a:defRPr sz="1000"/>
            </a:pPr>
            <a:r>
              <a:t>Slide 29 provides the unified evaluation matrix.</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t>=== Slide 29: Complete Evaluation Matrix ===</a:t>
            </a:r>
          </a:p>
          <a:p>
            <a:br/>
            <a:r>
              <a:t>[WHAT PROF. LE SEES ON SCREEN]:</a:t>
            </a:r>
          </a:p>
          <a:p>
            <a:pPr>
              <a:defRPr sz="1000"/>
            </a:pPr>
            <a:r>
              <a:t>• Unified Matrix: Maps 7 dimensions (Multimodal safety, Refusal quality, Robustness, Hallucination, Task performance, Continual learning, Compute efficiency) to metrics and exact measurement tools.</a:t>
            </a:r>
          </a:p>
          <a:p>
            <a:br/>
            <a:r>
              <a:t>[SPOKEN SCRIPT - READ ALOUD]:</a:t>
            </a:r>
          </a:p>
          <a:p>
            <a:pPr>
              <a:defRPr sz="1100"/>
            </a:pPr>
            <a:r>
              <a:t>"Slide 29 provides our complete evaluation scorecard, mapping every metric—from multi-channel ASR to judge/manual agreement and GPU wall-clock training efficiency—to its precise measurement methodology."</a:t>
            </a:r>
          </a:p>
          <a:p>
            <a:br/>
            <a:r>
              <a:t>[ANTICIPATED QUESTION &amp; DEFENSE]:</a:t>
            </a:r>
          </a:p>
          <a:p>
            <a:pPr>
              <a:defRPr sz="1000"/>
            </a:pPr>
            <a:r>
              <a:t>Q: What is your primary headline metric?</a:t>
            </a:r>
            <a:br/>
            <a:r>
              <a:t>A: The Pareto frontier of Average Continual ASR (lower is better) versus Average Downstream Accuracy (higher is better) across the 4 stages.</a:t>
            </a:r>
          </a:p>
          <a:p>
            <a:br/>
            <a:r>
              <a:t>[TRANSITION TO NEXT SLIDE]:</a:t>
            </a:r>
          </a:p>
          <a:p>
            <a:pPr>
              <a:defRPr sz="1000"/>
            </a:pPr>
            <a:r>
              <a:t>Finally, Slide 30 synthesizes our proposal into 6 fundamental research questions.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t>=== Slide 30: Summary &amp; 6 Core Research Questions ===</a:t>
            </a:r>
          </a:p>
          <a:p>
            <a:br/>
            <a:r>
              <a:t>[WHAT PROF. LE SEES ON SCREEN]:</a:t>
            </a:r>
          </a:p>
          <a:p>
            <a:pPr>
              <a:defRPr sz="1000"/>
            </a:pPr>
            <a:r>
              <a:t>• Text LLM findings vs VLM Open Questions.</a:t>
            </a:r>
          </a:p>
          <a:p>
            <a:pPr>
              <a:defRPr sz="1000"/>
            </a:pPr>
            <a:r>
              <a:t>• 6 Research Questions: RQ1 (Multi-channel safety), RQ2 (LoRA vs Projector attribution), RQ3 (Forgetting without overhead), RQ4 (Data-centric vs SafeVLM), RQ5 (Safety basin collapse), RQ6 (Confounder invariance).</a:t>
            </a:r>
          </a:p>
          <a:p>
            <a:br/>
            <a:r>
              <a:t>[SPOKEN SCRIPT - READ ALOUD]:</a:t>
            </a:r>
          </a:p>
          <a:p>
            <a:pPr>
              <a:defRPr sz="1100"/>
            </a:pPr>
            <a:r>
              <a:t>"To summarize: in text LLMs, we know high-gradient samples drive elastic reversion out of safety basins, and median filtering preserves alignment without extra safety data. In this research, we are answering six fundamental questions: Does multimodal gradient selection protect both text and visual jailbreaks? Does tension concentrate in the language LoRA weights or the cross-modal projector? Can we eliminate forgetting with zero architectural overhead? Can data-centric filtering match architectural defenses like SafeVLM without inference penalties? Does high-gradient selection cause safety basin collapse in VLMs? And do these improvements hold after strictly controlling for target length and image token density?"</a:t>
            </a:r>
          </a:p>
          <a:p>
            <a:br/>
            <a:r>
              <a:t>[ANTICIPATED QUESTION &amp; DEFENSE]:</a:t>
            </a:r>
          </a:p>
          <a:p>
            <a:pPr>
              <a:defRPr sz="1000"/>
            </a:pPr>
            <a:r>
              <a:t>Q: Which of these 6 RQs is the most novel?</a:t>
            </a:r>
            <a:br/>
            <a:r>
              <a:t>A: RQ2 (LoRA vs Projector attribution) and RQ4 (Data-centric filtering vs Architectural defenses like SafeVLM). No prior work has investigated gradient attribution across multimodal components for safety retention.</a:t>
            </a:r>
          </a:p>
          <a:p>
            <a:br/>
            <a:r>
              <a:t>[TRANSITION TO NEXT SLIDE]:</a:t>
            </a:r>
          </a:p>
          <a:p>
            <a:pPr>
              <a:defRPr sz="1000"/>
            </a:pPr>
            <a:r>
              <a:t>Slide 31 lists our core academic references.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a:defRPr sz="1400" b="1"/>
            </a:pPr>
            <a:r>
              <a:t>=== Slide 31: References ===</a:t>
            </a:r>
          </a:p>
          <a:p>
            <a:br/>
            <a:r>
              <a:t>[WHAT PROF. LE SEES ON SCREEN]:</a:t>
            </a:r>
          </a:p>
          <a:p>
            <a:pPr>
              <a:defRPr sz="1000"/>
            </a:pPr>
            <a:r>
              <a:t>• Primary foundations: Bach et al. (arXiv:2604.17215), Ji et al. (arXiv:2406.06144), Peng et al. (arXiv:2405.17374).</a:t>
            </a:r>
          </a:p>
          <a:p>
            <a:pPr>
              <a:defRPr sz="1000"/>
            </a:pPr>
            <a:r>
              <a:t>• Multimodal SOTA &amp; Benchmarks: MM-SafetyBench, FigStep, SaLORA, LARF, EWC, VLGuard, LLaVA, MathVista.</a:t>
            </a:r>
          </a:p>
          <a:p>
            <a:br/>
            <a:r>
              <a:t>[SPOKEN SCRIPT - READ ALOUD]:</a:t>
            </a:r>
          </a:p>
          <a:p>
            <a:pPr>
              <a:defRPr sz="1100"/>
            </a:pPr>
            <a:r>
              <a:t>"Finally, our theoretical and empirical foundations are anchored in Bach et al. (2026), Ji et al.'s elasticity theory, Peng et al.'s VISAGE safety basins, and standard multimodal benchmarks including MM-SafetyBench, FigStep, and MathVista. Thank you, Professor Le. I welcome your feedback, guidance, and questions on our proposed methodology."</a:t>
            </a:r>
          </a:p>
          <a:p>
            <a:br/>
            <a:r>
              <a:t>[ANTICIPATED QUESTION &amp; DEFENSE]:</a:t>
            </a:r>
          </a:p>
          <a:p>
            <a:pPr>
              <a:defRPr sz="1000"/>
            </a:pPr>
            <a:r>
              <a:t>Q: Where do we start on Monday?</a:t>
            </a:r>
            <a:br/>
            <a:r>
              <a:t>A: With the Phase 1 Colab T4 prototype: running the 1,000-sample gradient pass on Qwen2-VL-2B to verify the gradient distribution and test Moderate vs High G_i on FigStep.</a:t>
            </a:r>
          </a:p>
          <a:p>
            <a:br/>
            <a:r>
              <a:t>[TRANSITION TO NEXT SLIDE]:</a:t>
            </a:r>
          </a:p>
          <a:p>
            <a:pPr>
              <a:defRPr sz="1000"/>
            </a:pPr>
            <a:r>
              <a:t>End of presentation. Open floor for advisor Q&amp;A.</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71374-F0A3-0722-7088-6F3D75BBE5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3F462A-E1A5-90FF-496D-C90DC39DEF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C5EFE0-1849-E1F2-DDE3-8C01C3074309}"/>
              </a:ext>
            </a:extLst>
          </p:cNvPr>
          <p:cNvSpPr>
            <a:spLocks noGrp="1"/>
          </p:cNvSpPr>
          <p:nvPr>
            <p:ph type="dt" sz="half" idx="10"/>
          </p:nvPr>
        </p:nvSpPr>
        <p:spPr/>
        <p:txBody>
          <a:bodyPr/>
          <a:lstStyle/>
          <a:p>
            <a:fld id="{480BB986-C15E-3641-85E6-3B9AC9D6217B}" type="datetimeFigureOut">
              <a:rPr lang="en-US" smtClean="0"/>
              <a:t>9/24/26</a:t>
            </a:fld>
            <a:endParaRPr lang="en-US"/>
          </a:p>
        </p:txBody>
      </p:sp>
      <p:sp>
        <p:nvSpPr>
          <p:cNvPr id="5" name="Footer Placeholder 4">
            <a:extLst>
              <a:ext uri="{FF2B5EF4-FFF2-40B4-BE49-F238E27FC236}">
                <a16:creationId xmlns:a16="http://schemas.microsoft.com/office/drawing/2014/main" id="{BEBE10C6-2300-B300-BB4C-AA9345FE1C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97B6C9-EE28-C99C-3CDD-FEF693E8D3C1}"/>
              </a:ext>
            </a:extLst>
          </p:cNvPr>
          <p:cNvSpPr>
            <a:spLocks noGrp="1"/>
          </p:cNvSpPr>
          <p:nvPr>
            <p:ph type="sldNum" sz="quarter" idx="12"/>
          </p:nvPr>
        </p:nvSpPr>
        <p:spPr/>
        <p:txBody>
          <a:bodyPr/>
          <a:lstStyle/>
          <a:p>
            <a:fld id="{0FDA9A68-503D-8649-84EB-CBFCAC4ECA4A}" type="slidenum">
              <a:rPr lang="en-US" smtClean="0"/>
              <a:t>‹#›</a:t>
            </a:fld>
            <a:endParaRPr lang="en-US"/>
          </a:p>
        </p:txBody>
      </p:sp>
    </p:spTree>
    <p:extLst>
      <p:ext uri="{BB962C8B-B14F-4D97-AF65-F5344CB8AC3E}">
        <p14:creationId xmlns:p14="http://schemas.microsoft.com/office/powerpoint/2010/main" val="1746682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18B49-5B5A-231A-26C7-418356FAAF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58F5AB-9C64-4CC4-F53C-6B3AFCE5E1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8BF55-A5A0-5CB7-5AF5-ECAB7BB665B9}"/>
              </a:ext>
            </a:extLst>
          </p:cNvPr>
          <p:cNvSpPr>
            <a:spLocks noGrp="1"/>
          </p:cNvSpPr>
          <p:nvPr>
            <p:ph type="dt" sz="half" idx="10"/>
          </p:nvPr>
        </p:nvSpPr>
        <p:spPr/>
        <p:txBody>
          <a:bodyPr/>
          <a:lstStyle/>
          <a:p>
            <a:fld id="{480BB986-C15E-3641-85E6-3B9AC9D6217B}" type="datetimeFigureOut">
              <a:rPr lang="en-US" smtClean="0"/>
              <a:t>9/24/26</a:t>
            </a:fld>
            <a:endParaRPr lang="en-US"/>
          </a:p>
        </p:txBody>
      </p:sp>
      <p:sp>
        <p:nvSpPr>
          <p:cNvPr id="5" name="Footer Placeholder 4">
            <a:extLst>
              <a:ext uri="{FF2B5EF4-FFF2-40B4-BE49-F238E27FC236}">
                <a16:creationId xmlns:a16="http://schemas.microsoft.com/office/drawing/2014/main" id="{6A1BAAAA-4E25-E8F2-8422-A850317924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265A04-A6A5-8CE3-6BF3-06D3C132CD60}"/>
              </a:ext>
            </a:extLst>
          </p:cNvPr>
          <p:cNvSpPr>
            <a:spLocks noGrp="1"/>
          </p:cNvSpPr>
          <p:nvPr>
            <p:ph type="sldNum" sz="quarter" idx="12"/>
          </p:nvPr>
        </p:nvSpPr>
        <p:spPr/>
        <p:txBody>
          <a:bodyPr/>
          <a:lstStyle/>
          <a:p>
            <a:fld id="{0FDA9A68-503D-8649-84EB-CBFCAC4ECA4A}" type="slidenum">
              <a:rPr lang="en-US" smtClean="0"/>
              <a:t>‹#›</a:t>
            </a:fld>
            <a:endParaRPr lang="en-US"/>
          </a:p>
        </p:txBody>
      </p:sp>
    </p:spTree>
    <p:extLst>
      <p:ext uri="{BB962C8B-B14F-4D97-AF65-F5344CB8AC3E}">
        <p14:creationId xmlns:p14="http://schemas.microsoft.com/office/powerpoint/2010/main" val="4142806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E3AF6-7DC0-D51A-EF5B-426AA0C5E4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0809A6-DCD2-AC9C-794D-ED0028F0000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F2F0BA-D4E5-2743-FDE5-2563DECDF703}"/>
              </a:ext>
            </a:extLst>
          </p:cNvPr>
          <p:cNvSpPr>
            <a:spLocks noGrp="1"/>
          </p:cNvSpPr>
          <p:nvPr>
            <p:ph type="dt" sz="half" idx="10"/>
          </p:nvPr>
        </p:nvSpPr>
        <p:spPr/>
        <p:txBody>
          <a:bodyPr/>
          <a:lstStyle/>
          <a:p>
            <a:fld id="{480BB986-C15E-3641-85E6-3B9AC9D6217B}" type="datetimeFigureOut">
              <a:rPr lang="en-US" smtClean="0"/>
              <a:t>9/24/26</a:t>
            </a:fld>
            <a:endParaRPr lang="en-US"/>
          </a:p>
        </p:txBody>
      </p:sp>
      <p:sp>
        <p:nvSpPr>
          <p:cNvPr id="5" name="Footer Placeholder 4">
            <a:extLst>
              <a:ext uri="{FF2B5EF4-FFF2-40B4-BE49-F238E27FC236}">
                <a16:creationId xmlns:a16="http://schemas.microsoft.com/office/drawing/2014/main" id="{B75A5BFB-4BCC-92E7-B9A3-C5F8C85128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F6E882-9FE7-3861-D715-81A2F98F959D}"/>
              </a:ext>
            </a:extLst>
          </p:cNvPr>
          <p:cNvSpPr>
            <a:spLocks noGrp="1"/>
          </p:cNvSpPr>
          <p:nvPr>
            <p:ph type="sldNum" sz="quarter" idx="12"/>
          </p:nvPr>
        </p:nvSpPr>
        <p:spPr/>
        <p:txBody>
          <a:bodyPr/>
          <a:lstStyle/>
          <a:p>
            <a:fld id="{0FDA9A68-503D-8649-84EB-CBFCAC4ECA4A}" type="slidenum">
              <a:rPr lang="en-US" smtClean="0"/>
              <a:t>‹#›</a:t>
            </a:fld>
            <a:endParaRPr lang="en-US"/>
          </a:p>
        </p:txBody>
      </p:sp>
    </p:spTree>
    <p:extLst>
      <p:ext uri="{BB962C8B-B14F-4D97-AF65-F5344CB8AC3E}">
        <p14:creationId xmlns:p14="http://schemas.microsoft.com/office/powerpoint/2010/main" val="587586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B7C33-826A-757A-C280-E79900D7E5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17292E-E111-E054-58E3-BA4E282F5A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2F760B-3E17-E481-D185-166FC7520F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417FCB-17A7-50CF-1A42-51B93CEED1DD}"/>
              </a:ext>
            </a:extLst>
          </p:cNvPr>
          <p:cNvSpPr>
            <a:spLocks noGrp="1"/>
          </p:cNvSpPr>
          <p:nvPr>
            <p:ph type="dt" sz="half" idx="10"/>
          </p:nvPr>
        </p:nvSpPr>
        <p:spPr/>
        <p:txBody>
          <a:bodyPr/>
          <a:lstStyle/>
          <a:p>
            <a:fld id="{480BB986-C15E-3641-85E6-3B9AC9D6217B}" type="datetimeFigureOut">
              <a:rPr lang="en-US" smtClean="0"/>
              <a:t>9/24/26</a:t>
            </a:fld>
            <a:endParaRPr lang="en-US"/>
          </a:p>
        </p:txBody>
      </p:sp>
      <p:sp>
        <p:nvSpPr>
          <p:cNvPr id="6" name="Footer Placeholder 5">
            <a:extLst>
              <a:ext uri="{FF2B5EF4-FFF2-40B4-BE49-F238E27FC236}">
                <a16:creationId xmlns:a16="http://schemas.microsoft.com/office/drawing/2014/main" id="{9FDEA1D5-516B-6E57-8DA8-AFB4F0FF1C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39B13B-596F-3434-BFD4-C634335377EC}"/>
              </a:ext>
            </a:extLst>
          </p:cNvPr>
          <p:cNvSpPr>
            <a:spLocks noGrp="1"/>
          </p:cNvSpPr>
          <p:nvPr>
            <p:ph type="sldNum" sz="quarter" idx="12"/>
          </p:nvPr>
        </p:nvSpPr>
        <p:spPr/>
        <p:txBody>
          <a:bodyPr/>
          <a:lstStyle/>
          <a:p>
            <a:fld id="{0FDA9A68-503D-8649-84EB-CBFCAC4ECA4A}" type="slidenum">
              <a:rPr lang="en-US" smtClean="0"/>
              <a:t>‹#›</a:t>
            </a:fld>
            <a:endParaRPr lang="en-US"/>
          </a:p>
        </p:txBody>
      </p:sp>
    </p:spTree>
    <p:extLst>
      <p:ext uri="{BB962C8B-B14F-4D97-AF65-F5344CB8AC3E}">
        <p14:creationId xmlns:p14="http://schemas.microsoft.com/office/powerpoint/2010/main" val="1660062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FA36D-4EEE-7F7A-40B9-3F80560880E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72164D-C170-19B8-DEE2-CE0D098102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2F4F78-EFBC-1F7F-9A51-9329D44593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1633521-93A2-C989-853D-79BECEC1A7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C7862B-5142-714B-31BC-50F1F5E326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301FCE-3B32-F499-CEB5-FFBF1F5EA357}"/>
              </a:ext>
            </a:extLst>
          </p:cNvPr>
          <p:cNvSpPr>
            <a:spLocks noGrp="1"/>
          </p:cNvSpPr>
          <p:nvPr>
            <p:ph type="dt" sz="half" idx="10"/>
          </p:nvPr>
        </p:nvSpPr>
        <p:spPr/>
        <p:txBody>
          <a:bodyPr/>
          <a:lstStyle/>
          <a:p>
            <a:fld id="{480BB986-C15E-3641-85E6-3B9AC9D6217B}" type="datetimeFigureOut">
              <a:rPr lang="en-US" smtClean="0"/>
              <a:t>9/24/26</a:t>
            </a:fld>
            <a:endParaRPr lang="en-US"/>
          </a:p>
        </p:txBody>
      </p:sp>
      <p:sp>
        <p:nvSpPr>
          <p:cNvPr id="8" name="Footer Placeholder 7">
            <a:extLst>
              <a:ext uri="{FF2B5EF4-FFF2-40B4-BE49-F238E27FC236}">
                <a16:creationId xmlns:a16="http://schemas.microsoft.com/office/drawing/2014/main" id="{CB771657-1F01-D06C-FA17-C9A2BA594E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A97603-9FC7-AEA1-F346-3B63E9C8EAA3}"/>
              </a:ext>
            </a:extLst>
          </p:cNvPr>
          <p:cNvSpPr>
            <a:spLocks noGrp="1"/>
          </p:cNvSpPr>
          <p:nvPr>
            <p:ph type="sldNum" sz="quarter" idx="12"/>
          </p:nvPr>
        </p:nvSpPr>
        <p:spPr/>
        <p:txBody>
          <a:bodyPr/>
          <a:lstStyle/>
          <a:p>
            <a:fld id="{0FDA9A68-503D-8649-84EB-CBFCAC4ECA4A}" type="slidenum">
              <a:rPr lang="en-US" smtClean="0"/>
              <a:t>‹#›</a:t>
            </a:fld>
            <a:endParaRPr lang="en-US"/>
          </a:p>
        </p:txBody>
      </p:sp>
    </p:spTree>
    <p:extLst>
      <p:ext uri="{BB962C8B-B14F-4D97-AF65-F5344CB8AC3E}">
        <p14:creationId xmlns:p14="http://schemas.microsoft.com/office/powerpoint/2010/main" val="1068562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8FC2C-6290-28A9-F337-7B23BBD831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800399-FCE0-2A43-1133-476018941ACC}"/>
              </a:ext>
            </a:extLst>
          </p:cNvPr>
          <p:cNvSpPr>
            <a:spLocks noGrp="1"/>
          </p:cNvSpPr>
          <p:nvPr>
            <p:ph type="dt" sz="half" idx="10"/>
          </p:nvPr>
        </p:nvSpPr>
        <p:spPr/>
        <p:txBody>
          <a:bodyPr/>
          <a:lstStyle/>
          <a:p>
            <a:fld id="{480BB986-C15E-3641-85E6-3B9AC9D6217B}" type="datetimeFigureOut">
              <a:rPr lang="en-US" smtClean="0"/>
              <a:t>9/24/26</a:t>
            </a:fld>
            <a:endParaRPr lang="en-US"/>
          </a:p>
        </p:txBody>
      </p:sp>
      <p:sp>
        <p:nvSpPr>
          <p:cNvPr id="4" name="Footer Placeholder 3">
            <a:extLst>
              <a:ext uri="{FF2B5EF4-FFF2-40B4-BE49-F238E27FC236}">
                <a16:creationId xmlns:a16="http://schemas.microsoft.com/office/drawing/2014/main" id="{121FB330-AB24-7E9A-562D-102114E70A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393AA0-7C6B-54FA-3044-A020266799DC}"/>
              </a:ext>
            </a:extLst>
          </p:cNvPr>
          <p:cNvSpPr>
            <a:spLocks noGrp="1"/>
          </p:cNvSpPr>
          <p:nvPr>
            <p:ph type="sldNum" sz="quarter" idx="12"/>
          </p:nvPr>
        </p:nvSpPr>
        <p:spPr/>
        <p:txBody>
          <a:bodyPr/>
          <a:lstStyle/>
          <a:p>
            <a:fld id="{0FDA9A68-503D-8649-84EB-CBFCAC4ECA4A}" type="slidenum">
              <a:rPr lang="en-US" smtClean="0"/>
              <a:t>‹#›</a:t>
            </a:fld>
            <a:endParaRPr lang="en-US"/>
          </a:p>
        </p:txBody>
      </p:sp>
    </p:spTree>
    <p:extLst>
      <p:ext uri="{BB962C8B-B14F-4D97-AF65-F5344CB8AC3E}">
        <p14:creationId xmlns:p14="http://schemas.microsoft.com/office/powerpoint/2010/main" val="3502257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2F07C3-AD3C-ED53-975D-4518A9027E28}"/>
              </a:ext>
            </a:extLst>
          </p:cNvPr>
          <p:cNvSpPr>
            <a:spLocks noGrp="1"/>
          </p:cNvSpPr>
          <p:nvPr>
            <p:ph type="dt" sz="half" idx="10"/>
          </p:nvPr>
        </p:nvSpPr>
        <p:spPr/>
        <p:txBody>
          <a:bodyPr/>
          <a:lstStyle/>
          <a:p>
            <a:fld id="{480BB986-C15E-3641-85E6-3B9AC9D6217B}" type="datetimeFigureOut">
              <a:rPr lang="en-US" smtClean="0"/>
              <a:t>9/24/26</a:t>
            </a:fld>
            <a:endParaRPr lang="en-US"/>
          </a:p>
        </p:txBody>
      </p:sp>
      <p:sp>
        <p:nvSpPr>
          <p:cNvPr id="3" name="Footer Placeholder 2">
            <a:extLst>
              <a:ext uri="{FF2B5EF4-FFF2-40B4-BE49-F238E27FC236}">
                <a16:creationId xmlns:a16="http://schemas.microsoft.com/office/drawing/2014/main" id="{BCD5D012-E73A-A2A8-D3B5-3A45E07942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3262DE-BADE-67AE-6E4D-4A790C3CCD42}"/>
              </a:ext>
            </a:extLst>
          </p:cNvPr>
          <p:cNvSpPr>
            <a:spLocks noGrp="1"/>
          </p:cNvSpPr>
          <p:nvPr>
            <p:ph type="sldNum" sz="quarter" idx="12"/>
          </p:nvPr>
        </p:nvSpPr>
        <p:spPr/>
        <p:txBody>
          <a:bodyPr/>
          <a:lstStyle/>
          <a:p>
            <a:fld id="{0FDA9A68-503D-8649-84EB-CBFCAC4ECA4A}" type="slidenum">
              <a:rPr lang="en-US" smtClean="0"/>
              <a:t>‹#›</a:t>
            </a:fld>
            <a:endParaRPr lang="en-US"/>
          </a:p>
        </p:txBody>
      </p:sp>
    </p:spTree>
    <p:extLst>
      <p:ext uri="{BB962C8B-B14F-4D97-AF65-F5344CB8AC3E}">
        <p14:creationId xmlns:p14="http://schemas.microsoft.com/office/powerpoint/2010/main" val="657101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81CC3-0ECD-CB56-C9FF-8C7BB42894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4175338-17B9-3171-2E9D-866532DDD4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8B15B-6FD7-8F39-D5C8-31C0C37132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78529F-4108-4AB1-202A-C46E56D88573}"/>
              </a:ext>
            </a:extLst>
          </p:cNvPr>
          <p:cNvSpPr>
            <a:spLocks noGrp="1"/>
          </p:cNvSpPr>
          <p:nvPr>
            <p:ph type="dt" sz="half" idx="10"/>
          </p:nvPr>
        </p:nvSpPr>
        <p:spPr/>
        <p:txBody>
          <a:bodyPr/>
          <a:lstStyle/>
          <a:p>
            <a:fld id="{480BB986-C15E-3641-85E6-3B9AC9D6217B}" type="datetimeFigureOut">
              <a:rPr lang="en-US" smtClean="0"/>
              <a:t>9/24/26</a:t>
            </a:fld>
            <a:endParaRPr lang="en-US"/>
          </a:p>
        </p:txBody>
      </p:sp>
      <p:sp>
        <p:nvSpPr>
          <p:cNvPr id="6" name="Footer Placeholder 5">
            <a:extLst>
              <a:ext uri="{FF2B5EF4-FFF2-40B4-BE49-F238E27FC236}">
                <a16:creationId xmlns:a16="http://schemas.microsoft.com/office/drawing/2014/main" id="{C7748084-463B-FF56-92D4-9D9958C32F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CE147B-0C79-53D5-7DEC-88F535589A17}"/>
              </a:ext>
            </a:extLst>
          </p:cNvPr>
          <p:cNvSpPr>
            <a:spLocks noGrp="1"/>
          </p:cNvSpPr>
          <p:nvPr>
            <p:ph type="sldNum" sz="quarter" idx="12"/>
          </p:nvPr>
        </p:nvSpPr>
        <p:spPr/>
        <p:txBody>
          <a:bodyPr/>
          <a:lstStyle/>
          <a:p>
            <a:fld id="{0FDA9A68-503D-8649-84EB-CBFCAC4ECA4A}" type="slidenum">
              <a:rPr lang="en-US" smtClean="0"/>
              <a:t>‹#›</a:t>
            </a:fld>
            <a:endParaRPr lang="en-US"/>
          </a:p>
        </p:txBody>
      </p:sp>
    </p:spTree>
    <p:extLst>
      <p:ext uri="{BB962C8B-B14F-4D97-AF65-F5344CB8AC3E}">
        <p14:creationId xmlns:p14="http://schemas.microsoft.com/office/powerpoint/2010/main" val="1501492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26395-F90E-C19E-536D-5D16B4EBC8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ECFBD8-C6CE-A201-3469-AA92DD8B31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E0F736-BDC0-3438-A6FA-E80BC20820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8A685C-BDF8-3E50-EB29-869C50ACD038}"/>
              </a:ext>
            </a:extLst>
          </p:cNvPr>
          <p:cNvSpPr>
            <a:spLocks noGrp="1"/>
          </p:cNvSpPr>
          <p:nvPr>
            <p:ph type="dt" sz="half" idx="10"/>
          </p:nvPr>
        </p:nvSpPr>
        <p:spPr/>
        <p:txBody>
          <a:bodyPr/>
          <a:lstStyle/>
          <a:p>
            <a:fld id="{480BB986-C15E-3641-85E6-3B9AC9D6217B}" type="datetimeFigureOut">
              <a:rPr lang="en-US" smtClean="0"/>
              <a:t>9/24/26</a:t>
            </a:fld>
            <a:endParaRPr lang="en-US"/>
          </a:p>
        </p:txBody>
      </p:sp>
      <p:sp>
        <p:nvSpPr>
          <p:cNvPr id="6" name="Footer Placeholder 5">
            <a:extLst>
              <a:ext uri="{FF2B5EF4-FFF2-40B4-BE49-F238E27FC236}">
                <a16:creationId xmlns:a16="http://schemas.microsoft.com/office/drawing/2014/main" id="{9B0022EE-90A6-5A0E-2B24-72AC33E573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B3790D-09BA-BD09-0D40-9A816329D39E}"/>
              </a:ext>
            </a:extLst>
          </p:cNvPr>
          <p:cNvSpPr>
            <a:spLocks noGrp="1"/>
          </p:cNvSpPr>
          <p:nvPr>
            <p:ph type="sldNum" sz="quarter" idx="12"/>
          </p:nvPr>
        </p:nvSpPr>
        <p:spPr/>
        <p:txBody>
          <a:bodyPr/>
          <a:lstStyle/>
          <a:p>
            <a:fld id="{0FDA9A68-503D-8649-84EB-CBFCAC4ECA4A}" type="slidenum">
              <a:rPr lang="en-US" smtClean="0"/>
              <a:t>‹#›</a:t>
            </a:fld>
            <a:endParaRPr lang="en-US"/>
          </a:p>
        </p:txBody>
      </p:sp>
    </p:spTree>
    <p:extLst>
      <p:ext uri="{BB962C8B-B14F-4D97-AF65-F5344CB8AC3E}">
        <p14:creationId xmlns:p14="http://schemas.microsoft.com/office/powerpoint/2010/main" val="4060488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AFFD7-7325-1FDF-2993-FADE5F0C08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84E44E1-8493-624B-AF36-3A23CD26EB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A8C7EB-7B42-480E-EA8E-245577E437E2}"/>
              </a:ext>
            </a:extLst>
          </p:cNvPr>
          <p:cNvSpPr>
            <a:spLocks noGrp="1"/>
          </p:cNvSpPr>
          <p:nvPr>
            <p:ph type="dt" sz="half" idx="10"/>
          </p:nvPr>
        </p:nvSpPr>
        <p:spPr/>
        <p:txBody>
          <a:bodyPr/>
          <a:lstStyle/>
          <a:p>
            <a:fld id="{480BB986-C15E-3641-85E6-3B9AC9D6217B}" type="datetimeFigureOut">
              <a:rPr lang="en-US" smtClean="0"/>
              <a:t>9/24/26</a:t>
            </a:fld>
            <a:endParaRPr lang="en-US"/>
          </a:p>
        </p:txBody>
      </p:sp>
      <p:sp>
        <p:nvSpPr>
          <p:cNvPr id="5" name="Footer Placeholder 4">
            <a:extLst>
              <a:ext uri="{FF2B5EF4-FFF2-40B4-BE49-F238E27FC236}">
                <a16:creationId xmlns:a16="http://schemas.microsoft.com/office/drawing/2014/main" id="{EAFF4FE0-48D1-D5B8-D367-F9E91218E2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9B1467-BA5F-5BB1-6A1D-3138C9509955}"/>
              </a:ext>
            </a:extLst>
          </p:cNvPr>
          <p:cNvSpPr>
            <a:spLocks noGrp="1"/>
          </p:cNvSpPr>
          <p:nvPr>
            <p:ph type="sldNum" sz="quarter" idx="12"/>
          </p:nvPr>
        </p:nvSpPr>
        <p:spPr/>
        <p:txBody>
          <a:bodyPr/>
          <a:lstStyle/>
          <a:p>
            <a:fld id="{0FDA9A68-503D-8649-84EB-CBFCAC4ECA4A}" type="slidenum">
              <a:rPr lang="en-US" smtClean="0"/>
              <a:t>‹#›</a:t>
            </a:fld>
            <a:endParaRPr lang="en-US"/>
          </a:p>
        </p:txBody>
      </p:sp>
    </p:spTree>
    <p:extLst>
      <p:ext uri="{BB962C8B-B14F-4D97-AF65-F5344CB8AC3E}">
        <p14:creationId xmlns:p14="http://schemas.microsoft.com/office/powerpoint/2010/main" val="3705294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537F0B-0D39-9261-D50F-A5C7460AE0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628BD07-3364-3A33-1F54-BFCEF218EC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451380-6F0E-9A92-EEB1-BF0EB3E8BBBE}"/>
              </a:ext>
            </a:extLst>
          </p:cNvPr>
          <p:cNvSpPr>
            <a:spLocks noGrp="1"/>
          </p:cNvSpPr>
          <p:nvPr>
            <p:ph type="dt" sz="half" idx="10"/>
          </p:nvPr>
        </p:nvSpPr>
        <p:spPr/>
        <p:txBody>
          <a:bodyPr/>
          <a:lstStyle/>
          <a:p>
            <a:fld id="{480BB986-C15E-3641-85E6-3B9AC9D6217B}" type="datetimeFigureOut">
              <a:rPr lang="en-US" smtClean="0"/>
              <a:t>9/24/26</a:t>
            </a:fld>
            <a:endParaRPr lang="en-US"/>
          </a:p>
        </p:txBody>
      </p:sp>
      <p:sp>
        <p:nvSpPr>
          <p:cNvPr id="5" name="Footer Placeholder 4">
            <a:extLst>
              <a:ext uri="{FF2B5EF4-FFF2-40B4-BE49-F238E27FC236}">
                <a16:creationId xmlns:a16="http://schemas.microsoft.com/office/drawing/2014/main" id="{3F29AAA2-9DBC-7832-8AA2-7B4EC2596E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5FDDDD-1D58-0A23-6ADA-CD23DD6D4181}"/>
              </a:ext>
            </a:extLst>
          </p:cNvPr>
          <p:cNvSpPr>
            <a:spLocks noGrp="1"/>
          </p:cNvSpPr>
          <p:nvPr>
            <p:ph type="sldNum" sz="quarter" idx="12"/>
          </p:nvPr>
        </p:nvSpPr>
        <p:spPr/>
        <p:txBody>
          <a:bodyPr/>
          <a:lstStyle/>
          <a:p>
            <a:fld id="{0FDA9A68-503D-8649-84EB-CBFCAC4ECA4A}" type="slidenum">
              <a:rPr lang="en-US" smtClean="0"/>
              <a:t>‹#›</a:t>
            </a:fld>
            <a:endParaRPr lang="en-US"/>
          </a:p>
        </p:txBody>
      </p:sp>
    </p:spTree>
    <p:extLst>
      <p:ext uri="{BB962C8B-B14F-4D97-AF65-F5344CB8AC3E}">
        <p14:creationId xmlns:p14="http://schemas.microsoft.com/office/powerpoint/2010/main" val="3467611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DDBA3A-B045-D28F-4B30-61AC21CA9A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C7DEC9-82A8-AAB4-841E-B4DE4A6806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3F3EC7-9DC4-D9DB-73FB-5FCC7F2DDE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0BB986-C15E-3641-85E6-3B9AC9D6217B}" type="datetimeFigureOut">
              <a:rPr lang="en-US" smtClean="0"/>
              <a:t>9/24/26</a:t>
            </a:fld>
            <a:endParaRPr lang="en-US"/>
          </a:p>
        </p:txBody>
      </p:sp>
      <p:sp>
        <p:nvSpPr>
          <p:cNvPr id="5" name="Footer Placeholder 4">
            <a:extLst>
              <a:ext uri="{FF2B5EF4-FFF2-40B4-BE49-F238E27FC236}">
                <a16:creationId xmlns:a16="http://schemas.microsoft.com/office/drawing/2014/main" id="{6A1AD910-2E8C-8F32-35BD-80FEE50EC3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460A84F-7B81-FA9E-10E3-1C57922258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DA9A68-503D-8649-84EB-CBFCAC4ECA4A}" type="slidenum">
              <a:rPr lang="en-US" smtClean="0"/>
              <a:t>‹#›</a:t>
            </a:fld>
            <a:endParaRPr lang="en-US"/>
          </a:p>
        </p:txBody>
      </p:sp>
    </p:spTree>
    <p:extLst>
      <p:ext uri="{BB962C8B-B14F-4D97-AF65-F5344CB8AC3E}">
        <p14:creationId xmlns:p14="http://schemas.microsoft.com/office/powerpoint/2010/main" val="18830554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rxiv.org/abs/2604.17215v1"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arxiv.org/html/2405.13581v1"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3.png"/><Relationship Id="rId5" Type="http://schemas.openxmlformats.org/officeDocument/2006/relationships/hyperlink" Target="https://arxiv.org/abs/2406.06144" TargetMode="Externa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8" Type="http://schemas.openxmlformats.org/officeDocument/2006/relationships/hyperlink" Target="https://arxiv.org/abs/2305.10355" TargetMode="External"/><Relationship Id="rId13" Type="http://schemas.openxmlformats.org/officeDocument/2006/relationships/hyperlink" Target="https://arxiv.org/abs/2007.00398" TargetMode="External"/><Relationship Id="rId3" Type="http://schemas.openxmlformats.org/officeDocument/2006/relationships/hyperlink" Target="https://arxiv.org/pdf/2311.17600" TargetMode="External"/><Relationship Id="rId7" Type="http://schemas.openxmlformats.org/officeDocument/2006/relationships/hyperlink" Target="https://arxiv.org/abs/2309.14525" TargetMode="External"/><Relationship Id="rId12" Type="http://schemas.openxmlformats.org/officeDocument/2006/relationships/hyperlink" Target="https://arxiv.org/abs/2102.09542"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arxiv.org/abs/2402.04249" TargetMode="External"/><Relationship Id="rId11" Type="http://schemas.openxmlformats.org/officeDocument/2006/relationships/hyperlink" Target="https://www.nature.com/articles/sdata2018251" TargetMode="External"/><Relationship Id="rId5" Type="http://schemas.openxmlformats.org/officeDocument/2006/relationships/hyperlink" Target="https://arxiv.org/pdf/2404.03027" TargetMode="External"/><Relationship Id="rId10" Type="http://schemas.openxmlformats.org/officeDocument/2006/relationships/hyperlink" Target="https://arxiv.org/abs/2310.02255" TargetMode="External"/><Relationship Id="rId4" Type="http://schemas.openxmlformats.org/officeDocument/2006/relationships/hyperlink" Target="https://arxiv.org/pdf/2311.05608" TargetMode="External"/><Relationship Id="rId9" Type="http://schemas.openxmlformats.org/officeDocument/2006/relationships/hyperlink" Target="https://arxiv.org/abs/2304.08485"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arxiv.org/abs/2405.13581"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hyperlink" Target="https://arxiv.org/pdf/2401.12915" TargetMode="External"/><Relationship Id="rId4" Type="http://schemas.openxmlformats.org/officeDocument/2006/relationships/hyperlink" Target="https://arxiv.org/pdf/2308.01263"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arxiv.org/abs/2304.08485" TargetMode="External"/><Relationship Id="rId7" Type="http://schemas.openxmlformats.org/officeDocument/2006/relationships/hyperlink" Target="https://arxiv.org/abs/2007.00398"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arxiv.org/abs/2102.09542" TargetMode="External"/><Relationship Id="rId5" Type="http://schemas.openxmlformats.org/officeDocument/2006/relationships/hyperlink" Target="https://www.nature.com/articles/sdata2018251" TargetMode="External"/><Relationship Id="rId4" Type="http://schemas.openxmlformats.org/officeDocument/2006/relationships/hyperlink" Target="https://arxiv.org/abs/2310.02255"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0"/>
            <a:ext cx="10332720" cy="1908215"/>
          </a:xfrm>
          <a:prstGeom prst="rect">
            <a:avLst/>
          </a:prstGeom>
          <a:noFill/>
        </p:spPr>
        <p:txBody>
          <a:bodyPr wrap="square">
            <a:spAutoFit/>
          </a:bodyPr>
          <a:lstStyle/>
          <a:p>
            <a:pPr>
              <a:defRPr sz="3200" b="1">
                <a:solidFill>
                  <a:srgbClr val="F8FAFC"/>
                </a:solidFill>
              </a:defRPr>
            </a:pPr>
            <a:r>
              <a:rPr dirty="0"/>
              <a:t>Continual Safety Alignment in Vision-Language Models</a:t>
            </a:r>
          </a:p>
          <a:p>
            <a:pPr>
              <a:spcBef>
                <a:spcPts val="600"/>
              </a:spcBef>
              <a:defRPr sz="2600" b="1">
                <a:solidFill>
                  <a:srgbClr val="38BDF8"/>
                </a:solidFill>
              </a:defRPr>
            </a:pPr>
            <a:r>
              <a:rPr dirty="0"/>
              <a:t>via Multimodal Gradient-Based Sample Selection</a:t>
            </a:r>
          </a:p>
          <a:p>
            <a:pPr>
              <a:spcBef>
                <a:spcPts val="1600"/>
              </a:spcBef>
              <a:defRPr sz="1300">
                <a:solidFill>
                  <a:srgbClr val="94A3B8"/>
                </a:solidFill>
              </a:defRPr>
            </a:pPr>
            <a:r>
              <a:rPr dirty="0"/>
              <a:t>Extending Continual Safety Alignment (Bach et al., 2026) to Multimodal Architectures</a:t>
            </a:r>
            <a:r>
              <a:rPr lang="en-US" dirty="0"/>
              <a:t> (</a:t>
            </a:r>
            <a:r>
              <a:rPr lang="en-US" i="1" dirty="0">
                <a:hlinkClick r:id="rId3"/>
              </a:rPr>
              <a:t>https://arxiv.org/abs/2604.17215v1</a:t>
            </a:r>
            <a:r>
              <a:rPr lang="en-US" i="1" dirty="0"/>
              <a:t>)</a:t>
            </a:r>
            <a:endParaRPr dirty="0"/>
          </a:p>
          <a:p>
            <a:pPr>
              <a:spcBef>
                <a:spcPts val="2000"/>
              </a:spcBef>
              <a:defRPr sz="1200">
                <a:solidFill>
                  <a:srgbClr val="F8FAFC"/>
                </a:solidFill>
              </a:defRPr>
            </a:pPr>
            <a:r>
              <a:rPr dirty="0"/>
              <a:t>Researcher: Aryaman Singh Dev   |   Advisor: Prof. Thao Minh Le   |   Penn State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698480" cy="1097280"/>
          </a:xfrm>
          <a:prstGeom prst="rect">
            <a:avLst/>
          </a:prstGeom>
          <a:noFill/>
        </p:spPr>
        <p:txBody>
          <a:bodyPr wrap="square" lIns="0" tIns="0" rIns="0" bIns="0">
            <a:spAutoFit/>
          </a:bodyPr>
          <a:lstStyle/>
          <a:p>
            <a:pPr>
              <a:defRPr sz="1000" b="1">
                <a:solidFill>
                  <a:srgbClr val="38BDF8"/>
                </a:solidFill>
              </a:defRPr>
            </a:pPr>
            <a:r>
              <a:rPr dirty="0"/>
              <a:t>RESEARCH PROPOSAL</a:t>
            </a:r>
          </a:p>
          <a:p>
            <a:pPr>
              <a:spcBef>
                <a:spcPts val="400"/>
              </a:spcBef>
              <a:defRPr sz="2200" b="1">
                <a:solidFill>
                  <a:srgbClr val="F8FAFC"/>
                </a:solidFill>
              </a:defRPr>
            </a:pPr>
            <a:r>
              <a:rPr dirty="0"/>
              <a:t>The Problem: Alignment Drift in Continual Fine-Tuning</a:t>
            </a:r>
          </a:p>
        </p:txBody>
      </p:sp>
      <p:sp>
        <p:nvSpPr>
          <p:cNvPr id="4" name="Rounded Rectangle 3"/>
          <p:cNvSpPr/>
          <p:nvPr/>
        </p:nvSpPr>
        <p:spPr>
          <a:xfrm>
            <a:off x="731520" y="1645920"/>
            <a:ext cx="512064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defRPr sz="1400" b="1">
                <a:solidFill>
                  <a:srgbClr val="38BDF8"/>
                </a:solidFill>
              </a:defRPr>
            </a:pPr>
            <a:r>
              <a:rPr sz="1700" dirty="0"/>
              <a:t>1. Confirmed in Text LLMs (Bach et al., 2026)</a:t>
            </a:r>
          </a:p>
          <a:p>
            <a:pPr>
              <a:spcBef>
                <a:spcPts val="600"/>
              </a:spcBef>
              <a:defRPr sz="1100">
                <a:solidFill>
                  <a:srgbClr val="94A3B8"/>
                </a:solidFill>
              </a:defRPr>
            </a:pPr>
            <a:r>
              <a:rPr sz="1700" dirty="0">
                <a:solidFill>
                  <a:schemeClr val="bg1"/>
                </a:solidFill>
              </a:rPr>
              <a:t>• Benign fine-tuning unintentionally erodes safety guardrails as a structural property.</a:t>
            </a:r>
            <a:br>
              <a:rPr sz="1700" dirty="0">
                <a:solidFill>
                  <a:schemeClr val="bg1"/>
                </a:solidFill>
              </a:rPr>
            </a:br>
            <a:br>
              <a:rPr sz="1700" dirty="0">
                <a:solidFill>
                  <a:schemeClr val="bg1"/>
                </a:solidFill>
              </a:rPr>
            </a:br>
            <a:r>
              <a:rPr sz="1700" dirty="0">
                <a:solidFill>
                  <a:schemeClr val="bg1"/>
                </a:solidFill>
              </a:rPr>
              <a:t>• High-gradient samples drive elastic reversion toward unaligned pretraining distributions.</a:t>
            </a:r>
            <a:br>
              <a:rPr sz="1700" dirty="0">
                <a:solidFill>
                  <a:schemeClr val="bg1"/>
                </a:solidFill>
              </a:rPr>
            </a:br>
            <a:br>
              <a:rPr sz="1700" dirty="0">
                <a:solidFill>
                  <a:schemeClr val="bg1"/>
                </a:solidFill>
              </a:rPr>
            </a:br>
            <a:r>
              <a:rPr sz="1700" dirty="0">
                <a:solidFill>
                  <a:schemeClr val="bg1"/>
                </a:solidFill>
              </a:rPr>
              <a:t>• Standard remedies like gradient clipping fail (ASR remains ~31%</a:t>
            </a:r>
            <a:r>
              <a:rPr lang="en-US" sz="1700" dirty="0">
                <a:solidFill>
                  <a:schemeClr val="bg1"/>
                </a:solidFill>
              </a:rPr>
              <a:t> at clip=0.5</a:t>
            </a:r>
            <a:r>
              <a:rPr sz="1700" dirty="0">
                <a:solidFill>
                  <a:schemeClr val="bg1"/>
                </a:solidFill>
              </a:rPr>
              <a:t>), because clipping dampens step size without altering alignment-reversing directions.</a:t>
            </a:r>
          </a:p>
        </p:txBody>
      </p:sp>
      <p:sp>
        <p:nvSpPr>
          <p:cNvPr id="5" name="Rounded Rectangle 4"/>
          <p:cNvSpPr/>
          <p:nvPr/>
        </p:nvSpPr>
        <p:spPr>
          <a:xfrm>
            <a:off x="6217920" y="1645920"/>
            <a:ext cx="5212080" cy="4389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82880" rIns="228600" bIns="182880" rtlCol="0" anchor="ctr"/>
          <a:lstStyle/>
          <a:p>
            <a:pPr algn="ctr">
              <a:defRPr sz="1400" b="1">
                <a:solidFill>
                  <a:srgbClr val="F87171"/>
                </a:solidFill>
              </a:defRPr>
            </a:pPr>
            <a:r>
              <a:rPr sz="1700" dirty="0"/>
              <a:t>2. Our Research Question for VLMs</a:t>
            </a:r>
          </a:p>
          <a:p>
            <a:pPr>
              <a:spcBef>
                <a:spcPts val="600"/>
              </a:spcBef>
              <a:defRPr sz="1100">
                <a:solidFill>
                  <a:srgbClr val="94A3B8"/>
                </a:solidFill>
              </a:defRPr>
            </a:pPr>
            <a:r>
              <a:rPr sz="1700" dirty="0">
                <a:solidFill>
                  <a:schemeClr val="bg1"/>
                </a:solidFill>
              </a:rPr>
              <a:t>• Does the same mechanism govern Vision-Language Models?</a:t>
            </a:r>
            <a:br>
              <a:rPr sz="1700" dirty="0">
                <a:solidFill>
                  <a:schemeClr val="bg1"/>
                </a:solidFill>
              </a:rPr>
            </a:br>
            <a:br>
              <a:rPr sz="1700" dirty="0">
                <a:solidFill>
                  <a:schemeClr val="bg1"/>
                </a:solidFill>
              </a:rPr>
            </a:br>
            <a:r>
              <a:rPr sz="1700" dirty="0">
                <a:solidFill>
                  <a:schemeClr val="bg1"/>
                </a:solidFill>
              </a:rPr>
              <a:t>• Bach et al. explicitly leave this open (Limitations): 'Extending gradient-based selection to VLMs requires further investigation.'</a:t>
            </a:r>
            <a:br>
              <a:rPr sz="1700" dirty="0">
                <a:solidFill>
                  <a:schemeClr val="bg1"/>
                </a:solidFill>
              </a:rPr>
            </a:br>
            <a:br>
              <a:rPr sz="1700" dirty="0">
                <a:solidFill>
                  <a:schemeClr val="bg1"/>
                </a:solidFill>
              </a:rPr>
            </a:br>
            <a:r>
              <a:rPr sz="1700" dirty="0">
                <a:solidFill>
                  <a:schemeClr val="bg1"/>
                </a:solidFill>
              </a:rPr>
              <a:t>• The Multimodal Attack Surface: Unlike text LLMs, VLMs introduce an </a:t>
            </a:r>
            <a:r>
              <a:rPr lang="en-US" sz="1700" dirty="0">
                <a:solidFill>
                  <a:schemeClr val="bg1"/>
                </a:solidFill>
              </a:rPr>
              <a:t>an additional </a:t>
            </a:r>
            <a:r>
              <a:rPr lang="en-US" sz="1700" u="sng" dirty="0">
                <a:solidFill>
                  <a:schemeClr val="bg1"/>
                </a:solidFill>
              </a:rPr>
              <a:t>visual attack surface</a:t>
            </a:r>
            <a:r>
              <a:rPr lang="en-US" sz="1700" dirty="0">
                <a:solidFill>
                  <a:schemeClr val="bg1"/>
                </a:solidFill>
              </a:rPr>
              <a:t> that may not be protected by text-channel alignment</a:t>
            </a:r>
            <a:r>
              <a:rPr sz="1700" dirty="0">
                <a:solidFill>
                  <a:schemeClr val="bg1"/>
                </a:solidFill>
              </a:rPr>
              <a:t> where attackers bypass text guardrails via visual features</a:t>
            </a:r>
            <a:r>
              <a:rPr lang="en-US" sz="1700" dirty="0">
                <a:solidFill>
                  <a:schemeClr val="bg1"/>
                </a:solidFill>
              </a:rPr>
              <a:t>.   </a:t>
            </a:r>
            <a:r>
              <a:rPr sz="1700" dirty="0">
                <a:solidFill>
                  <a:schemeClr val="bg1"/>
                </a:solidFill>
              </a:rPr>
              <a:t> (</a:t>
            </a:r>
            <a:r>
              <a:rPr sz="1700" dirty="0">
                <a:solidFill>
                  <a:schemeClr val="bg1"/>
                </a:solidFill>
                <a:hlinkClick r:id="rId3"/>
              </a:rPr>
              <a:t>Nie et al., 2024</a:t>
            </a:r>
            <a:r>
              <a:rPr sz="1700" dirty="0">
                <a:solidFill>
                  <a:schemeClr val="bg1"/>
                </a:solidFil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03C15-834E-FA90-3ABB-768A1289E033}"/>
              </a:ext>
            </a:extLst>
          </p:cNvPr>
          <p:cNvSpPr>
            <a:spLocks noGrp="1"/>
          </p:cNvSpPr>
          <p:nvPr>
            <p:ph type="title"/>
          </p:nvPr>
        </p:nvSpPr>
        <p:spPr/>
        <p:txBody>
          <a:bodyPr>
            <a:normAutofit/>
          </a:bodyPr>
          <a:lstStyle/>
          <a:p>
            <a:r>
              <a:rPr lang="en-US" dirty="0"/>
              <a:t>LLM Elasticity </a:t>
            </a:r>
            <a:br>
              <a:rPr lang="en-US" dirty="0"/>
            </a:br>
            <a:r>
              <a:rPr lang="en-US" sz="1700" dirty="0"/>
              <a:t>This project does not assume dataset size alone determines update direction</a:t>
            </a:r>
          </a:p>
        </p:txBody>
      </p:sp>
      <p:pic>
        <p:nvPicPr>
          <p:cNvPr id="6" name="Content Placeholder 5">
            <a:extLst>
              <a:ext uri="{FF2B5EF4-FFF2-40B4-BE49-F238E27FC236}">
                <a16:creationId xmlns:a16="http://schemas.microsoft.com/office/drawing/2014/main" id="{EA700798-FD00-1A29-4D10-FF1E243BE527}"/>
              </a:ext>
            </a:extLst>
          </p:cNvPr>
          <p:cNvPicPr>
            <a:picLocks noGrp="1" noChangeAspect="1"/>
          </p:cNvPicPr>
          <p:nvPr>
            <p:ph sz="half" idx="1"/>
          </p:nvPr>
        </p:nvPicPr>
        <p:blipFill>
          <a:blip r:embed="rId3"/>
          <a:stretch>
            <a:fillRect/>
          </a:stretch>
        </p:blipFill>
        <p:spPr>
          <a:xfrm>
            <a:off x="8089905" y="127427"/>
            <a:ext cx="3831454" cy="6603145"/>
          </a:xfrm>
          <a:prstGeom prst="rect">
            <a:avLst/>
          </a:prstGeom>
        </p:spPr>
      </p:pic>
      <p:pic>
        <p:nvPicPr>
          <p:cNvPr id="8" name="Content Placeholder 7">
            <a:extLst>
              <a:ext uri="{FF2B5EF4-FFF2-40B4-BE49-F238E27FC236}">
                <a16:creationId xmlns:a16="http://schemas.microsoft.com/office/drawing/2014/main" id="{A2C2B1A9-610E-35CD-43CF-FDCA3EC5B347}"/>
              </a:ext>
            </a:extLst>
          </p:cNvPr>
          <p:cNvPicPr>
            <a:picLocks noGrp="1" noChangeAspect="1"/>
          </p:cNvPicPr>
          <p:nvPr>
            <p:ph sz="half" idx="2"/>
          </p:nvPr>
        </p:nvPicPr>
        <p:blipFill>
          <a:blip r:embed="rId4"/>
          <a:stretch>
            <a:fillRect/>
          </a:stretch>
        </p:blipFill>
        <p:spPr>
          <a:xfrm>
            <a:off x="838200" y="1851279"/>
            <a:ext cx="3670300" cy="431800"/>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7C3ABD4-7748-9C15-A626-6E488CF32D81}"/>
                  </a:ext>
                </a:extLst>
              </p:cNvPr>
              <p:cNvSpPr txBox="1"/>
              <p:nvPr/>
            </p:nvSpPr>
            <p:spPr>
              <a:xfrm>
                <a:off x="838200" y="2534960"/>
                <a:ext cx="7089483" cy="3741922"/>
              </a:xfrm>
              <a:prstGeom prst="rect">
                <a:avLst/>
              </a:prstGeom>
              <a:noFill/>
            </p:spPr>
            <p:txBody>
              <a:bodyPr wrap="square" rtlCol="0">
                <a:spAutoFit/>
              </a:bodyPr>
              <a:lstStyle/>
              <a:p>
                <a:r>
                  <a:rPr lang="en-US" i="1" dirty="0"/>
                  <a:t>(</a:t>
                </a:r>
                <a:r>
                  <a:rPr lang="en-US" i="1" dirty="0">
                    <a:hlinkClick r:id="rId5"/>
                  </a:rPr>
                  <a:t>Ji et al., 2024</a:t>
                </a:r>
                <a:r>
                  <a:rPr lang="en-US" i="1" dirty="0"/>
                  <a:t>) shows that LLMs exhibit elasticity: a tendency to revert toward pretrained distributions during fine-tuning because the massive pretraining corpus exerts stronger influence than smaller alignment datasets.</a:t>
                </a:r>
                <a:endParaRPr lang="en-US" dirty="0"/>
              </a:p>
              <a:p>
                <a:pPr lvl="0"/>
                <a:endParaRPr lang="en-US" b="0" i="1" dirty="0">
                  <a:effectLst/>
                  <a:latin typeface="Cambria Math" panose="02040503050406030204" pitchFamily="18" charset="0"/>
                </a:endParaRPr>
              </a:p>
              <a:p>
                <a:pPr marL="285750" lvl="0" indent="-285750">
                  <a:buFont typeface="Arial" panose="020B0604020202020204" pitchFamily="34" charset="0"/>
                  <a:buChar char="•"/>
                </a:pPr>
                <a14:m>
                  <m:oMath xmlns:m="http://schemas.openxmlformats.org/officeDocument/2006/math">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𝐹</m:t>
                        </m:r>
                      </m:e>
                      <m:sub>
                        <m:r>
                          <a:rPr lang="en-US" b="0" i="1" smtClean="0">
                            <a:effectLst/>
                            <a:latin typeface="Cambria Math" panose="02040503050406030204" pitchFamily="18" charset="0"/>
                          </a:rPr>
                          <m:t>𝑒𝑙𝑎𝑠𝑡𝑖𝑐</m:t>
                        </m:r>
                      </m:sub>
                    </m:sSub>
                  </m:oMath>
                </a14:m>
                <a:r>
                  <a:rPr lang="en-US" dirty="0"/>
                  <a:t>​ is the strength of the dataset’s tendency to pull the model toward its own behavior.</a:t>
                </a:r>
              </a:p>
              <a:p>
                <a:pPr marL="285750" lvl="0" indent="-285750">
                  <a:buFont typeface="Arial" panose="020B0604020202020204" pitchFamily="34" charset="0"/>
                  <a:buChar char="•"/>
                </a:pPr>
                <a:r>
                  <a:rPr lang="en-US" dirty="0">
                    <a:effectLst/>
                  </a:rPr>
                  <a:t>|</a:t>
                </a:r>
                <a14:m>
                  <m:oMath xmlns:m="http://schemas.openxmlformats.org/officeDocument/2006/math">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𝐷</m:t>
                        </m:r>
                      </m:e>
                      <m:sub>
                        <m:r>
                          <a:rPr lang="en-US" b="0" i="1" smtClean="0">
                            <a:effectLst/>
                            <a:latin typeface="Cambria Math" panose="02040503050406030204" pitchFamily="18" charset="0"/>
                          </a:rPr>
                          <m:t>𝑖</m:t>
                        </m:r>
                      </m:sub>
                    </m:sSub>
                    <m:r>
                      <a:rPr lang="en-US" b="0" i="1" smtClean="0">
                        <a:effectLst/>
                        <a:latin typeface="Cambria Math" panose="02040503050406030204" pitchFamily="18" charset="0"/>
                      </a:rPr>
                      <m:t>|</m:t>
                    </m:r>
                    <m:r>
                      <a:rPr lang="en-US" i="1" smtClean="0">
                        <a:effectLst/>
                        <a:latin typeface="Cambria Math" panose="02040503050406030204" pitchFamily="18" charset="0"/>
                      </a:rPr>
                      <m:t> </m:t>
                    </m:r>
                  </m:oMath>
                </a14:m>
                <a:r>
                  <a:rPr lang="en-US" dirty="0"/>
                  <a:t>is the size of dataset </a:t>
                </a:r>
                <a14:m>
                  <m:oMath xmlns:m="http://schemas.openxmlformats.org/officeDocument/2006/math">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𝐷</m:t>
                        </m:r>
                      </m:e>
                      <m:sub>
                        <m:r>
                          <a:rPr lang="en-US" b="0" i="1" smtClean="0">
                            <a:effectLst/>
                            <a:latin typeface="Cambria Math" panose="02040503050406030204" pitchFamily="18" charset="0"/>
                          </a:rPr>
                          <m:t>𝑖</m:t>
                        </m:r>
                      </m:sub>
                    </m:sSub>
                  </m:oMath>
                </a14:m>
                <a:endParaRPr lang="en-US" dirty="0"/>
              </a:p>
              <a:p>
                <a:pPr marL="285750" lvl="0" indent="-285750">
                  <a:buFont typeface="Arial" panose="020B0604020202020204" pitchFamily="34" charset="0"/>
                  <a:buChar char="•"/>
                </a:pPr>
                <a14:m>
                  <m:oMath xmlns:m="http://schemas.openxmlformats.org/officeDocument/2006/math">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𝑝</m:t>
                        </m:r>
                      </m:e>
                      <m:sub>
                        <m:r>
                          <a:rPr lang="en-US" i="1" smtClean="0">
                            <a:effectLst/>
                            <a:latin typeface="Cambria Math" panose="02040503050406030204" pitchFamily="18" charset="0"/>
                            <a:ea typeface="Cambria Math" panose="02040503050406030204" pitchFamily="18" charset="0"/>
                          </a:rPr>
                          <m:t>𝜃</m:t>
                        </m:r>
                      </m:sub>
                    </m:sSub>
                    <m:r>
                      <a:rPr lang="en-US" i="1" smtClean="0">
                        <a:effectLst/>
                        <a:latin typeface="Cambria Math" panose="02040503050406030204" pitchFamily="18" charset="0"/>
                      </a:rPr>
                      <m:t> </m:t>
                    </m:r>
                  </m:oMath>
                </a14:m>
                <a:r>
                  <a:rPr lang="en-US" dirty="0"/>
                  <a:t>is the model’s current output distribution.</a:t>
                </a:r>
              </a:p>
              <a:p>
                <a:pPr marL="285750" lvl="0" indent="-285750">
                  <a:buFont typeface="Arial" panose="020B0604020202020204" pitchFamily="34" charset="0"/>
                  <a:buChar char="•"/>
                </a:pPr>
                <a14:m>
                  <m:oMath xmlns:m="http://schemas.openxmlformats.org/officeDocument/2006/math">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𝑝</m:t>
                        </m:r>
                      </m:e>
                      <m:sub>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𝐷</m:t>
                            </m:r>
                          </m:e>
                          <m:sub>
                            <m:r>
                              <a:rPr lang="en-US" b="0" i="1" smtClean="0">
                                <a:effectLst/>
                                <a:latin typeface="Cambria Math" panose="02040503050406030204" pitchFamily="18" charset="0"/>
                              </a:rPr>
                              <m:t>𝑖</m:t>
                            </m:r>
                          </m:sub>
                        </m:sSub>
                      </m:sub>
                    </m:sSub>
                    <m:r>
                      <a:rPr lang="en-US" i="1" smtClean="0">
                        <a:effectLst/>
                        <a:latin typeface="Cambria Math" panose="02040503050406030204" pitchFamily="18" charset="0"/>
                      </a:rPr>
                      <m:t> </m:t>
                    </m:r>
                  </m:oMath>
                </a14:m>
                <a:r>
                  <a:rPr lang="en-US" dirty="0"/>
                  <a:t>is the behavioral or token distribution represented by dataset </a:t>
                </a:r>
                <a14:m>
                  <m:oMath xmlns:m="http://schemas.openxmlformats.org/officeDocument/2006/math">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𝐷</m:t>
                        </m:r>
                      </m:e>
                      <m:sub>
                        <m:r>
                          <a:rPr lang="en-US" b="0" i="1" smtClean="0">
                            <a:effectLst/>
                            <a:latin typeface="Cambria Math" panose="02040503050406030204" pitchFamily="18" charset="0"/>
                          </a:rPr>
                          <m:t>𝑖</m:t>
                        </m:r>
                      </m:sub>
                    </m:sSub>
                  </m:oMath>
                </a14:m>
                <a:endParaRPr lang="en-US" dirty="0"/>
              </a:p>
              <a:p>
                <a:pPr marL="285750" lvl="0" indent="-285750">
                  <a:buFont typeface="Arial" panose="020B0604020202020204" pitchFamily="34" charset="0"/>
                  <a:buChar char="•"/>
                </a:pPr>
                <a14:m>
                  <m:oMath xmlns:m="http://schemas.openxmlformats.org/officeDocument/2006/math">
                    <m:sSub>
                      <m:sSubPr>
                        <m:ctrlPr>
                          <a:rPr lang="en-US" i="1" smtClean="0">
                            <a:effectLst/>
                            <a:latin typeface="Cambria Math" panose="02040503050406030204" pitchFamily="18" charset="0"/>
                            <a:ea typeface="Cambria Math" panose="02040503050406030204" pitchFamily="18" charset="0"/>
                          </a:rPr>
                        </m:ctrlPr>
                      </m:sSubPr>
                      <m:e>
                        <m:r>
                          <a:rPr lang="en-US" i="1" smtClean="0">
                            <a:effectLst/>
                            <a:latin typeface="Cambria Math" panose="02040503050406030204" pitchFamily="18" charset="0"/>
                            <a:ea typeface="Cambria Math" panose="02040503050406030204" pitchFamily="18" charset="0"/>
                          </a:rPr>
                          <m:t>∆</m:t>
                        </m:r>
                        <m:r>
                          <a:rPr lang="en-US" b="0" i="1" smtClean="0">
                            <a:effectLst/>
                            <a:latin typeface="Cambria Math" panose="02040503050406030204" pitchFamily="18" charset="0"/>
                            <a:ea typeface="Cambria Math" panose="02040503050406030204" pitchFamily="18" charset="0"/>
                          </a:rPr>
                          <m:t>𝐷</m:t>
                        </m:r>
                      </m:e>
                      <m:sub>
                        <m:r>
                          <a:rPr lang="en-US" b="0" i="1" smtClean="0">
                            <a:effectLst/>
                            <a:latin typeface="Cambria Math" panose="02040503050406030204" pitchFamily="18" charset="0"/>
                          </a:rPr>
                          <m:t>𝐾𝐿</m:t>
                        </m:r>
                      </m:sub>
                    </m:sSub>
                    <m:r>
                      <a:rPr lang="en-US" i="1" smtClean="0">
                        <a:effectLst/>
                        <a:latin typeface="Cambria Math" panose="02040503050406030204" pitchFamily="18" charset="0"/>
                      </a:rPr>
                      <m:t> </m:t>
                    </m:r>
                  </m:oMath>
                </a14:m>
                <a:r>
                  <a:rPr lang="en-US" dirty="0"/>
                  <a:t>measures how different the model’s current behavior is from that dataset’s distribution.</a:t>
                </a:r>
              </a:p>
              <a:p>
                <a:pPr marL="285750" lvl="0" indent="-285750">
                  <a:buFont typeface="Arial" panose="020B0604020202020204" pitchFamily="34" charset="0"/>
                  <a:buChar char="•"/>
                </a:pPr>
                <a:r>
                  <a:rPr lang="en-US" dirty="0"/>
                  <a:t>Since </a:t>
                </a:r>
                <a:r>
                  <a:rPr lang="en-US" dirty="0">
                    <a:effectLst/>
                  </a:rPr>
                  <a:t>|</a:t>
                </a:r>
                <a14:m>
                  <m:oMath xmlns:m="http://schemas.openxmlformats.org/officeDocument/2006/math">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𝐷</m:t>
                        </m:r>
                      </m:e>
                      <m:sub>
                        <m:r>
                          <a:rPr lang="en-US" b="0" i="1" smtClean="0">
                            <a:effectLst/>
                            <a:latin typeface="Cambria Math" panose="02040503050406030204" pitchFamily="18" charset="0"/>
                          </a:rPr>
                          <m:t>𝑝</m:t>
                        </m:r>
                      </m:sub>
                    </m:sSub>
                    <m:r>
                      <a:rPr lang="en-US" b="0" i="1" smtClean="0">
                        <a:effectLst/>
                        <a:latin typeface="Cambria Math" panose="02040503050406030204" pitchFamily="18" charset="0"/>
                      </a:rPr>
                      <m:t>|≫</m:t>
                    </m:r>
                    <m:r>
                      <m:rPr>
                        <m:nor/>
                      </m:rPr>
                      <a:rPr lang="en-US" i="0" dirty="0" smtClean="0">
                        <a:effectLst/>
                      </a:rPr>
                      <m:t>|</m:t>
                    </m:r>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𝐷</m:t>
                        </m:r>
                      </m:e>
                      <m:sub>
                        <m:r>
                          <a:rPr lang="en-US" b="0" i="1" smtClean="0">
                            <a:effectLst/>
                            <a:latin typeface="Cambria Math" panose="02040503050406030204" pitchFamily="18" charset="0"/>
                          </a:rPr>
                          <m:t>𝑎</m:t>
                        </m:r>
                      </m:sub>
                    </m:sSub>
                    <m:r>
                      <a:rPr lang="en-US" b="0" i="1" smtClean="0">
                        <a:effectLst/>
                        <a:latin typeface="Cambria Math" panose="02040503050406030204" pitchFamily="18" charset="0"/>
                      </a:rPr>
                      <m:t>|</m:t>
                    </m:r>
                  </m:oMath>
                </a14:m>
                <a:r>
                  <a:rPr lang="en-US" dirty="0"/>
                  <a:t> (pre-trained vs aligned data) =&gt; </a:t>
                </a:r>
                <a:r>
                  <a:rPr lang="en-US" b="1" dirty="0"/>
                  <a:t>Elastic reversion</a:t>
                </a:r>
                <a:endParaRPr lang="en-US" dirty="0"/>
              </a:p>
            </p:txBody>
          </p:sp>
        </mc:Choice>
        <mc:Fallback xmlns="">
          <p:sp>
            <p:nvSpPr>
              <p:cNvPr id="10" name="TextBox 9">
                <a:extLst>
                  <a:ext uri="{FF2B5EF4-FFF2-40B4-BE49-F238E27FC236}">
                    <a16:creationId xmlns:a16="http://schemas.microsoft.com/office/drawing/2014/main" id="{A7C3ABD4-7748-9C15-A626-6E488CF32D81}"/>
                  </a:ext>
                </a:extLst>
              </p:cNvPr>
              <p:cNvSpPr txBox="1">
                <a:spLocks noRot="1" noChangeAspect="1" noMove="1" noResize="1" noEditPoints="1" noAdjustHandles="1" noChangeArrowheads="1" noChangeShapeType="1" noTextEdit="1"/>
              </p:cNvSpPr>
              <p:nvPr/>
            </p:nvSpPr>
            <p:spPr>
              <a:xfrm>
                <a:off x="838200" y="2534960"/>
                <a:ext cx="7089483" cy="3741922"/>
              </a:xfrm>
              <a:prstGeom prst="rect">
                <a:avLst/>
              </a:prstGeom>
              <a:blipFill>
                <a:blip r:embed="rId6"/>
                <a:stretch>
                  <a:fillRect l="-896" t="-676" r="-1434" b="-1014"/>
                </a:stretch>
              </a:blipFill>
            </p:spPr>
            <p:txBody>
              <a:bodyPr/>
              <a:lstStyle/>
              <a:p>
                <a:r>
                  <a:rPr lang="en-US">
                    <a:noFill/>
                  </a:rPr>
                  <a:t> </a:t>
                </a:r>
              </a:p>
            </p:txBody>
          </p:sp>
        </mc:Fallback>
      </mc:AlternateContent>
    </p:spTree>
    <p:extLst>
      <p:ext uri="{BB962C8B-B14F-4D97-AF65-F5344CB8AC3E}">
        <p14:creationId xmlns:p14="http://schemas.microsoft.com/office/powerpoint/2010/main" val="1778631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A57B2-64B5-4F61-52CF-D8E4F47FC2F7}"/>
              </a:ext>
            </a:extLst>
          </p:cNvPr>
          <p:cNvSpPr>
            <a:spLocks noGrp="1"/>
          </p:cNvSpPr>
          <p:nvPr>
            <p:ph type="title"/>
          </p:nvPr>
        </p:nvSpPr>
        <p:spPr>
          <a:xfrm>
            <a:off x="838200" y="365125"/>
            <a:ext cx="10515600" cy="1325563"/>
          </a:xfrm>
        </p:spPr>
        <p:txBody>
          <a:bodyPr>
            <a:normAutofit/>
          </a:bodyPr>
          <a:lstStyle/>
          <a:p>
            <a:r>
              <a:rPr lang="en-US" dirty="0"/>
              <a:t>VISAGE: Volumetric Index for Safety Alignment Guided by Explanation</a:t>
            </a:r>
          </a:p>
        </p:txBody>
      </p:sp>
      <p:pic>
        <p:nvPicPr>
          <p:cNvPr id="4" name="Picture 3">
            <a:extLst>
              <a:ext uri="{FF2B5EF4-FFF2-40B4-BE49-F238E27FC236}">
                <a16:creationId xmlns:a16="http://schemas.microsoft.com/office/drawing/2014/main" id="{623BECBD-5F96-9EC6-8B2A-2E013ED05096}"/>
              </a:ext>
            </a:extLst>
          </p:cNvPr>
          <p:cNvPicPr>
            <a:picLocks noChangeAspect="1"/>
          </p:cNvPicPr>
          <p:nvPr/>
        </p:nvPicPr>
        <p:blipFill>
          <a:blip r:embed="rId3"/>
          <a:stretch>
            <a:fillRect/>
          </a:stretch>
        </p:blipFill>
        <p:spPr>
          <a:xfrm>
            <a:off x="6070976" y="1690688"/>
            <a:ext cx="6121023" cy="4351339"/>
          </a:xfrm>
          <a:prstGeom prst="rect">
            <a:avLst/>
          </a:prstGeom>
        </p:spPr>
      </p:pic>
      <p:pic>
        <p:nvPicPr>
          <p:cNvPr id="5" name="Picture 4">
            <a:extLst>
              <a:ext uri="{FF2B5EF4-FFF2-40B4-BE49-F238E27FC236}">
                <a16:creationId xmlns:a16="http://schemas.microsoft.com/office/drawing/2014/main" id="{073BB2B1-9FCA-57DA-103A-259C01F47A76}"/>
              </a:ext>
            </a:extLst>
          </p:cNvPr>
          <p:cNvPicPr>
            <a:picLocks noChangeAspect="1"/>
          </p:cNvPicPr>
          <p:nvPr/>
        </p:nvPicPr>
        <p:blipFill>
          <a:blip r:embed="rId4"/>
          <a:stretch>
            <a:fillRect/>
          </a:stretch>
        </p:blipFill>
        <p:spPr>
          <a:xfrm>
            <a:off x="5775206" y="6136359"/>
            <a:ext cx="6299200" cy="495300"/>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8D46C9-FD09-0459-370A-80228699CDE4}"/>
                  </a:ext>
                </a:extLst>
              </p:cNvPr>
              <p:cNvSpPr>
                <a:spLocks noGrp="1"/>
              </p:cNvSpPr>
              <p:nvPr>
                <p:ph idx="1"/>
              </p:nvPr>
            </p:nvSpPr>
            <p:spPr>
              <a:xfrm>
                <a:off x="506895" y="2032671"/>
                <a:ext cx="5694207" cy="4351338"/>
              </a:xfrm>
            </p:spPr>
            <p:txBody>
              <a:bodyPr>
                <a:normAutofit/>
              </a:bodyPr>
              <a:lstStyle/>
              <a:p>
                <a:pPr marL="0" lvl="0" indent="0">
                  <a:buNone/>
                </a:pPr>
                <a:r>
                  <a:rPr lang="en-US" sz="1800" i="1" dirty="0"/>
                  <a:t>A critical empirical finding is that safety basins have sharp boundaries: safety exhibits </a:t>
                </a:r>
                <a:r>
                  <a:rPr lang="en-US" sz="1800" i="1" u="sng" dirty="0"/>
                  <a:t>step-function collapse</a:t>
                </a:r>
                <a:r>
                  <a:rPr lang="en-US" sz="1800" i="1" dirty="0"/>
                  <a:t> when crossing the boundary, with minimal graceful degradation. This geometry makes large parameter updates particularly dangerous.</a:t>
                </a:r>
                <a:endParaRPr lang="en-US" sz="1800" b="1" dirty="0"/>
              </a:p>
              <a:p>
                <a:pPr lvl="0"/>
                <a:r>
                  <a:rPr lang="en-US" sz="1800" b="1" dirty="0"/>
                  <a:t>The Safety Basin:</a:t>
                </a:r>
                <a:r>
                  <a:rPr lang="en-US" sz="1800" dirty="0"/>
                  <a:t> the average depth of a local region in the model's parameter space where the model remains safe.</a:t>
                </a:r>
              </a:p>
              <a:p>
                <a:pPr lvl="0"/>
                <a14:m>
                  <m:oMath xmlns:m="http://schemas.openxmlformats.org/officeDocument/2006/math">
                    <m:r>
                      <a:rPr lang="en-US" sz="1800" b="0" i="1" smtClean="0">
                        <a:latin typeface="Cambria Math" panose="02040503050406030204" pitchFamily="18" charset="0"/>
                      </a:rPr>
                      <m:t>𝐵</m:t>
                    </m:r>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𝜃</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𝑆</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𝜃</m:t>
                        </m:r>
                      </m:e>
                    </m:d>
                    <m:r>
                      <a:rPr lang="en-US" sz="1800" b="0" i="1" smtClean="0">
                        <a:latin typeface="Cambria Math" panose="02040503050406030204" pitchFamily="18" charset="0"/>
                        <a:ea typeface="Cambria Math" panose="02040503050406030204" pitchFamily="18" charset="0"/>
                      </a:rPr>
                      <m:t>≤ </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𝑆</m:t>
                        </m:r>
                      </m:e>
                      <m:sub>
                        <m:r>
                          <a:rPr lang="en-US" sz="1800" b="0" i="1" smtClean="0">
                            <a:latin typeface="Cambria Math" panose="02040503050406030204" pitchFamily="18" charset="0"/>
                            <a:ea typeface="Cambria Math" panose="02040503050406030204" pitchFamily="18" charset="0"/>
                          </a:rPr>
                          <m:t>𝑡ℎ𝑟𝑒𝑠ℎ𝑜𝑙𝑑</m:t>
                        </m:r>
                      </m:sub>
                    </m:sSub>
                    <m:r>
                      <a:rPr lang="en-US" sz="1800" b="0" i="1" smtClean="0">
                        <a:latin typeface="Cambria Math" panose="02040503050406030204" pitchFamily="18" charset="0"/>
                        <a:ea typeface="Cambria Math" panose="02040503050406030204" pitchFamily="18" charset="0"/>
                      </a:rPr>
                      <m:t> ,  </m:t>
                    </m:r>
                    <m:r>
                      <a:rPr lang="en-US" sz="1800" b="0" i="1" smtClean="0">
                        <a:latin typeface="Cambria Math" panose="02040503050406030204" pitchFamily="18" charset="0"/>
                        <a:ea typeface="Cambria Math" panose="02040503050406030204" pitchFamily="18" charset="0"/>
                      </a:rPr>
                      <m:t>𝜃</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𝑐𝑜𝑛𝑛𝑒𝑐𝑡𝑒𝑑</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𝑡𝑜</m:t>
                    </m:r>
                    <m:r>
                      <a:rPr lang="en-US" sz="1800" b="0" i="1" smtClean="0">
                        <a:latin typeface="Cambria Math" panose="02040503050406030204" pitchFamily="18" charset="0"/>
                        <a:ea typeface="Cambria Math" panose="02040503050406030204" pitchFamily="18" charset="0"/>
                      </a:rPr>
                      <m:t> </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𝜃</m:t>
                        </m:r>
                      </m:e>
                      <m:sub>
                        <m:r>
                          <a:rPr lang="en-US" sz="1800" b="0" i="1" smtClean="0">
                            <a:latin typeface="Cambria Math" panose="02040503050406030204" pitchFamily="18" charset="0"/>
                            <a:ea typeface="Cambria Math" panose="02040503050406030204" pitchFamily="18" charset="0"/>
                          </a:rPr>
                          <m:t>𝑎𝑙𝑖𝑔𝑛</m:t>
                        </m:r>
                      </m:sub>
                    </m:sSub>
                  </m:oMath>
                </a14:m>
                <a:endParaRPr lang="en-US" sz="1800" dirty="0"/>
              </a:p>
              <a:p>
                <a:pPr lvl="0"/>
                <a:r>
                  <a:rPr lang="en-US" sz="1800" dirty="0"/>
                  <a:t>A higher VISAGE score </a:t>
                </a:r>
              </a:p>
              <a:p>
                <a:pPr lvl="1"/>
                <a:r>
                  <a:rPr lang="en-US" sz="1800" dirty="0"/>
                  <a:t>model is </a:t>
                </a:r>
                <a:r>
                  <a:rPr lang="en-US" sz="1800" u="sng" dirty="0"/>
                  <a:t>safe</a:t>
                </a:r>
                <a:r>
                  <a:rPr lang="en-US" sz="1800" dirty="0"/>
                  <a:t> in its current state </a:t>
                </a:r>
              </a:p>
              <a:p>
                <a:pPr lvl="1"/>
                <a:r>
                  <a:rPr lang="en-US" sz="1800" dirty="0"/>
                  <a:t>is also </a:t>
                </a:r>
                <a:r>
                  <a:rPr lang="en-US" sz="1800" u="sng" dirty="0"/>
                  <a:t>highly robust</a:t>
                </a:r>
                <a:r>
                  <a:rPr lang="en-US" sz="1800" dirty="0"/>
                  <a:t> </a:t>
                </a:r>
              </a:p>
              <a:p>
                <a:pPr lvl="1"/>
                <a:r>
                  <a:rPr lang="en-US" sz="1800" u="sng" dirty="0"/>
                  <a:t>less likely</a:t>
                </a:r>
                <a:r>
                  <a:rPr lang="en-US" sz="1800" dirty="0"/>
                  <a:t> to have its safety alignment broken by fine-tuning or adversarial attacks</a:t>
                </a:r>
              </a:p>
              <a:p>
                <a:endParaRPr lang="en-US" sz="1800" dirty="0"/>
              </a:p>
            </p:txBody>
          </p:sp>
        </mc:Choice>
        <mc:Fallback xmlns="">
          <p:sp>
            <p:nvSpPr>
              <p:cNvPr id="3" name="Content Placeholder 2">
                <a:extLst>
                  <a:ext uri="{FF2B5EF4-FFF2-40B4-BE49-F238E27FC236}">
                    <a16:creationId xmlns:a16="http://schemas.microsoft.com/office/drawing/2014/main" id="{8C8D46C9-FD09-0459-370A-80228699CDE4}"/>
                  </a:ext>
                </a:extLst>
              </p:cNvPr>
              <p:cNvSpPr>
                <a:spLocks noGrp="1" noRot="1" noChangeAspect="1" noMove="1" noResize="1" noEditPoints="1" noAdjustHandles="1" noChangeArrowheads="1" noChangeShapeType="1" noTextEdit="1"/>
              </p:cNvSpPr>
              <p:nvPr>
                <p:ph idx="1"/>
              </p:nvPr>
            </p:nvSpPr>
            <p:spPr>
              <a:xfrm>
                <a:off x="506895" y="2032671"/>
                <a:ext cx="5694207" cy="4351338"/>
              </a:xfrm>
              <a:blipFill>
                <a:blip r:embed="rId5"/>
                <a:stretch>
                  <a:fillRect l="-667" t="-872" r="-444"/>
                </a:stretch>
              </a:blipFill>
            </p:spPr>
            <p:txBody>
              <a:bodyPr/>
              <a:lstStyle/>
              <a:p>
                <a:r>
                  <a:rPr lang="en-US">
                    <a:noFill/>
                  </a:rPr>
                  <a:t> </a:t>
                </a:r>
              </a:p>
            </p:txBody>
          </p:sp>
        </mc:Fallback>
      </mc:AlternateContent>
    </p:spTree>
    <p:extLst>
      <p:ext uri="{BB962C8B-B14F-4D97-AF65-F5344CB8AC3E}">
        <p14:creationId xmlns:p14="http://schemas.microsoft.com/office/powerpoint/2010/main" val="820952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38E1E6-448A-C9E1-719F-A401F08B6AB1}"/>
              </a:ext>
            </a:extLst>
          </p:cNvPr>
          <p:cNvSpPr>
            <a:spLocks noGrp="1"/>
          </p:cNvSpPr>
          <p:nvPr>
            <p:ph idx="1"/>
          </p:nvPr>
        </p:nvSpPr>
        <p:spPr>
          <a:xfrm>
            <a:off x="104945" y="446567"/>
            <a:ext cx="2850128" cy="6411433"/>
          </a:xfrm>
        </p:spPr>
        <p:txBody>
          <a:bodyPr>
            <a:normAutofit/>
          </a:bodyPr>
          <a:lstStyle/>
          <a:p>
            <a:endParaRPr lang="en-US" sz="2000" i="1" dirty="0"/>
          </a:p>
          <a:p>
            <a:pPr marL="0" indent="0">
              <a:buNone/>
            </a:pPr>
            <a:endParaRPr lang="en-US" sz="2000" i="1" dirty="0"/>
          </a:p>
          <a:p>
            <a:r>
              <a:rPr lang="en-US" sz="2000" i="1" dirty="0"/>
              <a:t>Safety / attack success rate (AdvBench, HarmBench)</a:t>
            </a:r>
          </a:p>
          <a:p>
            <a:pPr marL="0" indent="0">
              <a:buNone/>
            </a:pPr>
            <a:endParaRPr lang="en-US" sz="2000" dirty="0"/>
          </a:p>
          <a:p>
            <a:pPr marL="0" indent="0">
              <a:buNone/>
            </a:pPr>
            <a:endParaRPr lang="en-US" sz="2000" dirty="0"/>
          </a:p>
          <a:p>
            <a:pPr marL="0" indent="0">
              <a:buNone/>
            </a:pPr>
            <a:endParaRPr lang="en-US" sz="2000" dirty="0"/>
          </a:p>
          <a:p>
            <a:r>
              <a:rPr lang="en-US" sz="2000" i="1" dirty="0"/>
              <a:t>Truthfulness /Hallucination (</a:t>
            </a:r>
            <a:r>
              <a:rPr lang="en-US" sz="2000" i="1" dirty="0" err="1"/>
              <a:t>TruthfulQA</a:t>
            </a:r>
            <a:r>
              <a:rPr lang="en-US" sz="2000" i="1" dirty="0"/>
              <a:t>)</a:t>
            </a:r>
          </a:p>
          <a:p>
            <a:pPr marL="0" indent="0">
              <a:buNone/>
            </a:pPr>
            <a:endParaRPr lang="en-US" sz="2000" dirty="0"/>
          </a:p>
          <a:p>
            <a:pPr marL="0" indent="0">
              <a:buNone/>
            </a:pPr>
            <a:endParaRPr lang="en-US" sz="2000" dirty="0"/>
          </a:p>
          <a:p>
            <a:r>
              <a:rPr lang="en-US" sz="2000" i="1" dirty="0"/>
              <a:t>Downstream task sequence (Dolly, GSM8K, </a:t>
            </a:r>
            <a:r>
              <a:rPr lang="en-US" sz="2000" i="1" dirty="0" err="1"/>
              <a:t>MedMCQA</a:t>
            </a:r>
            <a:r>
              <a:rPr lang="en-US" sz="2000" i="1" dirty="0"/>
              <a:t>, SQuAD v2)</a:t>
            </a:r>
            <a:endParaRPr lang="en-US" sz="2000" b="0" i="1" dirty="0">
              <a:latin typeface="Cambria Math" panose="02040503050406030204" pitchFamily="18" charset="0"/>
            </a:endParaRPr>
          </a:p>
        </p:txBody>
      </p:sp>
      <p:graphicFrame>
        <p:nvGraphicFramePr>
          <p:cNvPr id="6" name="Table 5">
            <a:extLst>
              <a:ext uri="{FF2B5EF4-FFF2-40B4-BE49-F238E27FC236}">
                <a16:creationId xmlns:a16="http://schemas.microsoft.com/office/drawing/2014/main" id="{FA059CBF-1FE3-21FA-DB88-D55A05500F52}"/>
              </a:ext>
            </a:extLst>
          </p:cNvPr>
          <p:cNvGraphicFramePr>
            <a:graphicFrameLocks noGrp="1"/>
          </p:cNvGraphicFramePr>
          <p:nvPr>
            <p:extLst>
              <p:ext uri="{D42A27DB-BD31-4B8C-83A1-F6EECF244321}">
                <p14:modId xmlns:p14="http://schemas.microsoft.com/office/powerpoint/2010/main" val="3792229521"/>
              </p:ext>
            </p:extLst>
          </p:nvPr>
        </p:nvGraphicFramePr>
        <p:xfrm>
          <a:off x="2711302" y="104234"/>
          <a:ext cx="9375753" cy="6615068"/>
        </p:xfrm>
        <a:graphic>
          <a:graphicData uri="http://schemas.openxmlformats.org/drawingml/2006/table">
            <a:tbl>
              <a:tblPr>
                <a:tableStyleId>{5C22544A-7EE6-4342-B048-85BDC9FD1C3A}</a:tableStyleId>
              </a:tblPr>
              <a:tblGrid>
                <a:gridCol w="1820600">
                  <a:extLst>
                    <a:ext uri="{9D8B030D-6E8A-4147-A177-3AD203B41FA5}">
                      <a16:colId xmlns:a16="http://schemas.microsoft.com/office/drawing/2014/main" val="84131304"/>
                    </a:ext>
                  </a:extLst>
                </a:gridCol>
                <a:gridCol w="4656463">
                  <a:extLst>
                    <a:ext uri="{9D8B030D-6E8A-4147-A177-3AD203B41FA5}">
                      <a16:colId xmlns:a16="http://schemas.microsoft.com/office/drawing/2014/main" val="3704352104"/>
                    </a:ext>
                  </a:extLst>
                </a:gridCol>
                <a:gridCol w="2898690">
                  <a:extLst>
                    <a:ext uri="{9D8B030D-6E8A-4147-A177-3AD203B41FA5}">
                      <a16:colId xmlns:a16="http://schemas.microsoft.com/office/drawing/2014/main" val="2113396545"/>
                    </a:ext>
                  </a:extLst>
                </a:gridCol>
              </a:tblGrid>
              <a:tr h="301150">
                <a:tc>
                  <a:txBody>
                    <a:bodyPr/>
                    <a:lstStyle/>
                    <a:p>
                      <a:pPr marL="0" marR="0" rtl="0">
                        <a:spcAft>
                          <a:spcPts val="2400"/>
                        </a:spcAft>
                        <a:buNone/>
                      </a:pPr>
                      <a:r>
                        <a:rPr lang="en-US" sz="1300" b="1" dirty="0">
                          <a:effectLst/>
                        </a:rPr>
                        <a:t>VLM Replacement</a:t>
                      </a:r>
                      <a:endParaRPr lang="en-US" sz="1300" b="1" dirty="0">
                        <a:solidFill>
                          <a:srgbClr val="1F1F1F"/>
                        </a:solidFill>
                        <a:effectLst/>
                        <a:latin typeface="Google Sans Text"/>
                      </a:endParaRPr>
                    </a:p>
                  </a:txBody>
                  <a:tcPr marL="53152" marR="53152" marT="35434" marB="35434" anchor="ctr"/>
                </a:tc>
                <a:tc>
                  <a:txBody>
                    <a:bodyPr/>
                    <a:lstStyle/>
                    <a:p>
                      <a:pPr marL="0" marR="0" rtl="0">
                        <a:spcAft>
                          <a:spcPts val="2400"/>
                        </a:spcAft>
                        <a:buNone/>
                      </a:pPr>
                      <a:r>
                        <a:rPr lang="en-US" sz="1300" b="1" dirty="0">
                          <a:effectLst/>
                        </a:rPr>
                        <a:t>What it is</a:t>
                      </a:r>
                      <a:endParaRPr lang="en-US" sz="1300" b="1" dirty="0">
                        <a:solidFill>
                          <a:srgbClr val="1F1F1F"/>
                        </a:solidFill>
                        <a:effectLst/>
                        <a:latin typeface="Google Sans Text"/>
                      </a:endParaRPr>
                    </a:p>
                  </a:txBody>
                  <a:tcPr marL="53152" marR="53152" marT="35434" marB="35434" anchor="ctr"/>
                </a:tc>
                <a:tc>
                  <a:txBody>
                    <a:bodyPr/>
                    <a:lstStyle/>
                    <a:p>
                      <a:pPr marL="0" marR="0" rtl="0">
                        <a:spcAft>
                          <a:spcPts val="2400"/>
                        </a:spcAft>
                        <a:buNone/>
                      </a:pPr>
                      <a:r>
                        <a:rPr lang="en-US" sz="1300" b="1" dirty="0">
                          <a:effectLst/>
                        </a:rPr>
                        <a:t>LLM benchmark used</a:t>
                      </a:r>
                      <a:endParaRPr lang="en-US" sz="1300" b="1" dirty="0">
                        <a:solidFill>
                          <a:srgbClr val="1F1F1F"/>
                        </a:solidFill>
                        <a:effectLst/>
                        <a:latin typeface="Google Sans Text"/>
                      </a:endParaRPr>
                    </a:p>
                  </a:txBody>
                  <a:tcPr marL="53152" marR="53152" marT="35434" marB="35434" anchor="ctr"/>
                </a:tc>
                <a:extLst>
                  <a:ext uri="{0D108BD9-81ED-4DB2-BD59-A6C34878D82A}">
                    <a16:rowId xmlns:a16="http://schemas.microsoft.com/office/drawing/2014/main" val="2281627161"/>
                  </a:ext>
                </a:extLst>
              </a:tr>
              <a:tr h="482451">
                <a:tc>
                  <a:txBody>
                    <a:bodyPr/>
                    <a:lstStyle/>
                    <a:p>
                      <a:pPr marL="0" marR="0" rtl="0">
                        <a:spcAft>
                          <a:spcPts val="2400"/>
                        </a:spcAft>
                        <a:buNone/>
                      </a:pPr>
                      <a:r>
                        <a:rPr lang="en-US" sz="1300" dirty="0">
                          <a:effectLst/>
                          <a:hlinkClick r:id="rId3"/>
                        </a:rPr>
                        <a:t>MM-SafetyBench</a:t>
                      </a:r>
                      <a:endParaRPr lang="en-US" sz="1300" dirty="0">
                        <a:solidFill>
                          <a:srgbClr val="1F1F1F"/>
                        </a:solidFill>
                        <a:effectLst/>
                        <a:latin typeface="Google Sans Text"/>
                      </a:endParaRPr>
                    </a:p>
                  </a:txBody>
                  <a:tcPr marL="53152" marR="53152" marT="35434" marB="35434" anchor="ctr">
                    <a:solidFill>
                      <a:schemeClr val="tx2">
                        <a:lumMod val="25000"/>
                        <a:lumOff val="75000"/>
                      </a:schemeClr>
                    </a:solidFill>
                  </a:tcPr>
                </a:tc>
                <a:tc>
                  <a:txBody>
                    <a:bodyPr/>
                    <a:lstStyle/>
                    <a:p>
                      <a:pPr marL="0" marR="0" rtl="0">
                        <a:spcAft>
                          <a:spcPts val="2400"/>
                        </a:spcAft>
                        <a:buNone/>
                      </a:pPr>
                      <a:r>
                        <a:rPr lang="en-US" sz="1300" dirty="0">
                          <a:effectLst/>
                        </a:rPr>
                        <a:t>13 safety-critical scenarios with 5,040 text-image pairs. Complementary benchmarks.</a:t>
                      </a:r>
                      <a:endParaRPr lang="en-US" sz="1300" dirty="0">
                        <a:solidFill>
                          <a:srgbClr val="1F1F1F"/>
                        </a:solidFill>
                        <a:effectLst/>
                        <a:latin typeface="Google Sans Text"/>
                      </a:endParaRPr>
                    </a:p>
                  </a:txBody>
                  <a:tcPr marL="53152" marR="53152" marT="35434" marB="35434" anchor="ctr"/>
                </a:tc>
                <a:tc>
                  <a:txBody>
                    <a:bodyPr/>
                    <a:lstStyle/>
                    <a:p>
                      <a:pPr marL="0" marR="0" rtl="0">
                        <a:spcAft>
                          <a:spcPts val="2400"/>
                        </a:spcAft>
                        <a:buNone/>
                      </a:pPr>
                      <a:r>
                        <a:rPr lang="en-US" sz="1300" dirty="0">
                          <a:effectLst/>
                        </a:rPr>
                        <a:t>AdvBench </a:t>
                      </a:r>
                      <a:endParaRPr lang="en-US" sz="1300" dirty="0">
                        <a:solidFill>
                          <a:srgbClr val="1F1F1F"/>
                        </a:solidFill>
                        <a:effectLst/>
                        <a:latin typeface="Google Sans Text"/>
                      </a:endParaRPr>
                    </a:p>
                  </a:txBody>
                  <a:tcPr marL="53152" marR="53152" marT="35434" marB="35434" anchor="ctr">
                    <a:solidFill>
                      <a:srgbClr val="FFFF00"/>
                    </a:solidFill>
                  </a:tcPr>
                </a:tc>
                <a:extLst>
                  <a:ext uri="{0D108BD9-81ED-4DB2-BD59-A6C34878D82A}">
                    <a16:rowId xmlns:a16="http://schemas.microsoft.com/office/drawing/2014/main" val="1193843332"/>
                  </a:ext>
                </a:extLst>
              </a:tr>
              <a:tr h="905490">
                <a:tc>
                  <a:txBody>
                    <a:bodyPr/>
                    <a:lstStyle/>
                    <a:p>
                      <a:pPr marL="0" marR="0" rtl="0">
                        <a:spcAft>
                          <a:spcPts val="2400"/>
                        </a:spcAft>
                        <a:buNone/>
                      </a:pPr>
                      <a:r>
                        <a:rPr lang="en-US" sz="1300" dirty="0">
                          <a:effectLst/>
                          <a:hlinkClick r:id="rId4"/>
                        </a:rPr>
                        <a:t>FigStep</a:t>
                      </a:r>
                      <a:endParaRPr lang="en-US" sz="1300" dirty="0">
                        <a:solidFill>
                          <a:srgbClr val="1F1F1F"/>
                        </a:solidFill>
                        <a:effectLst/>
                        <a:latin typeface="Google Sans Text"/>
                      </a:endParaRPr>
                    </a:p>
                  </a:txBody>
                  <a:tcPr marL="53152" marR="53152" marT="35434" marB="35434" anchor="ctr">
                    <a:solidFill>
                      <a:schemeClr val="accent2">
                        <a:lumMod val="60000"/>
                        <a:lumOff val="40000"/>
                      </a:schemeClr>
                    </a:solidFill>
                  </a:tcPr>
                </a:tc>
                <a:tc>
                  <a:txBody>
                    <a:bodyPr/>
                    <a:lstStyle/>
                    <a:p>
                      <a:pPr marL="0" marR="0" rtl="0">
                        <a:spcAft>
                          <a:spcPts val="2400"/>
                        </a:spcAft>
                        <a:buNone/>
                      </a:pPr>
                      <a:r>
                        <a:rPr lang="en-US" sz="1300" dirty="0">
                          <a:effectLst/>
                        </a:rPr>
                        <a:t>Embeds harmful instructions as image text alongside a benign text prompt (preserves diverse attack vectors)</a:t>
                      </a:r>
                      <a:endParaRPr lang="en-US" sz="1300" dirty="0">
                        <a:solidFill>
                          <a:srgbClr val="1F1F1F"/>
                        </a:solidFill>
                        <a:effectLst/>
                        <a:latin typeface="Google Sans Text"/>
                      </a:endParaRPr>
                    </a:p>
                  </a:txBody>
                  <a:tcPr marL="53152" marR="53152" marT="35434" marB="35434" anchor="ctr"/>
                </a:tc>
                <a:tc>
                  <a:txBody>
                    <a:bodyPr/>
                    <a:lstStyle/>
                    <a:p>
                      <a:pPr marL="0" marR="0" rtl="0">
                        <a:spcAft>
                          <a:spcPts val="2400"/>
                        </a:spcAft>
                        <a:buNone/>
                      </a:pPr>
                      <a:r>
                        <a:rPr lang="en-US" sz="1300" dirty="0">
                          <a:effectLst/>
                        </a:rPr>
                        <a:t>No direct text-only equivalent. </a:t>
                      </a:r>
                      <a:r>
                        <a:rPr lang="en-US" sz="1300" b="0" i="0" kern="1200" dirty="0">
                          <a:solidFill>
                            <a:schemeClr val="dk1"/>
                          </a:solidFill>
                          <a:effectLst/>
                          <a:latin typeface="+mn-lt"/>
                          <a:ea typeface="+mn-ea"/>
                          <a:cs typeface="+mn-cs"/>
                        </a:rPr>
                        <a:t>Attacks via </a:t>
                      </a:r>
                      <a:r>
                        <a:rPr lang="en-US" sz="1300" b="0" i="0" u="sng" kern="1200" dirty="0">
                          <a:solidFill>
                            <a:schemeClr val="dk1"/>
                          </a:solidFill>
                          <a:effectLst/>
                          <a:latin typeface="+mn-lt"/>
                          <a:ea typeface="+mn-ea"/>
                          <a:cs typeface="+mn-cs"/>
                        </a:rPr>
                        <a:t>visual OCR channel</a:t>
                      </a:r>
                      <a:r>
                        <a:rPr lang="en-US" sz="1300" b="0" i="0" kern="1200" dirty="0">
                          <a:solidFill>
                            <a:schemeClr val="dk1"/>
                          </a:solidFill>
                          <a:effectLst/>
                          <a:latin typeface="+mn-lt"/>
                          <a:ea typeface="+mn-ea"/>
                          <a:cs typeface="+mn-cs"/>
                        </a:rPr>
                        <a:t>, tests whether visual text can bypass text-channel safeguards. Distinct attack shape.</a:t>
                      </a:r>
                      <a:endParaRPr lang="en-US" sz="1300" dirty="0">
                        <a:solidFill>
                          <a:srgbClr val="1F1F1F"/>
                        </a:solidFill>
                        <a:effectLst/>
                        <a:latin typeface="Google Sans Text"/>
                      </a:endParaRPr>
                    </a:p>
                  </a:txBody>
                  <a:tcPr marL="53152" marR="53152" marT="35434" marB="35434" anchor="ctr"/>
                </a:tc>
                <a:extLst>
                  <a:ext uri="{0D108BD9-81ED-4DB2-BD59-A6C34878D82A}">
                    <a16:rowId xmlns:a16="http://schemas.microsoft.com/office/drawing/2014/main" val="3111428272"/>
                  </a:ext>
                </a:extLst>
              </a:tr>
              <a:tr h="881943">
                <a:tc>
                  <a:txBody>
                    <a:bodyPr/>
                    <a:lstStyle/>
                    <a:p>
                      <a:pPr marL="0" marR="0" rtl="0">
                        <a:spcAft>
                          <a:spcPts val="2400"/>
                        </a:spcAft>
                        <a:buNone/>
                      </a:pPr>
                      <a:r>
                        <a:rPr lang="en-US" sz="1300" dirty="0">
                          <a:effectLst/>
                          <a:hlinkClick r:id="rId5"/>
                        </a:rPr>
                        <a:t>JailBreakV-28K</a:t>
                      </a:r>
                      <a:endParaRPr lang="en-US" sz="1300" dirty="0">
                        <a:solidFill>
                          <a:srgbClr val="1F1F1F"/>
                        </a:solidFill>
                        <a:effectLst/>
                        <a:latin typeface="Google Sans Text"/>
                      </a:endParaRPr>
                    </a:p>
                  </a:txBody>
                  <a:tcPr marL="53152" marR="53152" marT="35434" marB="35434" anchor="ctr">
                    <a:solidFill>
                      <a:schemeClr val="accent1">
                        <a:lumMod val="60000"/>
                        <a:lumOff val="40000"/>
                      </a:schemeClr>
                    </a:solidFill>
                  </a:tcPr>
                </a:tc>
                <a:tc>
                  <a:txBody>
                    <a:bodyPr/>
                    <a:lstStyle/>
                    <a:p>
                      <a:pPr marL="0" marR="0" rtl="0">
                        <a:spcAft>
                          <a:spcPts val="2400"/>
                        </a:spcAft>
                        <a:buNone/>
                      </a:pPr>
                      <a:r>
                        <a:rPr lang="en-US" sz="1300" dirty="0">
                          <a:effectLst/>
                        </a:rPr>
                        <a:t>Large-scale multimodal benchmark with 16 harm scenarios across 28k samples– mixing direct, contextual, and optimization-based attacks.</a:t>
                      </a:r>
                      <a:endParaRPr lang="en-US" sz="1300" dirty="0">
                        <a:solidFill>
                          <a:srgbClr val="1F1F1F"/>
                        </a:solidFill>
                        <a:effectLst/>
                        <a:latin typeface="Google Sans Text"/>
                      </a:endParaRPr>
                    </a:p>
                  </a:txBody>
                  <a:tcPr marL="53152" marR="53152" marT="35434" marB="35434" anchor="ctr"/>
                </a:tc>
                <a:tc>
                  <a:txBody>
                    <a:bodyPr/>
                    <a:lstStyle/>
                    <a:p>
                      <a:pPr marL="0" marR="0" rtl="0">
                        <a:spcAft>
                          <a:spcPts val="2400"/>
                        </a:spcAft>
                        <a:buNone/>
                      </a:pPr>
                      <a:r>
                        <a:rPr lang="en-US" sz="1300" dirty="0">
                          <a:effectLst/>
                        </a:rPr>
                        <a:t>HarmBench</a:t>
                      </a:r>
                      <a:endParaRPr lang="en-US" sz="1300" dirty="0">
                        <a:solidFill>
                          <a:srgbClr val="1F1F1F"/>
                        </a:solidFill>
                        <a:effectLst/>
                        <a:latin typeface="Google Sans Text"/>
                      </a:endParaRPr>
                    </a:p>
                  </a:txBody>
                  <a:tcPr marL="53152" marR="53152" marT="35434" marB="35434" anchor="ctr">
                    <a:solidFill>
                      <a:srgbClr val="FFFF00"/>
                    </a:solidFill>
                  </a:tcPr>
                </a:tc>
                <a:extLst>
                  <a:ext uri="{0D108BD9-81ED-4DB2-BD59-A6C34878D82A}">
                    <a16:rowId xmlns:a16="http://schemas.microsoft.com/office/drawing/2014/main" val="3533989123"/>
                  </a:ext>
                </a:extLst>
              </a:tr>
              <a:tr h="688346">
                <a:tc>
                  <a:txBody>
                    <a:bodyPr/>
                    <a:lstStyle/>
                    <a:p>
                      <a:pPr marL="0" marR="0" rtl="0">
                        <a:spcAft>
                          <a:spcPts val="2400"/>
                        </a:spcAft>
                        <a:buNone/>
                      </a:pPr>
                      <a:r>
                        <a:rPr lang="en-US" sz="1300" dirty="0">
                          <a:effectLst/>
                          <a:hlinkClick r:id="rId6"/>
                        </a:rPr>
                        <a:t>HarmBench</a:t>
                      </a:r>
                      <a:r>
                        <a:rPr lang="en-US" sz="1300" dirty="0">
                          <a:effectLst/>
                        </a:rPr>
                        <a:t>   (Text Slice)</a:t>
                      </a:r>
                      <a:endParaRPr lang="en-US" sz="1300" dirty="0">
                        <a:solidFill>
                          <a:srgbClr val="1F1F1F"/>
                        </a:solidFill>
                        <a:effectLst/>
                        <a:latin typeface="Google Sans Text"/>
                      </a:endParaRPr>
                    </a:p>
                  </a:txBody>
                  <a:tcPr marL="53152" marR="53152" marT="35434" marB="35434" anchor="ctr">
                    <a:solidFill>
                      <a:srgbClr val="FFFF00"/>
                    </a:solidFill>
                  </a:tcPr>
                </a:tc>
                <a:tc>
                  <a:txBody>
                    <a:bodyPr/>
                    <a:lstStyle/>
                    <a:p>
                      <a:pPr marL="0" marR="0" rtl="0">
                        <a:spcAft>
                          <a:spcPts val="2400"/>
                        </a:spcAft>
                        <a:buNone/>
                      </a:pPr>
                      <a:r>
                        <a:rPr lang="en-US" sz="1300" dirty="0">
                          <a:effectLst/>
                        </a:rPr>
                        <a:t>Text-only attack queries to evaluate vulnerabilities in the VLM's language decoder. </a:t>
                      </a:r>
                      <a:r>
                        <a:rPr lang="en-US" sz="1300" b="0" i="0" kern="1200" dirty="0">
                          <a:solidFill>
                            <a:schemeClr val="dk1"/>
                          </a:solidFill>
                          <a:effectLst/>
                          <a:latin typeface="+mn-lt"/>
                          <a:ea typeface="+mn-ea"/>
                          <a:cs typeface="+mn-cs"/>
                        </a:rPr>
                        <a:t>510+ queries, Llama-Guard-3-8B judge</a:t>
                      </a:r>
                      <a:endParaRPr lang="en-US" sz="1300" dirty="0">
                        <a:solidFill>
                          <a:srgbClr val="1F1F1F"/>
                        </a:solidFill>
                        <a:effectLst/>
                        <a:latin typeface="Google Sans Text"/>
                      </a:endParaRPr>
                    </a:p>
                  </a:txBody>
                  <a:tcPr marL="53152" marR="53152" marT="35434" marB="35434" anchor="ctr"/>
                </a:tc>
                <a:tc>
                  <a:txBody>
                    <a:bodyPr/>
                    <a:lstStyle/>
                    <a:p>
                      <a:pPr marL="0" marR="0" rtl="0">
                        <a:spcAft>
                          <a:spcPts val="2400"/>
                        </a:spcAft>
                        <a:buNone/>
                      </a:pPr>
                      <a:r>
                        <a:rPr lang="en-US" sz="1300" dirty="0">
                          <a:effectLst/>
                        </a:rPr>
                        <a:t>HarmBench</a:t>
                      </a:r>
                      <a:endParaRPr lang="en-US" sz="1300" dirty="0">
                        <a:solidFill>
                          <a:srgbClr val="1F1F1F"/>
                        </a:solidFill>
                        <a:effectLst/>
                        <a:latin typeface="Google Sans Text"/>
                      </a:endParaRPr>
                    </a:p>
                  </a:txBody>
                  <a:tcPr marL="53152" marR="53152" marT="35434" marB="35434" anchor="ctr">
                    <a:solidFill>
                      <a:srgbClr val="FFFF00"/>
                    </a:solidFill>
                  </a:tcPr>
                </a:tc>
                <a:extLst>
                  <a:ext uri="{0D108BD9-81ED-4DB2-BD59-A6C34878D82A}">
                    <a16:rowId xmlns:a16="http://schemas.microsoft.com/office/drawing/2014/main" val="2295275534"/>
                  </a:ext>
                </a:extLst>
              </a:tr>
              <a:tr h="494749">
                <a:tc>
                  <a:txBody>
                    <a:bodyPr/>
                    <a:lstStyle/>
                    <a:p>
                      <a:pPr marL="0" marR="0" rtl="0">
                        <a:spcAft>
                          <a:spcPts val="2400"/>
                        </a:spcAft>
                        <a:buNone/>
                      </a:pPr>
                      <a:r>
                        <a:rPr lang="en-US" sz="1300" dirty="0">
                          <a:effectLst/>
                          <a:hlinkClick r:id="rId7"/>
                        </a:rPr>
                        <a:t>MMHal-Bench</a:t>
                      </a:r>
                      <a:endParaRPr lang="en-US" sz="1300" dirty="0">
                        <a:solidFill>
                          <a:srgbClr val="1F1F1F"/>
                        </a:solidFill>
                        <a:effectLst/>
                        <a:latin typeface="Google Sans Text"/>
                      </a:endParaRPr>
                    </a:p>
                  </a:txBody>
                  <a:tcPr marL="53152" marR="53152" marT="35434" marB="35434" anchor="ctr"/>
                </a:tc>
                <a:tc>
                  <a:txBody>
                    <a:bodyPr/>
                    <a:lstStyle/>
                    <a:p>
                      <a:pPr marL="0" marR="0" rtl="0">
                        <a:spcAft>
                          <a:spcPts val="2400"/>
                        </a:spcAft>
                        <a:buNone/>
                      </a:pPr>
                      <a:r>
                        <a:rPr lang="en-US" sz="1300" dirty="0">
                          <a:effectLst/>
                        </a:rPr>
                        <a:t>Primary open-ended, model-graded hallucination benchmark. 8 question types per image across 12 images types</a:t>
                      </a:r>
                      <a:endParaRPr lang="en-US" sz="1300" dirty="0">
                        <a:solidFill>
                          <a:srgbClr val="1F1F1F"/>
                        </a:solidFill>
                        <a:effectLst/>
                        <a:latin typeface="Google Sans Text"/>
                      </a:endParaRPr>
                    </a:p>
                  </a:txBody>
                  <a:tcPr marL="53152" marR="53152" marT="35434" marB="35434" anchor="ctr"/>
                </a:tc>
                <a:tc>
                  <a:txBody>
                    <a:bodyPr/>
                    <a:lstStyle/>
                    <a:p>
                      <a:pPr marL="0" marR="0" rtl="0">
                        <a:spcAft>
                          <a:spcPts val="2400"/>
                        </a:spcAft>
                        <a:buNone/>
                      </a:pPr>
                      <a:r>
                        <a:rPr lang="en-US" sz="1300">
                          <a:effectLst/>
                        </a:rPr>
                        <a:t>TruthfulQA</a:t>
                      </a:r>
                      <a:endParaRPr lang="en-US" sz="1300">
                        <a:solidFill>
                          <a:srgbClr val="1F1F1F"/>
                        </a:solidFill>
                        <a:effectLst/>
                        <a:latin typeface="Google Sans Text"/>
                      </a:endParaRPr>
                    </a:p>
                  </a:txBody>
                  <a:tcPr marL="53152" marR="53152" marT="35434" marB="35434" anchor="ctr"/>
                </a:tc>
                <a:extLst>
                  <a:ext uri="{0D108BD9-81ED-4DB2-BD59-A6C34878D82A}">
                    <a16:rowId xmlns:a16="http://schemas.microsoft.com/office/drawing/2014/main" val="994918729"/>
                  </a:ext>
                </a:extLst>
              </a:tr>
              <a:tr h="688346">
                <a:tc>
                  <a:txBody>
                    <a:bodyPr/>
                    <a:lstStyle/>
                    <a:p>
                      <a:pPr marL="0" marR="0" rtl="0">
                        <a:spcAft>
                          <a:spcPts val="2400"/>
                        </a:spcAft>
                        <a:buNone/>
                      </a:pPr>
                      <a:r>
                        <a:rPr lang="en-US" sz="1300" dirty="0">
                          <a:effectLst/>
                          <a:hlinkClick r:id="rId8"/>
                        </a:rPr>
                        <a:t>POPE</a:t>
                      </a:r>
                      <a:endParaRPr lang="en-US" sz="1300" dirty="0">
                        <a:solidFill>
                          <a:srgbClr val="1F1F1F"/>
                        </a:solidFill>
                        <a:effectLst/>
                        <a:latin typeface="Google Sans Text"/>
                      </a:endParaRPr>
                    </a:p>
                  </a:txBody>
                  <a:tcPr marL="53152" marR="53152" marT="35434" marB="35434" anchor="ctr"/>
                </a:tc>
                <a:tc>
                  <a:txBody>
                    <a:bodyPr/>
                    <a:lstStyle/>
                    <a:p>
                      <a:pPr marL="0" marR="0" rtl="0">
                        <a:spcAft>
                          <a:spcPts val="2400"/>
                        </a:spcAft>
                        <a:buNone/>
                      </a:pPr>
                      <a:r>
                        <a:rPr lang="en-US" sz="1300" dirty="0">
                          <a:effectLst/>
                        </a:rPr>
                        <a:t>Secondary check using simpler yes/no object-hallucination probing.</a:t>
                      </a:r>
                      <a:endParaRPr lang="en-US" sz="1300" dirty="0">
                        <a:solidFill>
                          <a:srgbClr val="1F1F1F"/>
                        </a:solidFill>
                        <a:effectLst/>
                        <a:latin typeface="Google Sans Text"/>
                      </a:endParaRPr>
                    </a:p>
                  </a:txBody>
                  <a:tcPr marL="53152" marR="53152" marT="35434" marB="35434" anchor="ctr"/>
                </a:tc>
                <a:tc>
                  <a:txBody>
                    <a:bodyPr/>
                    <a:lstStyle/>
                    <a:p>
                      <a:pPr marL="0" marR="0" rtl="0">
                        <a:spcAft>
                          <a:spcPts val="2400"/>
                        </a:spcAft>
                        <a:buNone/>
                      </a:pPr>
                      <a:r>
                        <a:rPr lang="en-US" sz="1300">
                          <a:effectLst/>
                        </a:rPr>
                        <a:t>TruthfulQA (Supplementary signal)</a:t>
                      </a:r>
                      <a:endParaRPr lang="en-US" sz="1300">
                        <a:solidFill>
                          <a:srgbClr val="1F1F1F"/>
                        </a:solidFill>
                        <a:effectLst/>
                        <a:latin typeface="Google Sans Text"/>
                      </a:endParaRPr>
                    </a:p>
                  </a:txBody>
                  <a:tcPr marL="53152" marR="53152" marT="35434" marB="35434" anchor="ctr"/>
                </a:tc>
                <a:extLst>
                  <a:ext uri="{0D108BD9-81ED-4DB2-BD59-A6C34878D82A}">
                    <a16:rowId xmlns:a16="http://schemas.microsoft.com/office/drawing/2014/main" val="1964099098"/>
                  </a:ext>
                </a:extLst>
              </a:tr>
              <a:tr h="688346">
                <a:tc>
                  <a:txBody>
                    <a:bodyPr/>
                    <a:lstStyle/>
                    <a:p>
                      <a:pPr marL="0" marR="0" rtl="0">
                        <a:spcAft>
                          <a:spcPts val="2400"/>
                        </a:spcAft>
                        <a:buNone/>
                      </a:pPr>
                      <a:r>
                        <a:rPr lang="en-US" sz="1300" dirty="0">
                          <a:effectLst/>
                          <a:hlinkClick r:id="rId9"/>
                        </a:rPr>
                        <a:t>LLaVA-Instruct-150K</a:t>
                      </a:r>
                      <a:endParaRPr lang="en-US" sz="1300" dirty="0">
                        <a:solidFill>
                          <a:srgbClr val="1F1F1F"/>
                        </a:solidFill>
                        <a:effectLst/>
                        <a:latin typeface="Google Sans Text"/>
                      </a:endParaRPr>
                    </a:p>
                  </a:txBody>
                  <a:tcPr marL="53152" marR="53152" marT="35434" marB="35434" anchor="ctr"/>
                </a:tc>
                <a:tc>
                  <a:txBody>
                    <a:bodyPr/>
                    <a:lstStyle/>
                    <a:p>
                      <a:pPr marL="0" marR="0" rtl="0">
                        <a:spcAft>
                          <a:spcPts val="2400"/>
                        </a:spcAft>
                        <a:buNone/>
                      </a:pPr>
                      <a:r>
                        <a:rPr lang="en-US" sz="1300">
                          <a:effectLst/>
                        </a:rPr>
                        <a:t>Benign general visual instruction-following to reduce excessive refusal before task-specific tuning.</a:t>
                      </a:r>
                      <a:endParaRPr lang="en-US" sz="1300">
                        <a:solidFill>
                          <a:srgbClr val="1F1F1F"/>
                        </a:solidFill>
                        <a:effectLst/>
                        <a:latin typeface="Google Sans Text"/>
                      </a:endParaRPr>
                    </a:p>
                  </a:txBody>
                  <a:tcPr marL="53152" marR="53152" marT="35434" marB="35434" anchor="ctr"/>
                </a:tc>
                <a:tc>
                  <a:txBody>
                    <a:bodyPr/>
                    <a:lstStyle/>
                    <a:p>
                      <a:pPr marL="0" marR="0" rtl="0">
                        <a:spcAft>
                          <a:spcPts val="2400"/>
                        </a:spcAft>
                        <a:buNone/>
                      </a:pPr>
                      <a:r>
                        <a:rPr lang="en-US" sz="1300">
                          <a:effectLst/>
                        </a:rPr>
                        <a:t>Dolly</a:t>
                      </a:r>
                      <a:endParaRPr lang="en-US" sz="1300">
                        <a:solidFill>
                          <a:srgbClr val="1F1F1F"/>
                        </a:solidFill>
                        <a:effectLst/>
                        <a:latin typeface="Google Sans Text"/>
                      </a:endParaRPr>
                    </a:p>
                  </a:txBody>
                  <a:tcPr marL="53152" marR="53152" marT="35434" marB="35434" anchor="ctr"/>
                </a:tc>
                <a:extLst>
                  <a:ext uri="{0D108BD9-81ED-4DB2-BD59-A6C34878D82A}">
                    <a16:rowId xmlns:a16="http://schemas.microsoft.com/office/drawing/2014/main" val="3498660101"/>
                  </a:ext>
                </a:extLst>
              </a:tr>
              <a:tr h="494749">
                <a:tc>
                  <a:txBody>
                    <a:bodyPr/>
                    <a:lstStyle/>
                    <a:p>
                      <a:pPr marL="0" marR="0" rtl="0">
                        <a:spcAft>
                          <a:spcPts val="2400"/>
                        </a:spcAft>
                        <a:buNone/>
                      </a:pPr>
                      <a:r>
                        <a:rPr lang="en-US" sz="1300" dirty="0">
                          <a:effectLst/>
                          <a:hlinkClick r:id="rId10"/>
                        </a:rPr>
                        <a:t>MathVista</a:t>
                      </a:r>
                      <a:endParaRPr lang="en-US" sz="1300" dirty="0">
                        <a:solidFill>
                          <a:srgbClr val="1F1F1F"/>
                        </a:solidFill>
                        <a:effectLst/>
                        <a:latin typeface="Google Sans Text"/>
                      </a:endParaRPr>
                    </a:p>
                  </a:txBody>
                  <a:tcPr marL="53152" marR="53152" marT="35434" marB="35434" anchor="ctr"/>
                </a:tc>
                <a:tc>
                  <a:txBody>
                    <a:bodyPr/>
                    <a:lstStyle/>
                    <a:p>
                      <a:pPr marL="0" marR="0" rtl="0">
                        <a:spcAft>
                          <a:spcPts val="2400"/>
                        </a:spcAft>
                        <a:buNone/>
                      </a:pPr>
                      <a:r>
                        <a:rPr lang="en-US" sz="1300" dirty="0">
                          <a:effectLst/>
                        </a:rPr>
                        <a:t>Visual mathematical reasoning dataset. 6141 samples from 28 multimodal datasets</a:t>
                      </a:r>
                      <a:endParaRPr lang="en-US" sz="1300" dirty="0">
                        <a:solidFill>
                          <a:srgbClr val="1F1F1F"/>
                        </a:solidFill>
                        <a:effectLst/>
                        <a:latin typeface="Google Sans Text"/>
                      </a:endParaRPr>
                    </a:p>
                  </a:txBody>
                  <a:tcPr marL="53152" marR="53152" marT="35434" marB="35434" anchor="ctr"/>
                </a:tc>
                <a:tc>
                  <a:txBody>
                    <a:bodyPr/>
                    <a:lstStyle/>
                    <a:p>
                      <a:pPr marL="0" marR="0" rtl="0">
                        <a:spcAft>
                          <a:spcPts val="2400"/>
                        </a:spcAft>
                        <a:buNone/>
                      </a:pPr>
                      <a:r>
                        <a:rPr lang="en-US" sz="1300">
                          <a:effectLst/>
                        </a:rPr>
                        <a:t>GSM8K</a:t>
                      </a:r>
                      <a:endParaRPr lang="en-US" sz="1300">
                        <a:solidFill>
                          <a:srgbClr val="1F1F1F"/>
                        </a:solidFill>
                        <a:effectLst/>
                        <a:latin typeface="Google Sans Text"/>
                      </a:endParaRPr>
                    </a:p>
                  </a:txBody>
                  <a:tcPr marL="53152" marR="53152" marT="35434" marB="35434" anchor="ctr"/>
                </a:tc>
                <a:extLst>
                  <a:ext uri="{0D108BD9-81ED-4DB2-BD59-A6C34878D82A}">
                    <a16:rowId xmlns:a16="http://schemas.microsoft.com/office/drawing/2014/main" val="2818352052"/>
                  </a:ext>
                </a:extLst>
              </a:tr>
              <a:tr h="494749">
                <a:tc>
                  <a:txBody>
                    <a:bodyPr/>
                    <a:lstStyle/>
                    <a:p>
                      <a:pPr marL="0" marR="0" rtl="0">
                        <a:spcAft>
                          <a:spcPts val="2400"/>
                        </a:spcAft>
                        <a:buNone/>
                      </a:pPr>
                      <a:r>
                        <a:rPr lang="en-US" sz="1300" dirty="0">
                          <a:effectLst/>
                          <a:hlinkClick r:id="rId11"/>
                        </a:rPr>
                        <a:t>VQA-RAD</a:t>
                      </a:r>
                      <a:r>
                        <a:rPr lang="en-US" sz="1300" dirty="0">
                          <a:effectLst/>
                        </a:rPr>
                        <a:t> and </a:t>
                      </a:r>
                      <a:r>
                        <a:rPr lang="en-US" sz="1300" dirty="0">
                          <a:effectLst/>
                          <a:hlinkClick r:id="rId12"/>
                        </a:rPr>
                        <a:t>SLAKE</a:t>
                      </a:r>
                      <a:endParaRPr lang="en-US" sz="1300" dirty="0">
                        <a:solidFill>
                          <a:srgbClr val="1F1F1F"/>
                        </a:solidFill>
                        <a:effectLst/>
                        <a:latin typeface="Google Sans Text"/>
                      </a:endParaRPr>
                    </a:p>
                  </a:txBody>
                  <a:tcPr marL="53152" marR="53152" marT="35434" marB="35434" anchor="ctr"/>
                </a:tc>
                <a:tc>
                  <a:txBody>
                    <a:bodyPr/>
                    <a:lstStyle/>
                    <a:p>
                      <a:pPr marL="0" marR="0" rtl="0">
                        <a:spcAft>
                          <a:spcPts val="2400"/>
                        </a:spcAft>
                        <a:buNone/>
                      </a:pPr>
                      <a:r>
                        <a:rPr lang="en-US" sz="1300" dirty="0">
                          <a:effectLst/>
                        </a:rPr>
                        <a:t>Medical visual question answering dataset. ~315 images, 3.5k Q/A pairs AND ~642 images, 14k Q/A pairs</a:t>
                      </a:r>
                    </a:p>
                  </a:txBody>
                  <a:tcPr marL="53152" marR="53152" marT="35434" marB="35434" anchor="ctr"/>
                </a:tc>
                <a:tc>
                  <a:txBody>
                    <a:bodyPr/>
                    <a:lstStyle/>
                    <a:p>
                      <a:pPr marL="0" marR="0" rtl="0">
                        <a:spcAft>
                          <a:spcPts val="2400"/>
                        </a:spcAft>
                        <a:buNone/>
                      </a:pPr>
                      <a:r>
                        <a:rPr lang="en-US" sz="1300">
                          <a:effectLst/>
                        </a:rPr>
                        <a:t>MedMCQA</a:t>
                      </a:r>
                      <a:endParaRPr lang="en-US" sz="1300">
                        <a:solidFill>
                          <a:srgbClr val="1F1F1F"/>
                        </a:solidFill>
                        <a:effectLst/>
                        <a:latin typeface="Google Sans Text"/>
                      </a:endParaRPr>
                    </a:p>
                  </a:txBody>
                  <a:tcPr marL="53152" marR="53152" marT="35434" marB="35434" anchor="ctr"/>
                </a:tc>
                <a:extLst>
                  <a:ext uri="{0D108BD9-81ED-4DB2-BD59-A6C34878D82A}">
                    <a16:rowId xmlns:a16="http://schemas.microsoft.com/office/drawing/2014/main" val="2998575470"/>
                  </a:ext>
                </a:extLst>
              </a:tr>
              <a:tr h="494749">
                <a:tc>
                  <a:txBody>
                    <a:bodyPr/>
                    <a:lstStyle/>
                    <a:p>
                      <a:pPr marL="0" marR="0" rtl="0">
                        <a:spcAft>
                          <a:spcPts val="2400"/>
                        </a:spcAft>
                        <a:buNone/>
                      </a:pPr>
                      <a:r>
                        <a:rPr lang="en-US" sz="1300" dirty="0">
                          <a:effectLst/>
                          <a:hlinkClick r:id="rId13"/>
                        </a:rPr>
                        <a:t>DocVQA</a:t>
                      </a:r>
                      <a:endParaRPr lang="en-US" sz="1300" dirty="0">
                        <a:solidFill>
                          <a:srgbClr val="1F1F1F"/>
                        </a:solidFill>
                        <a:effectLst/>
                        <a:latin typeface="Google Sans Text"/>
                      </a:endParaRPr>
                    </a:p>
                  </a:txBody>
                  <a:tcPr marL="53152" marR="53152" marT="35434" marB="35434" anchor="ctr"/>
                </a:tc>
                <a:tc>
                  <a:txBody>
                    <a:bodyPr/>
                    <a:lstStyle/>
                    <a:p>
                      <a:pPr marL="0" marR="0" rtl="0">
                        <a:spcAft>
                          <a:spcPts val="2400"/>
                        </a:spcAft>
                        <a:buNone/>
                      </a:pPr>
                      <a:r>
                        <a:rPr lang="en-US" sz="1300" dirty="0">
                          <a:effectLst/>
                        </a:rPr>
                        <a:t>50k Document image reading comprehension and QA, 12k+ document images</a:t>
                      </a:r>
                      <a:endParaRPr lang="en-US" sz="1300" dirty="0">
                        <a:solidFill>
                          <a:srgbClr val="1F1F1F"/>
                        </a:solidFill>
                        <a:effectLst/>
                        <a:latin typeface="Google Sans Text"/>
                      </a:endParaRPr>
                    </a:p>
                  </a:txBody>
                  <a:tcPr marL="53152" marR="53152" marT="35434" marB="35434" anchor="ctr"/>
                </a:tc>
                <a:tc>
                  <a:txBody>
                    <a:bodyPr/>
                    <a:lstStyle/>
                    <a:p>
                      <a:pPr marL="0" marR="0" rtl="0">
                        <a:spcAft>
                          <a:spcPts val="2400"/>
                        </a:spcAft>
                        <a:buNone/>
                      </a:pPr>
                      <a:r>
                        <a:rPr lang="en-US" sz="1300" dirty="0">
                          <a:effectLst/>
                        </a:rPr>
                        <a:t>SQuAD v2</a:t>
                      </a:r>
                      <a:endParaRPr lang="en-US" sz="1300" dirty="0">
                        <a:solidFill>
                          <a:srgbClr val="1F1F1F"/>
                        </a:solidFill>
                        <a:effectLst/>
                        <a:latin typeface="Google Sans Text"/>
                      </a:endParaRPr>
                    </a:p>
                  </a:txBody>
                  <a:tcPr marL="53152" marR="53152" marT="35434" marB="35434" anchor="ctr"/>
                </a:tc>
                <a:extLst>
                  <a:ext uri="{0D108BD9-81ED-4DB2-BD59-A6C34878D82A}">
                    <a16:rowId xmlns:a16="http://schemas.microsoft.com/office/drawing/2014/main" val="3855445667"/>
                  </a:ext>
                </a:extLst>
              </a:tr>
            </a:tbl>
          </a:graphicData>
        </a:graphic>
      </p:graphicFrame>
    </p:spTree>
    <p:extLst>
      <p:ext uri="{BB962C8B-B14F-4D97-AF65-F5344CB8AC3E}">
        <p14:creationId xmlns:p14="http://schemas.microsoft.com/office/powerpoint/2010/main" val="49497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6907CC4-E2B9-D899-4267-450CADF78534}"/>
              </a:ext>
            </a:extLst>
          </p:cNvPr>
          <p:cNvGraphicFramePr>
            <a:graphicFrameLocks noGrp="1"/>
          </p:cNvGraphicFramePr>
          <p:nvPr>
            <p:ph idx="1"/>
            <p:extLst>
              <p:ext uri="{D42A27DB-BD31-4B8C-83A1-F6EECF244321}">
                <p14:modId xmlns:p14="http://schemas.microsoft.com/office/powerpoint/2010/main" val="2284281257"/>
              </p:ext>
            </p:extLst>
          </p:nvPr>
        </p:nvGraphicFramePr>
        <p:xfrm>
          <a:off x="838200" y="1861508"/>
          <a:ext cx="10515600" cy="2560320"/>
        </p:xfrm>
        <a:graphic>
          <a:graphicData uri="http://schemas.openxmlformats.org/drawingml/2006/table">
            <a:tbl>
              <a:tblPr>
                <a:tableStyleId>{5C22544A-7EE6-4342-B048-85BDC9FD1C3A}</a:tableStyleId>
              </a:tblPr>
              <a:tblGrid>
                <a:gridCol w="3711498">
                  <a:extLst>
                    <a:ext uri="{9D8B030D-6E8A-4147-A177-3AD203B41FA5}">
                      <a16:colId xmlns:a16="http://schemas.microsoft.com/office/drawing/2014/main" val="4189825901"/>
                    </a:ext>
                  </a:extLst>
                </a:gridCol>
                <a:gridCol w="6804102">
                  <a:extLst>
                    <a:ext uri="{9D8B030D-6E8A-4147-A177-3AD203B41FA5}">
                      <a16:colId xmlns:a16="http://schemas.microsoft.com/office/drawing/2014/main" val="2637413488"/>
                    </a:ext>
                  </a:extLst>
                </a:gridCol>
              </a:tblGrid>
              <a:tr h="0">
                <a:tc>
                  <a:txBody>
                    <a:bodyPr/>
                    <a:lstStyle/>
                    <a:p>
                      <a:pPr>
                        <a:buNone/>
                      </a:pPr>
                      <a:r>
                        <a:rPr lang="en-US" b="1" dirty="0"/>
                        <a:t>Attack surface</a:t>
                      </a:r>
                    </a:p>
                  </a:txBody>
                  <a:tcPr anchor="ctr"/>
                </a:tc>
                <a:tc>
                  <a:txBody>
                    <a:bodyPr/>
                    <a:lstStyle/>
                    <a:p>
                      <a:pPr>
                        <a:buNone/>
                      </a:pPr>
                      <a:r>
                        <a:rPr lang="en-US" b="1" dirty="0"/>
                        <a:t>Example</a:t>
                      </a:r>
                    </a:p>
                  </a:txBody>
                  <a:tcPr anchor="ctr"/>
                </a:tc>
                <a:extLst>
                  <a:ext uri="{0D108BD9-81ED-4DB2-BD59-A6C34878D82A}">
                    <a16:rowId xmlns:a16="http://schemas.microsoft.com/office/drawing/2014/main" val="3708413940"/>
                  </a:ext>
                </a:extLst>
              </a:tr>
              <a:tr h="0">
                <a:tc>
                  <a:txBody>
                    <a:bodyPr/>
                    <a:lstStyle/>
                    <a:p>
                      <a:pPr>
                        <a:buNone/>
                      </a:pPr>
                      <a:r>
                        <a:rPr lang="en-US"/>
                        <a:t>Text channel</a:t>
                      </a:r>
                    </a:p>
                  </a:txBody>
                  <a:tcPr anchor="ctr"/>
                </a:tc>
                <a:tc>
                  <a:txBody>
                    <a:bodyPr/>
                    <a:lstStyle/>
                    <a:p>
                      <a:pPr>
                        <a:buNone/>
                      </a:pPr>
                      <a:r>
                        <a:rPr lang="en-US" dirty="0">
                          <a:highlight>
                            <a:srgbClr val="FFFF00"/>
                          </a:highlight>
                        </a:rPr>
                        <a:t>HarmBench</a:t>
                      </a:r>
                      <a:r>
                        <a:rPr lang="en-US" dirty="0"/>
                        <a:t> or </a:t>
                      </a:r>
                      <a:r>
                        <a:rPr lang="en-US" dirty="0">
                          <a:highlight>
                            <a:srgbClr val="FFFF00"/>
                          </a:highlight>
                        </a:rPr>
                        <a:t>AdvBench</a:t>
                      </a:r>
                      <a:r>
                        <a:rPr lang="en-US" dirty="0"/>
                        <a:t> prompts</a:t>
                      </a:r>
                    </a:p>
                  </a:txBody>
                  <a:tcPr anchor="ctr"/>
                </a:tc>
                <a:extLst>
                  <a:ext uri="{0D108BD9-81ED-4DB2-BD59-A6C34878D82A}">
                    <a16:rowId xmlns:a16="http://schemas.microsoft.com/office/drawing/2014/main" val="3974206052"/>
                  </a:ext>
                </a:extLst>
              </a:tr>
              <a:tr h="0">
                <a:tc>
                  <a:txBody>
                    <a:bodyPr/>
                    <a:lstStyle/>
                    <a:p>
                      <a:pPr>
                        <a:buNone/>
                      </a:pPr>
                      <a:r>
                        <a:rPr lang="en-US"/>
                        <a:t>Image-text rendering</a:t>
                      </a:r>
                    </a:p>
                  </a:txBody>
                  <a:tcPr anchor="ctr"/>
                </a:tc>
                <a:tc>
                  <a:txBody>
                    <a:bodyPr/>
                    <a:lstStyle/>
                    <a:p>
                      <a:pPr>
                        <a:buNone/>
                      </a:pPr>
                      <a:r>
                        <a:rPr lang="en-US" dirty="0" err="1">
                          <a:solidFill>
                            <a:schemeClr val="bg1"/>
                          </a:solidFill>
                          <a:highlight>
                            <a:srgbClr val="FF0000"/>
                          </a:highlight>
                        </a:rPr>
                        <a:t>FigStep</a:t>
                      </a:r>
                      <a:r>
                        <a:rPr lang="en-US" dirty="0"/>
                        <a:t>-style image instructions</a:t>
                      </a:r>
                    </a:p>
                  </a:txBody>
                  <a:tcPr anchor="ctr"/>
                </a:tc>
                <a:extLst>
                  <a:ext uri="{0D108BD9-81ED-4DB2-BD59-A6C34878D82A}">
                    <a16:rowId xmlns:a16="http://schemas.microsoft.com/office/drawing/2014/main" val="2874822768"/>
                  </a:ext>
                </a:extLst>
              </a:tr>
              <a:tr h="0">
                <a:tc>
                  <a:txBody>
                    <a:bodyPr/>
                    <a:lstStyle/>
                    <a:p>
                      <a:pPr>
                        <a:buNone/>
                      </a:pPr>
                      <a:r>
                        <a:rPr lang="en-US"/>
                        <a:t>Visual semantic content</a:t>
                      </a:r>
                    </a:p>
                  </a:txBody>
                  <a:tcPr anchor="ctr"/>
                </a:tc>
                <a:tc>
                  <a:txBody>
                    <a:bodyPr/>
                    <a:lstStyle/>
                    <a:p>
                      <a:pPr>
                        <a:buNone/>
                      </a:pPr>
                      <a:r>
                        <a:rPr lang="en-US" dirty="0">
                          <a:highlight>
                            <a:srgbClr val="00FFFF"/>
                          </a:highlight>
                        </a:rPr>
                        <a:t>MM-</a:t>
                      </a:r>
                      <a:r>
                        <a:rPr lang="en-US" dirty="0" err="1">
                          <a:highlight>
                            <a:srgbClr val="00FFFF"/>
                          </a:highlight>
                        </a:rPr>
                        <a:t>SafetyBench</a:t>
                      </a:r>
                      <a:endParaRPr lang="en-US" dirty="0">
                        <a:highlight>
                          <a:srgbClr val="00FFFF"/>
                        </a:highlight>
                      </a:endParaRPr>
                    </a:p>
                  </a:txBody>
                  <a:tcPr anchor="ctr"/>
                </a:tc>
                <a:extLst>
                  <a:ext uri="{0D108BD9-81ED-4DB2-BD59-A6C34878D82A}">
                    <a16:rowId xmlns:a16="http://schemas.microsoft.com/office/drawing/2014/main" val="1461280620"/>
                  </a:ext>
                </a:extLst>
              </a:tr>
              <a:tr h="0">
                <a:tc>
                  <a:txBody>
                    <a:bodyPr/>
                    <a:lstStyle/>
                    <a:p>
                      <a:pPr>
                        <a:buNone/>
                      </a:pPr>
                      <a:r>
                        <a:rPr lang="en-US"/>
                        <a:t>Optimization or jailbreak transfer</a:t>
                      </a:r>
                    </a:p>
                  </a:txBody>
                  <a:tcPr anchor="ctr"/>
                </a:tc>
                <a:tc>
                  <a:txBody>
                    <a:bodyPr/>
                    <a:lstStyle/>
                    <a:p>
                      <a:pPr>
                        <a:buNone/>
                      </a:pPr>
                      <a:r>
                        <a:rPr lang="en-US" dirty="0" err="1">
                          <a:solidFill>
                            <a:schemeClr val="bg1"/>
                          </a:solidFill>
                          <a:highlight>
                            <a:srgbClr val="0000FF"/>
                          </a:highlight>
                        </a:rPr>
                        <a:t>JailBreakV</a:t>
                      </a:r>
                      <a:r>
                        <a:rPr lang="en-US" dirty="0"/>
                        <a:t>-style attacks</a:t>
                      </a:r>
                    </a:p>
                  </a:txBody>
                  <a:tcPr anchor="ctr"/>
                </a:tc>
                <a:extLst>
                  <a:ext uri="{0D108BD9-81ED-4DB2-BD59-A6C34878D82A}">
                    <a16:rowId xmlns:a16="http://schemas.microsoft.com/office/drawing/2014/main" val="2237619911"/>
                  </a:ext>
                </a:extLst>
              </a:tr>
              <a:tr h="0">
                <a:tc>
                  <a:txBody>
                    <a:bodyPr/>
                    <a:lstStyle/>
                    <a:p>
                      <a:pPr>
                        <a:buNone/>
                      </a:pPr>
                      <a:r>
                        <a:rPr lang="en-US"/>
                        <a:t>Cross-modal conflict</a:t>
                      </a:r>
                    </a:p>
                  </a:txBody>
                  <a:tcPr anchor="ctr"/>
                </a:tc>
                <a:tc>
                  <a:txBody>
                    <a:bodyPr/>
                    <a:lstStyle/>
                    <a:p>
                      <a:pPr>
                        <a:buNone/>
                      </a:pPr>
                      <a:r>
                        <a:rPr lang="en-US"/>
                        <a:t>benign text + harmful image, or vice versa</a:t>
                      </a:r>
                    </a:p>
                  </a:txBody>
                  <a:tcPr anchor="ctr"/>
                </a:tc>
                <a:extLst>
                  <a:ext uri="{0D108BD9-81ED-4DB2-BD59-A6C34878D82A}">
                    <a16:rowId xmlns:a16="http://schemas.microsoft.com/office/drawing/2014/main" val="1976377454"/>
                  </a:ext>
                </a:extLst>
              </a:tr>
              <a:tr h="0">
                <a:tc>
                  <a:txBody>
                    <a:bodyPr/>
                    <a:lstStyle/>
                    <a:p>
                      <a:pPr>
                        <a:buNone/>
                      </a:pPr>
                      <a:r>
                        <a:rPr lang="en-US"/>
                        <a:t>OCR pathway</a:t>
                      </a:r>
                    </a:p>
                  </a:txBody>
                  <a:tcPr anchor="ctr"/>
                </a:tc>
                <a:tc>
                  <a:txBody>
                    <a:bodyPr/>
                    <a:lstStyle/>
                    <a:p>
                      <a:pPr>
                        <a:buNone/>
                      </a:pPr>
                      <a:r>
                        <a:rPr lang="en-US" dirty="0"/>
                        <a:t>harmful text rendered in different fonts, layouts, or rotations</a:t>
                      </a:r>
                    </a:p>
                  </a:txBody>
                  <a:tcPr anchor="ctr"/>
                </a:tc>
                <a:extLst>
                  <a:ext uri="{0D108BD9-81ED-4DB2-BD59-A6C34878D82A}">
                    <a16:rowId xmlns:a16="http://schemas.microsoft.com/office/drawing/2014/main" val="2504819121"/>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0D31BD8-F71C-B534-8B4B-7ECEF6D71B30}"/>
                  </a:ext>
                </a:extLst>
              </p:cNvPr>
              <p:cNvSpPr txBox="1"/>
              <p:nvPr/>
            </p:nvSpPr>
            <p:spPr>
              <a:xfrm>
                <a:off x="673813" y="4709713"/>
                <a:ext cx="11110645" cy="1776897"/>
              </a:xfrm>
              <a:prstGeom prst="rect">
                <a:avLst/>
              </a:prstGeom>
              <a:noFill/>
            </p:spPr>
            <p:txBody>
              <a:bodyPr wrap="square" rtlCol="0">
                <a:spAutoFit/>
              </a:bodyPr>
              <a:lstStyle/>
              <a:p>
                <a:r>
                  <a:rPr lang="en-US" dirty="0"/>
                  <a:t>You should not rely on one aggregate </a:t>
                </a:r>
                <a:r>
                  <a:rPr lang="en-US" b="1" dirty="0"/>
                  <a:t>ASR (Percentage of attack examples that produce an unsafe response) </a:t>
                </a:r>
              </a:p>
              <a:p>
                <a:r>
                  <a:rPr lang="en-US" dirty="0"/>
                  <a:t>Report:</a:t>
                </a:r>
              </a:p>
              <a:p>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𝐴𝑆𝑅</m:t>
                        </m:r>
                      </m:e>
                      <m:sub>
                        <m:r>
                          <a:rPr lang="en-US" b="0" i="1" smtClean="0">
                            <a:latin typeface="Cambria Math" panose="02040503050406030204" pitchFamily="18" charset="0"/>
                          </a:rPr>
                          <m:t>𝑡𝑒𝑥𝑡</m:t>
                        </m:r>
                      </m:sub>
                    </m:sSub>
                  </m:oMath>
                </a14:m>
                <a:r>
                  <a:rPr lang="en-US" dirty="0"/>
                  <a:t>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𝐴𝑆𝑅</m:t>
                        </m:r>
                      </m:e>
                      <m:sub>
                        <m:r>
                          <a:rPr lang="en-US" b="0" i="1" smtClean="0">
                            <a:latin typeface="Cambria Math" panose="02040503050406030204" pitchFamily="18" charset="0"/>
                          </a:rPr>
                          <m:t>𝑖𝑚𝑎𝑔𝑒</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𝐴𝑆𝑅</m:t>
                        </m:r>
                      </m:e>
                      <m:sub>
                        <m:r>
                          <a:rPr lang="en-US" b="0" i="1" smtClean="0">
                            <a:latin typeface="Cambria Math" panose="02040503050406030204" pitchFamily="18" charset="0"/>
                          </a:rPr>
                          <m:t>𝑐𝑟𝑜𝑠𝑠</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𝐴𝑆𝑅</m:t>
                        </m:r>
                      </m:e>
                      <m:sub>
                        <m:r>
                          <a:rPr lang="en-US" b="0" i="1" smtClean="0">
                            <a:latin typeface="Cambria Math" panose="02040503050406030204" pitchFamily="18" charset="0"/>
                          </a:rPr>
                          <m:t>𝑡𝑜𝑡𝑎𝑙</m:t>
                        </m:r>
                      </m:sub>
                    </m:sSub>
                  </m:oMath>
                </a14:m>
                <a:br>
                  <a:rPr lang="en-US" dirty="0"/>
                </a:br>
                <a:endParaRPr lang="en-US" dirty="0"/>
              </a:p>
              <a:p>
                <a:r>
                  <a:rPr lang="en-US" dirty="0"/>
                  <a:t>This can reveal cases where text safety remains stable while visual safety collapses. Lower is better.</a:t>
                </a:r>
              </a:p>
              <a:p>
                <a:endParaRPr lang="en-US" dirty="0"/>
              </a:p>
            </p:txBody>
          </p:sp>
        </mc:Choice>
        <mc:Fallback xmlns="">
          <p:sp>
            <p:nvSpPr>
              <p:cNvPr id="5" name="TextBox 4">
                <a:extLst>
                  <a:ext uri="{FF2B5EF4-FFF2-40B4-BE49-F238E27FC236}">
                    <a16:creationId xmlns:a16="http://schemas.microsoft.com/office/drawing/2014/main" id="{E0D31BD8-F71C-B534-8B4B-7ECEF6D71B30}"/>
                  </a:ext>
                </a:extLst>
              </p:cNvPr>
              <p:cNvSpPr txBox="1">
                <a:spLocks noRot="1" noChangeAspect="1" noMove="1" noResize="1" noEditPoints="1" noAdjustHandles="1" noChangeArrowheads="1" noChangeShapeType="1" noTextEdit="1"/>
              </p:cNvSpPr>
              <p:nvPr/>
            </p:nvSpPr>
            <p:spPr>
              <a:xfrm>
                <a:off x="673813" y="4709713"/>
                <a:ext cx="11110645" cy="1776897"/>
              </a:xfrm>
              <a:prstGeom prst="rect">
                <a:avLst/>
              </a:prstGeom>
              <a:blipFill>
                <a:blip r:embed="rId3"/>
                <a:stretch>
                  <a:fillRect l="-571" t="-2143" r="-343"/>
                </a:stretch>
              </a:blipFill>
            </p:spPr>
            <p:txBody>
              <a:bodyPr/>
              <a:lstStyle/>
              <a:p>
                <a:r>
                  <a:rPr lang="en-US">
                    <a:noFill/>
                  </a:rPr>
                  <a:t> </a:t>
                </a:r>
              </a:p>
            </p:txBody>
          </p:sp>
        </mc:Fallback>
      </mc:AlternateContent>
      <p:sp>
        <p:nvSpPr>
          <p:cNvPr id="3" name="Title 1">
            <a:extLst>
              <a:ext uri="{FF2B5EF4-FFF2-40B4-BE49-F238E27FC236}">
                <a16:creationId xmlns:a16="http://schemas.microsoft.com/office/drawing/2014/main" id="{FFDFE4F3-9CEB-C5F3-D6F1-D4DD94BCDE80}"/>
              </a:ext>
            </a:extLst>
          </p:cNvPr>
          <p:cNvSpPr>
            <a:spLocks noGrp="1"/>
          </p:cNvSpPr>
          <p:nvPr>
            <p:ph type="title"/>
          </p:nvPr>
        </p:nvSpPr>
        <p:spPr>
          <a:xfrm>
            <a:off x="838200" y="371390"/>
            <a:ext cx="10515600" cy="1325563"/>
          </a:xfrm>
        </p:spPr>
        <p:txBody>
          <a:bodyPr>
            <a:normAutofit/>
          </a:bodyPr>
          <a:lstStyle/>
          <a:p>
            <a:r>
              <a:rPr lang="en-US" dirty="0"/>
              <a:t>VLM Attack Surface &amp; Multi-Channel Evaluation</a:t>
            </a:r>
          </a:p>
        </p:txBody>
      </p:sp>
    </p:spTree>
    <p:extLst>
      <p:ext uri="{BB962C8B-B14F-4D97-AF65-F5344CB8AC3E}">
        <p14:creationId xmlns:p14="http://schemas.microsoft.com/office/powerpoint/2010/main" val="1733051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0CBAC-B704-C8B2-8011-1EAF5BABF071}"/>
              </a:ext>
            </a:extLst>
          </p:cNvPr>
          <p:cNvSpPr>
            <a:spLocks noGrp="1"/>
          </p:cNvSpPr>
          <p:nvPr>
            <p:ph type="title"/>
          </p:nvPr>
        </p:nvSpPr>
        <p:spPr/>
        <p:txBody>
          <a:bodyPr>
            <a:normAutofit fontScale="90000"/>
          </a:bodyPr>
          <a:lstStyle/>
          <a:p>
            <a:r>
              <a:rPr lang="en-US" dirty="0"/>
              <a:t>Related Multimodal safety approach</a:t>
            </a:r>
            <a:br>
              <a:rPr lang="en-US" dirty="0"/>
            </a:br>
            <a:r>
              <a:rPr lang="en-US" sz="2200" b="1" dirty="0"/>
              <a:t>Reference</a:t>
            </a:r>
            <a:r>
              <a:rPr lang="en-US" sz="2200" dirty="0"/>
              <a:t>: Nie et al., </a:t>
            </a:r>
            <a:r>
              <a:rPr lang="en-US" sz="2200" i="1" dirty="0"/>
              <a:t>Safety Alignment for Vision Language Models</a:t>
            </a:r>
            <a:r>
              <a:rPr lang="en-US" sz="2200" dirty="0"/>
              <a:t>, </a:t>
            </a:r>
            <a:r>
              <a:rPr lang="en-US" sz="2200" dirty="0">
                <a:hlinkClick r:id="rId3"/>
              </a:rPr>
              <a:t>arXiv:2405.13581</a:t>
            </a:r>
            <a:r>
              <a:rPr lang="en-US" sz="2200" dirty="0"/>
              <a:t> (</a:t>
            </a:r>
            <a:r>
              <a:rPr lang="en-US" sz="2200" dirty="0" err="1"/>
              <a:t>SafeVLM</a:t>
            </a:r>
            <a:r>
              <a:rPr lang="en-US" sz="2200" dirty="0"/>
              <a:t>)</a:t>
            </a:r>
            <a:br>
              <a:rPr lang="en-US" sz="2200" dirty="0"/>
            </a:br>
            <a:endParaRPr lang="en-US" sz="2200" dirty="0"/>
          </a:p>
        </p:txBody>
      </p:sp>
      <p:sp>
        <p:nvSpPr>
          <p:cNvPr id="4" name="Content Placeholder 3">
            <a:extLst>
              <a:ext uri="{FF2B5EF4-FFF2-40B4-BE49-F238E27FC236}">
                <a16:creationId xmlns:a16="http://schemas.microsoft.com/office/drawing/2014/main" id="{5DD14885-503F-904D-D78D-ACE126D9A223}"/>
              </a:ext>
            </a:extLst>
          </p:cNvPr>
          <p:cNvSpPr>
            <a:spLocks noGrp="1"/>
          </p:cNvSpPr>
          <p:nvPr>
            <p:ph idx="1"/>
          </p:nvPr>
        </p:nvSpPr>
        <p:spPr>
          <a:xfrm>
            <a:off x="838200" y="2163777"/>
            <a:ext cx="4775791" cy="3703305"/>
          </a:xfrm>
        </p:spPr>
        <p:txBody>
          <a:bodyPr>
            <a:normAutofit/>
          </a:bodyPr>
          <a:lstStyle/>
          <a:p>
            <a:pPr marL="0" lvl="0" indent="0">
              <a:buNone/>
            </a:pPr>
            <a:r>
              <a:rPr lang="en-US" sz="2500" b="1" dirty="0"/>
              <a:t>What </a:t>
            </a:r>
            <a:r>
              <a:rPr lang="en-US" sz="2500" b="1" dirty="0" err="1"/>
              <a:t>SafeVLM</a:t>
            </a:r>
            <a:r>
              <a:rPr lang="en-US" sz="2500" b="1" dirty="0"/>
              <a:t> Does (The Architectural Approach)</a:t>
            </a:r>
            <a:r>
              <a:rPr lang="en-US" sz="2500" dirty="0"/>
              <a:t>:</a:t>
            </a:r>
          </a:p>
          <a:p>
            <a:r>
              <a:rPr lang="en-US" sz="2500" dirty="0"/>
              <a:t>Adds custom modules: </a:t>
            </a:r>
          </a:p>
          <a:p>
            <a:pPr lvl="1"/>
            <a:r>
              <a:rPr lang="en-US" sz="2500" b="1" dirty="0"/>
              <a:t>Safety Projector</a:t>
            </a:r>
            <a:r>
              <a:rPr lang="en-US" sz="2500" dirty="0"/>
              <a:t>, </a:t>
            </a:r>
          </a:p>
          <a:p>
            <a:pPr lvl="1"/>
            <a:r>
              <a:rPr lang="en-US" sz="2500" b="1" dirty="0"/>
              <a:t>Safety Tokens</a:t>
            </a:r>
            <a:r>
              <a:rPr lang="en-US" sz="2500" dirty="0"/>
              <a:t>, and </a:t>
            </a:r>
          </a:p>
          <a:p>
            <a:pPr lvl="1"/>
            <a:r>
              <a:rPr lang="en-US" sz="2500" b="1" dirty="0"/>
              <a:t>Safety Head</a:t>
            </a:r>
            <a:r>
              <a:rPr lang="en-US" sz="2500" dirty="0"/>
              <a:t>.</a:t>
            </a:r>
          </a:p>
          <a:p>
            <a:r>
              <a:rPr lang="en-US" sz="2500" dirty="0"/>
              <a:t>Requires a complex two-stage training process and alters model inference topology.</a:t>
            </a:r>
          </a:p>
          <a:p>
            <a:endParaRPr lang="en-US" sz="2000" dirty="0"/>
          </a:p>
        </p:txBody>
      </p:sp>
      <p:pic>
        <p:nvPicPr>
          <p:cNvPr id="9" name="Picture 8">
            <a:extLst>
              <a:ext uri="{FF2B5EF4-FFF2-40B4-BE49-F238E27FC236}">
                <a16:creationId xmlns:a16="http://schemas.microsoft.com/office/drawing/2014/main" id="{73564CBB-9C9A-6BAE-9C13-932555561D56}"/>
              </a:ext>
            </a:extLst>
          </p:cNvPr>
          <p:cNvPicPr>
            <a:picLocks noChangeAspect="1"/>
          </p:cNvPicPr>
          <p:nvPr/>
        </p:nvPicPr>
        <p:blipFill>
          <a:blip r:embed="rId4"/>
          <a:stretch>
            <a:fillRect/>
          </a:stretch>
        </p:blipFill>
        <p:spPr>
          <a:xfrm>
            <a:off x="5267236" y="1825624"/>
            <a:ext cx="6723682" cy="4041458"/>
          </a:xfrm>
          <a:prstGeom prst="rect">
            <a:avLst/>
          </a:prstGeom>
        </p:spPr>
      </p:pic>
    </p:spTree>
    <p:extLst>
      <p:ext uri="{BB962C8B-B14F-4D97-AF65-F5344CB8AC3E}">
        <p14:creationId xmlns:p14="http://schemas.microsoft.com/office/powerpoint/2010/main" val="3140487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F84E9-FE22-29EB-318B-1B4126DF72DA}"/>
              </a:ext>
            </a:extLst>
          </p:cNvPr>
          <p:cNvSpPr>
            <a:spLocks noGrp="1"/>
          </p:cNvSpPr>
          <p:nvPr>
            <p:ph type="title"/>
          </p:nvPr>
        </p:nvSpPr>
        <p:spPr/>
        <p:txBody>
          <a:bodyPr>
            <a:normAutofit/>
          </a:bodyPr>
          <a:lstStyle/>
          <a:p>
            <a:r>
              <a:rPr lang="en-US" sz="4000" dirty="0" err="1"/>
              <a:t>SafeVLM</a:t>
            </a:r>
            <a:r>
              <a:rPr lang="en-US" sz="4000" dirty="0"/>
              <a:t> Empirical Results: Safety Scores &amp; Over-Refusal Trade-offs (Tables 3 &amp; 4).</a:t>
            </a:r>
          </a:p>
        </p:txBody>
      </p:sp>
      <p:pic>
        <p:nvPicPr>
          <p:cNvPr id="5" name="Content Placeholder 4">
            <a:extLst>
              <a:ext uri="{FF2B5EF4-FFF2-40B4-BE49-F238E27FC236}">
                <a16:creationId xmlns:a16="http://schemas.microsoft.com/office/drawing/2014/main" id="{4949E44C-8089-4F4A-B619-20F6FCB222F1}"/>
              </a:ext>
            </a:extLst>
          </p:cNvPr>
          <p:cNvPicPr>
            <a:picLocks noGrp="1" noChangeAspect="1"/>
          </p:cNvPicPr>
          <p:nvPr>
            <p:ph idx="1"/>
          </p:nvPr>
        </p:nvPicPr>
        <p:blipFill>
          <a:blip r:embed="rId3"/>
          <a:stretch>
            <a:fillRect/>
          </a:stretch>
        </p:blipFill>
        <p:spPr>
          <a:xfrm>
            <a:off x="5943600" y="1910652"/>
            <a:ext cx="6103088" cy="3036695"/>
          </a:xfrm>
          <a:prstGeom prst="rect">
            <a:avLst/>
          </a:prstGeom>
        </p:spPr>
      </p:pic>
      <p:sp>
        <p:nvSpPr>
          <p:cNvPr id="6" name="TextBox 5">
            <a:extLst>
              <a:ext uri="{FF2B5EF4-FFF2-40B4-BE49-F238E27FC236}">
                <a16:creationId xmlns:a16="http://schemas.microsoft.com/office/drawing/2014/main" id="{67CB9A95-76B3-DB53-3661-DAA54B8C1C51}"/>
              </a:ext>
            </a:extLst>
          </p:cNvPr>
          <p:cNvSpPr txBox="1"/>
          <p:nvPr/>
        </p:nvSpPr>
        <p:spPr>
          <a:xfrm rot="10800000" flipV="1">
            <a:off x="1084521" y="5843735"/>
            <a:ext cx="10269279" cy="646331"/>
          </a:xfrm>
          <a:prstGeom prst="rect">
            <a:avLst/>
          </a:prstGeom>
          <a:noFill/>
        </p:spPr>
        <p:txBody>
          <a:bodyPr wrap="square" rtlCol="0">
            <a:spAutoFit/>
          </a:bodyPr>
          <a:lstStyle/>
          <a:p>
            <a:pPr marL="285750" indent="-285750">
              <a:buFont typeface="Arial" panose="020B0604020202020204" pitchFamily="34" charset="0"/>
              <a:buChar char="•"/>
            </a:pPr>
            <a:r>
              <a:rPr lang="en-US" dirty="0" err="1"/>
              <a:t>SafeVLM</a:t>
            </a:r>
            <a:r>
              <a:rPr lang="en-US" dirty="0"/>
              <a:t> reports evidence that the pretrained projector can transmit visual features without sufficient safety alignment and proposes additional safety modules.</a:t>
            </a:r>
          </a:p>
        </p:txBody>
      </p:sp>
      <p:sp>
        <p:nvSpPr>
          <p:cNvPr id="7" name="TextBox 6">
            <a:extLst>
              <a:ext uri="{FF2B5EF4-FFF2-40B4-BE49-F238E27FC236}">
                <a16:creationId xmlns:a16="http://schemas.microsoft.com/office/drawing/2014/main" id="{679D45F3-C124-0D9E-F368-EA0CA80EA4F2}"/>
              </a:ext>
            </a:extLst>
          </p:cNvPr>
          <p:cNvSpPr txBox="1"/>
          <p:nvPr/>
        </p:nvSpPr>
        <p:spPr>
          <a:xfrm>
            <a:off x="-42530" y="2229000"/>
            <a:ext cx="6645349" cy="3477875"/>
          </a:xfrm>
          <a:prstGeom prst="rect">
            <a:avLst/>
          </a:prstGeom>
          <a:noFill/>
        </p:spPr>
        <p:txBody>
          <a:bodyPr wrap="square" rtlCol="0">
            <a:spAutoFit/>
          </a:bodyPr>
          <a:lstStyle/>
          <a:p>
            <a:pPr lvl="1"/>
            <a:r>
              <a:rPr lang="en-US" sz="2000" b="1" dirty="0"/>
              <a:t>Their Results on LLaVA-v1.5-7B</a:t>
            </a:r>
          </a:p>
          <a:p>
            <a:pPr marL="914400" lvl="1" indent="-457200">
              <a:buFont typeface="+mj-lt"/>
              <a:buAutoNum type="arabicPeriod"/>
            </a:pPr>
            <a:r>
              <a:rPr lang="en-US" sz="2000" dirty="0"/>
              <a:t>AdvBench (Vanilla ASR): </a:t>
            </a:r>
          </a:p>
          <a:p>
            <a:pPr marL="1257300" lvl="2" indent="-342900">
              <a:buFont typeface="Arial" panose="020B0604020202020204" pitchFamily="34" charset="0"/>
              <a:buChar char="•"/>
            </a:pPr>
            <a:r>
              <a:rPr lang="en-US" sz="2000" dirty="0"/>
              <a:t>Reduced from </a:t>
            </a:r>
            <a:r>
              <a:rPr lang="en-US" sz="2000" b="1" dirty="0"/>
              <a:t>6.45% -&gt; 1.72%</a:t>
            </a:r>
            <a:r>
              <a:rPr lang="en-US" sz="2000" dirty="0"/>
              <a:t>.</a:t>
            </a:r>
          </a:p>
          <a:p>
            <a:pPr marL="914400" lvl="1" indent="-457200">
              <a:buFont typeface="+mj-lt"/>
              <a:buAutoNum type="arabicPeriod"/>
            </a:pPr>
            <a:r>
              <a:rPr lang="en-US" sz="2000" dirty="0"/>
              <a:t>AdvBench (Suffix Injection): </a:t>
            </a:r>
          </a:p>
          <a:p>
            <a:pPr marL="1257300" lvl="2" indent="-342900">
              <a:buFont typeface="Arial" panose="020B0604020202020204" pitchFamily="34" charset="0"/>
              <a:buChar char="•"/>
            </a:pPr>
            <a:r>
              <a:rPr lang="en-US" sz="2000" dirty="0"/>
              <a:t>Reduced from </a:t>
            </a:r>
            <a:r>
              <a:rPr lang="en-US" sz="2000" b="1" dirty="0"/>
              <a:t>78.27% -&gt; 67.56%</a:t>
            </a:r>
            <a:r>
              <a:rPr lang="en-US" sz="2000" dirty="0"/>
              <a:t>.</a:t>
            </a:r>
          </a:p>
          <a:p>
            <a:pPr marL="914400" lvl="1" indent="-457200">
              <a:buFont typeface="+mj-lt"/>
              <a:buAutoNum type="arabicPeriod"/>
            </a:pPr>
            <a:r>
              <a:rPr lang="en-US" sz="2000" dirty="0">
                <a:hlinkClick r:id="rId4"/>
              </a:rPr>
              <a:t>XSTest</a:t>
            </a:r>
            <a:r>
              <a:rPr lang="en-US" sz="2000" dirty="0"/>
              <a:t> Unsafe Rate: </a:t>
            </a:r>
          </a:p>
          <a:p>
            <a:pPr marL="1257300" lvl="2" indent="-342900">
              <a:buFont typeface="Arial" panose="020B0604020202020204" pitchFamily="34" charset="0"/>
              <a:buChar char="•"/>
            </a:pPr>
            <a:r>
              <a:rPr lang="en-US" sz="2000" dirty="0"/>
              <a:t>Dropped from </a:t>
            </a:r>
            <a:r>
              <a:rPr lang="en-US" sz="2000" b="1" dirty="0"/>
              <a:t>26.50% -&gt; 7.46%</a:t>
            </a:r>
            <a:r>
              <a:rPr lang="en-US" sz="2000" dirty="0"/>
              <a:t> </a:t>
            </a:r>
          </a:p>
          <a:p>
            <a:pPr lvl="2"/>
            <a:r>
              <a:rPr lang="en-US" sz="2000" dirty="0"/>
              <a:t>(shows significant over-refusal / false refusal risk)</a:t>
            </a:r>
          </a:p>
          <a:p>
            <a:pPr marL="914400" lvl="1" indent="-457200">
              <a:buFont typeface="+mj-lt"/>
              <a:buAutoNum type="arabicPeriod"/>
            </a:pPr>
            <a:r>
              <a:rPr lang="en-US" sz="2000" dirty="0">
                <a:hlinkClick r:id="rId5"/>
              </a:rPr>
              <a:t>RTVLM</a:t>
            </a:r>
            <a:r>
              <a:rPr lang="en-US" sz="2000" dirty="0"/>
              <a:t> Safety Score: </a:t>
            </a:r>
          </a:p>
          <a:p>
            <a:pPr marL="1257300" lvl="2" indent="-342900">
              <a:buFont typeface="Arial" panose="020B0604020202020204" pitchFamily="34" charset="0"/>
              <a:buChar char="•"/>
            </a:pPr>
            <a:r>
              <a:rPr lang="en-US" sz="2000" dirty="0"/>
              <a:t>Increased from </a:t>
            </a:r>
            <a:r>
              <a:rPr lang="en-US" sz="2000" b="1" dirty="0"/>
              <a:t>6.27 -&gt; 8.26</a:t>
            </a:r>
            <a:r>
              <a:rPr lang="en-US" sz="2000" dirty="0"/>
              <a:t>.</a:t>
            </a:r>
          </a:p>
          <a:p>
            <a:endParaRPr lang="en-US" sz="2000" dirty="0"/>
          </a:p>
        </p:txBody>
      </p:sp>
    </p:spTree>
    <p:extLst>
      <p:ext uri="{BB962C8B-B14F-4D97-AF65-F5344CB8AC3E}">
        <p14:creationId xmlns:p14="http://schemas.microsoft.com/office/powerpoint/2010/main" val="3748547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8B462-42C4-2314-875E-46B725A0C909}"/>
              </a:ext>
            </a:extLst>
          </p:cNvPr>
          <p:cNvSpPr>
            <a:spLocks noGrp="1"/>
          </p:cNvSpPr>
          <p:nvPr>
            <p:ph type="title"/>
          </p:nvPr>
        </p:nvSpPr>
        <p:spPr/>
        <p:txBody>
          <a:bodyPr/>
          <a:lstStyle/>
          <a:p>
            <a:r>
              <a:rPr lang="en-US" dirty="0"/>
              <a:t>VLM extension: Methodology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CFC7C30-0F3E-CEF9-6D57-C1FB25C6E36E}"/>
                  </a:ext>
                </a:extLst>
              </p:cNvPr>
              <p:cNvSpPr>
                <a:spLocks noGrp="1"/>
              </p:cNvSpPr>
              <p:nvPr>
                <p:ph idx="1"/>
              </p:nvPr>
            </p:nvSpPr>
            <p:spPr/>
            <p:txBody>
              <a:bodyPr>
                <a:normAutofit/>
              </a:bodyPr>
              <a:lstStyle/>
              <a:p>
                <a:r>
                  <a:rPr lang="en-US" dirty="0"/>
                  <a:t>Text-only LLMs,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𝐺</m:t>
                        </m:r>
                      </m:e>
                      <m:sub>
                        <m:r>
                          <a:rPr lang="en-US" b="0" i="1" dirty="0" smtClean="0">
                            <a:latin typeface="Cambria Math" panose="02040503050406030204" pitchFamily="18" charset="0"/>
                          </a:rPr>
                          <m:t>𝑖</m:t>
                        </m:r>
                      </m:sub>
                    </m:sSub>
                  </m:oMath>
                </a14:m>
                <a:r>
                  <a:rPr lang="en-US" dirty="0"/>
                  <a:t> is calculated across LLM parameters or </a:t>
                </a:r>
                <a:r>
                  <a:rPr lang="en-US" dirty="0" err="1"/>
                  <a:t>LoRA</a:t>
                </a:r>
                <a:r>
                  <a:rPr lang="en-US" dirty="0"/>
                  <a:t> parameters. </a:t>
                </a:r>
              </a:p>
              <a:p>
                <a:r>
                  <a:rPr lang="en-US" i="1" u="sng" dirty="0"/>
                  <a:t>Modification</a:t>
                </a:r>
                <a:r>
                  <a:rPr lang="en-US" dirty="0"/>
                  <a:t> In VLMs, you have three distinct module groups:</a:t>
                </a:r>
              </a:p>
              <a:p>
                <a:pPr lvl="1"/>
                <a:r>
                  <a:rPr lang="en-US" dirty="0"/>
                  <a:t>Vision Encoder (usually frozen during </a:t>
                </a:r>
                <a:r>
                  <a:rPr lang="en-US" dirty="0" err="1"/>
                  <a:t>LoRA</a:t>
                </a:r>
                <a:r>
                  <a:rPr lang="en-US" dirty="0"/>
                  <a:t>)</a:t>
                </a:r>
              </a:p>
              <a:p>
                <a:pPr lvl="1"/>
                <a:r>
                  <a:rPr lang="en-US" dirty="0"/>
                  <a:t>Vision-Language Projector / Connector (trainable cross-attention or MLP)</a:t>
                </a:r>
              </a:p>
              <a:p>
                <a:pPr lvl="1"/>
                <a:r>
                  <a:rPr lang="en-US" dirty="0"/>
                  <a:t>Language Model Backbone (trainable </a:t>
                </a:r>
                <a:r>
                  <a:rPr lang="en-US" dirty="0" err="1"/>
                  <a:t>LoRA</a:t>
                </a:r>
                <a:r>
                  <a:rPr lang="en-US" dirty="0"/>
                  <a:t>)</a:t>
                </a:r>
              </a:p>
              <a:p>
                <a:r>
                  <a:rPr lang="en-US" dirty="0"/>
                  <a:t>If you compute gradients across everything, the vision encoder’s </a:t>
                </a:r>
                <a:r>
                  <a:rPr lang="en-US" u="sng" dirty="0"/>
                  <a:t>high visual variance will completely swamp the gradient norm with image noise</a:t>
                </a:r>
                <a:r>
                  <a:rPr lang="en-US" dirty="0"/>
                  <a:t>.</a:t>
                </a:r>
              </a:p>
              <a:p>
                <a:endParaRPr lang="en-US" dirty="0"/>
              </a:p>
            </p:txBody>
          </p:sp>
        </mc:Choice>
        <mc:Fallback xmlns="">
          <p:sp>
            <p:nvSpPr>
              <p:cNvPr id="3" name="Content Placeholder 2">
                <a:extLst>
                  <a:ext uri="{FF2B5EF4-FFF2-40B4-BE49-F238E27FC236}">
                    <a16:creationId xmlns:a16="http://schemas.microsoft.com/office/drawing/2014/main" id="{FCFC7C30-0F3E-CEF9-6D57-C1FB25C6E36E}"/>
                  </a:ext>
                </a:extLst>
              </p:cNvPr>
              <p:cNvSpPr>
                <a:spLocks noGrp="1" noRot="1" noChangeAspect="1" noMove="1" noResize="1" noEditPoints="1" noAdjustHandles="1" noChangeArrowheads="1" noChangeShapeType="1" noTextEdit="1"/>
              </p:cNvSpPr>
              <p:nvPr>
                <p:ph idx="1"/>
              </p:nvPr>
            </p:nvSpPr>
            <p:spPr>
              <a:blipFill>
                <a:blip r:embed="rId3"/>
                <a:stretch>
                  <a:fillRect l="-1086" t="-2326" r="-1689"/>
                </a:stretch>
              </a:blipFill>
            </p:spPr>
            <p:txBody>
              <a:bodyPr/>
              <a:lstStyle/>
              <a:p>
                <a:r>
                  <a:rPr lang="en-US">
                    <a:noFill/>
                  </a:rPr>
                  <a:t> </a:t>
                </a:r>
              </a:p>
            </p:txBody>
          </p:sp>
        </mc:Fallback>
      </mc:AlternateContent>
    </p:spTree>
    <p:extLst>
      <p:ext uri="{BB962C8B-B14F-4D97-AF65-F5344CB8AC3E}">
        <p14:creationId xmlns:p14="http://schemas.microsoft.com/office/powerpoint/2010/main" val="320682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F8EFA-31B0-E84F-0173-D8473AF45D91}"/>
              </a:ext>
            </a:extLst>
          </p:cNvPr>
          <p:cNvSpPr>
            <a:spLocks noGrp="1"/>
          </p:cNvSpPr>
          <p:nvPr>
            <p:ph type="title"/>
          </p:nvPr>
        </p:nvSpPr>
        <p:spPr/>
        <p:txBody>
          <a:bodyPr/>
          <a:lstStyle/>
          <a:p>
            <a:r>
              <a:rPr lang="en-US" dirty="0"/>
              <a:t>VLM extension: Methodology</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FEC580CF-8972-3C14-C5B7-2B5D36DA53FF}"/>
                  </a:ext>
                </a:extLst>
              </p:cNvPr>
              <p:cNvSpPr>
                <a:spLocks noGrp="1"/>
              </p:cNvSpPr>
              <p:nvPr>
                <p:ph idx="1"/>
              </p:nvPr>
            </p:nvSpPr>
            <p:spPr>
              <a:xfrm>
                <a:off x="838200" y="1690688"/>
                <a:ext cx="10515600" cy="5244368"/>
              </a:xfrm>
            </p:spPr>
            <p:txBody>
              <a:bodyPr>
                <a:normAutofit fontScale="70000" lnSpcReduction="20000"/>
              </a:bodyPr>
              <a:lstStyle/>
              <a:p>
                <a:r>
                  <a:rPr lang="en-US" i="1" dirty="0"/>
                  <a:t>We formalize </a:t>
                </a:r>
                <a:r>
                  <a:rPr lang="en-US" b="1" i="1" dirty="0"/>
                  <a:t>Continual Safety Alignment for VLMs </a:t>
                </a:r>
                <a:r>
                  <a:rPr lang="en-US" i="1" dirty="0"/>
                  <a:t>across a sequence of T multimodal tasks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𝐷</m:t>
                        </m:r>
                      </m:e>
                      <m:sub>
                        <m:r>
                          <a:rPr lang="en-US" b="0" i="1" dirty="0" smtClean="0">
                            <a:latin typeface="Cambria Math" panose="02040503050406030204" pitchFamily="18" charset="0"/>
                          </a:rPr>
                          <m:t>1</m:t>
                        </m:r>
                      </m:sub>
                    </m:sSub>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 </m:t>
                        </m:r>
                        <m:r>
                          <a:rPr lang="en-US" b="0" i="1" dirty="0" smtClean="0">
                            <a:latin typeface="Cambria Math" panose="02040503050406030204" pitchFamily="18" charset="0"/>
                          </a:rPr>
                          <m:t>𝐷</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 …,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𝐷</m:t>
                        </m:r>
                      </m:e>
                      <m:sub>
                        <m:r>
                          <a:rPr lang="en-US" b="0" i="1" dirty="0" smtClean="0">
                            <a:latin typeface="Cambria Math" panose="02040503050406030204" pitchFamily="18" charset="0"/>
                          </a:rPr>
                          <m:t>𝑇</m:t>
                        </m:r>
                      </m:sub>
                    </m:sSub>
                  </m:oMath>
                </a14:m>
                <a:r>
                  <a:rPr lang="en-US" i="1" dirty="0"/>
                  <a:t>} </a:t>
                </a:r>
              </a:p>
              <a:p>
                <a:r>
                  <a:rPr lang="en-US" i="1" dirty="0"/>
                  <a:t>Where </a:t>
                </a:r>
                <a14:m>
                  <m:oMath xmlns:m="http://schemas.openxmlformats.org/officeDocument/2006/math">
                    <m:sSubSup>
                      <m:sSubSupPr>
                        <m:ctrlPr>
                          <a:rPr lang="en-US" b="0" i="1" smtClean="0">
                            <a:effectLst/>
                            <a:latin typeface="Cambria Math" panose="02040503050406030204" pitchFamily="18" charset="0"/>
                          </a:rPr>
                        </m:ctrlPr>
                      </m:sSubSupPr>
                      <m:e>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𝐷</m:t>
                            </m:r>
                          </m:e>
                          <m:sub>
                            <m:r>
                              <a:rPr lang="en-US" b="0" i="1" smtClean="0">
                                <a:effectLst/>
                                <a:latin typeface="Cambria Math" panose="02040503050406030204" pitchFamily="18" charset="0"/>
                              </a:rPr>
                              <m:t>𝑡</m:t>
                            </m:r>
                          </m:sub>
                        </m:sSub>
                        <m:r>
                          <m:rPr>
                            <m:nor/>
                          </m:rPr>
                          <a:rPr lang="en-US" i="0" smtClean="0"/>
                          <m:t>​=</m:t>
                        </m:r>
                        <m:r>
                          <m:rPr>
                            <m:nor/>
                          </m:rPr>
                          <a:rPr lang="en-US" i="0" smtClean="0">
                            <a:effectLst/>
                          </a:rPr>
                          <m:t>​</m:t>
                        </m:r>
                        <m:r>
                          <m:rPr>
                            <m:nor/>
                          </m:rPr>
                          <a:rPr lang="en-US" b="0" i="0" smtClean="0">
                            <a:effectLst/>
                          </a:rPr>
                          <m:t>{(</m:t>
                        </m:r>
                        <m:sSubSup>
                          <m:sSubSupPr>
                            <m:ctrlPr>
                              <a:rPr lang="en-US" b="0" i="1" smtClean="0">
                                <a:effectLst/>
                                <a:latin typeface="Cambria Math" panose="02040503050406030204" pitchFamily="18" charset="0"/>
                              </a:rPr>
                            </m:ctrlPr>
                          </m:sSubSupPr>
                          <m:e>
                            <m:r>
                              <a:rPr lang="en-US" b="0" i="1" smtClean="0">
                                <a:effectLst/>
                                <a:latin typeface="Cambria Math" panose="02040503050406030204" pitchFamily="18" charset="0"/>
                              </a:rPr>
                              <m:t>𝑥</m:t>
                            </m:r>
                          </m:e>
                          <m:sub>
                            <m:r>
                              <a:rPr lang="en-US" b="0" i="1" smtClean="0">
                                <a:effectLst/>
                                <a:latin typeface="Cambria Math" panose="02040503050406030204" pitchFamily="18" charset="0"/>
                              </a:rPr>
                              <m:t>𝑖</m:t>
                            </m:r>
                          </m:sub>
                          <m:sup>
                            <m:r>
                              <a:rPr lang="en-US" b="0" i="1" smtClean="0">
                                <a:effectLst/>
                                <a:latin typeface="Cambria Math" panose="02040503050406030204" pitchFamily="18" charset="0"/>
                              </a:rPr>
                              <m:t>𝑣</m:t>
                            </m:r>
                          </m:sup>
                        </m:sSubSup>
                        <m:r>
                          <m:rPr>
                            <m:nor/>
                          </m:rPr>
                          <a:rPr lang="en-US" b="0" i="0" smtClean="0">
                            <a:effectLst/>
                            <a:latin typeface="Cambria Math" panose="02040503050406030204" pitchFamily="18" charset="0"/>
                          </a:rPr>
                          <m:t>, </m:t>
                        </m:r>
                        <m:sSubSup>
                          <m:sSubSupPr>
                            <m:ctrlPr>
                              <a:rPr lang="en-US" b="0" i="1" smtClean="0">
                                <a:effectLst/>
                                <a:latin typeface="Cambria Math" panose="02040503050406030204" pitchFamily="18" charset="0"/>
                              </a:rPr>
                            </m:ctrlPr>
                          </m:sSubSupPr>
                          <m:e>
                            <m:r>
                              <a:rPr lang="en-US" b="0" i="1" smtClean="0">
                                <a:effectLst/>
                                <a:latin typeface="Cambria Math" panose="02040503050406030204" pitchFamily="18" charset="0"/>
                              </a:rPr>
                              <m:t>𝑥</m:t>
                            </m:r>
                          </m:e>
                          <m:sub>
                            <m:r>
                              <a:rPr lang="en-US" b="0" i="1" smtClean="0">
                                <a:effectLst/>
                                <a:latin typeface="Cambria Math" panose="02040503050406030204" pitchFamily="18" charset="0"/>
                              </a:rPr>
                              <m:t>𝑖</m:t>
                            </m:r>
                          </m:sub>
                          <m:sup>
                            <m:r>
                              <a:rPr lang="en-US" b="0" i="1" smtClean="0">
                                <a:effectLst/>
                                <a:latin typeface="Cambria Math" panose="02040503050406030204" pitchFamily="18" charset="0"/>
                              </a:rPr>
                              <m:t>𝑡</m:t>
                            </m:r>
                          </m:sup>
                        </m:sSubSup>
                        <m:r>
                          <a:rPr lang="en-US" b="0" i="1" smtClean="0">
                            <a:effectLst/>
                            <a:latin typeface="Cambria Math" panose="02040503050406030204" pitchFamily="18" charset="0"/>
                          </a:rPr>
                          <m:t>, </m:t>
                        </m:r>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𝑦</m:t>
                            </m:r>
                          </m:e>
                          <m:sub>
                            <m:r>
                              <a:rPr lang="en-US" b="0" i="1" smtClean="0">
                                <a:effectLst/>
                                <a:latin typeface="Cambria Math" panose="02040503050406030204" pitchFamily="18" charset="0"/>
                              </a:rPr>
                              <m:t>𝑖</m:t>
                            </m:r>
                          </m:sub>
                        </m:sSub>
                        <m:r>
                          <a:rPr lang="en-US" b="0" i="1" smtClean="0">
                            <a:effectLst/>
                            <a:latin typeface="Cambria Math" panose="02040503050406030204" pitchFamily="18" charset="0"/>
                          </a:rPr>
                          <m:t>)}</m:t>
                        </m:r>
                      </m:e>
                      <m:sub>
                        <m:r>
                          <a:rPr lang="en-US" b="0" i="1" smtClean="0">
                            <a:effectLst/>
                            <a:latin typeface="Cambria Math" panose="02040503050406030204" pitchFamily="18" charset="0"/>
                          </a:rPr>
                          <m:t>𝑖</m:t>
                        </m:r>
                        <m:r>
                          <a:rPr lang="en-US" b="0" i="1" smtClean="0">
                            <a:effectLst/>
                            <a:latin typeface="Cambria Math" panose="02040503050406030204" pitchFamily="18" charset="0"/>
                          </a:rPr>
                          <m:t>=1</m:t>
                        </m:r>
                      </m:sub>
                      <m:sup>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𝑁</m:t>
                            </m:r>
                          </m:e>
                          <m:sub>
                            <m:r>
                              <a:rPr lang="en-US" b="0" i="1" smtClean="0">
                                <a:effectLst/>
                                <a:latin typeface="Cambria Math" panose="02040503050406030204" pitchFamily="18" charset="0"/>
                              </a:rPr>
                              <m:t>𝑡</m:t>
                            </m:r>
                          </m:sub>
                        </m:sSub>
                      </m:sup>
                    </m:sSubSup>
                  </m:oMath>
                </a14:m>
                <a:r>
                  <a:rPr lang="en-US" b="0" i="1" dirty="0">
                    <a:effectLst/>
                  </a:rPr>
                  <a:t> contains visual inputs, text instructions, and target responses</a:t>
                </a:r>
                <a:endParaRPr lang="en-US" dirty="0"/>
              </a:p>
              <a:p>
                <a:r>
                  <a:rPr lang="en-US" dirty="0"/>
                  <a:t>For a VLM, replace the language-model parameters with multimodal parameters:</a:t>
                </a:r>
              </a:p>
              <a:p>
                <a:endParaRPr lang="en-US" dirty="0"/>
              </a:p>
              <a:p>
                <a:pPr marL="0" indent="0">
                  <a:buNone/>
                </a:pPr>
                <a14:m>
                  <m:oMathPara xmlns:m="http://schemas.openxmlformats.org/officeDocument/2006/math">
                    <m:oMath>
                      <m:sSup>
                        <m:sSupPr>
                          <m:ctrlPr>
                            <a:rPr lang="en-US" i="1" smtClean="0">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rPr>
                            <m:t>𝑉𝐿𝑀</m:t>
                          </m:r>
                        </m:sup>
                      </m:sSup>
                      <m:r>
                        <a:rPr lang="en-US" b="0" i="1" smtClean="0">
                          <a:latin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𝑣𝑖𝑠𝑖𝑜𝑛</m:t>
                          </m:r>
                          <m:r>
                            <a:rPr lang="en-US" b="0" i="1" smtClean="0">
                              <a:latin typeface="Cambria Math" panose="02040503050406030204" pitchFamily="18" charset="0"/>
                              <a:ea typeface="Cambria Math" panose="02040503050406030204" pitchFamily="18" charset="0"/>
                            </a:rPr>
                            <m:t>_</m:t>
                          </m:r>
                          <m:r>
                            <a:rPr lang="en-US" b="0" i="1" smtClean="0">
                              <a:latin typeface="Cambria Math" panose="02040503050406030204" pitchFamily="18" charset="0"/>
                              <a:ea typeface="Cambria Math" panose="02040503050406030204" pitchFamily="18" charset="0"/>
                            </a:rPr>
                            <m:t>𝑒𝑛𝑐𝑜𝑑𝑒𝑟</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𝑝𝑟𝑜𝑗𝑒𝑐𝑡𝑜𝑟</m:t>
                          </m:r>
                        </m:sub>
                      </m:sSub>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𝐿𝑀</m:t>
                          </m:r>
                          <m:r>
                            <a:rPr lang="en-US" b="0" i="1" smtClean="0">
                              <a:latin typeface="Cambria Math" panose="02040503050406030204" pitchFamily="18" charset="0"/>
                              <a:ea typeface="Cambria Math" panose="02040503050406030204" pitchFamily="18" charset="0"/>
                            </a:rPr>
                            <m:t>_</m:t>
                          </m:r>
                          <m:r>
                            <a:rPr lang="en-US" b="0" i="1" smtClean="0">
                              <a:latin typeface="Cambria Math" panose="02040503050406030204" pitchFamily="18" charset="0"/>
                              <a:ea typeface="Cambria Math" panose="02040503050406030204" pitchFamily="18" charset="0"/>
                            </a:rPr>
                            <m:t>𝐿𝑜𝑅𝐴</m:t>
                          </m:r>
                        </m:sub>
                      </m:sSub>
                      <m:r>
                        <a:rPr lang="en-US" b="0" i="1" smtClean="0">
                          <a:latin typeface="Cambria Math" panose="02040503050406030204" pitchFamily="18" charset="0"/>
                          <a:ea typeface="Cambria Math" panose="02040503050406030204" pitchFamily="18" charset="0"/>
                        </a:rPr>
                        <m:t>)</m:t>
                      </m:r>
                    </m:oMath>
                  </m:oMathPara>
                </a14:m>
                <a:endParaRPr lang="en-US" dirty="0"/>
              </a:p>
              <a:p>
                <a:r>
                  <a:rPr lang="en-US" dirty="0"/>
                  <a:t>VLM VISAGE is evaluated in a specified trainable parameter subspace, not automatically in the full model parameter space.</a:t>
                </a:r>
              </a:p>
              <a:p>
                <a:r>
                  <a:rPr lang="en-US" dirty="0"/>
                  <a:t>If training only adaptors:</a:t>
                </a:r>
              </a:p>
              <a:p>
                <a:pPr marL="0" indent="0">
                  <a:buNone/>
                </a:pPr>
                <a14:m>
                  <m:oMathPara xmlns:m="http://schemas.openxmlformats.org/officeDocument/2006/math">
                    <m:oMath>
                      <m:sSup>
                        <m:sSupPr>
                          <m:ctrlPr>
                            <a:rPr lang="en-US" i="1" smtClean="0">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𝜃</m:t>
                          </m:r>
                        </m:e>
                        <m:sup>
                          <m:r>
                            <a:rPr lang="en-US" b="0" i="1" smtClean="0">
                              <a:latin typeface="Cambria Math" panose="02040503050406030204" pitchFamily="18" charset="0"/>
                              <a:ea typeface="Cambria Math" panose="02040503050406030204" pitchFamily="18" charset="0"/>
                            </a:rPr>
                            <m:t>𝑡𝑟𝑎𝑖𝑛</m:t>
                          </m:r>
                        </m:sup>
                      </m:sSup>
                      <m:r>
                        <a:rPr lang="en-US" b="0" i="1" smtClean="0">
                          <a:latin typeface="Cambria Math" panose="02040503050406030204" pitchFamily="18" charset="0"/>
                        </a:rPr>
                        <m:t>= </m:t>
                      </m:r>
                      <m:d>
                        <m:dPr>
                          <m:ctrlPr>
                            <a:rPr lang="en-US" i="1" dirty="0">
                              <a:latin typeface="Cambria Math" panose="02040503050406030204" pitchFamily="18" charset="0"/>
                              <a:ea typeface="Cambria Math" panose="02040503050406030204" pitchFamily="18" charset="0"/>
                            </a:rPr>
                          </m:ctrlPr>
                        </m:dPr>
                        <m:e>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𝜃</m:t>
                              </m:r>
                            </m:e>
                            <m:sub>
                              <m:r>
                                <a:rPr lang="en-US" i="1" dirty="0">
                                  <a:latin typeface="Cambria Math" panose="02040503050406030204" pitchFamily="18" charset="0"/>
                                </a:rPr>
                                <m:t>𝐿</m:t>
                              </m:r>
                              <m:sSub>
                                <m:sSubPr>
                                  <m:ctrlPr>
                                    <a:rPr lang="en-US" i="1" dirty="0">
                                      <a:latin typeface="Cambria Math" panose="02040503050406030204" pitchFamily="18" charset="0"/>
                                    </a:rPr>
                                  </m:ctrlPr>
                                </m:sSubPr>
                                <m:e>
                                  <m:r>
                                    <a:rPr lang="en-US" i="1" dirty="0">
                                      <a:latin typeface="Cambria Math" panose="02040503050406030204" pitchFamily="18" charset="0"/>
                                    </a:rPr>
                                    <m:t>𝑀</m:t>
                                  </m:r>
                                </m:e>
                                <m:sub>
                                  <m:r>
                                    <a:rPr lang="en-US" i="1" dirty="0">
                                      <a:latin typeface="Cambria Math" panose="02040503050406030204" pitchFamily="18" charset="0"/>
                                    </a:rPr>
                                    <m:t>𝐿𝑜𝑅𝐴</m:t>
                                  </m:r>
                                </m:sub>
                              </m:sSub>
                            </m:sub>
                          </m:sSub>
                          <m:r>
                            <a:rPr lang="en-US" b="0" i="1" dirty="0"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𝑝𝑟𝑜𝑗𝑒𝑐𝑡𝑜𝑟</m:t>
                              </m:r>
                            </m:sub>
                          </m:sSub>
                        </m:e>
                      </m:d>
                    </m:oMath>
                  </m:oMathPara>
                </a14:m>
                <a:endParaRPr lang="en-US" b="0" dirty="0">
                  <a:ea typeface="Cambria Math" panose="02040503050406030204" pitchFamily="18" charset="0"/>
                </a:endParaRPr>
              </a:p>
              <a:p>
                <a:pPr marL="0" indent="0">
                  <a:buNone/>
                </a:pPr>
                <a:r>
                  <a:rPr lang="en-US" dirty="0"/>
                  <a:t>With a vision encoder and base language model frozen</a:t>
                </a:r>
              </a:p>
              <a:p>
                <a:pPr>
                  <a:buFont typeface="Symbol" pitchFamily="2" charset="2"/>
                  <a:buChar char="Þ"/>
                </a:pPr>
                <a14:m>
                  <m:oMath xmlns:m="http://schemas.openxmlformats.org/officeDocument/2006/math">
                    <m:sSubSup>
                      <m:sSubSupPr>
                        <m:ctrlPr>
                          <a:rPr lang="en-US" b="1" i="1" smtClean="0">
                            <a:latin typeface="Cambria Math" panose="02040503050406030204" pitchFamily="18" charset="0"/>
                            <a:ea typeface="Cambria Math" panose="02040503050406030204" pitchFamily="18" charset="0"/>
                          </a:rPr>
                        </m:ctrlPr>
                      </m:sSubSupPr>
                      <m:e>
                        <m:r>
                          <a:rPr lang="en-US" b="1" i="1" smtClean="0">
                            <a:latin typeface="Cambria Math" panose="02040503050406030204" pitchFamily="18" charset="0"/>
                            <a:ea typeface="Cambria Math" panose="02040503050406030204" pitchFamily="18" charset="0"/>
                          </a:rPr>
                          <m:t>𝜽</m:t>
                        </m:r>
                      </m:e>
                      <m:sub>
                        <m:r>
                          <a:rPr lang="en-US" b="1" i="1" smtClean="0">
                            <a:latin typeface="Cambria Math" panose="02040503050406030204" pitchFamily="18" charset="0"/>
                          </a:rPr>
                          <m:t>𝒕</m:t>
                        </m:r>
                      </m:sub>
                      <m:sup>
                        <m:r>
                          <a:rPr lang="en-US" b="1" i="1" smtClean="0">
                            <a:latin typeface="Cambria Math" panose="02040503050406030204" pitchFamily="18" charset="0"/>
                          </a:rPr>
                          <m:t>𝑽𝑳𝑴</m:t>
                        </m:r>
                      </m:sup>
                    </m:sSubSup>
                    <m:r>
                      <a:rPr lang="en-US" b="1" i="1" smtClean="0">
                        <a:latin typeface="Cambria Math" panose="02040503050406030204" pitchFamily="18" charset="0"/>
                      </a:rPr>
                      <m:t>=</m:t>
                    </m:r>
                    <m:r>
                      <a:rPr lang="en-US" b="1" i="1" smtClean="0">
                        <a:latin typeface="Cambria Math" panose="02040503050406030204" pitchFamily="18" charset="0"/>
                      </a:rPr>
                      <m:t>𝒂𝒓𝒈</m:t>
                    </m:r>
                    <m:r>
                      <a:rPr lang="en-US" b="1" i="1" smtClean="0">
                        <a:latin typeface="Cambria Math" panose="02040503050406030204" pitchFamily="18" charset="0"/>
                      </a:rPr>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𝒎𝒊𝒏</m:t>
                        </m:r>
                      </m:e>
                      <m:sub>
                        <m:r>
                          <a:rPr lang="en-US" b="1" i="1" smtClean="0">
                            <a:latin typeface="Cambria Math" panose="02040503050406030204" pitchFamily="18" charset="0"/>
                            <a:ea typeface="Cambria Math" panose="02040503050406030204" pitchFamily="18" charset="0"/>
                          </a:rPr>
                          <m:t>𝜽</m:t>
                        </m:r>
                      </m:sub>
                    </m:sSub>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 </m:t>
                        </m:r>
                        <m:r>
                          <a:rPr lang="en-US" b="1" i="1" smtClean="0">
                            <a:latin typeface="Cambria Math" panose="02040503050406030204" pitchFamily="18" charset="0"/>
                          </a:rPr>
                          <m:t>𝑳</m:t>
                        </m:r>
                      </m:e>
                      <m:sub>
                        <m:r>
                          <a:rPr lang="en-US" b="1" i="1" smtClean="0">
                            <a:latin typeface="Cambria Math" panose="02040503050406030204" pitchFamily="18" charset="0"/>
                          </a:rPr>
                          <m:t>𝒕</m:t>
                        </m:r>
                      </m:sub>
                      <m:sup>
                        <m:r>
                          <a:rPr lang="en-US" b="1" i="1" smtClean="0">
                            <a:latin typeface="Cambria Math" panose="02040503050406030204" pitchFamily="18" charset="0"/>
                          </a:rPr>
                          <m:t>𝑽𝑳𝑴</m:t>
                        </m:r>
                      </m:sup>
                    </m:sSubSup>
                    <m:d>
                      <m:dPr>
                        <m:ctrlPr>
                          <a:rPr lang="en-US" b="1" i="1" smtClean="0">
                            <a:latin typeface="Cambria Math" panose="02040503050406030204" pitchFamily="18" charset="0"/>
                            <a:ea typeface="Cambria Math" panose="02040503050406030204" pitchFamily="18" charset="0"/>
                          </a:rPr>
                        </m:ctrlPr>
                      </m:dPr>
                      <m:e>
                        <m:sSubSup>
                          <m:sSubSupPr>
                            <m:ctrlPr>
                              <a:rPr lang="en-US" b="1" i="1" smtClean="0">
                                <a:latin typeface="Cambria Math" panose="02040503050406030204" pitchFamily="18" charset="0"/>
                                <a:ea typeface="Cambria Math" panose="02040503050406030204" pitchFamily="18" charset="0"/>
                              </a:rPr>
                            </m:ctrlPr>
                          </m:sSubSupPr>
                          <m:e>
                            <m:r>
                              <a:rPr lang="en-US" b="1" i="1" smtClean="0">
                                <a:latin typeface="Cambria Math" panose="02040503050406030204" pitchFamily="18" charset="0"/>
                                <a:ea typeface="Cambria Math" panose="02040503050406030204" pitchFamily="18" charset="0"/>
                              </a:rPr>
                              <m:t>𝜽</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rPr>
                              <m:t>𝑫</m:t>
                            </m:r>
                          </m:e>
                          <m:sub>
                            <m:r>
                              <a:rPr lang="en-US" b="1" i="1" smtClean="0">
                                <a:latin typeface="Cambria Math" panose="02040503050406030204" pitchFamily="18" charset="0"/>
                              </a:rPr>
                              <m:t>𝒕</m:t>
                            </m:r>
                          </m:sub>
                          <m:sup>
                            <m:r>
                              <a:rPr lang="en-US" b="1" i="1" smtClean="0">
                                <a:latin typeface="Cambria Math" panose="02040503050406030204" pitchFamily="18" charset="0"/>
                              </a:rPr>
                              <m:t>𝒊𝒎𝒂𝒈𝒆</m:t>
                            </m:r>
                            <m:r>
                              <a:rPr lang="en-US" b="1" i="1" smtClean="0">
                                <a:latin typeface="Cambria Math" panose="02040503050406030204" pitchFamily="18" charset="0"/>
                              </a:rPr>
                              <m:t>, </m:t>
                            </m:r>
                            <m:r>
                              <a:rPr lang="en-US" b="1" i="1" smtClean="0">
                                <a:latin typeface="Cambria Math" panose="02040503050406030204" pitchFamily="18" charset="0"/>
                              </a:rPr>
                              <m:t>𝒕𝒆𝒙𝒕</m:t>
                            </m:r>
                          </m:sup>
                        </m:sSubSup>
                      </m:e>
                    </m:d>
                    <m:r>
                      <a:rPr lang="en-US" b="1" i="1" smtClean="0">
                        <a:latin typeface="Cambria Math" panose="02040503050406030204" pitchFamily="18" charset="0"/>
                      </a:rPr>
                      <m:t> </m:t>
                    </m:r>
                    <m:r>
                      <a:rPr lang="en-US" b="1" i="1" smtClean="0">
                        <a:latin typeface="Cambria Math" panose="02040503050406030204" pitchFamily="18" charset="0"/>
                      </a:rPr>
                      <m:t>𝒔</m:t>
                    </m:r>
                    <m:r>
                      <a:rPr lang="en-US" b="1" i="1" smtClean="0">
                        <a:latin typeface="Cambria Math" panose="02040503050406030204" pitchFamily="18" charset="0"/>
                      </a:rPr>
                      <m:t>.</m:t>
                    </m:r>
                    <m:r>
                      <a:rPr lang="en-US" b="1" i="1" smtClean="0">
                        <a:latin typeface="Cambria Math" panose="02040503050406030204" pitchFamily="18" charset="0"/>
                      </a:rPr>
                      <m:t>𝒕</m:t>
                    </m:r>
                    <m:r>
                      <a:rPr lang="en-US" b="1" i="1" smtClean="0">
                        <a:latin typeface="Cambria Math" panose="02040503050406030204" pitchFamily="18" charset="0"/>
                      </a:rPr>
                      <m:t>.  </m:t>
                    </m:r>
                    <m:sSubSup>
                      <m:sSubSupPr>
                        <m:ctrlPr>
                          <a:rPr lang="en-US" b="1" i="1" smtClean="0">
                            <a:latin typeface="Cambria Math" panose="02040503050406030204" pitchFamily="18" charset="0"/>
                            <a:ea typeface="Cambria Math" panose="02040503050406030204" pitchFamily="18" charset="0"/>
                          </a:rPr>
                        </m:ctrlPr>
                      </m:sSubSupPr>
                      <m:e>
                        <m:r>
                          <a:rPr lang="en-US" b="1" i="1" smtClean="0">
                            <a:latin typeface="Cambria Math" panose="02040503050406030204" pitchFamily="18" charset="0"/>
                            <a:ea typeface="Cambria Math" panose="02040503050406030204" pitchFamily="18" charset="0"/>
                          </a:rPr>
                          <m:t>𝜽</m:t>
                        </m:r>
                      </m:e>
                      <m:sub>
                        <m:r>
                          <a:rPr lang="en-US" b="1" i="1" smtClean="0">
                            <a:latin typeface="Cambria Math" panose="02040503050406030204" pitchFamily="18" charset="0"/>
                          </a:rPr>
                          <m:t>𝒕</m:t>
                        </m:r>
                      </m:sub>
                      <m:sup>
                        <m:r>
                          <a:rPr lang="en-US" b="1" i="1" smtClean="0">
                            <a:latin typeface="Cambria Math" panose="02040503050406030204" pitchFamily="18" charset="0"/>
                          </a:rPr>
                          <m:t>𝑽𝑳𝑴</m:t>
                        </m:r>
                      </m:sup>
                    </m:sSubSup>
                    <m:r>
                      <a:rPr lang="en-US" b="1" i="1" smtClean="0">
                        <a:latin typeface="Cambria Math" panose="02040503050406030204" pitchFamily="18" charset="0"/>
                        <a:ea typeface="Cambria Math" panose="02040503050406030204" pitchFamily="18" charset="0"/>
                      </a:rPr>
                      <m:t>𝝐</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𝑩</m:t>
                        </m:r>
                      </m:e>
                      <m:sub>
                        <m:r>
                          <a:rPr lang="en-US" b="1" i="1" smtClean="0">
                            <a:latin typeface="Cambria Math" panose="02040503050406030204" pitchFamily="18" charset="0"/>
                          </a:rPr>
                          <m:t>𝑽𝑳𝑴</m:t>
                        </m:r>
                      </m:sub>
                    </m:sSub>
                  </m:oMath>
                </a14:m>
                <a:endParaRPr lang="en-US" b="1" dirty="0"/>
              </a:p>
              <a:p>
                <a:pPr marL="0" indent="0">
                  <a:buNone/>
                </a:pPr>
                <a:endParaRPr lang="en-US" b="1" dirty="0"/>
              </a:p>
              <a:p>
                <a:r>
                  <a:rPr lang="en-US" dirty="0"/>
                  <a:t>We restrict both sides of the measurement: response-only labels define the loss, and trainable-module selection defines the parameter space in which the gradient norm is measured.</a:t>
                </a:r>
              </a:p>
            </p:txBody>
          </p:sp>
        </mc:Choice>
        <mc:Fallback xmlns="">
          <p:sp>
            <p:nvSpPr>
              <p:cNvPr id="4" name="Content Placeholder 2">
                <a:extLst>
                  <a:ext uri="{FF2B5EF4-FFF2-40B4-BE49-F238E27FC236}">
                    <a16:creationId xmlns:a16="http://schemas.microsoft.com/office/drawing/2014/main" id="{FEC580CF-8972-3C14-C5B7-2B5D36DA53FF}"/>
                  </a:ext>
                </a:extLst>
              </p:cNvPr>
              <p:cNvSpPr>
                <a:spLocks noGrp="1" noRot="1" noChangeAspect="1" noMove="1" noResize="1" noEditPoints="1" noAdjustHandles="1" noChangeArrowheads="1" noChangeShapeType="1" noTextEdit="1"/>
              </p:cNvSpPr>
              <p:nvPr>
                <p:ph idx="1"/>
              </p:nvPr>
            </p:nvSpPr>
            <p:spPr>
              <a:xfrm>
                <a:off x="838200" y="1690688"/>
                <a:ext cx="10515600" cy="5244368"/>
              </a:xfrm>
              <a:blipFill>
                <a:blip r:embed="rId3"/>
                <a:stretch>
                  <a:fillRect l="-724" t="-1687"/>
                </a:stretch>
              </a:blipFill>
            </p:spPr>
            <p:txBody>
              <a:bodyPr/>
              <a:lstStyle/>
              <a:p>
                <a:r>
                  <a:rPr lang="en-US">
                    <a:noFill/>
                  </a:rPr>
                  <a:t> </a:t>
                </a:r>
              </a:p>
            </p:txBody>
          </p:sp>
        </mc:Fallback>
      </mc:AlternateContent>
    </p:spTree>
    <p:extLst>
      <p:ext uri="{BB962C8B-B14F-4D97-AF65-F5344CB8AC3E}">
        <p14:creationId xmlns:p14="http://schemas.microsoft.com/office/powerpoint/2010/main" val="3169296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8E99C-3A20-0B25-75DE-3FB7C2A286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00B8B8-3386-07D0-93A3-A747B9CCCBE5}"/>
              </a:ext>
            </a:extLst>
          </p:cNvPr>
          <p:cNvSpPr>
            <a:spLocks noGrp="1"/>
          </p:cNvSpPr>
          <p:nvPr>
            <p:ph type="title"/>
          </p:nvPr>
        </p:nvSpPr>
        <p:spPr/>
        <p:txBody>
          <a:bodyPr>
            <a:normAutofit/>
          </a:bodyPr>
          <a:lstStyle/>
          <a:p>
            <a:r>
              <a:rPr lang="en-US" dirty="0"/>
              <a:t>VLM extension: Methodology</a:t>
            </a:r>
            <a:br>
              <a:rPr lang="en-US" dirty="0"/>
            </a:br>
            <a:r>
              <a:rPr lang="en-US" sz="2000" dirty="0"/>
              <a:t>Disentangling Modality Tension (Format Mismatch vs. Visual Cross-Attention)</a:t>
            </a:r>
            <a:br>
              <a:rPr lang="en-US" sz="2000" dirty="0"/>
            </a:br>
            <a:endParaRPr lang="en-US" sz="2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6962E7-360F-9A2D-FAD2-00EF6AF01C3E}"/>
                  </a:ext>
                </a:extLst>
              </p:cNvPr>
              <p:cNvSpPr>
                <a:spLocks noGrp="1"/>
              </p:cNvSpPr>
              <p:nvPr>
                <p:ph idx="1"/>
              </p:nvPr>
            </p:nvSpPr>
            <p:spPr>
              <a:xfrm>
                <a:off x="838200" y="1561171"/>
                <a:ext cx="10515600" cy="4931704"/>
              </a:xfrm>
            </p:spPr>
            <p:txBody>
              <a:bodyPr>
                <a:normAutofit lnSpcReduction="10000"/>
              </a:bodyPr>
              <a:lstStyle/>
              <a:p>
                <a:r>
                  <a:rPr lang="en-US" dirty="0"/>
                  <a:t>The original paper identified high-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𝐺</m:t>
                        </m:r>
                      </m:e>
                      <m:sub>
                        <m:r>
                          <a:rPr lang="en-US" b="0" i="1" dirty="0" smtClean="0">
                            <a:latin typeface="Cambria Math" panose="02040503050406030204" pitchFamily="18" charset="0"/>
                          </a:rPr>
                          <m:t>𝑖</m:t>
                        </m:r>
                      </m:sub>
                    </m:sSub>
                  </m:oMath>
                </a14:m>
                <a:r>
                  <a:rPr lang="en-US" dirty="0"/>
                  <a:t> samples in text LLMs as format mismatches (short classification targets vs. verbose aligned outputs). </a:t>
                </a:r>
              </a:p>
              <a:p>
                <a:r>
                  <a:rPr lang="en-US" dirty="0"/>
                  <a:t>In VLMs, high gradients arise from two distinct sources:</a:t>
                </a:r>
              </a:p>
              <a:p>
                <a:pPr lvl="1"/>
                <a:r>
                  <a:rPr lang="en-US" dirty="0"/>
                  <a:t>Output format mismatch (same as LLMs)</a:t>
                </a:r>
              </a:p>
              <a:p>
                <a:pPr lvl="1"/>
                <a:r>
                  <a:rPr lang="en-US" dirty="0"/>
                  <a:t>Visual grounding conflict: Complex images with dense visual information generate high gradient norms because the vision connector projections collide with LLM text priors.</a:t>
                </a:r>
              </a:p>
              <a:p>
                <a:r>
                  <a:rPr lang="en-US" i="1" dirty="0"/>
                  <a:t>Improvement:</a:t>
                </a:r>
                <a:r>
                  <a:rPr lang="en-US" dirty="0"/>
                  <a:t> Track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𝐺</m:t>
                        </m:r>
                      </m:e>
                      <m:sub>
                        <m:r>
                          <a:rPr lang="en-US" b="0" i="1" dirty="0" smtClean="0">
                            <a:latin typeface="Cambria Math" panose="02040503050406030204" pitchFamily="18" charset="0"/>
                          </a:rPr>
                          <m:t>𝑖</m:t>
                        </m:r>
                      </m:sub>
                    </m:sSub>
                  </m:oMath>
                </a14:m>
                <a:r>
                  <a:rPr lang="en-US" dirty="0"/>
                  <a:t> split by token types if possible, or log sample image complexity (e.g., image resolution, object count) during your Phase 2 audit to see if Moderate-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𝐺</m:t>
                        </m:r>
                      </m:e>
                      <m:sub>
                        <m:r>
                          <a:rPr lang="en-US" b="0" i="1" dirty="0" smtClean="0">
                            <a:latin typeface="Cambria Math" panose="02040503050406030204" pitchFamily="18" charset="0"/>
                          </a:rPr>
                          <m:t>𝑖</m:t>
                        </m:r>
                      </m:sub>
                    </m:sSub>
                  </m:oMath>
                </a14:m>
                <a:r>
                  <a:rPr lang="en-US" dirty="0"/>
                  <a:t> filtering preferentially removes complex visual scenes or standard format mismatches.</a:t>
                </a:r>
              </a:p>
              <a:p>
                <a:endParaRPr lang="en-US" dirty="0"/>
              </a:p>
            </p:txBody>
          </p:sp>
        </mc:Choice>
        <mc:Fallback xmlns="">
          <p:sp>
            <p:nvSpPr>
              <p:cNvPr id="3" name="Content Placeholder 2">
                <a:extLst>
                  <a:ext uri="{FF2B5EF4-FFF2-40B4-BE49-F238E27FC236}">
                    <a16:creationId xmlns:a16="http://schemas.microsoft.com/office/drawing/2014/main" id="{666962E7-360F-9A2D-FAD2-00EF6AF01C3E}"/>
                  </a:ext>
                </a:extLst>
              </p:cNvPr>
              <p:cNvSpPr>
                <a:spLocks noGrp="1" noRot="1" noChangeAspect="1" noMove="1" noResize="1" noEditPoints="1" noAdjustHandles="1" noChangeArrowheads="1" noChangeShapeType="1" noTextEdit="1"/>
              </p:cNvSpPr>
              <p:nvPr>
                <p:ph idx="1"/>
              </p:nvPr>
            </p:nvSpPr>
            <p:spPr>
              <a:xfrm>
                <a:off x="838200" y="1561171"/>
                <a:ext cx="10515600" cy="4931704"/>
              </a:xfrm>
              <a:blipFill>
                <a:blip r:embed="rId3"/>
                <a:stretch>
                  <a:fillRect l="-1086" t="-2821"/>
                </a:stretch>
              </a:blipFill>
            </p:spPr>
            <p:txBody>
              <a:bodyPr/>
              <a:lstStyle/>
              <a:p>
                <a:r>
                  <a:rPr lang="en-US">
                    <a:noFill/>
                  </a:rPr>
                  <a:t> </a:t>
                </a:r>
              </a:p>
            </p:txBody>
          </p:sp>
        </mc:Fallback>
      </mc:AlternateContent>
    </p:spTree>
    <p:extLst>
      <p:ext uri="{BB962C8B-B14F-4D97-AF65-F5344CB8AC3E}">
        <p14:creationId xmlns:p14="http://schemas.microsoft.com/office/powerpoint/2010/main" val="4191097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3985A-023C-E6A1-5689-2A98642CF0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69AB10-9820-56FD-405D-1B1878AF8B4C}"/>
              </a:ext>
            </a:extLst>
          </p:cNvPr>
          <p:cNvSpPr>
            <a:spLocks noGrp="1"/>
          </p:cNvSpPr>
          <p:nvPr>
            <p:ph type="title"/>
          </p:nvPr>
        </p:nvSpPr>
        <p:spPr>
          <a:xfrm>
            <a:off x="838200" y="460818"/>
            <a:ext cx="10515600" cy="1325563"/>
          </a:xfrm>
        </p:spPr>
        <p:txBody>
          <a:bodyPr/>
          <a:lstStyle/>
          <a:p>
            <a:r>
              <a:rPr lang="en-US" dirty="0"/>
              <a:t>VLM extension: Methodology</a:t>
            </a:r>
            <a:endParaRPr lang="en-US" sz="2000"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AB4C0B5-FEC5-AF9B-97B6-CB12E40E30F7}"/>
                  </a:ext>
                </a:extLst>
              </p:cNvPr>
              <p:cNvSpPr>
                <a:spLocks noGrp="1"/>
              </p:cNvSpPr>
              <p:nvPr>
                <p:ph idx="1"/>
              </p:nvPr>
            </p:nvSpPr>
            <p:spPr>
              <a:xfrm>
                <a:off x="838200" y="1616149"/>
                <a:ext cx="10515600" cy="4880344"/>
              </a:xfrm>
            </p:spPr>
            <p:txBody>
              <a:bodyPr>
                <a:noAutofit/>
              </a:bodyPr>
              <a:lstStyle/>
              <a:p>
                <a:r>
                  <a:rPr lang="en-US" sz="2200" dirty="0"/>
                  <a:t>A VLM input contains image tokens, system instructions, user prompts, and the target assistant response. During supervised fine-tuning, the loss should be computed </a:t>
                </a:r>
                <a:r>
                  <a:rPr lang="en-US" sz="2200" b="1" dirty="0"/>
                  <a:t>only on the target response tokens</a:t>
                </a:r>
                <a:r>
                  <a:rPr lang="en-US" sz="2200" dirty="0"/>
                  <a:t>.</a:t>
                </a:r>
              </a:p>
              <a:p>
                <a:r>
                  <a:rPr lang="en-US" sz="2200" dirty="0"/>
                  <a:t>Set labels for all non-target positions to -100 (</a:t>
                </a:r>
                <a:r>
                  <a:rPr lang="en-US" sz="2200" dirty="0" err="1"/>
                  <a:t>PyTorch’s</a:t>
                </a:r>
                <a:r>
                  <a:rPr lang="en-US" sz="2200" dirty="0"/>
                  <a:t> cross-entropy loss ignores these positions):</a:t>
                </a:r>
              </a:p>
              <a:p>
                <a:pPr lvl="1"/>
                <a:r>
                  <a:rPr lang="en-US" sz="2000" dirty="0"/>
                  <a:t>image-token positions</a:t>
                </a:r>
              </a:p>
              <a:p>
                <a:pPr lvl="1"/>
                <a:r>
                  <a:rPr lang="en-US" sz="2000" dirty="0"/>
                  <a:t>system-message tokens</a:t>
                </a:r>
              </a:p>
              <a:p>
                <a:pPr lvl="1"/>
                <a:r>
                  <a:rPr lang="en-US" sz="2000" dirty="0"/>
                  <a:t>user-prompt tokens</a:t>
                </a:r>
              </a:p>
              <a:p>
                <a:pPr lvl="1"/>
                <a:r>
                  <a:rPr lang="en-US" sz="2000" dirty="0"/>
                  <a:t>special or padding tokens</a:t>
                </a:r>
              </a:p>
              <a:p>
                <a:r>
                  <a:rPr lang="en-US" sz="2400" dirty="0"/>
                  <a:t>Per-sample response loss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𝐿</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den>
                    </m:f>
                    <m:nary>
                      <m:naryPr>
                        <m:chr m:val="∑"/>
                        <m:supHide m:val="on"/>
                        <m:ctrlPr>
                          <a:rPr lang="en-US" sz="2400" b="0" i="1" smtClean="0">
                            <a:latin typeface="Cambria Math" panose="02040503050406030204" pitchFamily="18" charset="0"/>
                          </a:rPr>
                        </m:ctrlPr>
                      </m:naryPr>
                      <m:sub>
                        <m:r>
                          <m:rPr>
                            <m:brk m:alnAt="7"/>
                          </m:rPr>
                          <a:rPr lang="en-US" sz="2400" b="0" i="1" smtClean="0">
                            <a:latin typeface="Cambria Math" panose="02040503050406030204" pitchFamily="18" charset="0"/>
                          </a:rPr>
                          <m:t>𝑖</m:t>
                        </m:r>
                        <m:r>
                          <m:rPr>
                            <m:brk m:alnAt="7"/>
                          </m:rP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𝑌</m:t>
                            </m:r>
                          </m:e>
                          <m:sub>
                            <m:r>
                              <a:rPr lang="en-US" sz="2400" b="0" i="1" smtClean="0">
                                <a:latin typeface="Cambria Math" panose="02040503050406030204" pitchFamily="18" charset="0"/>
                                <a:ea typeface="Cambria Math" panose="02040503050406030204" pitchFamily="18" charset="0"/>
                              </a:rPr>
                              <m:t>𝑖</m:t>
                            </m:r>
                          </m:sub>
                        </m:sSub>
                      </m:sub>
                      <m:sup/>
                      <m:e>
                        <m:func>
                          <m:funcPr>
                            <m:ctrlPr>
                              <a:rPr lang="en-US" sz="2400" b="0" i="0"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ea typeface="Cambria Math" panose="02040503050406030204" pitchFamily="18" charset="0"/>
                                  </a:rPr>
                                  <m:t>𝜃</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𝑦</m:t>
                                </m:r>
                              </m:e>
                              <m:sub>
                                <m:r>
                                  <a:rPr lang="en-US" sz="2400" b="0" i="1" smtClean="0">
                                    <a:latin typeface="Cambria Math" panose="02040503050406030204" pitchFamily="18" charset="0"/>
                                    <a:ea typeface="Cambria Math" panose="02040503050406030204" pitchFamily="18" charset="0"/>
                                  </a:rPr>
                                  <m:t>𝑖</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𝑣</m:t>
                                </m:r>
                              </m:e>
                              <m:sub>
                                <m:r>
                                  <a:rPr lang="en-US" sz="2400" b="0" i="1" smtClean="0">
                                    <a:latin typeface="Cambria Math" panose="02040503050406030204" pitchFamily="18" charset="0"/>
                                    <a:ea typeface="Cambria Math" panose="02040503050406030204" pitchFamily="18" charset="0"/>
                                  </a:rPr>
                                  <m:t>𝑖</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𝑥</m:t>
                                </m:r>
                              </m:e>
                              <m:sub>
                                <m:r>
                                  <a:rPr lang="en-US" sz="2400" b="0" i="1" smtClean="0">
                                    <a:latin typeface="Cambria Math" panose="02040503050406030204" pitchFamily="18" charset="0"/>
                                    <a:ea typeface="Cambria Math" panose="02040503050406030204" pitchFamily="18" charset="0"/>
                                  </a:rPr>
                                  <m:t>𝑖</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𝑦</m:t>
                                </m:r>
                              </m:e>
                              <m:sub>
                                <m:r>
                                  <a:rPr lang="en-US" sz="2400" i="1">
                                    <a:latin typeface="Cambria Math" panose="02040503050406030204" pitchFamily="18" charset="0"/>
                                    <a:ea typeface="Cambria Math" panose="02040503050406030204" pitchFamily="18" charset="0"/>
                                  </a:rPr>
                                  <m:t>𝑖</m:t>
                                </m:r>
                                <m:r>
                                  <a:rPr lang="en-US" sz="2400" b="0" i="1" smtClean="0">
                                    <a:latin typeface="Cambria Math" panose="02040503050406030204" pitchFamily="18" charset="0"/>
                                    <a:ea typeface="Cambria Math" panose="02040503050406030204" pitchFamily="18" charset="0"/>
                                  </a:rPr>
                                  <m:t>, &lt;</m:t>
                                </m:r>
                                <m:r>
                                  <a:rPr lang="en-US" sz="2400" b="0" i="1" smtClean="0">
                                    <a:latin typeface="Cambria Math" panose="02040503050406030204" pitchFamily="18" charset="0"/>
                                    <a:ea typeface="Cambria Math" panose="02040503050406030204" pitchFamily="18" charset="0"/>
                                  </a:rPr>
                                  <m:t>𝑡</m:t>
                                </m:r>
                              </m:sub>
                            </m:sSub>
                            <m:r>
                              <a:rPr lang="en-US" sz="2400" b="0" i="1" smtClean="0">
                                <a:latin typeface="Cambria Math" panose="02040503050406030204" pitchFamily="18" charset="0"/>
                                <a:ea typeface="Cambria Math" panose="02040503050406030204" pitchFamily="18" charset="0"/>
                              </a:rPr>
                              <m:t>]</m:t>
                            </m:r>
                          </m:e>
                        </m:func>
                      </m:e>
                    </m:nary>
                  </m:oMath>
                </a14:m>
                <a:endParaRPr lang="en-US" sz="2400" dirty="0"/>
              </a:p>
              <a:p>
                <a:pPr lvl="1"/>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𝑣</m:t>
                        </m:r>
                      </m:e>
                      <m:sub>
                        <m:r>
                          <a:rPr lang="en-US" sz="2000" i="1">
                            <a:latin typeface="Cambria Math" panose="02040503050406030204" pitchFamily="18" charset="0"/>
                            <a:ea typeface="Cambria Math" panose="02040503050406030204" pitchFamily="18" charset="0"/>
                          </a:rPr>
                          <m:t>𝑖</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𝑖𝑚𝑎𝑔𝑒</m:t>
                    </m:r>
                  </m:oMath>
                </a14:m>
                <a:endParaRPr lang="en-US" sz="2000" b="0" dirty="0">
                  <a:ea typeface="Cambria Math" panose="02040503050406030204" pitchFamily="18" charset="0"/>
                </a:endParaRPr>
              </a:p>
              <a:p>
                <a:pPr lvl="1"/>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i="1">
                            <a:latin typeface="Cambria Math" panose="02040503050406030204" pitchFamily="18" charset="0"/>
                            <a:ea typeface="Cambria Math" panose="02040503050406030204" pitchFamily="18" charset="0"/>
                          </a:rPr>
                          <m:t>𝑖</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𝑡𝑒𝑥𝑡</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𝑖𝑛𝑠𝑡𝑟𝑢𝑐𝑡𝑖𝑜𝑛</m:t>
                    </m:r>
                    <m:r>
                      <a:rPr lang="en-US" sz="2000" b="0" i="1" smtClean="0">
                        <a:latin typeface="Cambria Math" panose="02040503050406030204" pitchFamily="18" charset="0"/>
                        <a:ea typeface="Cambria Math" panose="02040503050406030204" pitchFamily="18" charset="0"/>
                      </a:rPr>
                      <m:t> </m:t>
                    </m:r>
                  </m:oMath>
                </a14:m>
                <a:endParaRPr lang="en-US" sz="2000" dirty="0"/>
              </a:p>
              <a:p>
                <a:pPr lvl="1"/>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𝑦</m:t>
                        </m:r>
                      </m:e>
                      <m:sub>
                        <m:r>
                          <a:rPr lang="en-US" sz="2000" i="1">
                            <a:latin typeface="Cambria Math" panose="02040503050406030204" pitchFamily="18" charset="0"/>
                            <a:ea typeface="Cambria Math" panose="02040503050406030204" pitchFamily="18" charset="0"/>
                          </a:rPr>
                          <m:t>𝑖</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𝑎𝑠𝑠𝑖𝑠𝑡𝑎𝑛𝑡</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𝑡𝑎𝑟𝑔𝑒𝑡</m:t>
                    </m:r>
                    <m:r>
                      <a:rPr lang="en-US" sz="2000" b="0" i="1" smtClean="0">
                        <a:latin typeface="Cambria Math" panose="02040503050406030204" pitchFamily="18" charset="0"/>
                        <a:ea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𝑌</m:t>
                        </m:r>
                      </m:e>
                      <m:sub>
                        <m:r>
                          <a:rPr lang="en-US" sz="2000" i="1">
                            <a:latin typeface="Cambria Math" panose="02040503050406030204" pitchFamily="18" charset="0"/>
                          </a:rPr>
                          <m:t>𝑖</m:t>
                        </m:r>
                      </m:sub>
                    </m:sSub>
                    <m:r>
                      <a:rPr lang="en-US" sz="2000" b="0" i="1" smtClean="0">
                        <a:latin typeface="Cambria Math" panose="02040503050406030204" pitchFamily="18" charset="0"/>
                      </a:rPr>
                      <m:t>(</m:t>
                    </m:r>
                    <m:r>
                      <a:rPr lang="en-US" sz="2000" b="0" i="1" smtClean="0">
                        <a:latin typeface="Cambria Math" panose="02040503050406030204" pitchFamily="18" charset="0"/>
                      </a:rPr>
                      <m:t>𝑡𝑎𝑟𝑔𝑒𝑡</m:t>
                    </m:r>
                    <m:r>
                      <a:rPr lang="en-US" sz="2000" b="0" i="1" smtClean="0">
                        <a:latin typeface="Cambria Math" panose="02040503050406030204" pitchFamily="18" charset="0"/>
                      </a:rPr>
                      <m:t>)=</m:t>
                    </m:r>
                    <m:r>
                      <a:rPr lang="en-US" sz="2000" b="0" i="1" smtClean="0">
                        <a:latin typeface="Cambria Math" panose="02040503050406030204" pitchFamily="18" charset="0"/>
                      </a:rPr>
                      <m:t>𝑜𝑛𝑙𝑦</m:t>
                    </m:r>
                    <m:r>
                      <a:rPr lang="en-US" sz="2000" b="0" i="1" smtClean="0">
                        <a:latin typeface="Cambria Math" panose="02040503050406030204" pitchFamily="18" charset="0"/>
                      </a:rPr>
                      <m:t> </m:t>
                    </m:r>
                    <m:r>
                      <a:rPr lang="en-US" sz="2000" b="0" i="1" smtClean="0">
                        <a:latin typeface="Cambria Math" panose="02040503050406030204" pitchFamily="18" charset="0"/>
                      </a:rPr>
                      <m:t>𝑎𝑠𝑠𝑖𝑠𝑡𝑎𝑛𝑡</m:t>
                    </m:r>
                    <m:r>
                      <a:rPr lang="en-US" sz="2000" b="0" i="1" smtClean="0">
                        <a:latin typeface="Cambria Math" panose="02040503050406030204" pitchFamily="18" charset="0"/>
                      </a:rPr>
                      <m:t> </m:t>
                    </m:r>
                    <m:r>
                      <a:rPr lang="en-US" sz="2000" b="0" i="1" smtClean="0">
                        <a:latin typeface="Cambria Math" panose="02040503050406030204" pitchFamily="18" charset="0"/>
                      </a:rPr>
                      <m:t>𝑟𝑒𝑠𝑝𝑜𝑛𝑠𝑒</m:t>
                    </m:r>
                    <m:r>
                      <a:rPr lang="en-US" sz="2000" b="0" i="1" smtClean="0">
                        <a:latin typeface="Cambria Math" panose="02040503050406030204" pitchFamily="18" charset="0"/>
                      </a:rPr>
                      <m:t> </m:t>
                    </m:r>
                    <m:r>
                      <a:rPr lang="en-US" sz="2000" b="0" i="1" smtClean="0">
                        <a:latin typeface="Cambria Math" panose="02040503050406030204" pitchFamily="18" charset="0"/>
                      </a:rPr>
                      <m:t>𝑡𝑜𝑘𝑒𝑛</m:t>
                    </m:r>
                    <m:r>
                      <a:rPr lang="en-US" sz="2000" b="0" i="1" smtClean="0">
                        <a:latin typeface="Cambria Math" panose="02040503050406030204" pitchFamily="18" charset="0"/>
                      </a:rPr>
                      <m:t> </m:t>
                    </m:r>
                    <m:r>
                      <a:rPr lang="en-US" sz="2000" b="0" i="1" smtClean="0">
                        <a:latin typeface="Cambria Math" panose="02040503050406030204" pitchFamily="18" charset="0"/>
                      </a:rPr>
                      <m:t>𝑝𝑜𝑠𝑖𝑡𝑖𝑜𝑛𝑠</m:t>
                    </m:r>
                  </m:oMath>
                </a14:m>
                <a:endParaRPr lang="en-US" sz="2000" dirty="0"/>
              </a:p>
              <a:p>
                <a:pPr lvl="1"/>
                <a:r>
                  <a:rPr lang="en-US" sz="2000" dirty="0"/>
                  <a:t>Gradients use this Loss </a:t>
                </a:r>
              </a:p>
            </p:txBody>
          </p:sp>
        </mc:Choice>
        <mc:Fallback xmlns="">
          <p:sp>
            <p:nvSpPr>
              <p:cNvPr id="4" name="Content Placeholder 2">
                <a:extLst>
                  <a:ext uri="{FF2B5EF4-FFF2-40B4-BE49-F238E27FC236}">
                    <a16:creationId xmlns:a16="http://schemas.microsoft.com/office/drawing/2014/main" id="{CAB4C0B5-FEC5-AF9B-97B6-CB12E40E30F7}"/>
                  </a:ext>
                </a:extLst>
              </p:cNvPr>
              <p:cNvSpPr>
                <a:spLocks noGrp="1" noRot="1" noChangeAspect="1" noMove="1" noResize="1" noEditPoints="1" noAdjustHandles="1" noChangeArrowheads="1" noChangeShapeType="1" noTextEdit="1"/>
              </p:cNvSpPr>
              <p:nvPr>
                <p:ph idx="1"/>
              </p:nvPr>
            </p:nvSpPr>
            <p:spPr>
              <a:xfrm>
                <a:off x="838200" y="1616149"/>
                <a:ext cx="10515600" cy="4880344"/>
              </a:xfrm>
              <a:blipFill>
                <a:blip r:embed="rId3"/>
                <a:stretch>
                  <a:fillRect l="-844" t="-1558" b="-6234"/>
                </a:stretch>
              </a:blipFill>
            </p:spPr>
            <p:txBody>
              <a:bodyPr/>
              <a:lstStyle/>
              <a:p>
                <a:r>
                  <a:rPr lang="en-US">
                    <a:noFill/>
                  </a:rPr>
                  <a:t> </a:t>
                </a:r>
              </a:p>
            </p:txBody>
          </p:sp>
        </mc:Fallback>
      </mc:AlternateContent>
    </p:spTree>
    <p:extLst>
      <p:ext uri="{BB962C8B-B14F-4D97-AF65-F5344CB8AC3E}">
        <p14:creationId xmlns:p14="http://schemas.microsoft.com/office/powerpoint/2010/main" val="3180816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FCDCC-409C-4947-1151-591074431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27EDAB-794B-245E-1C94-1D66E0F2A91E}"/>
              </a:ext>
            </a:extLst>
          </p:cNvPr>
          <p:cNvSpPr>
            <a:spLocks noGrp="1"/>
          </p:cNvSpPr>
          <p:nvPr>
            <p:ph type="title"/>
          </p:nvPr>
        </p:nvSpPr>
        <p:spPr/>
        <p:txBody>
          <a:bodyPr/>
          <a:lstStyle/>
          <a:p>
            <a:r>
              <a:rPr lang="en-US" dirty="0"/>
              <a:t>VLM extension: Methodology</a:t>
            </a:r>
            <a:br>
              <a:rPr lang="en-US" dirty="0"/>
            </a:br>
            <a:r>
              <a:rPr lang="en-US" sz="2000" dirty="0"/>
              <a:t>Proposed gradient attribution ablation</a:t>
            </a:r>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41F76EF5-433D-5B81-5FF9-F00BD01474ED}"/>
                  </a:ext>
                </a:extLst>
              </p:cNvPr>
              <p:cNvSpPr>
                <a:spLocks noGrp="1"/>
              </p:cNvSpPr>
              <p:nvPr>
                <p:ph idx="1"/>
              </p:nvPr>
            </p:nvSpPr>
            <p:spPr>
              <a:xfrm>
                <a:off x="838200" y="1690688"/>
                <a:ext cx="10515600" cy="5028611"/>
              </a:xfrm>
              <a:ln>
                <a:noFill/>
              </a:ln>
            </p:spPr>
            <p:txBody>
              <a:bodyPr>
                <a:noAutofit/>
              </a:bodyPr>
              <a:lstStyle/>
              <a:p>
                <a:pPr lvl="0"/>
                <a:r>
                  <a:rPr lang="en-US" sz="2400" dirty="0"/>
                  <a:t>This ensures that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𝐺</m:t>
                        </m:r>
                      </m:e>
                      <m:sub>
                        <m:r>
                          <a:rPr lang="en-US" sz="2400" b="0" i="1" smtClean="0">
                            <a:latin typeface="Cambria Math" panose="02040503050406030204" pitchFamily="18" charset="0"/>
                          </a:rPr>
                          <m:t>𝑖</m:t>
                        </m:r>
                      </m:sub>
                    </m:sSub>
                  </m:oMath>
                </a14:m>
                <a:r>
                  <a:rPr lang="en-US" sz="2400" dirty="0"/>
                  <a:t> measures the parameter change associated with learning the target response, rather than learning to reproduce the prompt, special tokens, or padding.</a:t>
                </a:r>
                <a:endParaRPr lang="en-US" sz="2400" b="1" dirty="0"/>
              </a:p>
              <a:p>
                <a:pPr lvl="0"/>
                <a:r>
                  <a:rPr lang="en-US" sz="2400" b="1" dirty="0"/>
                  <a:t>Our Adaptation</a:t>
                </a:r>
                <a:r>
                  <a:rPr lang="en-US" sz="2400" dirty="0"/>
                  <a:t>: We freeze the Vision Encoder and formulate </a:t>
                </a:r>
                <a:r>
                  <a:rPr lang="en-US" sz="2400" b="1" dirty="0"/>
                  <a:t>3 distinct gradient attribution modes</a:t>
                </a:r>
                <a:r>
                  <a:rPr lang="en-US" sz="2400" dirty="0"/>
                  <a:t>:</a:t>
                </a:r>
                <a:endParaRPr lang="en-US" sz="2400" i="1" dirty="0">
                  <a:latin typeface="Cambria Math" panose="02040503050406030204" pitchFamily="18" charset="0"/>
                </a:endParaRPr>
              </a:p>
              <a:p>
                <a:pPr lvl="1"/>
                <a14:m>
                  <m:oMath xmlns:m="http://schemas.openxmlformats.org/officeDocument/2006/math">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𝐺</m:t>
                        </m:r>
                      </m:e>
                      <m:sub>
                        <m:r>
                          <a:rPr lang="en-US" sz="2000" b="0" i="1" dirty="0" smtClean="0">
                            <a:latin typeface="Cambria Math" panose="02040503050406030204" pitchFamily="18" charset="0"/>
                          </a:rPr>
                          <m:t>𝑖</m:t>
                        </m:r>
                      </m:sub>
                      <m:sup>
                        <m:r>
                          <a:rPr lang="en-US" sz="2000" b="0" i="1" dirty="0" smtClean="0">
                            <a:latin typeface="Cambria Math" panose="02040503050406030204" pitchFamily="18" charset="0"/>
                          </a:rPr>
                          <m:t>(</m:t>
                        </m:r>
                        <m:r>
                          <a:rPr lang="en-US" sz="2000" b="0" i="1" dirty="0" smtClean="0">
                            <a:latin typeface="Cambria Math" panose="02040503050406030204" pitchFamily="18" charset="0"/>
                          </a:rPr>
                          <m:t>𝐿</m:t>
                        </m:r>
                        <m:r>
                          <a:rPr lang="en-US" sz="2000" b="0" i="1" dirty="0" smtClean="0">
                            <a:latin typeface="Cambria Math" panose="02040503050406030204" pitchFamily="18" charset="0"/>
                          </a:rPr>
                          <m:t>)</m:t>
                        </m:r>
                      </m:sup>
                    </m:sSubSup>
                    <m:r>
                      <a:rPr lang="en-US" sz="2000" b="0" i="1" dirty="0" smtClean="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m:t>
                            </m:r>
                            <m:r>
                              <m:rPr>
                                <m:sty m:val="p"/>
                              </m:rPr>
                              <a:rPr lang="en-US" sz="2000" dirty="0">
                                <a:latin typeface="Cambria Math" panose="02040503050406030204" pitchFamily="18" charset="0"/>
                                <a:ea typeface="Cambria Math" panose="02040503050406030204" pitchFamily="18" charset="0"/>
                              </a:rPr>
                              <m:t>∇</m:t>
                            </m:r>
                          </m:e>
                          <m:sub>
                            <m:sSub>
                              <m:sSubPr>
                                <m:ctrlPr>
                                  <a:rPr lang="en-US" sz="2000" i="1" dirty="0">
                                    <a:latin typeface="Cambria Math" panose="02040503050406030204" pitchFamily="18" charset="0"/>
                                    <a:ea typeface="Cambria Math" panose="02040503050406030204" pitchFamily="18" charset="0"/>
                                  </a:rPr>
                                </m:ctrlPr>
                              </m:sSubPr>
                              <m:e>
                                <m:r>
                                  <a:rPr lang="en-US" sz="2000" i="1" dirty="0">
                                    <a:latin typeface="Cambria Math" panose="02040503050406030204" pitchFamily="18" charset="0"/>
                                    <a:ea typeface="Cambria Math" panose="02040503050406030204" pitchFamily="18" charset="0"/>
                                  </a:rPr>
                                  <m:t>𝜃</m:t>
                                </m:r>
                              </m:e>
                              <m:sub>
                                <m:r>
                                  <a:rPr lang="en-US" sz="2000" i="1" dirty="0">
                                    <a:latin typeface="Cambria Math" panose="02040503050406030204" pitchFamily="18" charset="0"/>
                                  </a:rPr>
                                  <m:t>𝐿</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𝑀</m:t>
                                    </m:r>
                                  </m:e>
                                  <m:sub>
                                    <m:r>
                                      <a:rPr lang="en-US" sz="2000" i="1" dirty="0">
                                        <a:latin typeface="Cambria Math" panose="02040503050406030204" pitchFamily="18" charset="0"/>
                                      </a:rPr>
                                      <m:t>𝐿𝑜𝑅𝐴</m:t>
                                    </m:r>
                                  </m:sub>
                                </m:sSub>
                              </m:sub>
                            </m:sSub>
                          </m:sub>
                        </m:sSub>
                        <m:sSub>
                          <m:sSubPr>
                            <m:ctrlPr>
                              <a:rPr lang="en-US" sz="2000" i="1" dirty="0">
                                <a:latin typeface="Cambria Math" panose="02040503050406030204" pitchFamily="18" charset="0"/>
                              </a:rPr>
                            </m:ctrlPr>
                          </m:sSubPr>
                          <m:e>
                            <m:r>
                              <a:rPr lang="en-US" sz="2000" i="1" dirty="0">
                                <a:latin typeface="Cambria Math" panose="02040503050406030204" pitchFamily="18" charset="0"/>
                              </a:rPr>
                              <m:t>𝐿</m:t>
                            </m:r>
                          </m:e>
                          <m:sub>
                            <m:r>
                              <a:rPr lang="en-US" sz="2000" i="1" dirty="0">
                                <a:latin typeface="Cambria Math" panose="02040503050406030204" pitchFamily="18" charset="0"/>
                              </a:rPr>
                              <m:t>𝑖</m:t>
                            </m:r>
                          </m:sub>
                        </m:sSub>
                        <m:r>
                          <a:rPr lang="en-US" sz="2000" i="1" dirty="0">
                            <a:latin typeface="Cambria Math" panose="02040503050406030204" pitchFamily="18" charset="0"/>
                          </a:rPr>
                          <m:t> ||</m:t>
                        </m:r>
                      </m:e>
                      <m:sub>
                        <m:r>
                          <a:rPr lang="en-US" sz="2000" b="0" i="1" dirty="0" smtClean="0">
                            <a:latin typeface="Cambria Math" panose="02040503050406030204" pitchFamily="18" charset="0"/>
                          </a:rPr>
                          <m:t>2</m:t>
                        </m:r>
                      </m:sub>
                    </m:sSub>
                  </m:oMath>
                </a14:m>
                <a:r>
                  <a:rPr lang="en-US" sz="2000" b="0" i="1" dirty="0">
                    <a:latin typeface="Cambria Math" panose="02040503050406030204" pitchFamily="18" charset="0"/>
                  </a:rPr>
                  <a:t>			</a:t>
                </a:r>
                <a:r>
                  <a:rPr lang="en-US" dirty="0"/>
                  <a:t> </a:t>
                </a:r>
              </a:p>
              <a:p>
                <a:pPr marL="457200" lvl="1" indent="0">
                  <a:buNone/>
                </a:pPr>
                <a:r>
                  <a:rPr lang="en-US" sz="2000" dirty="0"/>
                  <a:t>(Language: Evaluates whether alignment drift is driven by conversational response priors in the language model.)</a:t>
                </a:r>
              </a:p>
              <a:p>
                <a:pPr lvl="1"/>
                <a:r>
                  <a:rPr lang="en-US" sz="2000" dirty="0"/>
                  <a:t> </a:t>
                </a:r>
                <a14:m>
                  <m:oMath xmlns:m="http://schemas.openxmlformats.org/officeDocument/2006/math">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𝐺</m:t>
                        </m:r>
                      </m:e>
                      <m:sub>
                        <m:r>
                          <a:rPr lang="en-US" sz="2000" i="1" dirty="0">
                            <a:latin typeface="Cambria Math" panose="02040503050406030204" pitchFamily="18" charset="0"/>
                          </a:rPr>
                          <m:t>𝑖</m:t>
                        </m:r>
                      </m:sub>
                      <m:sup>
                        <m:r>
                          <a:rPr lang="en-US" sz="2000" i="1" dirty="0">
                            <a:latin typeface="Cambria Math" panose="02040503050406030204" pitchFamily="18" charset="0"/>
                          </a:rPr>
                          <m:t>(</m:t>
                        </m:r>
                        <m:r>
                          <a:rPr lang="en-US" sz="2000" b="0" i="1" dirty="0" smtClean="0">
                            <a:latin typeface="Cambria Math" panose="02040503050406030204" pitchFamily="18" charset="0"/>
                          </a:rPr>
                          <m:t>𝑃</m:t>
                        </m:r>
                        <m:r>
                          <a:rPr lang="en-US" sz="2000" i="1" dirty="0">
                            <a:latin typeface="Cambria Math" panose="02040503050406030204" pitchFamily="18" charset="0"/>
                          </a:rPr>
                          <m:t>)</m:t>
                        </m:r>
                      </m:sup>
                    </m:sSubSup>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m:t>
                            </m:r>
                            <m:r>
                              <m:rPr>
                                <m:sty m:val="p"/>
                              </m:rPr>
                              <a:rPr lang="en-US" sz="2000" dirty="0">
                                <a:latin typeface="Cambria Math" panose="02040503050406030204" pitchFamily="18" charset="0"/>
                                <a:ea typeface="Cambria Math" panose="02040503050406030204" pitchFamily="18" charset="0"/>
                              </a:rPr>
                              <m:t>∇</m:t>
                            </m:r>
                          </m:e>
                          <m:sub>
                            <m:sSub>
                              <m:sSubPr>
                                <m:ctrlPr>
                                  <a:rPr lang="en-US" sz="2000" i="1" dirty="0">
                                    <a:latin typeface="Cambria Math" panose="02040503050406030204" pitchFamily="18" charset="0"/>
                                    <a:ea typeface="Cambria Math" panose="02040503050406030204" pitchFamily="18" charset="0"/>
                                  </a:rPr>
                                </m:ctrlPr>
                              </m:sSubPr>
                              <m:e>
                                <m:r>
                                  <a:rPr lang="en-US" sz="2000" i="1" dirty="0">
                                    <a:latin typeface="Cambria Math" panose="02040503050406030204" pitchFamily="18" charset="0"/>
                                    <a:ea typeface="Cambria Math" panose="02040503050406030204" pitchFamily="18" charset="0"/>
                                  </a:rPr>
                                  <m:t>𝜃</m:t>
                                </m:r>
                              </m:e>
                              <m:sub>
                                <m:r>
                                  <a:rPr lang="en-US" sz="2000" b="0" i="1" dirty="0" smtClean="0">
                                    <a:latin typeface="Cambria Math" panose="02040503050406030204" pitchFamily="18" charset="0"/>
                                    <a:ea typeface="Cambria Math" panose="02040503050406030204" pitchFamily="18" charset="0"/>
                                  </a:rPr>
                                  <m:t>𝑝𝑟𝑜𝑗𝑒𝑐𝑡𝑜𝑟</m:t>
                                </m:r>
                              </m:sub>
                            </m:sSub>
                          </m:sub>
                        </m:sSub>
                        <m:sSub>
                          <m:sSubPr>
                            <m:ctrlPr>
                              <a:rPr lang="en-US" sz="2000" i="1" dirty="0">
                                <a:latin typeface="Cambria Math" panose="02040503050406030204" pitchFamily="18" charset="0"/>
                              </a:rPr>
                            </m:ctrlPr>
                          </m:sSubPr>
                          <m:e>
                            <m:r>
                              <a:rPr lang="en-US" sz="2000" i="1" dirty="0">
                                <a:latin typeface="Cambria Math" panose="02040503050406030204" pitchFamily="18" charset="0"/>
                              </a:rPr>
                              <m:t>𝐿</m:t>
                            </m:r>
                          </m:e>
                          <m:sub>
                            <m:r>
                              <a:rPr lang="en-US" sz="2000" i="1" dirty="0">
                                <a:latin typeface="Cambria Math" panose="02040503050406030204" pitchFamily="18" charset="0"/>
                              </a:rPr>
                              <m:t>𝑖</m:t>
                            </m:r>
                          </m:sub>
                        </m:sSub>
                        <m:r>
                          <a:rPr lang="en-US" sz="2000" i="1" dirty="0">
                            <a:latin typeface="Cambria Math" panose="02040503050406030204" pitchFamily="18" charset="0"/>
                          </a:rPr>
                          <m:t> ||</m:t>
                        </m:r>
                      </m:e>
                      <m:sub>
                        <m:r>
                          <a:rPr lang="en-US" sz="2000" i="1" dirty="0">
                            <a:latin typeface="Cambria Math" panose="02040503050406030204" pitchFamily="18" charset="0"/>
                          </a:rPr>
                          <m:t>2</m:t>
                        </m:r>
                      </m:sub>
                    </m:sSub>
                  </m:oMath>
                </a14:m>
                <a:r>
                  <a:rPr lang="en-US" sz="2000" dirty="0"/>
                  <a:t>           </a:t>
                </a:r>
              </a:p>
              <a:p>
                <a:pPr marL="457200" lvl="1" indent="0">
                  <a:buNone/>
                </a:pPr>
                <a:r>
                  <a:rPr lang="en-US" sz="2000" dirty="0"/>
                  <a:t>(Projector: Evaluates whether drift is driven by cross-modal feature warping justified by </a:t>
                </a:r>
                <a:r>
                  <a:rPr lang="en-US" sz="2000" dirty="0" err="1"/>
                  <a:t>SafeVLM’s</a:t>
                </a:r>
                <a:r>
                  <a:rPr lang="en-US" sz="2000" dirty="0"/>
                  <a:t> finding that pre-trained projectors lack safety alignment)</a:t>
                </a:r>
              </a:p>
              <a:p>
                <a:pPr lvl="1"/>
                <a14:m>
                  <m:oMath xmlns:m="http://schemas.openxmlformats.org/officeDocument/2006/math">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𝐺</m:t>
                        </m:r>
                      </m:e>
                      <m:sub>
                        <m:r>
                          <a:rPr lang="en-US" sz="2000" i="1" dirty="0">
                            <a:latin typeface="Cambria Math" panose="02040503050406030204" pitchFamily="18" charset="0"/>
                          </a:rPr>
                          <m:t>𝑖</m:t>
                        </m:r>
                      </m:sub>
                      <m:sup>
                        <m:r>
                          <a:rPr lang="en-US" sz="2000" i="1" dirty="0">
                            <a:latin typeface="Cambria Math" panose="02040503050406030204" pitchFamily="18" charset="0"/>
                          </a:rPr>
                          <m:t>(</m:t>
                        </m:r>
                        <m:r>
                          <a:rPr lang="en-US" sz="2000" b="0" i="1" dirty="0" smtClean="0">
                            <a:latin typeface="Cambria Math" panose="02040503050406030204" pitchFamily="18" charset="0"/>
                          </a:rPr>
                          <m:t>𝐽</m:t>
                        </m:r>
                        <m:r>
                          <a:rPr lang="en-US" sz="2000" i="1" dirty="0">
                            <a:latin typeface="Cambria Math" panose="02040503050406030204" pitchFamily="18" charset="0"/>
                          </a:rPr>
                          <m:t>)</m:t>
                        </m:r>
                      </m:sup>
                    </m:sSubSup>
                    <m:r>
                      <a:rPr lang="en-US" sz="2000" i="1" dirty="0">
                        <a:latin typeface="Cambria Math" panose="02040503050406030204" pitchFamily="18" charset="0"/>
                      </a:rPr>
                      <m:t>=</m:t>
                    </m:r>
                    <m:r>
                      <a:rPr lang="en-US" sz="2000" b="0" i="1" dirty="0" smtClean="0">
                        <a:latin typeface="Cambria Math" panose="02040503050406030204" pitchFamily="18" charset="0"/>
                      </a:rPr>
                      <m:t> </m:t>
                    </m:r>
                    <m:rad>
                      <m:radPr>
                        <m:degHide m:val="on"/>
                        <m:ctrlPr>
                          <a:rPr lang="en-US" sz="2000" b="0" i="1" dirty="0" smtClean="0">
                            <a:latin typeface="Cambria Math" panose="02040503050406030204" pitchFamily="18" charset="0"/>
                          </a:rPr>
                        </m:ctrlPr>
                      </m:radPr>
                      <m:deg/>
                      <m:e>
                        <m:sSup>
                          <m:sSupPr>
                            <m:ctrlPr>
                              <a:rPr lang="en-US" sz="2000" i="1" dirty="0">
                                <a:latin typeface="Cambria Math" panose="02040503050406030204" pitchFamily="18" charset="0"/>
                              </a:rPr>
                            </m:ctrlPr>
                          </m:sSupPr>
                          <m:e>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m:t>
                                </m:r>
                                <m:r>
                                  <a:rPr lang="en-US" sz="2000" i="1" dirty="0">
                                    <a:latin typeface="Cambria Math" panose="02040503050406030204" pitchFamily="18" charset="0"/>
                                  </a:rPr>
                                  <m:t>𝐺</m:t>
                                </m:r>
                              </m:e>
                              <m:sub>
                                <m:r>
                                  <a:rPr lang="en-US" sz="2000" i="1" dirty="0">
                                    <a:latin typeface="Cambria Math" panose="02040503050406030204" pitchFamily="18" charset="0"/>
                                  </a:rPr>
                                  <m:t>𝑖</m:t>
                                </m:r>
                              </m:sub>
                              <m:sup>
                                <m:r>
                                  <a:rPr lang="en-US" sz="2000" i="1" dirty="0">
                                    <a:latin typeface="Cambria Math" panose="02040503050406030204" pitchFamily="18" charset="0"/>
                                  </a:rPr>
                                  <m:t>(</m:t>
                                </m:r>
                                <m:r>
                                  <a:rPr lang="en-US" sz="2000" i="1" dirty="0">
                                    <a:latin typeface="Cambria Math" panose="02040503050406030204" pitchFamily="18" charset="0"/>
                                  </a:rPr>
                                  <m:t>𝐿</m:t>
                                </m:r>
                                <m:r>
                                  <a:rPr lang="en-US" sz="2000" i="1" dirty="0">
                                    <a:latin typeface="Cambria Math" panose="02040503050406030204" pitchFamily="18" charset="0"/>
                                  </a:rPr>
                                  <m:t>)</m:t>
                                </m:r>
                              </m:sup>
                            </m:sSubSup>
                            <m:r>
                              <a:rPr lang="en-US" sz="2000" i="1" dirty="0">
                                <a:latin typeface="Cambria Math" panose="02040503050406030204" pitchFamily="18" charset="0"/>
                              </a:rPr>
                              <m:t>)</m:t>
                            </m:r>
                          </m:e>
                          <m:sup>
                            <m:r>
                              <a:rPr lang="en-US" sz="2000" b="0" i="1" dirty="0" smtClean="0">
                                <a:latin typeface="Cambria Math" panose="02040503050406030204" pitchFamily="18" charset="0"/>
                              </a:rPr>
                              <m:t>2</m:t>
                            </m:r>
                          </m:sup>
                        </m:sSup>
                        <m:r>
                          <a:rPr lang="en-US" sz="2000" b="0" i="1" dirty="0" smtClean="0">
                            <a:latin typeface="Cambria Math" panose="02040503050406030204" pitchFamily="18" charset="0"/>
                          </a:rPr>
                          <m:t>+ </m:t>
                        </m:r>
                        <m:r>
                          <a:rPr lang="en-US" sz="2000" b="0" i="1" dirty="0" smtClean="0">
                            <a:latin typeface="Cambria Math" panose="02040503050406030204" pitchFamily="18" charset="0"/>
                            <a:ea typeface="Cambria Math" panose="02040503050406030204" pitchFamily="18" charset="0"/>
                          </a:rPr>
                          <m:t>𝜆</m:t>
                        </m:r>
                        <m:r>
                          <a:rPr lang="en-US" sz="2000" b="0" i="1" dirty="0" smtClean="0">
                            <a:latin typeface="Cambria Math" panose="02040503050406030204" pitchFamily="18" charset="0"/>
                            <a:ea typeface="Cambria Math" panose="02040503050406030204" pitchFamily="18" charset="0"/>
                          </a:rPr>
                          <m:t>.</m:t>
                        </m:r>
                        <m:sSup>
                          <m:sSupPr>
                            <m:ctrlPr>
                              <a:rPr lang="en-US" sz="2000" i="1" dirty="0">
                                <a:latin typeface="Cambria Math" panose="02040503050406030204" pitchFamily="18" charset="0"/>
                              </a:rPr>
                            </m:ctrlPr>
                          </m:sSupPr>
                          <m:e>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m:t>
                                </m:r>
                                <m:r>
                                  <a:rPr lang="en-US" sz="2000" i="1" dirty="0">
                                    <a:latin typeface="Cambria Math" panose="02040503050406030204" pitchFamily="18" charset="0"/>
                                  </a:rPr>
                                  <m:t>𝐺</m:t>
                                </m:r>
                              </m:e>
                              <m:sub>
                                <m:r>
                                  <a:rPr lang="en-US" sz="2000" i="1" dirty="0">
                                    <a:latin typeface="Cambria Math" panose="02040503050406030204" pitchFamily="18" charset="0"/>
                                  </a:rPr>
                                  <m:t>𝑖</m:t>
                                </m:r>
                              </m:sub>
                              <m:sup>
                                <m:r>
                                  <a:rPr lang="en-US" sz="2000" i="1" dirty="0">
                                    <a:latin typeface="Cambria Math" panose="02040503050406030204" pitchFamily="18" charset="0"/>
                                  </a:rPr>
                                  <m:t>(</m:t>
                                </m:r>
                                <m:r>
                                  <a:rPr lang="en-US" sz="2000" b="0" i="1" dirty="0" smtClean="0">
                                    <a:latin typeface="Cambria Math" panose="02040503050406030204" pitchFamily="18" charset="0"/>
                                  </a:rPr>
                                  <m:t>𝑃</m:t>
                                </m:r>
                                <m:r>
                                  <a:rPr lang="en-US" sz="2000" i="1" dirty="0">
                                    <a:latin typeface="Cambria Math" panose="02040503050406030204" pitchFamily="18" charset="0"/>
                                  </a:rPr>
                                  <m:t>)</m:t>
                                </m:r>
                              </m:sup>
                            </m:sSubSup>
                            <m:r>
                              <a:rPr lang="en-US" sz="2000" i="1" dirty="0">
                                <a:latin typeface="Cambria Math" panose="02040503050406030204" pitchFamily="18" charset="0"/>
                              </a:rPr>
                              <m:t>)</m:t>
                            </m:r>
                          </m:e>
                          <m:sup>
                            <m:r>
                              <a:rPr lang="en-US" sz="2000" i="1" dirty="0">
                                <a:latin typeface="Cambria Math" panose="02040503050406030204" pitchFamily="18" charset="0"/>
                              </a:rPr>
                              <m:t>2</m:t>
                            </m:r>
                          </m:sup>
                        </m:sSup>
                      </m:e>
                    </m:rad>
                  </m:oMath>
                </a14:m>
                <a:r>
                  <a:rPr lang="en-US" sz="2000" dirty="0"/>
                  <a:t>                                      </a:t>
                </a:r>
              </a:p>
              <a:p>
                <a:pPr marL="457200" lvl="1" indent="0">
                  <a:buNone/>
                </a:pPr>
                <a:r>
                  <a:rPr lang="en-US" sz="2100" dirty="0"/>
                  <a:t>(Joint: combines both VLM signals with a balancing scalar)</a:t>
                </a:r>
              </a:p>
              <a:p>
                <a:pPr marL="0" indent="0">
                  <a:buNone/>
                </a:pPr>
                <a:endParaRPr lang="en-US" sz="2500" dirty="0"/>
              </a:p>
            </p:txBody>
          </p:sp>
        </mc:Choice>
        <mc:Fallback>
          <p:sp>
            <p:nvSpPr>
              <p:cNvPr id="4" name="Content Placeholder 2">
                <a:extLst>
                  <a:ext uri="{FF2B5EF4-FFF2-40B4-BE49-F238E27FC236}">
                    <a16:creationId xmlns:a16="http://schemas.microsoft.com/office/drawing/2014/main" id="{41F76EF5-433D-5B81-5FF9-F00BD01474ED}"/>
                  </a:ext>
                </a:extLst>
              </p:cNvPr>
              <p:cNvSpPr>
                <a:spLocks noGrp="1" noRot="1" noChangeAspect="1" noMove="1" noResize="1" noEditPoints="1" noAdjustHandles="1" noChangeArrowheads="1" noChangeShapeType="1" noTextEdit="1"/>
              </p:cNvSpPr>
              <p:nvPr>
                <p:ph idx="1"/>
              </p:nvPr>
            </p:nvSpPr>
            <p:spPr>
              <a:xfrm>
                <a:off x="838200" y="1690688"/>
                <a:ext cx="10515600" cy="5028611"/>
              </a:xfrm>
              <a:blipFill>
                <a:blip r:embed="rId3"/>
                <a:stretch>
                  <a:fillRect l="-844" t="-1511" b="-1511"/>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091685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A1F1F-A118-A4D2-08C5-8690768BF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11484F-F0C0-B0D9-7F01-A535079CF288}"/>
              </a:ext>
            </a:extLst>
          </p:cNvPr>
          <p:cNvSpPr>
            <a:spLocks noGrp="1"/>
          </p:cNvSpPr>
          <p:nvPr>
            <p:ph type="title"/>
          </p:nvPr>
        </p:nvSpPr>
        <p:spPr/>
        <p:txBody>
          <a:bodyPr/>
          <a:lstStyle/>
          <a:p>
            <a:r>
              <a:rPr lang="en-US" dirty="0"/>
              <a:t>VLM extension: Methodology</a:t>
            </a:r>
            <a:endParaRPr lang="en-US" sz="2000"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117117AE-4996-5007-2F3F-9083A9839580}"/>
                  </a:ext>
                </a:extLst>
              </p:cNvPr>
              <p:cNvSpPr>
                <a:spLocks noGrp="1"/>
              </p:cNvSpPr>
              <p:nvPr>
                <p:ph idx="1"/>
              </p:nvPr>
            </p:nvSpPr>
            <p:spPr>
              <a:xfrm>
                <a:off x="838200" y="1881963"/>
                <a:ext cx="10515600" cy="4284921"/>
              </a:xfrm>
              <a:ln>
                <a:noFill/>
              </a:ln>
            </p:spPr>
            <p:txBody>
              <a:bodyPr>
                <a:noAutofit/>
              </a:bodyPr>
              <a:lstStyle/>
              <a:p>
                <a:pPr lvl="0"/>
                <a:r>
                  <a:rPr lang="en-US" dirty="0"/>
                  <a:t>Scalar (</a:t>
                </a:r>
                <a14:m>
                  <m:oMath xmlns:m="http://schemas.openxmlformats.org/officeDocument/2006/math">
                    <m:r>
                      <a:rPr lang="en-US" i="1" dirty="0">
                        <a:latin typeface="Cambria Math" panose="02040503050406030204" pitchFamily="18" charset="0"/>
                        <a:ea typeface="Cambria Math" panose="02040503050406030204" pitchFamily="18" charset="0"/>
                      </a:rPr>
                      <m:t>𝜆</m:t>
                    </m:r>
                    <m:r>
                      <a:rPr lang="en-US" i="1" dirty="0">
                        <a:latin typeface="Cambria Math" panose="02040503050406030204" pitchFamily="18" charset="0"/>
                        <a:ea typeface="Cambria Math" panose="02040503050406030204" pitchFamily="18" charset="0"/>
                      </a:rPr>
                      <m:t> </m:t>
                    </m:r>
                  </m:oMath>
                </a14:m>
                <a:r>
                  <a:rPr lang="en-US" dirty="0"/>
                  <a:t>) Options include:</a:t>
                </a:r>
              </a:p>
              <a:p>
                <a:pPr lvl="1"/>
                <a14:m>
                  <m:oMath xmlns:m="http://schemas.openxmlformats.org/officeDocument/2006/math">
                    <m:r>
                      <a:rPr lang="en-US" i="1" dirty="0" smtClean="0">
                        <a:latin typeface="Cambria Math" panose="02040503050406030204" pitchFamily="18" charset="0"/>
                        <a:ea typeface="Cambria Math" panose="02040503050406030204" pitchFamily="18" charset="0"/>
                      </a:rPr>
                      <m:t>𝜆</m:t>
                    </m:r>
                    <m:r>
                      <a:rPr lang="en-US" b="0" i="1" dirty="0" smtClean="0">
                        <a:latin typeface="Cambria Math" panose="02040503050406030204" pitchFamily="18" charset="0"/>
                        <a:ea typeface="Cambria Math" panose="02040503050406030204" pitchFamily="18" charset="0"/>
                      </a:rPr>
                      <m:t>=1 </m:t>
                    </m:r>
                  </m:oMath>
                </a14:m>
                <a:r>
                  <a:rPr lang="en-US" dirty="0"/>
                  <a:t>after normalized module norms</a:t>
                </a:r>
              </a:p>
              <a:p>
                <a:pPr lvl="1"/>
                <a:r>
                  <a:rPr lang="en-US" dirty="0"/>
                  <a:t>choose </a:t>
                </a:r>
                <a14:m>
                  <m:oMath xmlns:m="http://schemas.openxmlformats.org/officeDocument/2006/math">
                    <m:r>
                      <a:rPr lang="en-US" i="1" dirty="0">
                        <a:latin typeface="Cambria Math" panose="02040503050406030204" pitchFamily="18" charset="0"/>
                        <a:ea typeface="Cambria Math" panose="02040503050406030204" pitchFamily="18" charset="0"/>
                      </a:rPr>
                      <m:t>𝜆</m:t>
                    </m:r>
                  </m:oMath>
                </a14:m>
                <a:r>
                  <a:rPr lang="en-US" dirty="0"/>
                  <a:t> using a validation set</a:t>
                </a:r>
              </a:p>
              <a:p>
                <a:pPr lvl="1"/>
                <a:r>
                  <a:rPr lang="en-US" dirty="0"/>
                  <a:t>normalize each module norm by its median or standard deviation before combining.</a:t>
                </a:r>
              </a:p>
              <a:p>
                <a:r>
                  <a:rPr lang="en-US" dirty="0"/>
                  <a:t>A safer initial formulation is:</a:t>
                </a:r>
                <a:endParaRPr lang="en-US" sz="2000" dirty="0"/>
              </a:p>
              <a:p>
                <a:pPr lvl="1"/>
                <a14:m>
                  <m:oMath xmlns:m="http://schemas.openxmlformats.org/officeDocument/2006/math">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𝐺</m:t>
                        </m:r>
                      </m:e>
                      <m:sub>
                        <m:r>
                          <a:rPr lang="en-US" sz="2000" i="1" dirty="0">
                            <a:latin typeface="Cambria Math" panose="02040503050406030204" pitchFamily="18" charset="0"/>
                          </a:rPr>
                          <m:t>𝑖</m:t>
                        </m:r>
                      </m:sub>
                      <m:sup>
                        <m:r>
                          <a:rPr lang="en-US" sz="2000" i="1" dirty="0">
                            <a:latin typeface="Cambria Math" panose="02040503050406030204" pitchFamily="18" charset="0"/>
                          </a:rPr>
                          <m:t>(</m:t>
                        </m:r>
                        <m:r>
                          <a:rPr lang="en-US" sz="2000" b="0" i="1" dirty="0" smtClean="0">
                            <a:latin typeface="Cambria Math" panose="02040503050406030204" pitchFamily="18" charset="0"/>
                          </a:rPr>
                          <m:t>𝐽</m:t>
                        </m:r>
                        <m:r>
                          <a:rPr lang="en-US" sz="2000" i="1" dirty="0">
                            <a:latin typeface="Cambria Math" panose="02040503050406030204" pitchFamily="18" charset="0"/>
                          </a:rPr>
                          <m:t>)</m:t>
                        </m:r>
                      </m:sup>
                    </m:sSubSup>
                    <m:r>
                      <a:rPr lang="en-US" sz="2000" i="1" dirty="0">
                        <a:latin typeface="Cambria Math" panose="02040503050406030204" pitchFamily="18" charset="0"/>
                      </a:rPr>
                      <m:t>=</m:t>
                    </m:r>
                    <m:r>
                      <a:rPr lang="en-US" sz="2000" b="0" i="1" dirty="0" smtClean="0">
                        <a:latin typeface="Cambria Math" panose="02040503050406030204" pitchFamily="18" charset="0"/>
                      </a:rPr>
                      <m:t> </m:t>
                    </m:r>
                    <m:rad>
                      <m:radPr>
                        <m:degHide m:val="on"/>
                        <m:ctrlPr>
                          <a:rPr lang="en-US" sz="2000" b="0" i="1" dirty="0" smtClean="0">
                            <a:latin typeface="Cambria Math" panose="02040503050406030204" pitchFamily="18" charset="0"/>
                          </a:rPr>
                        </m:ctrlPr>
                      </m:radPr>
                      <m:deg/>
                      <m:e>
                        <m:sSup>
                          <m:sSupPr>
                            <m:ctrlPr>
                              <a:rPr lang="en-US" sz="2000" b="0" i="1" dirty="0" smtClean="0">
                                <a:latin typeface="Cambria Math" panose="02040503050406030204" pitchFamily="18" charset="0"/>
                              </a:rPr>
                            </m:ctrlPr>
                          </m:sSupPr>
                          <m:e>
                            <m:r>
                              <a:rPr lang="en-US" sz="2000" b="0" i="1" dirty="0" smtClean="0">
                                <a:latin typeface="Cambria Math" panose="02040503050406030204" pitchFamily="18" charset="0"/>
                              </a:rPr>
                              <m:t>( </m:t>
                            </m:r>
                            <m:f>
                              <m:fPr>
                                <m:ctrlPr>
                                  <a:rPr lang="en-US" sz="2000" i="1" dirty="0">
                                    <a:latin typeface="Cambria Math" panose="02040503050406030204" pitchFamily="18" charset="0"/>
                                  </a:rPr>
                                </m:ctrlPr>
                              </m:fPr>
                              <m:num>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𝐺</m:t>
                                    </m:r>
                                  </m:e>
                                  <m:sub>
                                    <m:r>
                                      <a:rPr lang="en-US" sz="2000" i="1" dirty="0">
                                        <a:latin typeface="Cambria Math" panose="02040503050406030204" pitchFamily="18" charset="0"/>
                                      </a:rPr>
                                      <m:t>𝑖</m:t>
                                    </m:r>
                                  </m:sub>
                                  <m:sup>
                                    <m:d>
                                      <m:dPr>
                                        <m:ctrlPr>
                                          <a:rPr lang="en-US" sz="2000" i="1" dirty="0">
                                            <a:latin typeface="Cambria Math" panose="02040503050406030204" pitchFamily="18" charset="0"/>
                                          </a:rPr>
                                        </m:ctrlPr>
                                      </m:dPr>
                                      <m:e>
                                        <m:r>
                                          <a:rPr lang="en-US" sz="2000" i="1" dirty="0">
                                            <a:latin typeface="Cambria Math" panose="02040503050406030204" pitchFamily="18" charset="0"/>
                                          </a:rPr>
                                          <m:t>𝐿</m:t>
                                        </m:r>
                                      </m:e>
                                    </m:d>
                                  </m:sup>
                                </m:sSubSup>
                              </m:num>
                              <m:den>
                                <m:r>
                                  <a:rPr lang="en-US" sz="2000" b="0" i="1" dirty="0" smtClean="0">
                                    <a:latin typeface="Cambria Math" panose="02040503050406030204" pitchFamily="18" charset="0"/>
                                  </a:rPr>
                                  <m:t>𝑚𝑒𝑑𝑖𝑎𝑛</m:t>
                                </m:r>
                                <m:r>
                                  <a:rPr lang="en-US" sz="2000" b="0" i="1" dirty="0" smtClean="0">
                                    <a:latin typeface="Cambria Math" panose="02040503050406030204" pitchFamily="18" charset="0"/>
                                  </a:rPr>
                                  <m:t> </m:t>
                                </m:r>
                                <m:d>
                                  <m:dPr>
                                    <m:ctrlPr>
                                      <a:rPr lang="en-US" sz="2000" b="0" i="1" dirty="0" smtClean="0">
                                        <a:latin typeface="Cambria Math" panose="02040503050406030204" pitchFamily="18" charset="0"/>
                                      </a:rPr>
                                    </m:ctrlPr>
                                  </m:dPr>
                                  <m:e>
                                    <m:sSup>
                                      <m:sSupPr>
                                        <m:ctrlPr>
                                          <a:rPr lang="en-US" sz="2000" b="0" i="1" dirty="0" smtClean="0">
                                            <a:latin typeface="Cambria Math" panose="02040503050406030204" pitchFamily="18" charset="0"/>
                                          </a:rPr>
                                        </m:ctrlPr>
                                      </m:sSupPr>
                                      <m:e>
                                        <m:r>
                                          <a:rPr lang="en-US" sz="2000" b="0" i="1" dirty="0" smtClean="0">
                                            <a:latin typeface="Cambria Math" panose="02040503050406030204" pitchFamily="18" charset="0"/>
                                          </a:rPr>
                                          <m:t>𝐺</m:t>
                                        </m:r>
                                      </m:e>
                                      <m:sup>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𝐿</m:t>
                                            </m:r>
                                          </m:e>
                                        </m:d>
                                      </m:sup>
                                    </m:sSup>
                                  </m:e>
                                </m:d>
                              </m:den>
                            </m:f>
                            <m:r>
                              <a:rPr lang="en-US" sz="2000" b="0" i="1" dirty="0" smtClean="0">
                                <a:latin typeface="Cambria Math" panose="02040503050406030204" pitchFamily="18" charset="0"/>
                              </a:rPr>
                              <m:t> </m:t>
                            </m:r>
                            <m:r>
                              <a:rPr lang="en-US" sz="2000" i="1" dirty="0">
                                <a:latin typeface="Cambria Math" panose="02040503050406030204" pitchFamily="18" charset="0"/>
                              </a:rPr>
                              <m:t>)</m:t>
                            </m:r>
                          </m:e>
                          <m:sup>
                            <m:r>
                              <a:rPr lang="en-US" sz="2000" b="0" i="1" dirty="0" smtClean="0">
                                <a:latin typeface="Cambria Math" panose="02040503050406030204" pitchFamily="18" charset="0"/>
                              </a:rPr>
                              <m:t>2</m:t>
                            </m:r>
                          </m:sup>
                        </m:sSup>
                        <m:r>
                          <a:rPr lang="en-US" sz="2000" b="0" i="1" dirty="0" smtClean="0">
                            <a:latin typeface="Cambria Math" panose="02040503050406030204" pitchFamily="18" charset="0"/>
                          </a:rPr>
                          <m:t>+ </m:t>
                        </m:r>
                        <m:sSup>
                          <m:sSupPr>
                            <m:ctrlPr>
                              <a:rPr lang="en-US" sz="2000" i="1" dirty="0">
                                <a:latin typeface="Cambria Math" panose="02040503050406030204" pitchFamily="18" charset="0"/>
                              </a:rPr>
                            </m:ctrlPr>
                          </m:sSupPr>
                          <m:e>
                            <m:r>
                              <a:rPr lang="en-US" sz="2000" i="1" dirty="0">
                                <a:latin typeface="Cambria Math" panose="02040503050406030204" pitchFamily="18" charset="0"/>
                              </a:rPr>
                              <m:t>( </m:t>
                            </m:r>
                            <m:f>
                              <m:fPr>
                                <m:ctrlPr>
                                  <a:rPr lang="en-US" sz="2000" i="1" dirty="0">
                                    <a:latin typeface="Cambria Math" panose="02040503050406030204" pitchFamily="18" charset="0"/>
                                  </a:rPr>
                                </m:ctrlPr>
                              </m:fPr>
                              <m:num>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𝐺</m:t>
                                    </m:r>
                                  </m:e>
                                  <m:sub>
                                    <m:r>
                                      <a:rPr lang="en-US" sz="2000" i="1" dirty="0">
                                        <a:latin typeface="Cambria Math" panose="02040503050406030204" pitchFamily="18" charset="0"/>
                                      </a:rPr>
                                      <m:t>𝑖</m:t>
                                    </m:r>
                                  </m:sub>
                                  <m:sup>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𝑃</m:t>
                                        </m:r>
                                      </m:e>
                                    </m:d>
                                  </m:sup>
                                </m:sSubSup>
                              </m:num>
                              <m:den>
                                <m:r>
                                  <a:rPr lang="en-US" sz="2000" i="1" dirty="0">
                                    <a:latin typeface="Cambria Math" panose="02040503050406030204" pitchFamily="18" charset="0"/>
                                  </a:rPr>
                                  <m:t>𝑚𝑒𝑑𝑖𝑎𝑛</m:t>
                                </m:r>
                                <m:r>
                                  <a:rPr lang="en-US" sz="2000" i="1" dirty="0">
                                    <a:latin typeface="Cambria Math" panose="02040503050406030204" pitchFamily="18" charset="0"/>
                                  </a:rPr>
                                  <m:t> </m:t>
                                </m:r>
                                <m:d>
                                  <m:dPr>
                                    <m:ctrlPr>
                                      <a:rPr lang="en-US" sz="2000" i="1" dirty="0">
                                        <a:latin typeface="Cambria Math" panose="02040503050406030204" pitchFamily="18" charset="0"/>
                                      </a:rPr>
                                    </m:ctrlPr>
                                  </m:dPr>
                                  <m:e>
                                    <m:sSup>
                                      <m:sSupPr>
                                        <m:ctrlPr>
                                          <a:rPr lang="en-US" sz="2000" i="1" dirty="0">
                                            <a:latin typeface="Cambria Math" panose="02040503050406030204" pitchFamily="18" charset="0"/>
                                          </a:rPr>
                                        </m:ctrlPr>
                                      </m:sSupPr>
                                      <m:e>
                                        <m:r>
                                          <a:rPr lang="en-US" sz="2000" i="1" dirty="0">
                                            <a:latin typeface="Cambria Math" panose="02040503050406030204" pitchFamily="18" charset="0"/>
                                          </a:rPr>
                                          <m:t>𝐺</m:t>
                                        </m:r>
                                      </m:e>
                                      <m:sup>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𝑃</m:t>
                                            </m:r>
                                          </m:e>
                                        </m:d>
                                      </m:sup>
                                    </m:sSup>
                                  </m:e>
                                </m:d>
                              </m:den>
                            </m:f>
                            <m:r>
                              <a:rPr lang="en-US" sz="2000" i="1" dirty="0">
                                <a:latin typeface="Cambria Math" panose="02040503050406030204" pitchFamily="18" charset="0"/>
                              </a:rPr>
                              <m:t> )</m:t>
                            </m:r>
                          </m:e>
                          <m:sup>
                            <m:r>
                              <a:rPr lang="en-US" sz="2000" i="1" dirty="0">
                                <a:latin typeface="Cambria Math" panose="02040503050406030204" pitchFamily="18" charset="0"/>
                              </a:rPr>
                              <m:t>2</m:t>
                            </m:r>
                          </m:sup>
                        </m:sSup>
                      </m:e>
                    </m:rad>
                  </m:oMath>
                </a14:m>
                <a:r>
                  <a:rPr lang="en-US" sz="2000" dirty="0"/>
                  <a:t>                                      </a:t>
                </a:r>
                <a:endParaRPr lang="en-US" sz="2500" dirty="0"/>
              </a:p>
              <a:p>
                <a:pPr lvl="1"/>
                <a:r>
                  <a:rPr lang="en-US" sz="2500" dirty="0"/>
                  <a:t>Prevents larger parameter group dominating the joint score because of more parameters</a:t>
                </a:r>
                <a:endParaRPr lang="en-US" sz="2000" dirty="0"/>
              </a:p>
            </p:txBody>
          </p:sp>
        </mc:Choice>
        <mc:Fallback xmlns="">
          <p:sp>
            <p:nvSpPr>
              <p:cNvPr id="4" name="Content Placeholder 2">
                <a:extLst>
                  <a:ext uri="{FF2B5EF4-FFF2-40B4-BE49-F238E27FC236}">
                    <a16:creationId xmlns:a16="http://schemas.microsoft.com/office/drawing/2014/main" id="{117117AE-4996-5007-2F3F-9083A9839580}"/>
                  </a:ext>
                </a:extLst>
              </p:cNvPr>
              <p:cNvSpPr>
                <a:spLocks noGrp="1" noRot="1" noChangeAspect="1" noMove="1" noResize="1" noEditPoints="1" noAdjustHandles="1" noChangeArrowheads="1" noChangeShapeType="1" noTextEdit="1"/>
              </p:cNvSpPr>
              <p:nvPr>
                <p:ph idx="1"/>
              </p:nvPr>
            </p:nvSpPr>
            <p:spPr>
              <a:xfrm>
                <a:off x="838200" y="1881963"/>
                <a:ext cx="10515600" cy="4284921"/>
              </a:xfrm>
              <a:blipFill>
                <a:blip r:embed="rId3"/>
                <a:stretch>
                  <a:fillRect l="-1086" t="-2367" r="-121"/>
                </a:stretch>
              </a:blipFill>
              <a:ln>
                <a:noFill/>
              </a:ln>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0592F53A-A307-A03C-7167-470FA237BA26}"/>
              </a:ext>
            </a:extLst>
          </p:cNvPr>
          <p:cNvCxnSpPr>
            <a:cxnSpLocks/>
          </p:cNvCxnSpPr>
          <p:nvPr/>
        </p:nvCxnSpPr>
        <p:spPr>
          <a:xfrm>
            <a:off x="1586204" y="4698795"/>
            <a:ext cx="18241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047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76301-C342-D96B-24A2-A7CA8675D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1CDFED-D833-3FB4-47CB-41A5259A8547}"/>
              </a:ext>
            </a:extLst>
          </p:cNvPr>
          <p:cNvSpPr>
            <a:spLocks noGrp="1"/>
          </p:cNvSpPr>
          <p:nvPr>
            <p:ph type="title"/>
          </p:nvPr>
        </p:nvSpPr>
        <p:spPr/>
        <p:txBody>
          <a:bodyPr/>
          <a:lstStyle/>
          <a:p>
            <a:r>
              <a:rPr lang="en-US" dirty="0"/>
              <a:t>VLM extension: Methodology</a:t>
            </a:r>
            <a:br>
              <a:rPr lang="en-US" dirty="0"/>
            </a:br>
            <a:r>
              <a:rPr lang="en-US" sz="2000" dirty="0"/>
              <a:t>VLM-specific diagnostic</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47171682-A91C-E993-BDBD-09CA60025EE8}"/>
                  </a:ext>
                </a:extLst>
              </p:cNvPr>
              <p:cNvSpPr>
                <a:spLocks noGrp="1"/>
              </p:cNvSpPr>
              <p:nvPr>
                <p:ph idx="1"/>
              </p:nvPr>
            </p:nvSpPr>
            <p:spPr>
              <a:xfrm>
                <a:off x="838200" y="1881963"/>
                <a:ext cx="10515600" cy="4284921"/>
              </a:xfrm>
              <a:ln>
                <a:noFill/>
              </a:ln>
            </p:spPr>
            <p:txBody>
              <a:bodyPr>
                <a:noAutofit/>
              </a:bodyPr>
              <a:lstStyle/>
              <a:p>
                <a:r>
                  <a:rPr lang="en-US" dirty="0"/>
                  <a:t>Log the following for every sample:</a:t>
                </a:r>
              </a:p>
              <a:p>
                <a:pPr lvl="1"/>
                <a:r>
                  <a:rPr lang="en-US" dirty="0"/>
                  <a:t>target-response token count</a:t>
                </a:r>
              </a:p>
              <a:p>
                <a:pPr lvl="1"/>
                <a:r>
                  <a:rPr lang="en-US" dirty="0"/>
                  <a:t>prompt-token count</a:t>
                </a:r>
              </a:p>
              <a:p>
                <a:pPr lvl="1"/>
                <a:r>
                  <a:rPr lang="en-US" dirty="0"/>
                  <a:t>image-token count</a:t>
                </a:r>
              </a:p>
              <a:p>
                <a:pPr lvl="1"/>
                <a:r>
                  <a:rPr lang="en-US" dirty="0"/>
                  <a:t>image resolution</a:t>
                </a:r>
              </a:p>
              <a:p>
                <a:pPr lvl="1"/>
                <a:r>
                  <a:rPr lang="en-US" dirty="0"/>
                  <a:t>mean response-token loss</a:t>
                </a:r>
              </a:p>
              <a:p>
                <a:pPr lvl="1"/>
                <a14:m>
                  <m:oMath xmlns:m="http://schemas.openxmlformats.org/officeDocument/2006/math">
                    <m:sSubSup>
                      <m:sSubSupPr>
                        <m:ctrlPr>
                          <a:rPr lang="en-US" i="1" dirty="0">
                            <a:latin typeface="Cambria Math" panose="02040503050406030204" pitchFamily="18" charset="0"/>
                          </a:rPr>
                        </m:ctrlPr>
                      </m:sSubSupPr>
                      <m:e>
                        <m:r>
                          <a:rPr lang="en-US" i="1" dirty="0">
                            <a:latin typeface="Cambria Math" panose="02040503050406030204" pitchFamily="18" charset="0"/>
                          </a:rPr>
                          <m:t>𝐺</m:t>
                        </m:r>
                      </m:e>
                      <m:sub>
                        <m:r>
                          <a:rPr lang="en-US" i="1" dirty="0">
                            <a:latin typeface="Cambria Math" panose="02040503050406030204" pitchFamily="18" charset="0"/>
                          </a:rPr>
                          <m:t>𝑖</m:t>
                        </m:r>
                      </m:sub>
                      <m:sup>
                        <m:r>
                          <a:rPr lang="en-US" i="1" dirty="0">
                            <a:latin typeface="Cambria Math" panose="02040503050406030204" pitchFamily="18" charset="0"/>
                          </a:rPr>
                          <m:t>(</m:t>
                        </m:r>
                        <m:r>
                          <a:rPr lang="en-US" i="1" dirty="0">
                            <a:latin typeface="Cambria Math" panose="02040503050406030204" pitchFamily="18" charset="0"/>
                          </a:rPr>
                          <m:t>𝐿</m:t>
                        </m:r>
                        <m:r>
                          <a:rPr lang="en-US" i="1" dirty="0">
                            <a:latin typeface="Cambria Math" panose="02040503050406030204" pitchFamily="18" charset="0"/>
                          </a:rPr>
                          <m:t>)</m:t>
                        </m:r>
                      </m:sup>
                    </m:sSubSup>
                    <m:r>
                      <a:rPr lang="en-US" i="1" dirty="0">
                        <a:latin typeface="Cambria Math" panose="02040503050406030204" pitchFamily="18" charset="0"/>
                      </a:rPr>
                      <m:t> </m:t>
                    </m:r>
                  </m:oMath>
                </a14:m>
                <a:endParaRPr lang="en-US" dirty="0"/>
              </a:p>
              <a:p>
                <a:pPr lvl="1"/>
                <a14:m>
                  <m:oMath xmlns:m="http://schemas.openxmlformats.org/officeDocument/2006/math">
                    <m:sSubSup>
                      <m:sSubSupPr>
                        <m:ctrlPr>
                          <a:rPr lang="en-US" i="1" dirty="0">
                            <a:latin typeface="Cambria Math" panose="02040503050406030204" pitchFamily="18" charset="0"/>
                          </a:rPr>
                        </m:ctrlPr>
                      </m:sSubSupPr>
                      <m:e>
                        <m:r>
                          <a:rPr lang="en-US" i="1" dirty="0">
                            <a:latin typeface="Cambria Math" panose="02040503050406030204" pitchFamily="18" charset="0"/>
                          </a:rPr>
                          <m:t>𝐺</m:t>
                        </m:r>
                      </m:e>
                      <m:sub>
                        <m:r>
                          <a:rPr lang="en-US" i="1" dirty="0">
                            <a:latin typeface="Cambria Math" panose="02040503050406030204" pitchFamily="18" charset="0"/>
                          </a:rPr>
                          <m:t>𝑖</m:t>
                        </m:r>
                      </m:sub>
                      <m:sup>
                        <m:r>
                          <a:rPr lang="en-US" i="1" dirty="0">
                            <a:latin typeface="Cambria Math" panose="02040503050406030204" pitchFamily="18" charset="0"/>
                          </a:rPr>
                          <m:t>(</m:t>
                        </m:r>
                        <m:r>
                          <a:rPr lang="en-US" b="0" i="1" dirty="0" smtClean="0">
                            <a:latin typeface="Cambria Math" panose="02040503050406030204" pitchFamily="18" charset="0"/>
                          </a:rPr>
                          <m:t>𝑃</m:t>
                        </m:r>
                        <m:r>
                          <a:rPr lang="en-US" i="1" dirty="0">
                            <a:latin typeface="Cambria Math" panose="02040503050406030204" pitchFamily="18" charset="0"/>
                          </a:rPr>
                          <m:t>)</m:t>
                        </m:r>
                      </m:sup>
                    </m:sSubSup>
                    <m:r>
                      <a:rPr lang="en-US" i="1" dirty="0">
                        <a:latin typeface="Cambria Math" panose="02040503050406030204" pitchFamily="18" charset="0"/>
                      </a:rPr>
                      <m:t> </m:t>
                    </m:r>
                  </m:oMath>
                </a14:m>
                <a:endParaRPr lang="en-US" dirty="0"/>
              </a:p>
              <a:p>
                <a:pPr lvl="1"/>
                <a:r>
                  <a:rPr lang="en-US" dirty="0"/>
                  <a:t>combined gradient score</a:t>
                </a:r>
              </a:p>
            </p:txBody>
          </p:sp>
        </mc:Choice>
        <mc:Fallback xmlns="">
          <p:sp>
            <p:nvSpPr>
              <p:cNvPr id="4" name="Content Placeholder 2">
                <a:extLst>
                  <a:ext uri="{FF2B5EF4-FFF2-40B4-BE49-F238E27FC236}">
                    <a16:creationId xmlns:a16="http://schemas.microsoft.com/office/drawing/2014/main" id="{47171682-A91C-E993-BDBD-09CA60025EE8}"/>
                  </a:ext>
                </a:extLst>
              </p:cNvPr>
              <p:cNvSpPr>
                <a:spLocks noGrp="1" noRot="1" noChangeAspect="1" noMove="1" noResize="1" noEditPoints="1" noAdjustHandles="1" noChangeArrowheads="1" noChangeShapeType="1" noTextEdit="1"/>
              </p:cNvSpPr>
              <p:nvPr>
                <p:ph idx="1"/>
              </p:nvPr>
            </p:nvSpPr>
            <p:spPr>
              <a:xfrm>
                <a:off x="838200" y="1881963"/>
                <a:ext cx="10515600" cy="4284921"/>
              </a:xfrm>
              <a:blipFill>
                <a:blip r:embed="rId3"/>
                <a:stretch>
                  <a:fillRect l="-1086" t="-2367"/>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438858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91F86-4EC1-7ABB-DB86-99D196F0D1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5B6B9C-35FB-B7C2-5052-17C3DAF23DCD}"/>
              </a:ext>
            </a:extLst>
          </p:cNvPr>
          <p:cNvSpPr>
            <a:spLocks noGrp="1"/>
          </p:cNvSpPr>
          <p:nvPr>
            <p:ph type="title"/>
          </p:nvPr>
        </p:nvSpPr>
        <p:spPr/>
        <p:txBody>
          <a:bodyPr/>
          <a:lstStyle/>
          <a:p>
            <a:r>
              <a:rPr lang="en-US" dirty="0"/>
              <a:t>VLM extension: Methodology</a:t>
            </a:r>
            <a:br>
              <a:rPr lang="en-US" dirty="0"/>
            </a:br>
            <a:r>
              <a:rPr lang="en-US" sz="2000" dirty="0"/>
              <a:t>Language </a:t>
            </a:r>
            <a:r>
              <a:rPr lang="en-US" sz="2000" dirty="0" err="1"/>
              <a:t>LoRA</a:t>
            </a:r>
            <a:r>
              <a:rPr lang="en-US" sz="2000" dirty="0"/>
              <a:t>, Projector, Joint Multimodal Tension, Length normalization </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B6285845-0A2A-C172-1E17-D250F9B3076C}"/>
                  </a:ext>
                </a:extLst>
              </p:cNvPr>
              <p:cNvSpPr>
                <a:spLocks noGrp="1"/>
              </p:cNvSpPr>
              <p:nvPr>
                <p:ph idx="1"/>
              </p:nvPr>
            </p:nvSpPr>
            <p:spPr>
              <a:xfrm>
                <a:off x="838200" y="1616149"/>
                <a:ext cx="10515600" cy="4976037"/>
              </a:xfrm>
              <a:ln>
                <a:noFill/>
              </a:ln>
            </p:spPr>
            <p:txBody>
              <a:bodyPr>
                <a:noAutofit/>
              </a:bodyPr>
              <a:lstStyle/>
              <a:p>
                <a:pPr lvl="1"/>
                <a14:m>
                  <m:oMath xmlns:m="http://schemas.openxmlformats.org/officeDocument/2006/math">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𝐺</m:t>
                        </m:r>
                      </m:e>
                      <m:sub>
                        <m:r>
                          <a:rPr lang="en-US" sz="2000" b="0" i="1" dirty="0" smtClean="0">
                            <a:latin typeface="Cambria Math" panose="02040503050406030204" pitchFamily="18" charset="0"/>
                          </a:rPr>
                          <m:t>𝑖</m:t>
                        </m:r>
                      </m:sub>
                      <m:sup>
                        <m:r>
                          <a:rPr lang="en-US" sz="2000" b="0" i="1" dirty="0" smtClean="0">
                            <a:latin typeface="Cambria Math" panose="02040503050406030204" pitchFamily="18" charset="0"/>
                          </a:rPr>
                          <m:t>(</m:t>
                        </m:r>
                        <m:r>
                          <a:rPr lang="en-US" sz="2000" b="0" i="1" dirty="0" smtClean="0">
                            <a:latin typeface="Cambria Math" panose="02040503050406030204" pitchFamily="18" charset="0"/>
                          </a:rPr>
                          <m:t>𝐿</m:t>
                        </m:r>
                        <m:r>
                          <a:rPr lang="en-US" sz="2000" b="0" i="1" dirty="0" smtClean="0">
                            <a:latin typeface="Cambria Math" panose="02040503050406030204" pitchFamily="18" charset="0"/>
                          </a:rPr>
                          <m:t>)</m:t>
                        </m:r>
                      </m:sup>
                    </m:sSubSup>
                    <m:r>
                      <a:rPr lang="en-US" sz="2000" b="0" i="1" dirty="0" smtClean="0">
                        <a:latin typeface="Cambria Math" panose="02040503050406030204" pitchFamily="18" charset="0"/>
                      </a:rPr>
                      <m:t>=</m:t>
                    </m:r>
                    <m:rad>
                      <m:radPr>
                        <m:degHide m:val="on"/>
                        <m:ctrlPr>
                          <a:rPr lang="en-US" sz="2000" b="0" i="1" dirty="0" smtClean="0">
                            <a:latin typeface="Cambria Math" panose="02040503050406030204" pitchFamily="18" charset="0"/>
                          </a:rPr>
                        </m:ctrlPr>
                      </m:radPr>
                      <m:deg/>
                      <m:e>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𝐺</m:t>
                            </m:r>
                          </m:e>
                          <m:sub>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2</m:t>
                            </m:r>
                          </m:sup>
                        </m:sSubSup>
                        <m:r>
                          <a:rPr lang="en-US" sz="2000" b="0" i="1" dirty="0" smtClean="0">
                            <a:latin typeface="Cambria Math" panose="02040503050406030204" pitchFamily="18" charset="0"/>
                          </a:rPr>
                          <m:t>+</m:t>
                        </m:r>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𝐺</m:t>
                            </m:r>
                          </m:e>
                          <m:sub>
                            <m:r>
                              <a:rPr lang="en-US" sz="2000" b="0" i="1" dirty="0" smtClean="0">
                                <a:latin typeface="Cambria Math" panose="02040503050406030204" pitchFamily="18" charset="0"/>
                              </a:rPr>
                              <m:t>2</m:t>
                            </m:r>
                          </m:sub>
                          <m:sup>
                            <m:r>
                              <a:rPr lang="en-US" sz="2000" i="1" dirty="0">
                                <a:latin typeface="Cambria Math" panose="02040503050406030204" pitchFamily="18" charset="0"/>
                              </a:rPr>
                              <m:t>2</m:t>
                            </m:r>
                          </m:sup>
                        </m:sSubSup>
                        <m:r>
                          <a:rPr lang="en-US" sz="2000" b="0" i="1" dirty="0" smtClean="0">
                            <a:latin typeface="Cambria Math" panose="02040503050406030204" pitchFamily="18" charset="0"/>
                          </a:rPr>
                          <m:t>+…+</m:t>
                        </m:r>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𝐺</m:t>
                            </m:r>
                          </m:e>
                          <m:sub>
                            <m:r>
                              <a:rPr lang="en-US" sz="2000" b="0" i="1" dirty="0" smtClean="0">
                                <a:latin typeface="Cambria Math" panose="02040503050406030204" pitchFamily="18" charset="0"/>
                              </a:rPr>
                              <m:t>𝑘</m:t>
                            </m:r>
                          </m:sub>
                          <m:sup>
                            <m:r>
                              <a:rPr lang="en-US" sz="2000" i="1" dirty="0">
                                <a:latin typeface="Cambria Math" panose="02040503050406030204" pitchFamily="18" charset="0"/>
                              </a:rPr>
                              <m:t>2</m:t>
                            </m:r>
                          </m:sup>
                        </m:sSubSup>
                      </m:e>
                    </m:rad>
                    <m:r>
                      <a:rPr lang="en-US" sz="2000" b="0" i="1" dirty="0" smtClean="0">
                        <a:latin typeface="Cambria Math" panose="02040503050406030204" pitchFamily="18" charset="0"/>
                      </a:rPr>
                      <m:t> </m:t>
                    </m:r>
                  </m:oMath>
                </a14:m>
                <a:endParaRPr lang="en-US" sz="2000" b="0" i="1" dirty="0">
                  <a:latin typeface="Cambria Math" panose="02040503050406030204" pitchFamily="18" charset="0"/>
                </a:endParaRPr>
              </a:p>
              <a:p>
                <a:pPr lvl="2"/>
                <a:r>
                  <a:rPr lang="en-US" dirty="0"/>
                  <a:t>This is the L2 norm (magnitude). It gives one single number showing how hard the language decoder is being pushed.</a:t>
                </a:r>
              </a:p>
              <a:p>
                <a:pPr lvl="1"/>
                <a14:m>
                  <m:oMath xmlns:m="http://schemas.openxmlformats.org/officeDocument/2006/math">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𝐺</m:t>
                        </m:r>
                      </m:e>
                      <m:sub>
                        <m:r>
                          <a:rPr lang="en-US" sz="2000" i="1" dirty="0">
                            <a:latin typeface="Cambria Math" panose="02040503050406030204" pitchFamily="18" charset="0"/>
                          </a:rPr>
                          <m:t>𝑖</m:t>
                        </m:r>
                      </m:sub>
                      <m:sup>
                        <m:r>
                          <a:rPr lang="en-US" sz="2000" i="1" dirty="0">
                            <a:latin typeface="Cambria Math" panose="02040503050406030204" pitchFamily="18" charset="0"/>
                          </a:rPr>
                          <m:t>(</m:t>
                        </m:r>
                        <m:r>
                          <a:rPr lang="en-US" sz="2000" i="1" dirty="0">
                            <a:latin typeface="Cambria Math" panose="02040503050406030204" pitchFamily="18" charset="0"/>
                          </a:rPr>
                          <m:t>𝑃</m:t>
                        </m:r>
                        <m:r>
                          <a:rPr lang="en-US" sz="2000" i="1" dirty="0">
                            <a:latin typeface="Cambria Math" panose="02040503050406030204" pitchFamily="18" charset="0"/>
                          </a:rPr>
                          <m:t>)</m:t>
                        </m:r>
                      </m:sup>
                    </m:sSubSup>
                    <m:r>
                      <a:rPr lang="en-US" sz="2000" i="1" dirty="0">
                        <a:latin typeface="Cambria Math" panose="02040503050406030204" pitchFamily="18" charset="0"/>
                      </a:rPr>
                      <m:t>=</m:t>
                    </m:r>
                    <m:rad>
                      <m:radPr>
                        <m:degHide m:val="on"/>
                        <m:ctrlPr>
                          <a:rPr lang="en-US" sz="2000" i="1" dirty="0">
                            <a:latin typeface="Cambria Math" panose="02040503050406030204" pitchFamily="18" charset="0"/>
                          </a:rPr>
                        </m:ctrlPr>
                      </m:radPr>
                      <m:deg/>
                      <m:e>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𝐺</m:t>
                            </m:r>
                          </m:e>
                          <m:sub>
                            <m:r>
                              <a:rPr lang="en-US" sz="2000" i="1" dirty="0">
                                <a:latin typeface="Cambria Math" panose="02040503050406030204" pitchFamily="18" charset="0"/>
                              </a:rPr>
                              <m:t>1</m:t>
                            </m:r>
                          </m:sub>
                          <m:sup>
                            <m:r>
                              <a:rPr lang="en-US" sz="2000" i="1" dirty="0">
                                <a:latin typeface="Cambria Math" panose="02040503050406030204" pitchFamily="18" charset="0"/>
                              </a:rPr>
                              <m:t>2</m:t>
                            </m:r>
                          </m:sup>
                        </m:sSubSup>
                        <m:r>
                          <a:rPr lang="en-US" sz="2000" i="1" dirty="0">
                            <a:latin typeface="Cambria Math" panose="02040503050406030204" pitchFamily="18" charset="0"/>
                          </a:rPr>
                          <m:t>+</m:t>
                        </m:r>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𝐺</m:t>
                            </m:r>
                          </m:e>
                          <m:sub>
                            <m:r>
                              <a:rPr lang="en-US" sz="2000" i="1" dirty="0">
                                <a:latin typeface="Cambria Math" panose="02040503050406030204" pitchFamily="18" charset="0"/>
                              </a:rPr>
                              <m:t>2</m:t>
                            </m:r>
                          </m:sub>
                          <m:sup>
                            <m:r>
                              <a:rPr lang="en-US" sz="2000" i="1" dirty="0">
                                <a:latin typeface="Cambria Math" panose="02040503050406030204" pitchFamily="18" charset="0"/>
                              </a:rPr>
                              <m:t>2</m:t>
                            </m:r>
                          </m:sup>
                        </m:sSubSup>
                        <m:r>
                          <a:rPr lang="en-US" sz="2000" i="1" dirty="0">
                            <a:latin typeface="Cambria Math" panose="02040503050406030204" pitchFamily="18" charset="0"/>
                          </a:rPr>
                          <m:t>+…+</m:t>
                        </m:r>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𝐺</m:t>
                            </m:r>
                          </m:e>
                          <m:sub>
                            <m:r>
                              <a:rPr lang="en-US" sz="2000" i="1" dirty="0">
                                <a:latin typeface="Cambria Math" panose="02040503050406030204" pitchFamily="18" charset="0"/>
                              </a:rPr>
                              <m:t>𝑚</m:t>
                            </m:r>
                          </m:sub>
                          <m:sup>
                            <m:r>
                              <a:rPr lang="en-US" sz="2000" i="1" dirty="0">
                                <a:latin typeface="Cambria Math" panose="02040503050406030204" pitchFamily="18" charset="0"/>
                              </a:rPr>
                              <m:t>2</m:t>
                            </m:r>
                          </m:sup>
                        </m:sSubSup>
                      </m:e>
                    </m:rad>
                    <m:r>
                      <a:rPr lang="en-US" sz="2000" i="1" dirty="0">
                        <a:latin typeface="Cambria Math" panose="02040503050406030204" pitchFamily="18" charset="0"/>
                      </a:rPr>
                      <m:t> </m:t>
                    </m:r>
                  </m:oMath>
                </a14:m>
                <a:endParaRPr lang="en-US" sz="2000" i="1" dirty="0">
                  <a:latin typeface="Cambria Math" panose="02040503050406030204" pitchFamily="18" charset="0"/>
                </a:endParaRPr>
              </a:p>
              <a:p>
                <a:pPr lvl="2"/>
                <a:r>
                  <a:rPr lang="en-US" dirty="0"/>
                  <a:t>Shows how hard the visual-to-language bridge is being pushed by this image. </a:t>
                </a:r>
                <a:r>
                  <a:rPr lang="en-US" sz="1600" i="1" dirty="0">
                    <a:latin typeface="Cambria Math" panose="02040503050406030204" pitchFamily="18" charset="0"/>
                  </a:rPr>
                  <a:t>	</a:t>
                </a:r>
                <a:r>
                  <a:rPr lang="en-US" dirty="0"/>
                  <a:t> </a:t>
                </a:r>
              </a:p>
              <a:p>
                <a:pPr lvl="1"/>
                <a14:m>
                  <m:oMath xmlns:m="http://schemas.openxmlformats.org/officeDocument/2006/math">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𝐺</m:t>
                        </m:r>
                      </m:e>
                      <m:sub>
                        <m:r>
                          <a:rPr lang="en-US" sz="2000" i="1" dirty="0">
                            <a:latin typeface="Cambria Math" panose="02040503050406030204" pitchFamily="18" charset="0"/>
                          </a:rPr>
                          <m:t>𝑖</m:t>
                        </m:r>
                      </m:sub>
                      <m:sup>
                        <m:r>
                          <a:rPr lang="en-US" sz="2000" i="1" dirty="0">
                            <a:latin typeface="Cambria Math" panose="02040503050406030204" pitchFamily="18" charset="0"/>
                          </a:rPr>
                          <m:t>(</m:t>
                        </m:r>
                        <m:r>
                          <a:rPr lang="en-US" sz="2000" b="0" i="1" dirty="0" smtClean="0">
                            <a:latin typeface="Cambria Math" panose="02040503050406030204" pitchFamily="18" charset="0"/>
                          </a:rPr>
                          <m:t>𝐽</m:t>
                        </m:r>
                        <m:r>
                          <a:rPr lang="en-US" sz="2000" i="1" dirty="0">
                            <a:latin typeface="Cambria Math" panose="02040503050406030204" pitchFamily="18" charset="0"/>
                          </a:rPr>
                          <m:t>)</m:t>
                        </m:r>
                      </m:sup>
                    </m:sSubSup>
                    <m:r>
                      <a:rPr lang="en-US" sz="2000" i="1" dirty="0">
                        <a:latin typeface="Cambria Math" panose="02040503050406030204" pitchFamily="18" charset="0"/>
                      </a:rPr>
                      <m:t>=</m:t>
                    </m:r>
                    <m:rad>
                      <m:radPr>
                        <m:degHide m:val="on"/>
                        <m:ctrlPr>
                          <a:rPr lang="en-US" sz="2000" i="1" dirty="0">
                            <a:latin typeface="Cambria Math" panose="02040503050406030204" pitchFamily="18" charset="0"/>
                          </a:rPr>
                        </m:ctrlPr>
                      </m:radPr>
                      <m:deg/>
                      <m:e>
                        <m:sSup>
                          <m:sSupPr>
                            <m:ctrlPr>
                              <a:rPr lang="en-US" sz="2000" i="1" dirty="0">
                                <a:latin typeface="Cambria Math" panose="02040503050406030204" pitchFamily="18" charset="0"/>
                              </a:rPr>
                            </m:ctrlPr>
                          </m:sSupPr>
                          <m:e>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𝐺</m:t>
                                </m:r>
                              </m:e>
                              <m:sub>
                                <m:r>
                                  <a:rPr lang="en-US" sz="2000" i="1" dirty="0">
                                    <a:latin typeface="Cambria Math" panose="02040503050406030204" pitchFamily="18" charset="0"/>
                                  </a:rPr>
                                  <m:t>𝑖</m:t>
                                </m:r>
                              </m:sub>
                              <m:sup>
                                <m:r>
                                  <a:rPr lang="en-US" sz="2000" i="1" dirty="0">
                                    <a:latin typeface="Cambria Math" panose="02040503050406030204" pitchFamily="18" charset="0"/>
                                  </a:rPr>
                                  <m:t>(</m:t>
                                </m:r>
                                <m:r>
                                  <a:rPr lang="en-US" sz="2000" i="1" dirty="0">
                                    <a:latin typeface="Cambria Math" panose="02040503050406030204" pitchFamily="18" charset="0"/>
                                  </a:rPr>
                                  <m:t>𝐿</m:t>
                                </m:r>
                                <m:r>
                                  <a:rPr lang="en-US" sz="2000" i="1" dirty="0">
                                    <a:latin typeface="Cambria Math" panose="02040503050406030204" pitchFamily="18" charset="0"/>
                                  </a:rPr>
                                  <m:t>)</m:t>
                                </m:r>
                              </m:sup>
                            </m:sSubSup>
                          </m:e>
                          <m:sup>
                            <m:r>
                              <a:rPr lang="en-US" sz="2000" b="0" i="1" dirty="0" smtClean="0">
                                <a:latin typeface="Cambria Math" panose="02040503050406030204" pitchFamily="18" charset="0"/>
                              </a:rPr>
                              <m:t>2</m:t>
                            </m:r>
                          </m:sup>
                        </m:sSup>
                        <m:r>
                          <a:rPr lang="en-US" sz="2000" i="1" dirty="0">
                            <a:latin typeface="Cambria Math" panose="02040503050406030204" pitchFamily="18" charset="0"/>
                          </a:rPr>
                          <m:t>+</m:t>
                        </m:r>
                        <m:sSup>
                          <m:sSupPr>
                            <m:ctrlPr>
                              <a:rPr lang="en-US" sz="2000" i="1" dirty="0" smtClean="0">
                                <a:latin typeface="Cambria Math" panose="02040503050406030204" pitchFamily="18" charset="0"/>
                                <a:ea typeface="Cambria Math" panose="02040503050406030204" pitchFamily="18" charset="0"/>
                              </a:rPr>
                            </m:ctrlPr>
                          </m:sSupPr>
                          <m:e>
                            <m:r>
                              <a:rPr lang="en-US" sz="2000" i="1" dirty="0" smtClean="0">
                                <a:latin typeface="Cambria Math" panose="02040503050406030204" pitchFamily="18" charset="0"/>
                                <a:ea typeface="Cambria Math" panose="02040503050406030204" pitchFamily="18" charset="0"/>
                              </a:rPr>
                              <m:t>𝜆</m:t>
                            </m:r>
                            <m:r>
                              <a:rPr lang="en-US" sz="2000" b="0" i="1" dirty="0" smtClean="0">
                                <a:latin typeface="Cambria Math" panose="02040503050406030204" pitchFamily="18" charset="0"/>
                                <a:ea typeface="Cambria Math" panose="02040503050406030204" pitchFamily="18" charset="0"/>
                              </a:rPr>
                              <m:t>. </m:t>
                            </m:r>
                            <m:sSubSup>
                              <m:sSubSupPr>
                                <m:ctrlPr>
                                  <a:rPr lang="en-US" sz="2000" i="1" dirty="0">
                                    <a:latin typeface="Cambria Math" panose="02040503050406030204" pitchFamily="18" charset="0"/>
                                  </a:rPr>
                                </m:ctrlPr>
                              </m:sSubSupPr>
                              <m:e>
                                <m:r>
                                  <a:rPr lang="en-US" sz="2000" i="1" dirty="0">
                                    <a:latin typeface="Cambria Math" panose="02040503050406030204" pitchFamily="18" charset="0"/>
                                  </a:rPr>
                                  <m:t>𝐺</m:t>
                                </m:r>
                              </m:e>
                              <m:sub>
                                <m:r>
                                  <a:rPr lang="en-US" sz="2000" i="1" dirty="0">
                                    <a:latin typeface="Cambria Math" panose="02040503050406030204" pitchFamily="18" charset="0"/>
                                  </a:rPr>
                                  <m:t>𝑖</m:t>
                                </m:r>
                              </m:sub>
                              <m:sup>
                                <m:r>
                                  <a:rPr lang="en-US" sz="2000" i="1" dirty="0">
                                    <a:latin typeface="Cambria Math" panose="02040503050406030204" pitchFamily="18" charset="0"/>
                                  </a:rPr>
                                  <m:t>(</m:t>
                                </m:r>
                                <m:r>
                                  <a:rPr lang="en-US" sz="2000" b="0" i="1" dirty="0" smtClean="0">
                                    <a:latin typeface="Cambria Math" panose="02040503050406030204" pitchFamily="18" charset="0"/>
                                  </a:rPr>
                                  <m:t>𝑃</m:t>
                                </m:r>
                                <m:r>
                                  <a:rPr lang="en-US" sz="2000" i="1" dirty="0">
                                    <a:latin typeface="Cambria Math" panose="02040503050406030204" pitchFamily="18" charset="0"/>
                                  </a:rPr>
                                  <m:t>)</m:t>
                                </m:r>
                              </m:sup>
                            </m:sSubSup>
                          </m:e>
                          <m:sup>
                            <m:r>
                              <a:rPr lang="en-US" sz="2000" i="1" dirty="0">
                                <a:latin typeface="Cambria Math" panose="02040503050406030204" pitchFamily="18" charset="0"/>
                              </a:rPr>
                              <m:t>2</m:t>
                            </m:r>
                          </m:sup>
                        </m:sSup>
                      </m:e>
                    </m:rad>
                    <m:r>
                      <a:rPr lang="en-US" sz="2000" i="1" dirty="0">
                        <a:latin typeface="Cambria Math" panose="02040503050406030204" pitchFamily="18" charset="0"/>
                      </a:rPr>
                      <m:t> </m:t>
                    </m:r>
                  </m:oMath>
                </a14:m>
                <a:endParaRPr lang="en-US" sz="2000" i="1" dirty="0">
                  <a:latin typeface="Cambria Math" panose="02040503050406030204" pitchFamily="18" charset="0"/>
                </a:endParaRPr>
              </a:p>
              <a:p>
                <a:pPr lvl="2"/>
                <a:r>
                  <a:rPr lang="en-US" dirty="0"/>
                  <a:t>combining both tensions into one overall VLM score. </a:t>
                </a:r>
                <a:r>
                  <a:rPr lang="en-US" sz="1600" i="1" dirty="0">
                    <a:latin typeface="Cambria Math" panose="02040503050406030204" pitchFamily="18" charset="0"/>
                  </a:rPr>
                  <a:t>	</a:t>
                </a:r>
              </a:p>
              <a:p>
                <a:pPr lvl="0"/>
                <a14:m>
                  <m:oMath xmlns:m="http://schemas.openxmlformats.org/officeDocument/2006/math">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𝑁𝑜𝑟𝑚𝑎𝑙𝑖𝑧𝑒𝑑</m:t>
                        </m:r>
                        <m:r>
                          <a:rPr lang="en-US" sz="2200" b="0" i="1" dirty="0" smtClean="0">
                            <a:latin typeface="Cambria Math" panose="02040503050406030204" pitchFamily="18" charset="0"/>
                          </a:rPr>
                          <m:t> </m:t>
                        </m:r>
                        <m:r>
                          <a:rPr lang="en-US" sz="2200" b="0" i="1" dirty="0" smtClean="0">
                            <a:latin typeface="Cambria Math" panose="02040503050406030204" pitchFamily="18" charset="0"/>
                          </a:rPr>
                          <m:t>𝐺</m:t>
                        </m:r>
                      </m:e>
                      <m:sub>
                        <m:r>
                          <a:rPr lang="en-US" sz="2200" b="0" i="1" dirty="0" smtClean="0">
                            <a:latin typeface="Cambria Math" panose="02040503050406030204" pitchFamily="18" charset="0"/>
                          </a:rPr>
                          <m:t>𝑖</m:t>
                        </m:r>
                      </m:sub>
                    </m:sSub>
                    <m:r>
                      <a:rPr lang="en-US" sz="2200" b="0" i="1" dirty="0" smtClean="0">
                        <a:latin typeface="Cambria Math" panose="02040503050406030204" pitchFamily="18" charset="0"/>
                      </a:rPr>
                      <m:t>= </m:t>
                    </m:r>
                    <m:f>
                      <m:fPr>
                        <m:ctrlPr>
                          <a:rPr lang="en-US" sz="2200" i="1" dirty="0">
                            <a:latin typeface="Cambria Math" panose="02040503050406030204" pitchFamily="18" charset="0"/>
                          </a:rPr>
                        </m:ctrlPr>
                      </m:fPr>
                      <m:num>
                        <m:sSubSup>
                          <m:sSubSupPr>
                            <m:ctrlPr>
                              <a:rPr lang="en-US" sz="2200" i="1" dirty="0">
                                <a:latin typeface="Cambria Math" panose="02040503050406030204" pitchFamily="18" charset="0"/>
                              </a:rPr>
                            </m:ctrlPr>
                          </m:sSubSupPr>
                          <m:e>
                            <m:r>
                              <a:rPr lang="en-US" sz="2200" i="1" dirty="0">
                                <a:latin typeface="Cambria Math" panose="02040503050406030204" pitchFamily="18" charset="0"/>
                              </a:rPr>
                              <m:t>𝐺</m:t>
                            </m:r>
                          </m:e>
                          <m:sub>
                            <m:r>
                              <a:rPr lang="en-US" sz="2200" i="1" dirty="0">
                                <a:latin typeface="Cambria Math" panose="02040503050406030204" pitchFamily="18" charset="0"/>
                              </a:rPr>
                              <m:t>𝑖</m:t>
                            </m:r>
                          </m:sub>
                          <m:sup>
                            <m:r>
                              <a:rPr lang="en-US" sz="2200" i="1" dirty="0">
                                <a:latin typeface="Cambria Math" panose="02040503050406030204" pitchFamily="18" charset="0"/>
                              </a:rPr>
                              <m:t>(</m:t>
                            </m:r>
                            <m:r>
                              <a:rPr lang="en-US" sz="2200" i="1" dirty="0">
                                <a:latin typeface="Cambria Math" panose="02040503050406030204" pitchFamily="18" charset="0"/>
                              </a:rPr>
                              <m:t>𝐽</m:t>
                            </m:r>
                            <m:r>
                              <a:rPr lang="en-US" sz="2200" i="1" dirty="0">
                                <a:latin typeface="Cambria Math" panose="02040503050406030204" pitchFamily="18" charset="0"/>
                              </a:rPr>
                              <m:t>)</m:t>
                            </m:r>
                          </m:sup>
                        </m:sSubSup>
                      </m:num>
                      <m:den>
                        <m:rad>
                          <m:radPr>
                            <m:degHide m:val="on"/>
                            <m:ctrlPr>
                              <a:rPr lang="en-US" sz="2200" b="0" i="1" dirty="0" smtClean="0">
                                <a:latin typeface="Cambria Math" panose="02040503050406030204" pitchFamily="18" charset="0"/>
                              </a:rPr>
                            </m:ctrlPr>
                          </m:radPr>
                          <m:deg/>
                          <m:e>
                            <m:r>
                              <a:rPr lang="en-US" sz="2200" b="0" i="1" dirty="0" smtClean="0">
                                <a:latin typeface="Cambria Math" panose="02040503050406030204" pitchFamily="18" charset="0"/>
                              </a:rPr>
                              <m:t>𝑡𝑎𝑟𝑔𝑒𝑡</m:t>
                            </m:r>
                            <m:r>
                              <a:rPr lang="en-US" sz="2200" b="0" i="1" dirty="0" smtClean="0">
                                <a:latin typeface="Cambria Math" panose="02040503050406030204" pitchFamily="18" charset="0"/>
                              </a:rPr>
                              <m:t> </m:t>
                            </m:r>
                            <m:r>
                              <a:rPr lang="en-US" sz="2200" b="0" i="1" dirty="0" smtClean="0">
                                <a:latin typeface="Cambria Math" panose="02040503050406030204" pitchFamily="18" charset="0"/>
                              </a:rPr>
                              <m:t>𝑡𝑜𝑘𝑒𝑛</m:t>
                            </m:r>
                            <m:r>
                              <a:rPr lang="en-US" sz="2200" b="0" i="1" dirty="0" smtClean="0">
                                <a:latin typeface="Cambria Math" panose="02040503050406030204" pitchFamily="18" charset="0"/>
                              </a:rPr>
                              <m:t> </m:t>
                            </m:r>
                            <m:r>
                              <a:rPr lang="en-US" sz="2200" b="0" i="1" dirty="0" smtClean="0">
                                <a:latin typeface="Cambria Math" panose="02040503050406030204" pitchFamily="18" charset="0"/>
                              </a:rPr>
                              <m:t>𝑐𝑜𝑢𝑛𝑡</m:t>
                            </m:r>
                          </m:e>
                        </m:rad>
                      </m:den>
                    </m:f>
                    <m:r>
                      <m:rPr>
                        <m:nor/>
                      </m:rPr>
                      <a:rPr lang="en-US" sz="2200" b="1" i="0" dirty="0" smtClean="0">
                        <a:latin typeface="Cambria Math" panose="02040503050406030204" pitchFamily="18" charset="0"/>
                      </a:rPr>
                      <m:t> (</m:t>
                    </m:r>
                    <m:r>
                      <m:rPr>
                        <m:nor/>
                      </m:rPr>
                      <a:rPr lang="en-US" sz="1800" b="1" i="0" dirty="0"/>
                      <m:t>gradient per token</m:t>
                    </m:r>
                    <m:r>
                      <m:rPr>
                        <m:nor/>
                      </m:rPr>
                      <a:rPr lang="en-US" sz="1800" b="0" i="0" dirty="0" smtClean="0"/>
                      <m:t>)</m:t>
                    </m:r>
                  </m:oMath>
                </a14:m>
                <a:r>
                  <a:rPr lang="en-US" sz="1800" dirty="0"/>
                  <a:t> </a:t>
                </a:r>
              </a:p>
              <a:p>
                <a:pPr lvl="2"/>
                <a:r>
                  <a:rPr lang="en-US" dirty="0"/>
                  <a:t>Prevents long answers from getting high scores just because they have more words.</a:t>
                </a:r>
              </a:p>
              <a:p>
                <a:pPr lvl="2"/>
                <a:r>
                  <a:rPr lang="en-US" dirty="0"/>
                  <a:t>Used for sensitivity analysis alongside mean-response token as primary loss. </a:t>
                </a:r>
              </a:p>
              <a:p>
                <a:pPr lvl="2"/>
                <a:r>
                  <a:rPr lang="en-US" dirty="0"/>
                  <a:t>we will record target length and test length-normalized alternatives</a:t>
                </a:r>
              </a:p>
              <a:p>
                <a:pPr marL="0" indent="0">
                  <a:buNone/>
                </a:pPr>
                <a:endParaRPr lang="en-US" sz="2500" dirty="0"/>
              </a:p>
            </p:txBody>
          </p:sp>
        </mc:Choice>
        <mc:Fallback xmlns="">
          <p:sp>
            <p:nvSpPr>
              <p:cNvPr id="4" name="Content Placeholder 2">
                <a:extLst>
                  <a:ext uri="{FF2B5EF4-FFF2-40B4-BE49-F238E27FC236}">
                    <a16:creationId xmlns:a16="http://schemas.microsoft.com/office/drawing/2014/main" id="{B6285845-0A2A-C172-1E17-D250F9B3076C}"/>
                  </a:ext>
                </a:extLst>
              </p:cNvPr>
              <p:cNvSpPr>
                <a:spLocks noGrp="1" noRot="1" noChangeAspect="1" noMove="1" noResize="1" noEditPoints="1" noAdjustHandles="1" noChangeArrowheads="1" noChangeShapeType="1" noTextEdit="1"/>
              </p:cNvSpPr>
              <p:nvPr>
                <p:ph idx="1"/>
              </p:nvPr>
            </p:nvSpPr>
            <p:spPr>
              <a:xfrm>
                <a:off x="838200" y="1616149"/>
                <a:ext cx="10515600" cy="4976037"/>
              </a:xfrm>
              <a:blipFill>
                <a:blip r:embed="rId3"/>
                <a:stretch>
                  <a:fillRect l="-724"/>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732426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538E0-B7FF-08FA-3BFF-B8571C3480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7FCC33-D36D-7059-0D78-0EE05BDADD16}"/>
              </a:ext>
            </a:extLst>
          </p:cNvPr>
          <p:cNvSpPr>
            <a:spLocks noGrp="1"/>
          </p:cNvSpPr>
          <p:nvPr>
            <p:ph type="title"/>
          </p:nvPr>
        </p:nvSpPr>
        <p:spPr/>
        <p:txBody>
          <a:bodyPr/>
          <a:lstStyle/>
          <a:p>
            <a:r>
              <a:rPr lang="en-US" dirty="0"/>
              <a:t>VLM extension: Methodology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A08AF0-BA06-C145-2142-38004BF95055}"/>
                  </a:ext>
                </a:extLst>
              </p:cNvPr>
              <p:cNvSpPr>
                <a:spLocks noGrp="1"/>
              </p:cNvSpPr>
              <p:nvPr>
                <p:ph idx="1"/>
              </p:nvPr>
            </p:nvSpPr>
            <p:spPr>
              <a:xfrm>
                <a:off x="838200" y="1424763"/>
                <a:ext cx="10515600" cy="5178056"/>
              </a:xfrm>
            </p:spPr>
            <p:txBody>
              <a:bodyPr>
                <a:noAutofit/>
              </a:bodyPr>
              <a:lstStyle/>
              <a:p>
                <a:r>
                  <a:rPr lang="en-US" sz="1800" dirty="0"/>
                  <a:t>Also record the combined norm:</a:t>
                </a:r>
              </a:p>
              <a:p>
                <a:pPr lvl="1"/>
                <a14:m>
                  <m:oMath xmlns:m="http://schemas.openxmlformats.org/officeDocument/2006/math">
                    <m:sSubSup>
                      <m:sSubSupPr>
                        <m:ctrlPr>
                          <a:rPr lang="en-US" sz="1800" b="0" i="1" dirty="0" smtClean="0">
                            <a:latin typeface="Cambria Math" panose="02040503050406030204" pitchFamily="18" charset="0"/>
                          </a:rPr>
                        </m:ctrlPr>
                      </m:sSubSupPr>
                      <m:e>
                        <m:r>
                          <a:rPr lang="en-US" sz="1800" b="0" i="1" dirty="0" smtClean="0">
                            <a:latin typeface="Cambria Math" panose="02040503050406030204" pitchFamily="18" charset="0"/>
                          </a:rPr>
                          <m:t>𝐺</m:t>
                        </m:r>
                      </m:e>
                      <m:sub>
                        <m:r>
                          <a:rPr lang="en-US" sz="1800" b="0" i="1" dirty="0" smtClean="0">
                            <a:latin typeface="Cambria Math" panose="02040503050406030204" pitchFamily="18" charset="0"/>
                          </a:rPr>
                          <m:t>𝑖</m:t>
                        </m:r>
                      </m:sub>
                      <m:sup>
                        <m:r>
                          <a:rPr lang="en-US" sz="1800" b="0" i="1" dirty="0" smtClean="0">
                            <a:latin typeface="Cambria Math" panose="02040503050406030204" pitchFamily="18" charset="0"/>
                          </a:rPr>
                          <m:t>𝑡𝑜𝑡𝑎𝑙</m:t>
                        </m:r>
                      </m:sup>
                    </m:sSubSup>
                    <m:r>
                      <a:rPr lang="en-US" sz="1800" i="1" dirty="0" smtClean="0">
                        <a:latin typeface="Cambria Math" panose="02040503050406030204" pitchFamily="18" charset="0"/>
                      </a:rPr>
                      <m:t> =</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m:t>
                            </m:r>
                            <m:r>
                              <m:rPr>
                                <m:sty m:val="p"/>
                              </m:rPr>
                              <a:rPr lang="en-US" sz="1800" dirty="0">
                                <a:latin typeface="Cambria Math" panose="02040503050406030204" pitchFamily="18" charset="0"/>
                                <a:ea typeface="Cambria Math" panose="02040503050406030204" pitchFamily="18" charset="0"/>
                              </a:rPr>
                              <m:t>∇</m:t>
                            </m:r>
                          </m:e>
                          <m:sub>
                            <m:sSub>
                              <m:sSubPr>
                                <m:ctrlPr>
                                  <a:rPr lang="en-US" sz="1800" i="1" dirty="0">
                                    <a:latin typeface="Cambria Math" panose="02040503050406030204" pitchFamily="18" charset="0"/>
                                    <a:ea typeface="Cambria Math" panose="02040503050406030204" pitchFamily="18" charset="0"/>
                                  </a:rPr>
                                </m:ctrlPr>
                              </m:sSubPr>
                              <m:e>
                                <m:sSub>
                                  <m:sSubPr>
                                    <m:ctrlPr>
                                      <a:rPr lang="en-US" sz="1800" i="1" dirty="0">
                                        <a:latin typeface="Cambria Math" panose="02040503050406030204" pitchFamily="18" charset="0"/>
                                        <a:ea typeface="Cambria Math" panose="02040503050406030204" pitchFamily="18" charset="0"/>
                                      </a:rPr>
                                    </m:ctrlPr>
                                  </m:sSubPr>
                                  <m:e>
                                    <m:r>
                                      <a:rPr lang="en-US" sz="1800" i="1" dirty="0">
                                        <a:latin typeface="Cambria Math" panose="02040503050406030204" pitchFamily="18" charset="0"/>
                                        <a:ea typeface="Cambria Math" panose="02040503050406030204" pitchFamily="18" charset="0"/>
                                      </a:rPr>
                                      <m:t>𝜃</m:t>
                                    </m:r>
                                  </m:e>
                                  <m:sub>
                                    <m:sSub>
                                      <m:sSubPr>
                                        <m:ctrlPr>
                                          <a:rPr lang="en-US" sz="1800" i="1" dirty="0">
                                            <a:latin typeface="Cambria Math" panose="02040503050406030204" pitchFamily="18" charset="0"/>
                                            <a:ea typeface="Cambria Math" panose="02040503050406030204" pitchFamily="18" charset="0"/>
                                          </a:rPr>
                                        </m:ctrlPr>
                                      </m:sSubPr>
                                      <m:e>
                                        <m:r>
                                          <a:rPr lang="en-US" sz="1800" i="1" dirty="0">
                                            <a:latin typeface="Cambria Math" panose="02040503050406030204" pitchFamily="18" charset="0"/>
                                            <a:ea typeface="Cambria Math" panose="02040503050406030204" pitchFamily="18" charset="0"/>
                                          </a:rPr>
                                          <m:t>𝐿𝑀</m:t>
                                        </m:r>
                                      </m:e>
                                      <m:sub>
                                        <m:r>
                                          <a:rPr lang="en-US" sz="1800" i="1" dirty="0">
                                            <a:latin typeface="Cambria Math" panose="02040503050406030204" pitchFamily="18" charset="0"/>
                                            <a:ea typeface="Cambria Math" panose="02040503050406030204" pitchFamily="18" charset="0"/>
                                          </a:rPr>
                                          <m:t>𝐿𝑜𝑅𝐴</m:t>
                                        </m:r>
                                      </m:sub>
                                    </m:sSub>
                                  </m:sub>
                                </m:sSub>
                                <m:r>
                                  <a:rPr lang="en-US" sz="1800" i="1" dirty="0">
                                    <a:latin typeface="Cambria Math" panose="02040503050406030204" pitchFamily="18" charset="0"/>
                                    <a:ea typeface="Cambria Math" panose="02040503050406030204" pitchFamily="18" charset="0"/>
                                  </a:rPr>
                                  <m:t>, </m:t>
                                </m:r>
                                <m:r>
                                  <a:rPr lang="en-US" sz="1800" i="1" dirty="0">
                                    <a:latin typeface="Cambria Math" panose="02040503050406030204" pitchFamily="18" charset="0"/>
                                    <a:ea typeface="Cambria Math" panose="02040503050406030204" pitchFamily="18" charset="0"/>
                                  </a:rPr>
                                  <m:t>𝜃</m:t>
                                </m:r>
                              </m:e>
                              <m:sub>
                                <m:r>
                                  <a:rPr lang="en-US" sz="1800" i="1" dirty="0">
                                    <a:latin typeface="Cambria Math" panose="02040503050406030204" pitchFamily="18" charset="0"/>
                                    <a:ea typeface="Cambria Math" panose="02040503050406030204" pitchFamily="18" charset="0"/>
                                  </a:rPr>
                                  <m:t>𝑝𝑟𝑜𝑗𝑒𝑐𝑡𝑜𝑟</m:t>
                                </m:r>
                              </m:sub>
                            </m:sSub>
                          </m:sub>
                        </m:sSub>
                        <m:sSub>
                          <m:sSubPr>
                            <m:ctrlPr>
                              <a:rPr lang="en-US" sz="1800" i="1" dirty="0">
                                <a:latin typeface="Cambria Math" panose="02040503050406030204" pitchFamily="18" charset="0"/>
                              </a:rPr>
                            </m:ctrlPr>
                          </m:sSubPr>
                          <m:e>
                            <m:r>
                              <a:rPr lang="en-US" sz="1800" i="1" dirty="0">
                                <a:latin typeface="Cambria Math" panose="02040503050406030204" pitchFamily="18" charset="0"/>
                              </a:rPr>
                              <m:t>𝐿</m:t>
                            </m:r>
                          </m:e>
                          <m:sub>
                            <m:r>
                              <a:rPr lang="en-US" sz="1800" i="1" dirty="0">
                                <a:latin typeface="Cambria Math" panose="02040503050406030204" pitchFamily="18" charset="0"/>
                              </a:rPr>
                              <m:t>𝑖</m:t>
                            </m:r>
                          </m:sub>
                        </m:sSub>
                        <m:r>
                          <a:rPr lang="en-US" sz="1800" i="1" dirty="0">
                            <a:latin typeface="Cambria Math" panose="02040503050406030204" pitchFamily="18" charset="0"/>
                          </a:rPr>
                          <m:t> ||</m:t>
                        </m:r>
                      </m:e>
                      <m:sub>
                        <m:r>
                          <a:rPr lang="en-US" sz="1800" i="1" dirty="0">
                            <a:latin typeface="Cambria Math" panose="02040503050406030204" pitchFamily="18" charset="0"/>
                          </a:rPr>
                          <m:t>2</m:t>
                        </m:r>
                      </m:sub>
                    </m:sSub>
                  </m:oMath>
                </a14:m>
                <a:endParaRPr lang="en-US" sz="1800" dirty="0"/>
              </a:p>
              <a:p>
                <a:r>
                  <a:rPr lang="en-US" sz="1800" dirty="0"/>
                  <a:t>One total norm will not know which mechanism is responsible =&gt; a high gradient could be caused by:</a:t>
                </a:r>
              </a:p>
              <a:p>
                <a:pPr lvl="1"/>
                <a:r>
                  <a:rPr lang="en-US" sz="1800" dirty="0"/>
                  <a:t>a text-output format mismatch</a:t>
                </a:r>
              </a:p>
              <a:p>
                <a:pPr lvl="1"/>
                <a:r>
                  <a:rPr lang="en-US" sz="1800" dirty="0"/>
                  <a:t>an image that is difficult to interpret</a:t>
                </a:r>
              </a:p>
              <a:p>
                <a:pPr lvl="1"/>
                <a:r>
                  <a:rPr lang="en-US" sz="1800" dirty="0"/>
                  <a:t>a poorly grounded visual representation</a:t>
                </a:r>
              </a:p>
              <a:p>
                <a:pPr lvl="1"/>
                <a:r>
                  <a:rPr lang="en-US" sz="1800" dirty="0"/>
                  <a:t>an unusually long target</a:t>
                </a:r>
              </a:p>
              <a:p>
                <a:r>
                  <a:rPr lang="en-US" sz="1800" dirty="0"/>
                  <a:t>Examples groups for first set: </a:t>
                </a:r>
              </a:p>
              <a:p>
                <a:pPr lvl="1"/>
                <a:r>
                  <a:rPr lang="en-US" sz="1800" dirty="0"/>
                  <a:t>Low-G: lowest 20%</a:t>
                </a:r>
              </a:p>
              <a:p>
                <a:pPr lvl="1"/>
                <a:r>
                  <a:rPr lang="en-US" sz="1800" dirty="0"/>
                  <a:t>Moderate-G: samples closest to the median</a:t>
                </a:r>
              </a:p>
              <a:p>
                <a:pPr lvl="1"/>
                <a:r>
                  <a:rPr lang="en-US" sz="1800" dirty="0"/>
                  <a:t>High-G: highest 20%</a:t>
                </a:r>
              </a:p>
              <a:p>
                <a:pPr lvl="1"/>
                <a:r>
                  <a:rPr lang="en-US" sz="1800" dirty="0"/>
                  <a:t>Random: random 20%</a:t>
                </a:r>
              </a:p>
              <a:p>
                <a:pPr lvl="1"/>
                <a:r>
                  <a:rPr lang="en-US" sz="1800" dirty="0"/>
                  <a:t>All: all available samples</a:t>
                </a:r>
              </a:p>
              <a:p>
                <a:r>
                  <a:rPr lang="en-US" sz="1800" dirty="0"/>
                  <a:t>The method is not simply </a:t>
                </a:r>
                <a:r>
                  <a:rPr lang="en-US" sz="1800" u="sng" dirty="0"/>
                  <a:t>take the lowest gradients</a:t>
                </a:r>
                <a:r>
                  <a:rPr lang="en-US" sz="1800" dirty="0"/>
                  <a:t>. It first </a:t>
                </a:r>
                <a:r>
                  <a:rPr lang="en-US" sz="1800" i="1" dirty="0"/>
                  <a:t>removes extreme-loss</a:t>
                </a:r>
                <a:r>
                  <a:rPr lang="en-US" sz="1800" dirty="0"/>
                  <a:t> examples, </a:t>
                </a:r>
                <a:r>
                  <a:rPr lang="en-US" sz="1800" i="1" dirty="0"/>
                  <a:t>computes gradient norms </a:t>
                </a:r>
                <a:r>
                  <a:rPr lang="en-US" sz="1800" dirty="0"/>
                  <a:t>on the remaining candidates, and </a:t>
                </a:r>
                <a:r>
                  <a:rPr lang="en-US" sz="1800" i="1" dirty="0"/>
                  <a:t>selects samples nearest the median gradient norm</a:t>
                </a:r>
                <a:r>
                  <a:rPr lang="en-US" sz="1800" dirty="0"/>
                  <a:t>.</a:t>
                </a:r>
              </a:p>
              <a:p>
                <a:pPr lvl="1"/>
                <a:endParaRPr lang="en-US" sz="1800" dirty="0"/>
              </a:p>
            </p:txBody>
          </p:sp>
        </mc:Choice>
        <mc:Fallback xmlns="">
          <p:sp>
            <p:nvSpPr>
              <p:cNvPr id="3" name="Content Placeholder 2">
                <a:extLst>
                  <a:ext uri="{FF2B5EF4-FFF2-40B4-BE49-F238E27FC236}">
                    <a16:creationId xmlns:a16="http://schemas.microsoft.com/office/drawing/2014/main" id="{21A08AF0-BA06-C145-2142-38004BF95055}"/>
                  </a:ext>
                </a:extLst>
              </p:cNvPr>
              <p:cNvSpPr>
                <a:spLocks noGrp="1" noRot="1" noChangeAspect="1" noMove="1" noResize="1" noEditPoints="1" noAdjustHandles="1" noChangeArrowheads="1" noChangeShapeType="1" noTextEdit="1"/>
              </p:cNvSpPr>
              <p:nvPr>
                <p:ph idx="1"/>
              </p:nvPr>
            </p:nvSpPr>
            <p:spPr>
              <a:xfrm>
                <a:off x="838200" y="1424763"/>
                <a:ext cx="10515600" cy="5178056"/>
              </a:xfrm>
              <a:blipFill>
                <a:blip r:embed="rId3"/>
                <a:stretch>
                  <a:fillRect l="-483" t="-980"/>
                </a:stretch>
              </a:blipFill>
            </p:spPr>
            <p:txBody>
              <a:bodyPr/>
              <a:lstStyle/>
              <a:p>
                <a:r>
                  <a:rPr lang="en-US">
                    <a:noFill/>
                  </a:rPr>
                  <a:t> </a:t>
                </a:r>
              </a:p>
            </p:txBody>
          </p:sp>
        </mc:Fallback>
      </mc:AlternateContent>
    </p:spTree>
    <p:extLst>
      <p:ext uri="{BB962C8B-B14F-4D97-AF65-F5344CB8AC3E}">
        <p14:creationId xmlns:p14="http://schemas.microsoft.com/office/powerpoint/2010/main" val="1277499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C1599-AE09-9A0A-18D7-73A07461CF16}"/>
              </a:ext>
            </a:extLst>
          </p:cNvPr>
          <p:cNvSpPr>
            <a:spLocks noGrp="1"/>
          </p:cNvSpPr>
          <p:nvPr>
            <p:ph type="title"/>
          </p:nvPr>
        </p:nvSpPr>
        <p:spPr/>
        <p:txBody>
          <a:bodyPr/>
          <a:lstStyle/>
          <a:p>
            <a:r>
              <a:rPr lang="en-US" dirty="0"/>
              <a:t>Execution Plan</a:t>
            </a:r>
          </a:p>
        </p:txBody>
      </p:sp>
      <p:graphicFrame>
        <p:nvGraphicFramePr>
          <p:cNvPr id="4" name="Content Placeholder 3">
            <a:extLst>
              <a:ext uri="{FF2B5EF4-FFF2-40B4-BE49-F238E27FC236}">
                <a16:creationId xmlns:a16="http://schemas.microsoft.com/office/drawing/2014/main" id="{388B8829-ED3E-7C2C-64DD-EA95DC1D7638}"/>
              </a:ext>
            </a:extLst>
          </p:cNvPr>
          <p:cNvGraphicFramePr>
            <a:graphicFrameLocks noGrp="1"/>
          </p:cNvGraphicFramePr>
          <p:nvPr>
            <p:ph idx="1"/>
            <p:extLst>
              <p:ext uri="{D42A27DB-BD31-4B8C-83A1-F6EECF244321}">
                <p14:modId xmlns:p14="http://schemas.microsoft.com/office/powerpoint/2010/main" val="2317914825"/>
              </p:ext>
            </p:extLst>
          </p:nvPr>
        </p:nvGraphicFramePr>
        <p:xfrm>
          <a:off x="603904" y="1408157"/>
          <a:ext cx="11153316" cy="5350109"/>
        </p:xfrm>
        <a:graphic>
          <a:graphicData uri="http://schemas.openxmlformats.org/drawingml/2006/table">
            <a:tbl>
              <a:tblPr>
                <a:tableStyleId>{5C22544A-7EE6-4342-B048-85BDC9FD1C3A}</a:tableStyleId>
              </a:tblPr>
              <a:tblGrid>
                <a:gridCol w="595186">
                  <a:extLst>
                    <a:ext uri="{9D8B030D-6E8A-4147-A177-3AD203B41FA5}">
                      <a16:colId xmlns:a16="http://schemas.microsoft.com/office/drawing/2014/main" val="3644407037"/>
                    </a:ext>
                  </a:extLst>
                </a:gridCol>
                <a:gridCol w="2147777">
                  <a:extLst>
                    <a:ext uri="{9D8B030D-6E8A-4147-A177-3AD203B41FA5}">
                      <a16:colId xmlns:a16="http://schemas.microsoft.com/office/drawing/2014/main" val="3634236375"/>
                    </a:ext>
                  </a:extLst>
                </a:gridCol>
                <a:gridCol w="2541181">
                  <a:extLst>
                    <a:ext uri="{9D8B030D-6E8A-4147-A177-3AD203B41FA5}">
                      <a16:colId xmlns:a16="http://schemas.microsoft.com/office/drawing/2014/main" val="231008248"/>
                    </a:ext>
                  </a:extLst>
                </a:gridCol>
                <a:gridCol w="3625702">
                  <a:extLst>
                    <a:ext uri="{9D8B030D-6E8A-4147-A177-3AD203B41FA5}">
                      <a16:colId xmlns:a16="http://schemas.microsoft.com/office/drawing/2014/main" val="2725156156"/>
                    </a:ext>
                  </a:extLst>
                </a:gridCol>
                <a:gridCol w="2243470">
                  <a:extLst>
                    <a:ext uri="{9D8B030D-6E8A-4147-A177-3AD203B41FA5}">
                      <a16:colId xmlns:a16="http://schemas.microsoft.com/office/drawing/2014/main" val="1030989632"/>
                    </a:ext>
                  </a:extLst>
                </a:gridCol>
              </a:tblGrid>
              <a:tr h="276258">
                <a:tc>
                  <a:txBody>
                    <a:bodyPr/>
                    <a:lstStyle/>
                    <a:p>
                      <a:pPr algn="l">
                        <a:buNone/>
                      </a:pPr>
                      <a:r>
                        <a:rPr lang="en-US" sz="1300" dirty="0">
                          <a:effectLst/>
                        </a:rPr>
                        <a:t>Stage</a:t>
                      </a:r>
                      <a:endParaRPr lang="en-US" sz="1300" b="0" i="0" dirty="0">
                        <a:solidFill>
                          <a:srgbClr val="CCCCCC"/>
                        </a:solidFill>
                        <a:effectLst/>
                        <a:latin typeface="-apple-system"/>
                      </a:endParaRPr>
                    </a:p>
                  </a:txBody>
                  <a:tcPr marL="95250" marR="95250" marT="47625" marB="47625" anchor="ctr"/>
                </a:tc>
                <a:tc>
                  <a:txBody>
                    <a:bodyPr/>
                    <a:lstStyle/>
                    <a:p>
                      <a:pPr algn="l">
                        <a:buNone/>
                      </a:pPr>
                      <a:r>
                        <a:rPr lang="en-US" sz="1300" dirty="0">
                          <a:effectLst/>
                        </a:rPr>
                        <a:t>LLM Task</a:t>
                      </a:r>
                      <a:endParaRPr lang="en-US" sz="1300" b="0" i="0" dirty="0">
                        <a:solidFill>
                          <a:srgbClr val="CCCCCC"/>
                        </a:solidFill>
                        <a:effectLst/>
                        <a:latin typeface="-apple-system"/>
                      </a:endParaRPr>
                    </a:p>
                  </a:txBody>
                  <a:tcPr marL="95250" marR="95250" marT="47625" marB="47625" anchor="ctr"/>
                </a:tc>
                <a:tc>
                  <a:txBody>
                    <a:bodyPr/>
                    <a:lstStyle/>
                    <a:p>
                      <a:pPr algn="l">
                        <a:buNone/>
                      </a:pPr>
                      <a:r>
                        <a:rPr lang="en-US" sz="1300">
                          <a:effectLst/>
                        </a:rPr>
                        <a:t>Our VLM Equivalent</a:t>
                      </a:r>
                      <a:endParaRPr lang="en-US" sz="1300" b="0" i="0">
                        <a:solidFill>
                          <a:srgbClr val="CCCCCC"/>
                        </a:solidFill>
                        <a:effectLst/>
                        <a:latin typeface="-apple-system"/>
                      </a:endParaRPr>
                    </a:p>
                  </a:txBody>
                  <a:tcPr marL="95250" marR="95250" marT="47625" marB="47625" anchor="ctr"/>
                </a:tc>
                <a:tc>
                  <a:txBody>
                    <a:bodyPr/>
                    <a:lstStyle/>
                    <a:p>
                      <a:pPr algn="l">
                        <a:buNone/>
                      </a:pPr>
                      <a:r>
                        <a:rPr lang="en-US" sz="1300">
                          <a:effectLst/>
                        </a:rPr>
                        <a:t>Reasoning</a:t>
                      </a:r>
                      <a:endParaRPr lang="en-US" sz="1300" b="0" i="0">
                        <a:solidFill>
                          <a:srgbClr val="CCCCCC"/>
                        </a:solidFill>
                        <a:effectLst/>
                        <a:latin typeface="-apple-system"/>
                      </a:endParaRPr>
                    </a:p>
                  </a:txBody>
                  <a:tcPr marL="95250" marR="95250" marT="47625" marB="47625" anchor="ctr"/>
                </a:tc>
                <a:tc>
                  <a:txBody>
                    <a:bodyPr/>
                    <a:lstStyle/>
                    <a:p>
                      <a:pPr algn="l">
                        <a:buNone/>
                      </a:pPr>
                      <a:r>
                        <a:rPr lang="en-US" sz="1300" dirty="0">
                          <a:effectLst/>
                        </a:rPr>
                        <a:t>Citation</a:t>
                      </a:r>
                      <a:endParaRPr lang="en-US" sz="1300" b="0" i="0" dirty="0">
                        <a:solidFill>
                          <a:srgbClr val="CCCCCC"/>
                        </a:solidFill>
                        <a:effectLst/>
                        <a:latin typeface="-apple-system"/>
                      </a:endParaRPr>
                    </a:p>
                  </a:txBody>
                  <a:tcPr marL="95250" marR="95250" marT="47625" marB="47625" anchor="ctr"/>
                </a:tc>
                <a:extLst>
                  <a:ext uri="{0D108BD9-81ED-4DB2-BD59-A6C34878D82A}">
                    <a16:rowId xmlns:a16="http://schemas.microsoft.com/office/drawing/2014/main" val="3534030133"/>
                  </a:ext>
                </a:extLst>
              </a:tr>
              <a:tr h="968963">
                <a:tc>
                  <a:txBody>
                    <a:bodyPr/>
                    <a:lstStyle/>
                    <a:p>
                      <a:pPr algn="l">
                        <a:buNone/>
                      </a:pPr>
                      <a:r>
                        <a:rPr lang="en-US" sz="1300">
                          <a:effectLst/>
                        </a:rPr>
                        <a:t>1</a:t>
                      </a:r>
                      <a:endParaRPr lang="en-US" sz="1300" b="0" i="0">
                        <a:solidFill>
                          <a:srgbClr val="CCCCCC"/>
                        </a:solidFill>
                        <a:effectLst/>
                        <a:latin typeface="-apple-system"/>
                      </a:endParaRPr>
                    </a:p>
                  </a:txBody>
                  <a:tcPr marL="95250" marR="95250" marT="47625" marB="47625" anchor="ctr"/>
                </a:tc>
                <a:tc>
                  <a:txBody>
                    <a:bodyPr/>
                    <a:lstStyle/>
                    <a:p>
                      <a:pPr algn="l">
                        <a:buNone/>
                      </a:pPr>
                      <a:r>
                        <a:rPr lang="en-US" sz="1300" dirty="0">
                          <a:effectLst/>
                        </a:rPr>
                        <a:t>Dolly (15K instruction following)</a:t>
                      </a:r>
                      <a:endParaRPr lang="en-US" sz="1300" b="0" i="0" dirty="0">
                        <a:solidFill>
                          <a:srgbClr val="CCCCCC"/>
                        </a:solidFill>
                        <a:effectLst/>
                        <a:latin typeface="-apple-system"/>
                      </a:endParaRPr>
                    </a:p>
                  </a:txBody>
                  <a:tcPr marL="95250" marR="95250" marT="47625" marB="47625" anchor="ctr"/>
                </a:tc>
                <a:tc>
                  <a:txBody>
                    <a:bodyPr/>
                    <a:lstStyle/>
                    <a:p>
                      <a:pPr algn="l">
                        <a:buNone/>
                      </a:pPr>
                      <a:r>
                        <a:rPr lang="en-US" sz="1300" u="none" strike="noStrike">
                          <a:effectLst/>
                          <a:hlinkClick r:id="rId3"/>
                        </a:rPr>
                        <a:t>LLaVA-Instruct-150K</a:t>
                      </a:r>
                      <a:endParaRPr lang="en-US" sz="1300" b="0" i="0">
                        <a:solidFill>
                          <a:srgbClr val="CCCCCC"/>
                        </a:solidFill>
                        <a:effectLst/>
                        <a:latin typeface="-apple-system"/>
                      </a:endParaRPr>
                    </a:p>
                  </a:txBody>
                  <a:tcPr marL="95250" marR="95250" marT="47625" marB="47625" anchor="ctr"/>
                </a:tc>
                <a:tc>
                  <a:txBody>
                    <a:bodyPr/>
                    <a:lstStyle/>
                    <a:p>
                      <a:pPr algn="l">
                        <a:buNone/>
                      </a:pPr>
                      <a:r>
                        <a:rPr lang="en-US" sz="1300" dirty="0">
                          <a:effectLst/>
                        </a:rPr>
                        <a:t>General visual instruction following , selected as multimodal analogue to Dolly. Benign, diverse, general purpose. </a:t>
                      </a:r>
                      <a:r>
                        <a:rPr lang="en-US" sz="1300" b="0" i="0" kern="1200" dirty="0">
                          <a:solidFill>
                            <a:schemeClr val="dk1"/>
                          </a:solidFill>
                          <a:effectLst/>
                          <a:latin typeface="+mn-lt"/>
                          <a:ea typeface="+mn-ea"/>
                          <a:cs typeface="+mn-cs"/>
                        </a:rPr>
                        <a:t>We will measure whether it changes refusal rate, task capability, and safety before using it as the first continual-learning stage.</a:t>
                      </a:r>
                      <a:endParaRPr lang="en-US" sz="1300" b="0" i="0" dirty="0">
                        <a:solidFill>
                          <a:srgbClr val="CCCCCC"/>
                        </a:solidFill>
                        <a:effectLst/>
                        <a:latin typeface="-apple-system"/>
                      </a:endParaRPr>
                    </a:p>
                  </a:txBody>
                  <a:tcPr marL="95250" marR="95250" marT="47625" marB="47625" anchor="ctr"/>
                </a:tc>
                <a:tc>
                  <a:txBody>
                    <a:bodyPr/>
                    <a:lstStyle/>
                    <a:p>
                      <a:pPr algn="l">
                        <a:buNone/>
                      </a:pPr>
                      <a:r>
                        <a:rPr lang="en-US" sz="1300" u="none" strike="noStrike" dirty="0">
                          <a:effectLst/>
                          <a:hlinkClick r:id="rId3"/>
                        </a:rPr>
                        <a:t>Liu et al., arXiv:2304.08485</a:t>
                      </a:r>
                      <a:endParaRPr lang="en-US" sz="1300" b="0" i="0" dirty="0">
                        <a:solidFill>
                          <a:srgbClr val="CCCCCC"/>
                        </a:solidFill>
                        <a:effectLst/>
                        <a:latin typeface="-apple-system"/>
                      </a:endParaRPr>
                    </a:p>
                  </a:txBody>
                  <a:tcPr marL="95250" marR="95250" marT="47625" marB="47625" anchor="ctr"/>
                </a:tc>
                <a:extLst>
                  <a:ext uri="{0D108BD9-81ED-4DB2-BD59-A6C34878D82A}">
                    <a16:rowId xmlns:a16="http://schemas.microsoft.com/office/drawing/2014/main" val="1580673292"/>
                  </a:ext>
                </a:extLst>
              </a:tr>
              <a:tr h="1142139">
                <a:tc>
                  <a:txBody>
                    <a:bodyPr/>
                    <a:lstStyle/>
                    <a:p>
                      <a:pPr algn="l">
                        <a:buNone/>
                      </a:pPr>
                      <a:r>
                        <a:rPr lang="en-US" sz="1300">
                          <a:effectLst/>
                        </a:rPr>
                        <a:t>2</a:t>
                      </a:r>
                      <a:endParaRPr lang="en-US" sz="1300" b="0" i="0">
                        <a:solidFill>
                          <a:srgbClr val="CCCCCC"/>
                        </a:solidFill>
                        <a:effectLst/>
                        <a:latin typeface="-apple-system"/>
                      </a:endParaRPr>
                    </a:p>
                  </a:txBody>
                  <a:tcPr marL="95250" marR="95250" marT="47625" marB="47625" anchor="ctr"/>
                </a:tc>
                <a:tc>
                  <a:txBody>
                    <a:bodyPr/>
                    <a:lstStyle/>
                    <a:p>
                      <a:pPr algn="l">
                        <a:buNone/>
                      </a:pPr>
                      <a:r>
                        <a:rPr lang="en-US" sz="1300">
                          <a:effectLst/>
                        </a:rPr>
                        <a:t>GSM8K (math word problems)</a:t>
                      </a:r>
                      <a:endParaRPr lang="en-US" sz="1300" b="0" i="0">
                        <a:solidFill>
                          <a:srgbClr val="CCCCCC"/>
                        </a:solidFill>
                        <a:effectLst/>
                        <a:latin typeface="-apple-system"/>
                      </a:endParaRPr>
                    </a:p>
                  </a:txBody>
                  <a:tcPr marL="95250" marR="95250" marT="47625" marB="47625" anchor="ctr"/>
                </a:tc>
                <a:tc>
                  <a:txBody>
                    <a:bodyPr/>
                    <a:lstStyle/>
                    <a:p>
                      <a:pPr algn="l">
                        <a:buNone/>
                      </a:pPr>
                      <a:r>
                        <a:rPr lang="en-US" sz="1300" u="none" strike="noStrike" dirty="0">
                          <a:effectLst/>
                          <a:hlinkClick r:id="rId4"/>
                        </a:rPr>
                        <a:t>MathVista</a:t>
                      </a:r>
                      <a:r>
                        <a:rPr lang="en-US" sz="1300" dirty="0">
                          <a:effectLst/>
                        </a:rPr>
                        <a:t> (6,141 problems)</a:t>
                      </a:r>
                      <a:endParaRPr lang="en-US" sz="1300" b="0" i="0" dirty="0">
                        <a:solidFill>
                          <a:srgbClr val="CCCCCC"/>
                        </a:solidFill>
                        <a:effectLst/>
                        <a:latin typeface="-apple-system"/>
                      </a:endParaRPr>
                    </a:p>
                  </a:txBody>
                  <a:tcPr marL="95250" marR="95250" marT="47625" marB="47625" anchor="ctr"/>
                </a:tc>
                <a:tc>
                  <a:txBody>
                    <a:bodyPr/>
                    <a:lstStyle/>
                    <a:p>
                      <a:pPr algn="l">
                        <a:buNone/>
                      </a:pPr>
                      <a:r>
                        <a:rPr lang="en-US" sz="1300" dirty="0">
                          <a:effectLst/>
                        </a:rPr>
                        <a:t>Visual-mathematical reasoning from charts, diagrams, geometry. Direct multimodal analog to GSM8K. </a:t>
                      </a:r>
                      <a:r>
                        <a:rPr lang="en-US" sz="1200" b="0" i="0" kern="1200" dirty="0">
                          <a:solidFill>
                            <a:schemeClr val="dk1"/>
                          </a:solidFill>
                          <a:effectLst/>
                          <a:latin typeface="+mn-lt"/>
                          <a:ea typeface="+mn-ea"/>
                          <a:cs typeface="+mn-cs"/>
                        </a:rPr>
                        <a:t>Use a documented training subset for adaptation and a disjoint held-out split for evaluation.</a:t>
                      </a:r>
                      <a:endParaRPr lang="en-US" sz="1200" b="0" i="0" dirty="0">
                        <a:solidFill>
                          <a:srgbClr val="CCCCCC"/>
                        </a:solidFill>
                        <a:effectLst/>
                        <a:latin typeface="-apple-system"/>
                      </a:endParaRPr>
                    </a:p>
                  </a:txBody>
                  <a:tcPr marL="95250" marR="95250" marT="47625" marB="47625" anchor="ctr"/>
                </a:tc>
                <a:tc>
                  <a:txBody>
                    <a:bodyPr/>
                    <a:lstStyle/>
                    <a:p>
                      <a:pPr algn="l">
                        <a:buNone/>
                      </a:pPr>
                      <a:r>
                        <a:rPr lang="en-US" sz="1300" u="none" strike="noStrike">
                          <a:effectLst/>
                          <a:hlinkClick r:id="rId4"/>
                        </a:rPr>
                        <a:t>Lu et al., arXiv:2310.02255</a:t>
                      </a:r>
                      <a:endParaRPr lang="en-US" sz="1300" b="0" i="0">
                        <a:solidFill>
                          <a:srgbClr val="CCCCCC"/>
                        </a:solidFill>
                        <a:effectLst/>
                        <a:latin typeface="-apple-system"/>
                      </a:endParaRPr>
                    </a:p>
                  </a:txBody>
                  <a:tcPr marL="95250" marR="95250" marT="47625" marB="47625" anchor="ctr"/>
                </a:tc>
                <a:extLst>
                  <a:ext uri="{0D108BD9-81ED-4DB2-BD59-A6C34878D82A}">
                    <a16:rowId xmlns:a16="http://schemas.microsoft.com/office/drawing/2014/main" val="2340270408"/>
                  </a:ext>
                </a:extLst>
              </a:tr>
              <a:tr h="1142139">
                <a:tc>
                  <a:txBody>
                    <a:bodyPr/>
                    <a:lstStyle/>
                    <a:p>
                      <a:pPr algn="l">
                        <a:buNone/>
                      </a:pPr>
                      <a:r>
                        <a:rPr lang="en-US" sz="1300">
                          <a:effectLst/>
                        </a:rPr>
                        <a:t>3</a:t>
                      </a:r>
                      <a:endParaRPr lang="en-US" sz="1300" b="0" i="0">
                        <a:solidFill>
                          <a:srgbClr val="CCCCCC"/>
                        </a:solidFill>
                        <a:effectLst/>
                        <a:latin typeface="-apple-system"/>
                      </a:endParaRPr>
                    </a:p>
                  </a:txBody>
                  <a:tcPr marL="95250" marR="95250" marT="47625" marB="47625" anchor="ctr"/>
                </a:tc>
                <a:tc>
                  <a:txBody>
                    <a:bodyPr/>
                    <a:lstStyle/>
                    <a:p>
                      <a:pPr algn="l">
                        <a:buNone/>
                      </a:pPr>
                      <a:r>
                        <a:rPr lang="en-US" sz="1300">
                          <a:effectLst/>
                        </a:rPr>
                        <a:t>MedMCQA (medical MCQ)</a:t>
                      </a:r>
                      <a:endParaRPr lang="en-US" sz="1300" b="0" i="0">
                        <a:solidFill>
                          <a:srgbClr val="CCCCCC"/>
                        </a:solidFill>
                        <a:effectLst/>
                        <a:latin typeface="-apple-system"/>
                      </a:endParaRPr>
                    </a:p>
                  </a:txBody>
                  <a:tcPr marL="95250" marR="95250" marT="47625" marB="47625" anchor="ctr"/>
                </a:tc>
                <a:tc>
                  <a:txBody>
                    <a:bodyPr/>
                    <a:lstStyle/>
                    <a:p>
                      <a:pPr algn="l">
                        <a:buNone/>
                      </a:pPr>
                      <a:r>
                        <a:rPr lang="en-US" sz="1300" u="none" strike="noStrike" dirty="0">
                          <a:effectLst/>
                          <a:hlinkClick r:id="rId5"/>
                        </a:rPr>
                        <a:t>VQA-RAD</a:t>
                      </a:r>
                      <a:r>
                        <a:rPr lang="en-US" sz="1300" dirty="0">
                          <a:effectLst/>
                        </a:rPr>
                        <a:t> (external evaluation to test transfer) and </a:t>
                      </a:r>
                      <a:r>
                        <a:rPr lang="en-US" sz="1300" u="none" strike="noStrike" dirty="0">
                          <a:effectLst/>
                          <a:hlinkClick r:id="rId6"/>
                        </a:rPr>
                        <a:t>SLAKE</a:t>
                      </a:r>
                      <a:r>
                        <a:rPr lang="en-US" sz="1300" dirty="0">
                          <a:effectLst/>
                        </a:rPr>
                        <a:t> (preferred for training)</a:t>
                      </a:r>
                      <a:endParaRPr lang="en-US" sz="1300" b="0" i="0" dirty="0">
                        <a:solidFill>
                          <a:srgbClr val="CCCCCC"/>
                        </a:solidFill>
                        <a:effectLst/>
                        <a:latin typeface="-apple-system"/>
                      </a:endParaRPr>
                    </a:p>
                  </a:txBody>
                  <a:tcPr marL="95250" marR="95250" marT="47625" marB="47625" anchor="ctr"/>
                </a:tc>
                <a:tc>
                  <a:txBody>
                    <a:bodyPr/>
                    <a:lstStyle/>
                    <a:p>
                      <a:pPr algn="l">
                        <a:buNone/>
                      </a:pPr>
                      <a:r>
                        <a:rPr lang="en-US" sz="1300" dirty="0">
                          <a:effectLst/>
                        </a:rPr>
                        <a:t>Clinical image understanding: radiology, pathology. VQA-RAD = radiology QA pairs. </a:t>
                      </a:r>
                      <a:br>
                        <a:rPr lang="en-US" sz="1300" dirty="0">
                          <a:effectLst/>
                        </a:rPr>
                      </a:br>
                      <a:r>
                        <a:rPr lang="en-US" sz="1300" dirty="0">
                          <a:effectLst/>
                        </a:rPr>
                        <a:t>SLAKE = bilingual medical VQA </a:t>
                      </a:r>
                      <a:endParaRPr lang="en-US" sz="1300" b="0" i="0" dirty="0">
                        <a:solidFill>
                          <a:srgbClr val="CCCCCC"/>
                        </a:solidFill>
                        <a:effectLst/>
                        <a:latin typeface="-apple-system"/>
                      </a:endParaRPr>
                    </a:p>
                  </a:txBody>
                  <a:tcPr marL="95250" marR="95250" marT="47625" marB="47625" anchor="ctr"/>
                </a:tc>
                <a:tc>
                  <a:txBody>
                    <a:bodyPr/>
                    <a:lstStyle/>
                    <a:p>
                      <a:pPr algn="l">
                        <a:buNone/>
                      </a:pPr>
                      <a:r>
                        <a:rPr lang="en-US" sz="1300" u="none" strike="noStrike">
                          <a:effectLst/>
                          <a:hlinkClick r:id="rId5"/>
                        </a:rPr>
                        <a:t>Lau et al., Nature Scientific Data 2018</a:t>
                      </a:r>
                      <a:r>
                        <a:rPr lang="en-US" sz="1300">
                          <a:effectLst/>
                        </a:rPr>
                        <a:t>; </a:t>
                      </a:r>
                      <a:r>
                        <a:rPr lang="en-US" sz="1300" u="none" strike="noStrike">
                          <a:effectLst/>
                          <a:hlinkClick r:id="rId6"/>
                        </a:rPr>
                        <a:t>Liu et al., arXiv:2102.09542</a:t>
                      </a:r>
                      <a:endParaRPr lang="en-US" sz="1300" b="0" i="0">
                        <a:solidFill>
                          <a:srgbClr val="CCCCCC"/>
                        </a:solidFill>
                        <a:effectLst/>
                        <a:latin typeface="-apple-system"/>
                      </a:endParaRPr>
                    </a:p>
                  </a:txBody>
                  <a:tcPr marL="95250" marR="95250" marT="47625" marB="47625" anchor="ctr"/>
                </a:tc>
                <a:extLst>
                  <a:ext uri="{0D108BD9-81ED-4DB2-BD59-A6C34878D82A}">
                    <a16:rowId xmlns:a16="http://schemas.microsoft.com/office/drawing/2014/main" val="2182963597"/>
                  </a:ext>
                </a:extLst>
              </a:tr>
              <a:tr h="1488491">
                <a:tc>
                  <a:txBody>
                    <a:bodyPr/>
                    <a:lstStyle/>
                    <a:p>
                      <a:pPr algn="l">
                        <a:buNone/>
                      </a:pPr>
                      <a:r>
                        <a:rPr lang="en-US" sz="1300">
                          <a:effectLst/>
                        </a:rPr>
                        <a:t>4</a:t>
                      </a:r>
                      <a:endParaRPr lang="en-US" sz="1300" b="0" i="0">
                        <a:solidFill>
                          <a:srgbClr val="CCCCCC"/>
                        </a:solidFill>
                        <a:effectLst/>
                        <a:latin typeface="-apple-system"/>
                      </a:endParaRPr>
                    </a:p>
                  </a:txBody>
                  <a:tcPr marL="95250" marR="95250" marT="47625" marB="47625" anchor="ctr"/>
                </a:tc>
                <a:tc>
                  <a:txBody>
                    <a:bodyPr/>
                    <a:lstStyle/>
                    <a:p>
                      <a:pPr algn="l">
                        <a:buNone/>
                      </a:pPr>
                      <a:r>
                        <a:rPr lang="en-US" sz="1300">
                          <a:effectLst/>
                        </a:rPr>
                        <a:t>SQuAD v2 (reading comprehension)</a:t>
                      </a:r>
                      <a:endParaRPr lang="en-US" sz="1300" b="0" i="0">
                        <a:solidFill>
                          <a:srgbClr val="CCCCCC"/>
                        </a:solidFill>
                        <a:effectLst/>
                        <a:latin typeface="-apple-system"/>
                      </a:endParaRPr>
                    </a:p>
                  </a:txBody>
                  <a:tcPr marL="95250" marR="95250" marT="47625" marB="47625" anchor="ctr"/>
                </a:tc>
                <a:tc>
                  <a:txBody>
                    <a:bodyPr/>
                    <a:lstStyle/>
                    <a:p>
                      <a:pPr algn="l">
                        <a:buNone/>
                      </a:pPr>
                      <a:r>
                        <a:rPr lang="en-US" sz="1300" u="none" strike="noStrike">
                          <a:effectLst/>
                          <a:hlinkClick r:id="rId7"/>
                        </a:rPr>
                        <a:t>DocVQA</a:t>
                      </a:r>
                      <a:r>
                        <a:rPr lang="en-US" sz="1300">
                          <a:effectLst/>
                        </a:rPr>
                        <a:t> (~50,000 Q&amp;A pairs)</a:t>
                      </a:r>
                      <a:endParaRPr lang="en-US" sz="1300" b="0" i="0">
                        <a:solidFill>
                          <a:srgbClr val="CCCCCC"/>
                        </a:solidFill>
                        <a:effectLst/>
                        <a:latin typeface="-apple-system"/>
                      </a:endParaRPr>
                    </a:p>
                  </a:txBody>
                  <a:tcPr marL="95250" marR="95250" marT="47625" marB="47625" anchor="ctr"/>
                </a:tc>
                <a:tc>
                  <a:txBody>
                    <a:bodyPr/>
                    <a:lstStyle/>
                    <a:p>
                      <a:pPr algn="l">
                        <a:buNone/>
                      </a:pPr>
                      <a:r>
                        <a:rPr lang="en-US" sz="1300" dirty="0">
                          <a:effectLst/>
                        </a:rPr>
                        <a:t>Dense document OCR and layout reasoning. Directly tests extractive reading comprehension on visual documents. </a:t>
                      </a:r>
                      <a:r>
                        <a:rPr lang="en-US" sz="1300" b="0" i="0" kern="1200" dirty="0">
                          <a:solidFill>
                            <a:schemeClr val="dk1"/>
                          </a:solidFill>
                          <a:effectLst/>
                          <a:latin typeface="+mn-lt"/>
                          <a:ea typeface="+mn-ea"/>
                          <a:cs typeface="+mn-cs"/>
                        </a:rPr>
                        <a:t>Multimodal document understanding analogue; unlike SQuAD, it adds OCR and layout reasoning.</a:t>
                      </a:r>
                      <a:endParaRPr lang="en-US" sz="1300" b="0" i="0" dirty="0">
                        <a:solidFill>
                          <a:srgbClr val="CCCCCC"/>
                        </a:solidFill>
                        <a:effectLst/>
                        <a:latin typeface="-apple-system"/>
                      </a:endParaRPr>
                    </a:p>
                  </a:txBody>
                  <a:tcPr marL="95250" marR="95250" marT="47625" marB="47625" anchor="ctr"/>
                </a:tc>
                <a:tc>
                  <a:txBody>
                    <a:bodyPr/>
                    <a:lstStyle/>
                    <a:p>
                      <a:pPr algn="l">
                        <a:buNone/>
                      </a:pPr>
                      <a:r>
                        <a:rPr lang="en-US" sz="1300" u="none" strike="noStrike" dirty="0">
                          <a:effectLst/>
                          <a:hlinkClick r:id="rId7"/>
                        </a:rPr>
                        <a:t>Mathew et al., arXiv:2007.00398</a:t>
                      </a:r>
                      <a:endParaRPr lang="en-US" sz="1300" b="0" i="0" dirty="0">
                        <a:solidFill>
                          <a:srgbClr val="CCCCCC"/>
                        </a:solidFill>
                        <a:effectLst/>
                        <a:latin typeface="-apple-system"/>
                      </a:endParaRPr>
                    </a:p>
                  </a:txBody>
                  <a:tcPr marL="95250" marR="95250" marT="47625" marB="47625" anchor="ctr"/>
                </a:tc>
                <a:extLst>
                  <a:ext uri="{0D108BD9-81ED-4DB2-BD59-A6C34878D82A}">
                    <a16:rowId xmlns:a16="http://schemas.microsoft.com/office/drawing/2014/main" val="3516579574"/>
                  </a:ext>
                </a:extLst>
              </a:tr>
            </a:tbl>
          </a:graphicData>
        </a:graphic>
      </p:graphicFrame>
    </p:spTree>
    <p:extLst>
      <p:ext uri="{BB962C8B-B14F-4D97-AF65-F5344CB8AC3E}">
        <p14:creationId xmlns:p14="http://schemas.microsoft.com/office/powerpoint/2010/main" val="33199380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FDCA3-29A9-685C-B512-00C1456035B0}"/>
              </a:ext>
            </a:extLst>
          </p:cNvPr>
          <p:cNvSpPr>
            <a:spLocks noGrp="1"/>
          </p:cNvSpPr>
          <p:nvPr>
            <p:ph type="title"/>
          </p:nvPr>
        </p:nvSpPr>
        <p:spPr/>
        <p:txBody>
          <a:bodyPr/>
          <a:lstStyle/>
          <a:p>
            <a:r>
              <a:rPr lang="en-US" dirty="0"/>
              <a:t>Implementation Plan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943870-9F61-A12C-A20F-73A9AA6719CB}"/>
                  </a:ext>
                </a:extLst>
              </p:cNvPr>
              <p:cNvSpPr>
                <a:spLocks noGrp="1"/>
              </p:cNvSpPr>
              <p:nvPr>
                <p:ph idx="1"/>
              </p:nvPr>
            </p:nvSpPr>
            <p:spPr/>
            <p:txBody>
              <a:bodyPr>
                <a:normAutofit/>
              </a:bodyPr>
              <a:lstStyle/>
              <a:p>
                <a:pPr lvl="1"/>
                <a:r>
                  <a:rPr lang="en-US" b="1" dirty="0"/>
                  <a:t>Colab T4:</a:t>
                </a:r>
                <a:r>
                  <a:rPr lang="en-US" dirty="0"/>
                  <a:t> </a:t>
                </a:r>
              </a:p>
              <a:p>
                <a:pPr lvl="2"/>
                <a:r>
                  <a:rPr lang="en-US" i="1" dirty="0"/>
                  <a:t>Model:</a:t>
                </a:r>
                <a:r>
                  <a:rPr lang="en-US" dirty="0"/>
                  <a:t> Qwen2-VL-2B-Instruct (4-bit </a:t>
                </a:r>
                <a:r>
                  <a:rPr lang="en-US" dirty="0" err="1"/>
                  <a:t>QLoRA</a:t>
                </a:r>
                <a:r>
                  <a:rPr lang="en-US" dirty="0"/>
                  <a:t>, frozen </a:t>
                </a:r>
                <a:r>
                  <a:rPr lang="en-US" dirty="0" err="1"/>
                  <a:t>ViT</a:t>
                </a:r>
                <a:r>
                  <a:rPr lang="en-US" dirty="0"/>
                  <a:t>).</a:t>
                </a:r>
              </a:p>
              <a:p>
                <a:pPr lvl="2"/>
                <a:r>
                  <a:rPr lang="en-US" i="1" dirty="0"/>
                  <a:t>Pilot Run:</a:t>
                </a:r>
                <a:r>
                  <a:rPr lang="en-US" dirty="0"/>
                  <a:t> 1 task (LLaVA-Instruct-150K subset, N=1,000).</a:t>
                </a:r>
              </a:p>
              <a:p>
                <a:pPr lvl="2"/>
                <a:r>
                  <a:rPr lang="en-US" i="1" dirty="0"/>
                  <a:t>Core Hypothesis Test:</a:t>
                </a:r>
                <a:r>
                  <a:rPr lang="en-US" dirty="0"/>
                  <a:t> Does High-</a:t>
                </a:r>
                <a:r>
                  <a:rPr lang="en-US" b="1" dirty="0"/>
                  <a:t> </a:t>
                </a:r>
                <a14:m>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𝑮</m:t>
                        </m:r>
                      </m:e>
                      <m:sub>
                        <m:r>
                          <a:rPr lang="en-US" b="1" i="1" dirty="0" smtClean="0">
                            <a:latin typeface="Cambria Math" panose="02040503050406030204" pitchFamily="18" charset="0"/>
                          </a:rPr>
                          <m:t>𝒊</m:t>
                        </m:r>
                      </m:sub>
                    </m:sSub>
                    <m:r>
                      <a:rPr lang="en-US" b="1" i="1" dirty="0" smtClean="0">
                        <a:latin typeface="Cambria Math" panose="02040503050406030204" pitchFamily="18" charset="0"/>
                      </a:rPr>
                      <m:t> </m:t>
                    </m:r>
                  </m:oMath>
                </a14:m>
                <a:r>
                  <a:rPr lang="en-US" dirty="0"/>
                  <a:t>induce higher ASR than Moderate-</a:t>
                </a:r>
                <a:r>
                  <a:rPr lang="en-US" b="1" dirty="0"/>
                  <a:t> </a:t>
                </a:r>
                <a14:m>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𝑮</m:t>
                        </m:r>
                      </m:e>
                      <m:sub>
                        <m:r>
                          <a:rPr lang="en-US" b="1" i="1" dirty="0" smtClean="0">
                            <a:latin typeface="Cambria Math" panose="02040503050406030204" pitchFamily="18" charset="0"/>
                          </a:rPr>
                          <m:t>𝒊</m:t>
                        </m:r>
                      </m:sub>
                    </m:sSub>
                  </m:oMath>
                </a14:m>
                <a:r>
                  <a:rPr lang="en-US" dirty="0"/>
                  <a:t> on FigStep and MM-</a:t>
                </a:r>
                <a:r>
                  <a:rPr lang="en-US" dirty="0" err="1"/>
                  <a:t>SafetyBench</a:t>
                </a:r>
                <a:r>
                  <a:rPr lang="en-US" dirty="0"/>
                  <a:t>?</a:t>
                </a:r>
              </a:p>
              <a:p>
                <a:pPr lvl="2"/>
                <a:r>
                  <a:rPr lang="en-US" i="1" dirty="0"/>
                  <a:t>Audit:</a:t>
                </a:r>
                <a:r>
                  <a:rPr lang="en-US" dirty="0"/>
                  <a:t> Log </a:t>
                </a:r>
                <a14:m>
                  <m:oMath xmlns:m="http://schemas.openxmlformats.org/officeDocument/2006/math">
                    <m:sSubSup>
                      <m:sSubSupPr>
                        <m:ctrlPr>
                          <a:rPr lang="en-US" b="1" i="1" dirty="0" smtClean="0">
                            <a:latin typeface="Cambria Math" panose="02040503050406030204" pitchFamily="18" charset="0"/>
                          </a:rPr>
                        </m:ctrlPr>
                      </m:sSubSupPr>
                      <m:e>
                        <m:r>
                          <a:rPr lang="en-US" b="1" i="1" dirty="0" smtClean="0">
                            <a:latin typeface="Cambria Math" panose="02040503050406030204" pitchFamily="18" charset="0"/>
                          </a:rPr>
                          <m:t>𝑮</m:t>
                        </m:r>
                      </m:e>
                      <m:sub>
                        <m:r>
                          <a:rPr lang="en-US" b="1" i="1" dirty="0" smtClean="0">
                            <a:latin typeface="Cambria Math" panose="02040503050406030204" pitchFamily="18" charset="0"/>
                          </a:rPr>
                          <m:t>𝒊</m:t>
                        </m:r>
                      </m:sub>
                      <m:sup>
                        <m:r>
                          <a:rPr lang="en-US" b="1" i="1" dirty="0" smtClean="0">
                            <a:latin typeface="Cambria Math" panose="02040503050406030204" pitchFamily="18" charset="0"/>
                          </a:rPr>
                          <m:t>(</m:t>
                        </m:r>
                        <m:r>
                          <a:rPr lang="en-US" b="1" i="1" dirty="0" smtClean="0">
                            <a:latin typeface="Cambria Math" panose="02040503050406030204" pitchFamily="18" charset="0"/>
                          </a:rPr>
                          <m:t>𝑳</m:t>
                        </m:r>
                        <m:r>
                          <a:rPr lang="en-US" b="1" i="1" dirty="0" smtClean="0">
                            <a:latin typeface="Cambria Math" panose="02040503050406030204" pitchFamily="18" charset="0"/>
                          </a:rPr>
                          <m:t>)</m:t>
                        </m:r>
                      </m:sup>
                    </m:sSubSup>
                    <m:r>
                      <a:rPr lang="en-US" b="1" i="1" dirty="0" smtClean="0">
                        <a:latin typeface="Cambria Math" panose="02040503050406030204" pitchFamily="18" charset="0"/>
                      </a:rPr>
                      <m:t>  </m:t>
                    </m:r>
                    <m:r>
                      <a:rPr lang="en-US" b="1" i="1" dirty="0" smtClean="0">
                        <a:latin typeface="Cambria Math" panose="02040503050406030204" pitchFamily="18" charset="0"/>
                      </a:rPr>
                      <m:t>𝒗𝒔</m:t>
                    </m:r>
                    <m:r>
                      <a:rPr lang="en-US" b="1" i="1" dirty="0" smtClean="0">
                        <a:latin typeface="Cambria Math" panose="02040503050406030204" pitchFamily="18" charset="0"/>
                      </a:rPr>
                      <m:t>.   </m:t>
                    </m:r>
                    <m:sSubSup>
                      <m:sSubSupPr>
                        <m:ctrlPr>
                          <a:rPr lang="en-US" b="1" i="1" dirty="0" smtClean="0">
                            <a:latin typeface="Cambria Math" panose="02040503050406030204" pitchFamily="18" charset="0"/>
                          </a:rPr>
                        </m:ctrlPr>
                      </m:sSubSupPr>
                      <m:e>
                        <m:r>
                          <a:rPr lang="en-US" b="1" i="1" dirty="0" smtClean="0">
                            <a:latin typeface="Cambria Math" panose="02040503050406030204" pitchFamily="18" charset="0"/>
                          </a:rPr>
                          <m:t>𝑮</m:t>
                        </m:r>
                      </m:e>
                      <m:sub>
                        <m:r>
                          <a:rPr lang="en-US" b="1" i="1" dirty="0" smtClean="0">
                            <a:latin typeface="Cambria Math" panose="02040503050406030204" pitchFamily="18" charset="0"/>
                          </a:rPr>
                          <m:t>𝒊</m:t>
                        </m:r>
                      </m:sub>
                      <m:sup>
                        <m:r>
                          <a:rPr lang="en-US" b="1" i="1" dirty="0" smtClean="0">
                            <a:latin typeface="Cambria Math" panose="02040503050406030204" pitchFamily="18" charset="0"/>
                          </a:rPr>
                          <m:t>(</m:t>
                        </m:r>
                        <m:r>
                          <a:rPr lang="en-US" b="1" i="1" dirty="0" smtClean="0">
                            <a:latin typeface="Cambria Math" panose="02040503050406030204" pitchFamily="18" charset="0"/>
                          </a:rPr>
                          <m:t>𝑷</m:t>
                        </m:r>
                        <m:r>
                          <a:rPr lang="en-US" b="1" i="1" dirty="0" smtClean="0">
                            <a:latin typeface="Cambria Math" panose="02040503050406030204" pitchFamily="18" charset="0"/>
                          </a:rPr>
                          <m:t>)</m:t>
                        </m:r>
                      </m:sup>
                    </m:sSubSup>
                  </m:oMath>
                </a14:m>
                <a:r>
                  <a:rPr lang="en-US" dirty="0"/>
                  <a:t> distributions.</a:t>
                </a:r>
              </a:p>
              <a:p>
                <a:pPr lvl="1"/>
                <a:r>
                  <a:rPr lang="en-US" b="1" dirty="0"/>
                  <a:t>PSU Campus Cluster:</a:t>
                </a:r>
                <a:r>
                  <a:rPr lang="en-US" dirty="0"/>
                  <a:t> </a:t>
                </a:r>
              </a:p>
              <a:p>
                <a:pPr lvl="2"/>
                <a:r>
                  <a:rPr lang="en-US" dirty="0"/>
                  <a:t>Run full 4-task continual pipeline across 3 random seeds.</a:t>
                </a:r>
              </a:p>
              <a:p>
                <a:pPr lvl="2"/>
                <a:r>
                  <a:rPr lang="en-US" dirty="0"/>
                  <a:t>Evaluate full benchmark suite (MM-</a:t>
                </a:r>
                <a:r>
                  <a:rPr lang="en-US" dirty="0" err="1"/>
                  <a:t>SafetyBench</a:t>
                </a:r>
                <a:r>
                  <a:rPr lang="en-US" dirty="0"/>
                  <a:t>, FigStep, JailBreakV-28K, </a:t>
                </a:r>
                <a:r>
                  <a:rPr lang="en-US" dirty="0" err="1"/>
                  <a:t>MMHal</a:t>
                </a:r>
                <a:r>
                  <a:rPr lang="en-US" dirty="0"/>
                  <a:t>-Bench).</a:t>
                </a:r>
              </a:p>
              <a:p>
                <a:pPr lvl="2"/>
                <a:r>
                  <a:rPr lang="en-US" dirty="0"/>
                  <a:t>Execute ablation over </a:t>
                </a:r>
                <a14:m>
                  <m:oMath xmlns:m="http://schemas.openxmlformats.org/officeDocument/2006/math">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𝑙𝑎𝑛𝑔𝑢𝑎𝑔𝑒</m:t>
                        </m:r>
                        <m:r>
                          <a:rPr lang="en-US" b="0" i="1" dirty="0" smtClean="0">
                            <a:latin typeface="Cambria Math" panose="02040503050406030204" pitchFamily="18" charset="0"/>
                          </a:rPr>
                          <m:t> </m:t>
                        </m:r>
                        <m:r>
                          <a:rPr lang="en-US" b="0" i="1" dirty="0" smtClean="0">
                            <a:latin typeface="Cambria Math" panose="02040503050406030204" pitchFamily="18" charset="0"/>
                          </a:rPr>
                          <m:t>𝐿𝑜𝑅𝐴</m:t>
                        </m:r>
                        <m:r>
                          <a:rPr lang="en-US" b="0" i="1" dirty="0" smtClean="0">
                            <a:latin typeface="Cambria Math" panose="02040503050406030204" pitchFamily="18" charset="0"/>
                          </a:rPr>
                          <m:t> </m:t>
                        </m:r>
                        <m:r>
                          <a:rPr lang="en-US" b="0" i="1" dirty="0" smtClean="0">
                            <a:latin typeface="Cambria Math" panose="02040503050406030204" pitchFamily="18" charset="0"/>
                          </a:rPr>
                          <m:t>𝑎𝑙𝑜𝑛𝑒</m:t>
                        </m:r>
                        <m:r>
                          <a:rPr lang="en-US" b="0" i="1" dirty="0" smtClean="0">
                            <a:latin typeface="Cambria Math" panose="02040503050406030204" pitchFamily="18" charset="0"/>
                          </a:rPr>
                          <m:t> </m:t>
                        </m:r>
                        <m:r>
                          <a:rPr lang="en-US" b="1" i="1" dirty="0" smtClean="0">
                            <a:latin typeface="Cambria Math" panose="02040503050406030204" pitchFamily="18" charset="0"/>
                          </a:rPr>
                          <m:t>𝑮</m:t>
                        </m:r>
                      </m:e>
                      <m:sub>
                        <m:r>
                          <a:rPr lang="en-US" b="1" i="1" dirty="0" smtClean="0">
                            <a:latin typeface="Cambria Math" panose="02040503050406030204" pitchFamily="18" charset="0"/>
                          </a:rPr>
                          <m:t>𝒊</m:t>
                        </m:r>
                      </m:sub>
                      <m:sup>
                        <m:r>
                          <a:rPr lang="en-US" b="1" i="1" dirty="0" smtClean="0">
                            <a:latin typeface="Cambria Math" panose="02040503050406030204" pitchFamily="18" charset="0"/>
                          </a:rPr>
                          <m:t>(</m:t>
                        </m:r>
                        <m:r>
                          <a:rPr lang="en-US" b="1" i="1" dirty="0" smtClean="0">
                            <a:latin typeface="Cambria Math" panose="02040503050406030204" pitchFamily="18" charset="0"/>
                          </a:rPr>
                          <m:t>𝑳</m:t>
                        </m:r>
                        <m:r>
                          <a:rPr lang="en-US" b="1" i="1" dirty="0" smtClean="0">
                            <a:latin typeface="Cambria Math" panose="02040503050406030204" pitchFamily="18" charset="0"/>
                          </a:rPr>
                          <m:t>)</m:t>
                        </m:r>
                      </m:sup>
                    </m:sSubSup>
                    <m:r>
                      <a:rPr lang="en-US" b="1" i="1" dirty="0" smtClean="0">
                        <a:latin typeface="Cambria Math" panose="02040503050406030204" pitchFamily="18" charset="0"/>
                      </a:rPr>
                      <m:t> , </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𝑝𝑟𝑜𝑗𝑒𝑐𝑡𝑜𝑟</m:t>
                        </m:r>
                        <m:r>
                          <a:rPr lang="en-US" b="0" i="1" dirty="0" smtClean="0">
                            <a:latin typeface="Cambria Math" panose="02040503050406030204" pitchFamily="18" charset="0"/>
                          </a:rPr>
                          <m:t> </m:t>
                        </m:r>
                        <m:r>
                          <a:rPr lang="en-US" b="0" i="1" dirty="0" smtClean="0">
                            <a:latin typeface="Cambria Math" panose="02040503050406030204" pitchFamily="18" charset="0"/>
                          </a:rPr>
                          <m:t>𝑎𝑙𝑜𝑛𝑒</m:t>
                        </m:r>
                        <m:r>
                          <a:rPr lang="en-US" b="0" i="1" dirty="0" smtClean="0">
                            <a:latin typeface="Cambria Math" panose="02040503050406030204" pitchFamily="18" charset="0"/>
                          </a:rPr>
                          <m:t> </m:t>
                        </m:r>
                        <m:r>
                          <a:rPr lang="en-US" b="1" i="1" dirty="0" smtClean="0">
                            <a:latin typeface="Cambria Math" panose="02040503050406030204" pitchFamily="18" charset="0"/>
                          </a:rPr>
                          <m:t>𝑮</m:t>
                        </m:r>
                      </m:e>
                      <m:sub>
                        <m:r>
                          <a:rPr lang="en-US" b="1" i="1" dirty="0" smtClean="0">
                            <a:latin typeface="Cambria Math" panose="02040503050406030204" pitchFamily="18" charset="0"/>
                          </a:rPr>
                          <m:t>𝒊</m:t>
                        </m:r>
                      </m:sub>
                      <m:sup>
                        <m:r>
                          <a:rPr lang="en-US" b="1" i="1" dirty="0" smtClean="0">
                            <a:latin typeface="Cambria Math" panose="02040503050406030204" pitchFamily="18" charset="0"/>
                          </a:rPr>
                          <m:t>(</m:t>
                        </m:r>
                        <m:r>
                          <a:rPr lang="en-US" b="1" i="1" dirty="0" smtClean="0">
                            <a:latin typeface="Cambria Math" panose="02040503050406030204" pitchFamily="18" charset="0"/>
                          </a:rPr>
                          <m:t>𝑷</m:t>
                        </m:r>
                        <m:r>
                          <a:rPr lang="en-US" b="1" i="1" dirty="0" smtClean="0">
                            <a:latin typeface="Cambria Math" panose="02040503050406030204" pitchFamily="18" charset="0"/>
                          </a:rPr>
                          <m:t>)</m:t>
                        </m:r>
                      </m:sup>
                    </m:sSubSup>
                    <m:r>
                      <a:rPr lang="en-US" b="1" i="1" dirty="0" smtClean="0">
                        <a:latin typeface="Cambria Math" panose="02040503050406030204" pitchFamily="18" charset="0"/>
                      </a:rPr>
                      <m:t>,  </m:t>
                    </m:r>
                    <m:r>
                      <a:rPr lang="en-US" b="0" i="1" dirty="0" smtClean="0">
                        <a:latin typeface="Cambria Math" panose="02040503050406030204" pitchFamily="18" charset="0"/>
                      </a:rPr>
                      <m:t>𝑎𝑛𝑑</m:t>
                    </m:r>
                    <m:r>
                      <a:rPr lang="en-US" b="0" i="1" dirty="0" smtClean="0">
                        <a:latin typeface="Cambria Math" panose="02040503050406030204" pitchFamily="18" charset="0"/>
                      </a:rPr>
                      <m:t> </m:t>
                    </m:r>
                    <m:r>
                      <a:rPr lang="en-US" b="0" i="1" dirty="0" smtClean="0">
                        <a:latin typeface="Cambria Math" panose="02040503050406030204" pitchFamily="18" charset="0"/>
                      </a:rPr>
                      <m:t>𝑗𝑜𝑖𝑛𝑡</m:t>
                    </m:r>
                    <m:r>
                      <a:rPr lang="en-US" b="0" i="1" dirty="0" smtClean="0">
                        <a:latin typeface="Cambria Math" panose="02040503050406030204" pitchFamily="18" charset="0"/>
                      </a:rPr>
                      <m:t> </m:t>
                    </m:r>
                    <m:r>
                      <a:rPr lang="en-US" b="0" i="1" dirty="0" smtClean="0">
                        <a:latin typeface="Cambria Math" panose="02040503050406030204" pitchFamily="18" charset="0"/>
                      </a:rPr>
                      <m:t>𝑎𝑡𝑡𝑟𝑖𝑏𝑢𝑡𝑖𝑜𝑛</m:t>
                    </m:r>
                    <m:r>
                      <a:rPr lang="en-US" b="0" i="1" dirty="0" smtClean="0">
                        <a:latin typeface="Cambria Math" panose="02040503050406030204" pitchFamily="18" charset="0"/>
                      </a:rPr>
                      <m:t> </m:t>
                    </m:r>
                    <m:sSubSup>
                      <m:sSubSupPr>
                        <m:ctrlPr>
                          <a:rPr lang="en-US" b="1" i="1" dirty="0" smtClean="0">
                            <a:latin typeface="Cambria Math" panose="02040503050406030204" pitchFamily="18" charset="0"/>
                          </a:rPr>
                        </m:ctrlPr>
                      </m:sSubSupPr>
                      <m:e>
                        <m:r>
                          <a:rPr lang="en-US" b="1" i="1" dirty="0" smtClean="0">
                            <a:latin typeface="Cambria Math" panose="02040503050406030204" pitchFamily="18" charset="0"/>
                          </a:rPr>
                          <m:t>𝑮</m:t>
                        </m:r>
                      </m:e>
                      <m:sub>
                        <m:r>
                          <a:rPr lang="en-US" b="1" i="1" dirty="0" smtClean="0">
                            <a:latin typeface="Cambria Math" panose="02040503050406030204" pitchFamily="18" charset="0"/>
                          </a:rPr>
                          <m:t>𝒊</m:t>
                        </m:r>
                      </m:sub>
                      <m:sup>
                        <m:r>
                          <a:rPr lang="en-US" b="1" i="1" dirty="0" smtClean="0">
                            <a:latin typeface="Cambria Math" panose="02040503050406030204" pitchFamily="18" charset="0"/>
                          </a:rPr>
                          <m:t>(</m:t>
                        </m:r>
                        <m:r>
                          <a:rPr lang="en-US" b="1" i="1" dirty="0" smtClean="0">
                            <a:latin typeface="Cambria Math" panose="02040503050406030204" pitchFamily="18" charset="0"/>
                          </a:rPr>
                          <m:t>𝑱</m:t>
                        </m:r>
                        <m:r>
                          <a:rPr lang="en-US" b="1" i="1" dirty="0" smtClean="0">
                            <a:latin typeface="Cambria Math" panose="02040503050406030204" pitchFamily="18" charset="0"/>
                          </a:rPr>
                          <m:t>)</m:t>
                        </m:r>
                      </m:sup>
                    </m:sSubSup>
                  </m:oMath>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F2943870-9F61-A12C-A20F-73A9AA6719CB}"/>
                  </a:ext>
                </a:extLst>
              </p:cNvPr>
              <p:cNvSpPr>
                <a:spLocks noGrp="1" noRot="1" noChangeAspect="1" noMove="1" noResize="1" noEditPoints="1" noAdjustHandles="1" noChangeArrowheads="1" noChangeShapeType="1" noTextEdit="1"/>
              </p:cNvSpPr>
              <p:nvPr>
                <p:ph idx="1"/>
              </p:nvPr>
            </p:nvSpPr>
            <p:spPr>
              <a:blipFill>
                <a:blip r:embed="rId3"/>
                <a:stretch>
                  <a:fillRect t="-2035"/>
                </a:stretch>
              </a:blipFill>
            </p:spPr>
            <p:txBody>
              <a:bodyPr/>
              <a:lstStyle/>
              <a:p>
                <a:r>
                  <a:rPr lang="en-US">
                    <a:noFill/>
                  </a:rPr>
                  <a:t> </a:t>
                </a:r>
              </a:p>
            </p:txBody>
          </p:sp>
        </mc:Fallback>
      </mc:AlternateContent>
    </p:spTree>
    <p:extLst>
      <p:ext uri="{BB962C8B-B14F-4D97-AF65-F5344CB8AC3E}">
        <p14:creationId xmlns:p14="http://schemas.microsoft.com/office/powerpoint/2010/main" val="3360614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01FF1-6CC1-E94F-ED78-FA4D3A458B5D}"/>
              </a:ext>
            </a:extLst>
          </p:cNvPr>
          <p:cNvSpPr>
            <a:spLocks noGrp="1"/>
          </p:cNvSpPr>
          <p:nvPr>
            <p:ph type="title"/>
          </p:nvPr>
        </p:nvSpPr>
        <p:spPr/>
        <p:txBody>
          <a:bodyPr/>
          <a:lstStyle/>
          <a:p>
            <a:r>
              <a:rPr lang="en-US" dirty="0"/>
              <a:t>Implementation Plan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3B2E59-E0EB-A0D9-15A8-B15D87217332}"/>
                  </a:ext>
                </a:extLst>
              </p:cNvPr>
              <p:cNvSpPr>
                <a:spLocks noGrp="1"/>
              </p:cNvSpPr>
              <p:nvPr>
                <p:ph idx="1"/>
              </p:nvPr>
            </p:nvSpPr>
            <p:spPr>
              <a:xfrm>
                <a:off x="838200" y="1825625"/>
                <a:ext cx="10515600" cy="4749836"/>
              </a:xfrm>
            </p:spPr>
            <p:txBody>
              <a:bodyPr>
                <a:normAutofit fontScale="85000" lnSpcReduction="10000"/>
              </a:bodyPr>
              <a:lstStyle/>
              <a:p>
                <a:pPr lvl="0"/>
                <a:r>
                  <a:rPr lang="en-US" b="1" dirty="0"/>
                  <a:t>Model Selection:</a:t>
                </a:r>
                <a:r>
                  <a:rPr lang="en-US" dirty="0"/>
                  <a:t> Qwen2-VL-2B-Instruct shares the Qwen family architecture analyzed in the paper and keeps memory requirements low.</a:t>
                </a:r>
              </a:p>
              <a:p>
                <a:pPr lvl="0"/>
                <a:r>
                  <a:rPr lang="en-US" b="1" dirty="0" err="1"/>
                  <a:t>LoRA</a:t>
                </a:r>
                <a:r>
                  <a:rPr lang="en-US" b="1" dirty="0"/>
                  <a:t> Strategy:</a:t>
                </a:r>
                <a:r>
                  <a:rPr lang="en-US" dirty="0"/>
                  <a:t> Target q_proj, v_proj, k_proj, o_proj, and gate_proj, up_proj, down_proj in the LLM backbone. Pilot configuration is subject to hardware and implementation validation.</a:t>
                </a:r>
              </a:p>
              <a:p>
                <a:pPr lvl="0"/>
                <a:r>
                  <a:rPr lang="en-US" b="1" dirty="0"/>
                  <a:t>Phase 2 Proof-of-Concept Target:</a:t>
                </a:r>
                <a:r>
                  <a:rPr lang="en-US" dirty="0"/>
                  <a:t> </a:t>
                </a:r>
              </a:p>
              <a:p>
                <a:pPr lvl="1"/>
                <a:r>
                  <a:rPr lang="en-US" dirty="0"/>
                  <a:t>Base Model: Qwen2-VL-2B-Instruct.</a:t>
                </a:r>
              </a:p>
              <a:p>
                <a:pPr lvl="1"/>
                <a:r>
                  <a:rPr lang="en-US" dirty="0"/>
                  <a:t>Dataset: Single task (e.g., 2,000 samples of LLaVA-Instruct-150K or MathVista).</a:t>
                </a:r>
              </a:p>
              <a:p>
                <a:pPr lvl="1"/>
                <a:r>
                  <a:rPr lang="en-US" dirty="0"/>
                  <a:t>Metric to record: ASR on a subset of MM-</a:t>
                </a:r>
                <a:r>
                  <a:rPr lang="en-US" dirty="0" err="1"/>
                  <a:t>SafetyBench</a:t>
                </a:r>
                <a:r>
                  <a:rPr lang="en-US" dirty="0"/>
                  <a:t> + Task Accuracy before vs. after fine-tuning using: </a:t>
                </a:r>
              </a:p>
              <a:p>
                <a:pPr lvl="2"/>
                <a:r>
                  <a:rPr lang="en-US" dirty="0"/>
                  <a:t>Standard Fine-Tuning (All samples)</a:t>
                </a:r>
              </a:p>
              <a:p>
                <a:pPr lvl="2"/>
                <a:r>
                  <a:rPr lang="en-US" dirty="0"/>
                  <a:t>Random Selection (20% samples)</a:t>
                </a:r>
              </a:p>
              <a:p>
                <a:pPr lvl="2"/>
                <a:r>
                  <a:rPr lang="en-US" dirty="0"/>
                  <a:t>Moderate-</a:t>
                </a:r>
                <a:r>
                  <a:rPr lang="en-US" b="1" dirty="0"/>
                  <a:t> </a:t>
                </a:r>
                <a14:m>
                  <m:oMath xmlns:m="http://schemas.openxmlformats.org/officeDocument/2006/math">
                    <m:sSub>
                      <m:sSubPr>
                        <m:ctrlPr>
                          <a:rPr lang="en-US" b="1" i="1" dirty="0">
                            <a:latin typeface="Cambria Math" panose="02040503050406030204" pitchFamily="18" charset="0"/>
                          </a:rPr>
                        </m:ctrlPr>
                      </m:sSubPr>
                      <m:e>
                        <m:r>
                          <a:rPr lang="en-US" b="1" i="1" dirty="0">
                            <a:latin typeface="Cambria Math" panose="02040503050406030204" pitchFamily="18" charset="0"/>
                          </a:rPr>
                          <m:t>𝑮</m:t>
                        </m:r>
                      </m:e>
                      <m:sub>
                        <m:r>
                          <a:rPr lang="en-US" b="1" i="1" dirty="0">
                            <a:latin typeface="Cambria Math" panose="02040503050406030204" pitchFamily="18" charset="0"/>
                          </a:rPr>
                          <m:t>𝒊</m:t>
                        </m:r>
                      </m:sub>
                    </m:sSub>
                  </m:oMath>
                </a14:m>
                <a:r>
                  <a:rPr lang="en-US" dirty="0"/>
                  <a:t> Selection (Ours, 20% closest to median </a:t>
                </a:r>
                <a14:m>
                  <m:oMath xmlns:m="http://schemas.openxmlformats.org/officeDocument/2006/math">
                    <m:sSub>
                      <m:sSubPr>
                        <m:ctrlPr>
                          <a:rPr lang="en-US" b="1" i="1" dirty="0">
                            <a:latin typeface="Cambria Math" panose="02040503050406030204" pitchFamily="18" charset="0"/>
                          </a:rPr>
                        </m:ctrlPr>
                      </m:sSubPr>
                      <m:e>
                        <m:r>
                          <a:rPr lang="en-US" b="1" i="1" dirty="0">
                            <a:latin typeface="Cambria Math" panose="02040503050406030204" pitchFamily="18" charset="0"/>
                          </a:rPr>
                          <m:t>𝑮</m:t>
                        </m:r>
                      </m:e>
                      <m:sub>
                        <m:r>
                          <a:rPr lang="en-US" b="1" i="1" dirty="0">
                            <a:latin typeface="Cambria Math" panose="02040503050406030204" pitchFamily="18" charset="0"/>
                          </a:rPr>
                          <m:t>𝒊</m:t>
                        </m:r>
                      </m:sub>
                    </m:sSub>
                  </m:oMath>
                </a14:m>
                <a:r>
                  <a:rPr lang="en-US" dirty="0"/>
                  <a:t>)</a:t>
                </a:r>
              </a:p>
              <a:p>
                <a:pPr lvl="1"/>
                <a:r>
                  <a:rPr lang="en-US" i="1" dirty="0"/>
                  <a:t>Success Criterion:</a:t>
                </a:r>
                <a:r>
                  <a:rPr lang="en-US" dirty="0"/>
                  <a:t> Confirming that Moderate-</a:t>
                </a:r>
                <a:r>
                  <a:rPr lang="en-US" b="1" dirty="0"/>
                  <a:t> </a:t>
                </a:r>
                <a14:m>
                  <m:oMath xmlns:m="http://schemas.openxmlformats.org/officeDocument/2006/math">
                    <m:sSub>
                      <m:sSubPr>
                        <m:ctrlPr>
                          <a:rPr lang="en-US" b="1" i="1" dirty="0">
                            <a:latin typeface="Cambria Math" panose="02040503050406030204" pitchFamily="18" charset="0"/>
                          </a:rPr>
                        </m:ctrlPr>
                      </m:sSubPr>
                      <m:e>
                        <m:r>
                          <a:rPr lang="en-US" b="1" i="1" dirty="0">
                            <a:latin typeface="Cambria Math" panose="02040503050406030204" pitchFamily="18" charset="0"/>
                          </a:rPr>
                          <m:t>𝑮</m:t>
                        </m:r>
                      </m:e>
                      <m:sub>
                        <m:r>
                          <a:rPr lang="en-US" b="1" i="1" dirty="0">
                            <a:latin typeface="Cambria Math" panose="02040503050406030204" pitchFamily="18" charset="0"/>
                          </a:rPr>
                          <m:t>𝒊</m:t>
                        </m:r>
                      </m:sub>
                    </m:sSub>
                  </m:oMath>
                </a14:m>
                <a:r>
                  <a:rPr lang="en-US" dirty="0"/>
                  <a:t> preserves lower ASR than Standard/Random fine-tuning while keeping comparable task performance on the VLM.</a:t>
                </a:r>
              </a:p>
              <a:p>
                <a:endParaRPr lang="en-US" dirty="0"/>
              </a:p>
            </p:txBody>
          </p:sp>
        </mc:Choice>
        <mc:Fallback xmlns="">
          <p:sp>
            <p:nvSpPr>
              <p:cNvPr id="3" name="Content Placeholder 2">
                <a:extLst>
                  <a:ext uri="{FF2B5EF4-FFF2-40B4-BE49-F238E27FC236}">
                    <a16:creationId xmlns:a16="http://schemas.microsoft.com/office/drawing/2014/main" id="{223B2E59-E0EB-A0D9-15A8-B15D87217332}"/>
                  </a:ext>
                </a:extLst>
              </p:cNvPr>
              <p:cNvSpPr>
                <a:spLocks noGrp="1" noRot="1" noChangeAspect="1" noMove="1" noResize="1" noEditPoints="1" noAdjustHandles="1" noChangeArrowheads="1" noChangeShapeType="1" noTextEdit="1"/>
              </p:cNvSpPr>
              <p:nvPr>
                <p:ph idx="1"/>
              </p:nvPr>
            </p:nvSpPr>
            <p:spPr>
              <a:xfrm>
                <a:off x="838200" y="1825625"/>
                <a:ext cx="10515600" cy="4749836"/>
              </a:xfrm>
              <a:blipFill>
                <a:blip r:embed="rId3"/>
                <a:stretch>
                  <a:fillRect l="-844" t="-2400" b="-267"/>
                </a:stretch>
              </a:blipFill>
            </p:spPr>
            <p:txBody>
              <a:bodyPr/>
              <a:lstStyle/>
              <a:p>
                <a:r>
                  <a:rPr lang="en-US">
                    <a:noFill/>
                  </a:rPr>
                  <a:t> </a:t>
                </a:r>
              </a:p>
            </p:txBody>
          </p:sp>
        </mc:Fallback>
      </mc:AlternateContent>
    </p:spTree>
    <p:extLst>
      <p:ext uri="{BB962C8B-B14F-4D97-AF65-F5344CB8AC3E}">
        <p14:creationId xmlns:p14="http://schemas.microsoft.com/office/powerpoint/2010/main" val="38183249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5A2B5-C69D-FF1A-D7CB-FC0EEDFEEA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26676C-84DD-4677-1EDD-56B0BE36FC03}"/>
              </a:ext>
            </a:extLst>
          </p:cNvPr>
          <p:cNvSpPr>
            <a:spLocks noGrp="1"/>
          </p:cNvSpPr>
          <p:nvPr>
            <p:ph type="title"/>
          </p:nvPr>
        </p:nvSpPr>
        <p:spPr/>
        <p:txBody>
          <a:bodyPr/>
          <a:lstStyle/>
          <a:p>
            <a:r>
              <a:rPr lang="en-US" dirty="0"/>
              <a:t>Safety judges for VLMs</a:t>
            </a:r>
          </a:p>
        </p:txBody>
      </p:sp>
      <p:sp>
        <p:nvSpPr>
          <p:cNvPr id="3" name="Content Placeholder 2">
            <a:extLst>
              <a:ext uri="{FF2B5EF4-FFF2-40B4-BE49-F238E27FC236}">
                <a16:creationId xmlns:a16="http://schemas.microsoft.com/office/drawing/2014/main" id="{60F4EE44-FE1C-52E2-78C8-6349F83EC346}"/>
              </a:ext>
            </a:extLst>
          </p:cNvPr>
          <p:cNvSpPr>
            <a:spLocks noGrp="1"/>
          </p:cNvSpPr>
          <p:nvPr>
            <p:ph idx="1"/>
          </p:nvPr>
        </p:nvSpPr>
        <p:spPr>
          <a:xfrm>
            <a:off x="838200" y="1500027"/>
            <a:ext cx="10515600" cy="5085708"/>
          </a:xfrm>
        </p:spPr>
        <p:txBody>
          <a:bodyPr>
            <a:normAutofit fontScale="77500" lnSpcReduction="20000"/>
          </a:bodyPr>
          <a:lstStyle/>
          <a:p>
            <a:r>
              <a:rPr lang="en-US" dirty="0"/>
              <a:t>A text-only judge can evaluate the generated answer, but it may not understand:</a:t>
            </a:r>
          </a:p>
          <a:p>
            <a:pPr lvl="1"/>
            <a:r>
              <a:rPr lang="en-US" dirty="0"/>
              <a:t>what </a:t>
            </a:r>
            <a:r>
              <a:rPr lang="en-US" u="sng" dirty="0"/>
              <a:t>harmful instruction</a:t>
            </a:r>
            <a:r>
              <a:rPr lang="en-US" dirty="0"/>
              <a:t> was embedded in the </a:t>
            </a:r>
            <a:r>
              <a:rPr lang="en-US" u="sng" dirty="0"/>
              <a:t>image</a:t>
            </a:r>
            <a:endParaRPr lang="en-US" dirty="0"/>
          </a:p>
          <a:p>
            <a:pPr lvl="1"/>
            <a:r>
              <a:rPr lang="en-US" dirty="0"/>
              <a:t>whether the model followed or ignored the </a:t>
            </a:r>
            <a:r>
              <a:rPr lang="en-US" u="sng" dirty="0"/>
              <a:t>visual instruction</a:t>
            </a:r>
          </a:p>
          <a:p>
            <a:pPr lvl="1"/>
            <a:r>
              <a:rPr lang="en-US" dirty="0"/>
              <a:t>whether the model </a:t>
            </a:r>
            <a:r>
              <a:rPr lang="en-US" u="sng" dirty="0"/>
              <a:t>misread the image</a:t>
            </a:r>
            <a:r>
              <a:rPr lang="en-US" dirty="0"/>
              <a:t>;</a:t>
            </a:r>
          </a:p>
          <a:p>
            <a:pPr lvl="1"/>
            <a:r>
              <a:rPr lang="en-US" dirty="0"/>
              <a:t>whether the answer is </a:t>
            </a:r>
            <a:r>
              <a:rPr lang="en-US" u="sng" dirty="0"/>
              <a:t>harmful only</a:t>
            </a:r>
            <a:r>
              <a:rPr lang="en-US" dirty="0"/>
              <a:t> in relation to the </a:t>
            </a:r>
            <a:r>
              <a:rPr lang="en-US" u="sng" dirty="0"/>
              <a:t>image</a:t>
            </a:r>
            <a:r>
              <a:rPr lang="en-US" dirty="0"/>
              <a:t>.</a:t>
            </a:r>
            <a:endParaRPr lang="en-US" b="1" dirty="0"/>
          </a:p>
          <a:p>
            <a:pPr lvl="0"/>
            <a:r>
              <a:rPr lang="en-US" dirty="0"/>
              <a:t>Potentially using </a:t>
            </a:r>
            <a:r>
              <a:rPr lang="en-US" u="sng" dirty="0"/>
              <a:t>Llama-Guard-3-8B</a:t>
            </a:r>
            <a:r>
              <a:rPr lang="en-US" dirty="0"/>
              <a:t> on the VLM's generated </a:t>
            </a:r>
            <a:r>
              <a:rPr lang="en-US" b="1" dirty="0"/>
              <a:t>text responses</a:t>
            </a:r>
            <a:r>
              <a:rPr lang="en-US" dirty="0"/>
              <a:t> for measuring safety output. Need a visual judge to judge the image or the reference harmful instruction, the text prompt, and the the VLM response.</a:t>
            </a:r>
          </a:p>
          <a:p>
            <a:r>
              <a:rPr lang="en-US" dirty="0"/>
              <a:t>For </a:t>
            </a:r>
            <a:r>
              <a:rPr lang="en-US" b="1" u="sng" dirty="0"/>
              <a:t>visual jailbreak attacks</a:t>
            </a:r>
            <a:r>
              <a:rPr lang="en-US" u="sng" dirty="0"/>
              <a:t> </a:t>
            </a:r>
            <a:r>
              <a:rPr lang="en-US" dirty="0"/>
              <a:t>(FigStep, MM-</a:t>
            </a:r>
            <a:r>
              <a:rPr lang="en-US" dirty="0" err="1"/>
              <a:t>SafetyBench</a:t>
            </a:r>
            <a:r>
              <a:rPr lang="en-US" dirty="0"/>
              <a:t>), the judge model evaluates the </a:t>
            </a:r>
            <a:r>
              <a:rPr lang="en-US" i="1" dirty="0"/>
              <a:t>final generated text output </a:t>
            </a:r>
            <a:r>
              <a:rPr lang="en-US" dirty="0"/>
              <a:t>against the intended </a:t>
            </a:r>
            <a:r>
              <a:rPr lang="en-US" i="1" dirty="0"/>
              <a:t>harmful query embedded in the prompt/image</a:t>
            </a:r>
            <a:r>
              <a:rPr lang="en-US" dirty="0"/>
              <a:t>, not just the raw text prompt. Can use open-source alternative [</a:t>
            </a:r>
            <a:r>
              <a:rPr lang="en-US" dirty="0" err="1"/>
              <a:t>Llava</a:t>
            </a:r>
            <a:r>
              <a:rPr lang="en-US" dirty="0"/>
              <a:t>-Critic, InternVL2] or common providers [GPT-4o, Claude 3.5 sonnet].</a:t>
            </a:r>
          </a:p>
          <a:p>
            <a:r>
              <a:rPr lang="en-US" dirty="0"/>
              <a:t>For a FigStep-type example, you need to preserve:</a:t>
            </a:r>
          </a:p>
          <a:p>
            <a:pPr lvl="1"/>
            <a:r>
              <a:rPr lang="en-US" dirty="0"/>
              <a:t>the original image</a:t>
            </a:r>
          </a:p>
          <a:p>
            <a:pPr lvl="1"/>
            <a:r>
              <a:rPr lang="en-US" dirty="0"/>
              <a:t>the intended harmful instruction</a:t>
            </a:r>
          </a:p>
          <a:p>
            <a:pPr lvl="1"/>
            <a:r>
              <a:rPr lang="en-US" dirty="0"/>
              <a:t>the VLM response</a:t>
            </a:r>
          </a:p>
          <a:p>
            <a:pPr lvl="1"/>
            <a:r>
              <a:rPr lang="en-US" dirty="0"/>
              <a:t>the judge decision</a:t>
            </a:r>
          </a:p>
          <a:p>
            <a:pPr lvl="1"/>
            <a:r>
              <a:rPr lang="en-US" dirty="0"/>
              <a:t>whether OCR correctly recovered the instruction</a:t>
            </a:r>
          </a:p>
          <a:p>
            <a:endParaRPr lang="en-US" dirty="0"/>
          </a:p>
          <a:p>
            <a:endParaRPr lang="en-US" dirty="0"/>
          </a:p>
        </p:txBody>
      </p:sp>
    </p:spTree>
    <p:extLst>
      <p:ext uri="{BB962C8B-B14F-4D97-AF65-F5344CB8AC3E}">
        <p14:creationId xmlns:p14="http://schemas.microsoft.com/office/powerpoint/2010/main" val="11831573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39171-79DD-D440-903A-12D0349BD5E1}"/>
              </a:ext>
            </a:extLst>
          </p:cNvPr>
          <p:cNvSpPr>
            <a:spLocks noGrp="1"/>
          </p:cNvSpPr>
          <p:nvPr>
            <p:ph type="title"/>
          </p:nvPr>
        </p:nvSpPr>
        <p:spPr/>
        <p:txBody>
          <a:bodyPr/>
          <a:lstStyle/>
          <a:p>
            <a:r>
              <a:rPr lang="en-US" dirty="0"/>
              <a:t>Safety judges for VLMs</a:t>
            </a:r>
          </a:p>
        </p:txBody>
      </p:sp>
      <p:sp>
        <p:nvSpPr>
          <p:cNvPr id="3" name="Content Placeholder 2">
            <a:extLst>
              <a:ext uri="{FF2B5EF4-FFF2-40B4-BE49-F238E27FC236}">
                <a16:creationId xmlns:a16="http://schemas.microsoft.com/office/drawing/2014/main" id="{EA654C7B-86B8-A4D4-8E83-B88105622315}"/>
              </a:ext>
            </a:extLst>
          </p:cNvPr>
          <p:cNvSpPr>
            <a:spLocks noGrp="1"/>
          </p:cNvSpPr>
          <p:nvPr>
            <p:ph idx="1"/>
          </p:nvPr>
        </p:nvSpPr>
        <p:spPr/>
        <p:txBody>
          <a:bodyPr>
            <a:normAutofit/>
          </a:bodyPr>
          <a:lstStyle/>
          <a:p>
            <a:r>
              <a:rPr lang="en-US" dirty="0"/>
              <a:t>The automatic evaluator could receive a structured record:</a:t>
            </a:r>
          </a:p>
          <a:p>
            <a:pPr lvl="1"/>
            <a:r>
              <a:rPr lang="en-US" dirty="0" err="1"/>
              <a:t>attack_category</a:t>
            </a:r>
            <a:endParaRPr lang="en-US" dirty="0"/>
          </a:p>
          <a:p>
            <a:pPr lvl="1"/>
            <a:r>
              <a:rPr lang="en-US" dirty="0"/>
              <a:t>image</a:t>
            </a:r>
          </a:p>
          <a:p>
            <a:pPr lvl="1"/>
            <a:r>
              <a:rPr lang="en-US" dirty="0" err="1"/>
              <a:t>decoded_or_reference_harmful_instruction</a:t>
            </a:r>
            <a:endParaRPr lang="en-US" dirty="0"/>
          </a:p>
          <a:p>
            <a:pPr lvl="1"/>
            <a:r>
              <a:rPr lang="en-US" dirty="0" err="1"/>
              <a:t>text_prompt</a:t>
            </a:r>
            <a:endParaRPr lang="en-US" dirty="0"/>
          </a:p>
          <a:p>
            <a:pPr lvl="1"/>
            <a:r>
              <a:rPr lang="en-US" dirty="0" err="1"/>
              <a:t>vlm_response</a:t>
            </a:r>
            <a:endParaRPr lang="en-US" dirty="0"/>
          </a:p>
          <a:p>
            <a:pPr lvl="1"/>
            <a:r>
              <a:rPr lang="en-US" dirty="0" err="1"/>
              <a:t>judge_label</a:t>
            </a:r>
            <a:endParaRPr lang="en-US" dirty="0"/>
          </a:p>
          <a:p>
            <a:r>
              <a:rPr lang="en-US" dirty="0"/>
              <a:t>Then manually audit a fixed sample. </a:t>
            </a:r>
          </a:p>
          <a:p>
            <a:r>
              <a:rPr lang="en-US" dirty="0"/>
              <a:t>A fixed stratified manual audit will verify automated labels across attack categories.</a:t>
            </a:r>
          </a:p>
          <a:p>
            <a:pPr lvl="1"/>
            <a:endParaRPr lang="en-US" dirty="0"/>
          </a:p>
          <a:p>
            <a:endParaRPr lang="en-US" dirty="0"/>
          </a:p>
        </p:txBody>
      </p:sp>
    </p:spTree>
    <p:extLst>
      <p:ext uri="{BB962C8B-B14F-4D97-AF65-F5344CB8AC3E}">
        <p14:creationId xmlns:p14="http://schemas.microsoft.com/office/powerpoint/2010/main" val="397829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DF6DE1-5130-249D-DABD-8895C3C5DED4}"/>
              </a:ext>
            </a:extLst>
          </p:cNvPr>
          <p:cNvSpPr>
            <a:spLocks noGrp="1"/>
          </p:cNvSpPr>
          <p:nvPr>
            <p:ph idx="1"/>
          </p:nvPr>
        </p:nvSpPr>
        <p:spPr>
          <a:xfrm>
            <a:off x="724829" y="1561671"/>
            <a:ext cx="10628971" cy="4995245"/>
          </a:xfrm>
        </p:spPr>
        <p:txBody>
          <a:bodyPr>
            <a:normAutofit/>
          </a:bodyPr>
          <a:lstStyle/>
          <a:p>
            <a:pPr marL="0" indent="0">
              <a:buNone/>
            </a:pPr>
            <a:endParaRPr lang="en-US" sz="2200" dirty="0"/>
          </a:p>
          <a:p>
            <a:r>
              <a:rPr lang="en-US" sz="2200" dirty="0"/>
              <a:t>Use a two-stage evaluation:</a:t>
            </a:r>
          </a:p>
          <a:p>
            <a:pPr marL="0" indent="0">
              <a:buNone/>
            </a:pPr>
            <a:r>
              <a:rPr lang="en-US" sz="2200" dirty="0"/>
              <a:t>Stage 1: Automatic judge</a:t>
            </a:r>
          </a:p>
          <a:p>
            <a:pPr marL="0" indent="0">
              <a:buNone/>
            </a:pPr>
            <a:r>
              <a:rPr lang="en-US" sz="2200" dirty="0"/>
              <a:t>- response safety classification</a:t>
            </a:r>
          </a:p>
          <a:p>
            <a:pPr marL="0" indent="0">
              <a:buNone/>
            </a:pPr>
            <a:r>
              <a:rPr lang="en-US" sz="2200" dirty="0"/>
              <a:t>- refusal/compliance label</a:t>
            </a:r>
          </a:p>
          <a:p>
            <a:endParaRPr lang="en-US" sz="2200" dirty="0"/>
          </a:p>
          <a:p>
            <a:pPr marL="0" indent="0">
              <a:buNone/>
            </a:pPr>
            <a:endParaRPr lang="en-US" sz="2200" dirty="0"/>
          </a:p>
          <a:p>
            <a:r>
              <a:rPr lang="en-US" sz="2200" dirty="0"/>
              <a:t>Store the raw response for every attack, not only the judge score.</a:t>
            </a:r>
          </a:p>
          <a:p>
            <a:r>
              <a:rPr lang="en-US" sz="2200" dirty="0"/>
              <a:t>Also report refusal quality. A model that refuses every visual question may have low ASR but poor usefulness. Pair safety with capability:</a:t>
            </a:r>
          </a:p>
          <a:p>
            <a:pPr marL="0" indent="0">
              <a:buNone/>
            </a:pPr>
            <a:r>
              <a:rPr lang="en-US" sz="2200" dirty="0"/>
              <a:t>			Safety utility tradeoff = </a:t>
            </a:r>
            <a:r>
              <a:rPr lang="en-US" sz="2200" i="1" dirty="0"/>
              <a:t>(Low ASR, High </a:t>
            </a:r>
            <a:r>
              <a:rPr lang="en-US" sz="2200" i="1" dirty="0" err="1"/>
              <a:t>TaskScore</a:t>
            </a:r>
            <a:r>
              <a:rPr lang="en-US" sz="2200" i="1" dirty="0"/>
              <a:t>)</a:t>
            </a:r>
          </a:p>
        </p:txBody>
      </p:sp>
      <p:sp>
        <p:nvSpPr>
          <p:cNvPr id="4" name="TextBox 3">
            <a:extLst>
              <a:ext uri="{FF2B5EF4-FFF2-40B4-BE49-F238E27FC236}">
                <a16:creationId xmlns:a16="http://schemas.microsoft.com/office/drawing/2014/main" id="{CB9CF2FF-2665-85C7-E21C-A91BE42809B2}"/>
              </a:ext>
            </a:extLst>
          </p:cNvPr>
          <p:cNvSpPr txBox="1"/>
          <p:nvPr/>
        </p:nvSpPr>
        <p:spPr>
          <a:xfrm>
            <a:off x="7091246" y="2367171"/>
            <a:ext cx="5100754" cy="2123658"/>
          </a:xfrm>
          <a:prstGeom prst="rect">
            <a:avLst/>
          </a:prstGeom>
          <a:noFill/>
        </p:spPr>
        <p:txBody>
          <a:bodyPr wrap="square" rtlCol="0">
            <a:spAutoFit/>
          </a:bodyPr>
          <a:lstStyle/>
          <a:p>
            <a:r>
              <a:rPr lang="en-US" sz="2200" dirty="0"/>
              <a:t>Stage 2: Manual audit</a:t>
            </a:r>
          </a:p>
          <a:p>
            <a:r>
              <a:rPr lang="en-US" sz="2200" dirty="0"/>
              <a:t>- attack recognized</a:t>
            </a:r>
          </a:p>
          <a:p>
            <a:r>
              <a:rPr lang="en-US" sz="2200" dirty="0"/>
              <a:t>- harmful request followed</a:t>
            </a:r>
          </a:p>
          <a:p>
            <a:r>
              <a:rPr lang="en-US" sz="2200" dirty="0"/>
              <a:t>- visual content understood</a:t>
            </a:r>
          </a:p>
          <a:p>
            <a:r>
              <a:rPr lang="en-US" sz="2200" dirty="0"/>
              <a:t>- partial compliance</a:t>
            </a:r>
          </a:p>
          <a:p>
            <a:r>
              <a:rPr lang="en-US" sz="2200" dirty="0"/>
              <a:t>- hallucination</a:t>
            </a:r>
          </a:p>
        </p:txBody>
      </p:sp>
      <p:sp>
        <p:nvSpPr>
          <p:cNvPr id="2" name="Title 1">
            <a:extLst>
              <a:ext uri="{FF2B5EF4-FFF2-40B4-BE49-F238E27FC236}">
                <a16:creationId xmlns:a16="http://schemas.microsoft.com/office/drawing/2014/main" id="{9AA3D971-8519-7BB0-9CF4-630D9ECE2F12}"/>
              </a:ext>
            </a:extLst>
          </p:cNvPr>
          <p:cNvSpPr>
            <a:spLocks noGrp="1"/>
          </p:cNvSpPr>
          <p:nvPr>
            <p:ph type="title"/>
          </p:nvPr>
        </p:nvSpPr>
        <p:spPr>
          <a:xfrm>
            <a:off x="838200" y="365125"/>
            <a:ext cx="10515600" cy="1325563"/>
          </a:xfrm>
        </p:spPr>
        <p:txBody>
          <a:bodyPr/>
          <a:lstStyle/>
          <a:p>
            <a:r>
              <a:rPr lang="en-US" dirty="0"/>
              <a:t>Safety judges for VLMs</a:t>
            </a:r>
          </a:p>
        </p:txBody>
      </p:sp>
      <p:cxnSp>
        <p:nvCxnSpPr>
          <p:cNvPr id="6" name="Straight Connector 5">
            <a:extLst>
              <a:ext uri="{FF2B5EF4-FFF2-40B4-BE49-F238E27FC236}">
                <a16:creationId xmlns:a16="http://schemas.microsoft.com/office/drawing/2014/main" id="{503B4314-D003-4801-866E-1D0A6AA010F3}"/>
              </a:ext>
            </a:extLst>
          </p:cNvPr>
          <p:cNvCxnSpPr/>
          <p:nvPr/>
        </p:nvCxnSpPr>
        <p:spPr>
          <a:xfrm>
            <a:off x="6039314" y="1690688"/>
            <a:ext cx="0" cy="2819667"/>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3215299-7D59-9D3E-E02E-A7DC98F6B32D}"/>
              </a:ext>
            </a:extLst>
          </p:cNvPr>
          <p:cNvCxnSpPr/>
          <p:nvPr/>
        </p:nvCxnSpPr>
        <p:spPr>
          <a:xfrm>
            <a:off x="724829" y="4490829"/>
            <a:ext cx="1043290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48965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1EBE1-1326-6D51-5C64-0309D484B9D0}"/>
              </a:ext>
            </a:extLst>
          </p:cNvPr>
          <p:cNvSpPr>
            <a:spLocks noGrp="1"/>
          </p:cNvSpPr>
          <p:nvPr>
            <p:ph type="title"/>
          </p:nvPr>
        </p:nvSpPr>
        <p:spPr/>
        <p:txBody>
          <a:bodyPr/>
          <a:lstStyle/>
          <a:p>
            <a:r>
              <a:rPr lang="en-US" dirty="0"/>
              <a:t>Threat Model</a:t>
            </a:r>
          </a:p>
        </p:txBody>
      </p:sp>
      <p:sp>
        <p:nvSpPr>
          <p:cNvPr id="3" name="Content Placeholder 2">
            <a:extLst>
              <a:ext uri="{FF2B5EF4-FFF2-40B4-BE49-F238E27FC236}">
                <a16:creationId xmlns:a16="http://schemas.microsoft.com/office/drawing/2014/main" id="{83B647B2-2682-FD7C-7FA4-C3004AE28144}"/>
              </a:ext>
            </a:extLst>
          </p:cNvPr>
          <p:cNvSpPr>
            <a:spLocks noGrp="1"/>
          </p:cNvSpPr>
          <p:nvPr>
            <p:ph idx="1"/>
          </p:nvPr>
        </p:nvSpPr>
        <p:spPr>
          <a:xfrm>
            <a:off x="292815" y="1550595"/>
            <a:ext cx="4206411" cy="4209053"/>
          </a:xfrm>
        </p:spPr>
        <p:txBody>
          <a:bodyPr>
            <a:normAutofit lnSpcReduction="10000"/>
          </a:bodyPr>
          <a:lstStyle/>
          <a:p>
            <a:r>
              <a:rPr lang="en-US" sz="1500" dirty="0"/>
              <a:t>The attacker may provide:</a:t>
            </a:r>
          </a:p>
          <a:p>
            <a:pPr lvl="1"/>
            <a:r>
              <a:rPr lang="en-US" sz="1500" dirty="0"/>
              <a:t>a harmful text prompt;</a:t>
            </a:r>
          </a:p>
          <a:p>
            <a:pPr lvl="1"/>
            <a:r>
              <a:rPr lang="en-US" sz="1500" dirty="0"/>
              <a:t>a harmful instruction embedded in an image;</a:t>
            </a:r>
          </a:p>
          <a:p>
            <a:pPr lvl="1"/>
            <a:r>
              <a:rPr lang="en-US" sz="1500" dirty="0"/>
              <a:t>a benign text prompt paired with a malicious image;</a:t>
            </a:r>
          </a:p>
          <a:p>
            <a:pPr lvl="1"/>
            <a:r>
              <a:rPr lang="en-US" sz="1500" dirty="0"/>
              <a:t>a benign image paired with a harmful text prompt;</a:t>
            </a:r>
          </a:p>
          <a:p>
            <a:pPr lvl="1"/>
            <a:r>
              <a:rPr lang="en-US" sz="1500" dirty="0"/>
              <a:t>an image containing typography, screenshots, diagrams, or rendered text;</a:t>
            </a:r>
          </a:p>
          <a:p>
            <a:pPr lvl="1"/>
            <a:r>
              <a:rPr lang="en-US" sz="1500" dirty="0"/>
              <a:t>a jailbreak-style multimodal prompt.</a:t>
            </a:r>
          </a:p>
          <a:p>
            <a:r>
              <a:rPr lang="en-US" sz="1500" dirty="0"/>
              <a:t>The attacker does </a:t>
            </a:r>
            <a:r>
              <a:rPr lang="en-US" sz="1500" b="1" dirty="0"/>
              <a:t>not</a:t>
            </a:r>
            <a:r>
              <a:rPr lang="en-US" sz="1500" dirty="0"/>
              <a:t> modify model weights during evaluation unless you explicitly study adversarial fine-tuning.</a:t>
            </a:r>
          </a:p>
          <a:p>
            <a:r>
              <a:rPr lang="en-US" sz="1500" dirty="0"/>
              <a:t>Then organize attacks by attack surface. Attack evaluation must isolate </a:t>
            </a:r>
            <a:r>
              <a:rPr lang="en-US" sz="1500" u="sng" dirty="0"/>
              <a:t>visual vs. textual channels </a:t>
            </a:r>
            <a:r>
              <a:rPr lang="en-US" sz="1500" dirty="0"/>
              <a:t>to detect modality-specific alignment collapse.</a:t>
            </a:r>
          </a:p>
          <a:p>
            <a:endParaRPr lang="en-US" sz="1500" dirty="0"/>
          </a:p>
        </p:txBody>
      </p:sp>
      <p:graphicFrame>
        <p:nvGraphicFramePr>
          <p:cNvPr id="4" name="Table 3">
            <a:extLst>
              <a:ext uri="{FF2B5EF4-FFF2-40B4-BE49-F238E27FC236}">
                <a16:creationId xmlns:a16="http://schemas.microsoft.com/office/drawing/2014/main" id="{2C0AC95E-9D27-3355-2FB3-E8C391ACD46E}"/>
              </a:ext>
            </a:extLst>
          </p:cNvPr>
          <p:cNvGraphicFramePr>
            <a:graphicFrameLocks noGrp="1"/>
          </p:cNvGraphicFramePr>
          <p:nvPr>
            <p:extLst>
              <p:ext uri="{D42A27DB-BD31-4B8C-83A1-F6EECF244321}">
                <p14:modId xmlns:p14="http://schemas.microsoft.com/office/powerpoint/2010/main" val="3197184712"/>
              </p:ext>
            </p:extLst>
          </p:nvPr>
        </p:nvGraphicFramePr>
        <p:xfrm>
          <a:off x="4499226" y="1410502"/>
          <a:ext cx="7624280" cy="4209053"/>
        </p:xfrm>
        <a:graphic>
          <a:graphicData uri="http://schemas.openxmlformats.org/drawingml/2006/table">
            <a:tbl>
              <a:tblPr>
                <a:tableStyleId>{5C22544A-7EE6-4342-B048-85BDC9FD1C3A}</a:tableStyleId>
              </a:tblPr>
              <a:tblGrid>
                <a:gridCol w="2887039">
                  <a:extLst>
                    <a:ext uri="{9D8B030D-6E8A-4147-A177-3AD203B41FA5}">
                      <a16:colId xmlns:a16="http://schemas.microsoft.com/office/drawing/2014/main" val="3545574950"/>
                    </a:ext>
                  </a:extLst>
                </a:gridCol>
                <a:gridCol w="1489753">
                  <a:extLst>
                    <a:ext uri="{9D8B030D-6E8A-4147-A177-3AD203B41FA5}">
                      <a16:colId xmlns:a16="http://schemas.microsoft.com/office/drawing/2014/main" val="1511222320"/>
                    </a:ext>
                  </a:extLst>
                </a:gridCol>
                <a:gridCol w="1341418">
                  <a:extLst>
                    <a:ext uri="{9D8B030D-6E8A-4147-A177-3AD203B41FA5}">
                      <a16:colId xmlns:a16="http://schemas.microsoft.com/office/drawing/2014/main" val="293089537"/>
                    </a:ext>
                  </a:extLst>
                </a:gridCol>
                <a:gridCol w="1906070">
                  <a:extLst>
                    <a:ext uri="{9D8B030D-6E8A-4147-A177-3AD203B41FA5}">
                      <a16:colId xmlns:a16="http://schemas.microsoft.com/office/drawing/2014/main" val="685454047"/>
                    </a:ext>
                  </a:extLst>
                </a:gridCol>
              </a:tblGrid>
              <a:tr h="386705">
                <a:tc>
                  <a:txBody>
                    <a:bodyPr/>
                    <a:lstStyle/>
                    <a:p>
                      <a:pPr>
                        <a:buNone/>
                      </a:pPr>
                      <a:r>
                        <a:rPr lang="en-US" b="1" dirty="0"/>
                        <a:t>Attack condition</a:t>
                      </a:r>
                    </a:p>
                  </a:txBody>
                  <a:tcPr anchor="ctr"/>
                </a:tc>
                <a:tc>
                  <a:txBody>
                    <a:bodyPr/>
                    <a:lstStyle/>
                    <a:p>
                      <a:pPr algn="r">
                        <a:buNone/>
                      </a:pPr>
                      <a:r>
                        <a:rPr lang="en-US" b="1" dirty="0">
                          <a:effectLst/>
                        </a:rPr>
                        <a:t>Image</a:t>
                      </a:r>
                    </a:p>
                  </a:txBody>
                  <a:tcPr anchor="ctr"/>
                </a:tc>
                <a:tc>
                  <a:txBody>
                    <a:bodyPr/>
                    <a:lstStyle/>
                    <a:p>
                      <a:pPr algn="r">
                        <a:buNone/>
                      </a:pPr>
                      <a:r>
                        <a:rPr lang="en-US" b="1" dirty="0">
                          <a:effectLst/>
                        </a:rPr>
                        <a:t>Text</a:t>
                      </a:r>
                    </a:p>
                  </a:txBody>
                  <a:tcPr anchor="ctr"/>
                </a:tc>
                <a:tc>
                  <a:txBody>
                    <a:bodyPr/>
                    <a:lstStyle/>
                    <a:p>
                      <a:pPr>
                        <a:buNone/>
                      </a:pPr>
                      <a:r>
                        <a:rPr lang="en-US" b="1" dirty="0"/>
                        <a:t>Purpose</a:t>
                      </a:r>
                    </a:p>
                  </a:txBody>
                  <a:tcPr anchor="ctr"/>
                </a:tc>
                <a:extLst>
                  <a:ext uri="{0D108BD9-81ED-4DB2-BD59-A6C34878D82A}">
                    <a16:rowId xmlns:a16="http://schemas.microsoft.com/office/drawing/2014/main" val="1547903097"/>
                  </a:ext>
                </a:extLst>
              </a:tr>
              <a:tr h="676734">
                <a:tc>
                  <a:txBody>
                    <a:bodyPr/>
                    <a:lstStyle/>
                    <a:p>
                      <a:pPr>
                        <a:buNone/>
                      </a:pPr>
                      <a:r>
                        <a:rPr lang="en-US"/>
                        <a:t>Text-only harmful prompt</a:t>
                      </a:r>
                    </a:p>
                  </a:txBody>
                  <a:tcPr anchor="ctr"/>
                </a:tc>
                <a:tc>
                  <a:txBody>
                    <a:bodyPr/>
                    <a:lstStyle/>
                    <a:p>
                      <a:pPr algn="r">
                        <a:buNone/>
                      </a:pPr>
                      <a:r>
                        <a:rPr lang="en-US">
                          <a:effectLst/>
                        </a:rPr>
                        <a:t>No</a:t>
                      </a:r>
                    </a:p>
                  </a:txBody>
                  <a:tcPr anchor="ctr"/>
                </a:tc>
                <a:tc>
                  <a:txBody>
                    <a:bodyPr/>
                    <a:lstStyle/>
                    <a:p>
                      <a:pPr algn="r">
                        <a:buNone/>
                      </a:pPr>
                      <a:r>
                        <a:rPr lang="en-US">
                          <a:effectLst/>
                        </a:rPr>
                        <a:t>Harmful</a:t>
                      </a:r>
                    </a:p>
                  </a:txBody>
                  <a:tcPr anchor="ctr"/>
                </a:tc>
                <a:tc>
                  <a:txBody>
                    <a:bodyPr/>
                    <a:lstStyle/>
                    <a:p>
                      <a:pPr>
                        <a:buNone/>
                      </a:pPr>
                      <a:r>
                        <a:rPr lang="en-US"/>
                        <a:t>Decoder safety</a:t>
                      </a:r>
                    </a:p>
                  </a:txBody>
                  <a:tcPr anchor="ctr"/>
                </a:tc>
                <a:extLst>
                  <a:ext uri="{0D108BD9-81ED-4DB2-BD59-A6C34878D82A}">
                    <a16:rowId xmlns:a16="http://schemas.microsoft.com/office/drawing/2014/main" val="2310375063"/>
                  </a:ext>
                </a:extLst>
              </a:tr>
              <a:tr h="676734">
                <a:tc>
                  <a:txBody>
                    <a:bodyPr/>
                    <a:lstStyle/>
                    <a:p>
                      <a:pPr>
                        <a:buNone/>
                      </a:pPr>
                      <a:r>
                        <a:rPr lang="en-US"/>
                        <a:t>Harmful instruction in image</a:t>
                      </a:r>
                    </a:p>
                  </a:txBody>
                  <a:tcPr anchor="ctr"/>
                </a:tc>
                <a:tc>
                  <a:txBody>
                    <a:bodyPr/>
                    <a:lstStyle/>
                    <a:p>
                      <a:pPr algn="r">
                        <a:buNone/>
                      </a:pPr>
                      <a:r>
                        <a:rPr lang="en-US">
                          <a:effectLst/>
                        </a:rPr>
                        <a:t>Harmful</a:t>
                      </a:r>
                    </a:p>
                  </a:txBody>
                  <a:tcPr anchor="ctr"/>
                </a:tc>
                <a:tc>
                  <a:txBody>
                    <a:bodyPr/>
                    <a:lstStyle/>
                    <a:p>
                      <a:pPr algn="r">
                        <a:buNone/>
                      </a:pPr>
                      <a:r>
                        <a:rPr lang="en-US">
                          <a:effectLst/>
                        </a:rPr>
                        <a:t>Benign</a:t>
                      </a:r>
                    </a:p>
                  </a:txBody>
                  <a:tcPr anchor="ctr"/>
                </a:tc>
                <a:tc>
                  <a:txBody>
                    <a:bodyPr/>
                    <a:lstStyle/>
                    <a:p>
                      <a:pPr>
                        <a:buNone/>
                      </a:pPr>
                      <a:r>
                        <a:rPr lang="en-US"/>
                        <a:t>OCR/visual instruction pathway</a:t>
                      </a:r>
                    </a:p>
                  </a:txBody>
                  <a:tcPr anchor="ctr"/>
                </a:tc>
                <a:extLst>
                  <a:ext uri="{0D108BD9-81ED-4DB2-BD59-A6C34878D82A}">
                    <a16:rowId xmlns:a16="http://schemas.microsoft.com/office/drawing/2014/main" val="2644504012"/>
                  </a:ext>
                </a:extLst>
              </a:tr>
              <a:tr h="676734">
                <a:tc>
                  <a:txBody>
                    <a:bodyPr/>
                    <a:lstStyle/>
                    <a:p>
                      <a:pPr>
                        <a:buNone/>
                      </a:pPr>
                      <a:r>
                        <a:rPr lang="en-US"/>
                        <a:t>Harmful image, benign text</a:t>
                      </a:r>
                    </a:p>
                  </a:txBody>
                  <a:tcPr anchor="ctr"/>
                </a:tc>
                <a:tc>
                  <a:txBody>
                    <a:bodyPr/>
                    <a:lstStyle/>
                    <a:p>
                      <a:pPr algn="r">
                        <a:buNone/>
                      </a:pPr>
                      <a:r>
                        <a:rPr lang="en-US">
                          <a:effectLst/>
                        </a:rPr>
                        <a:t>Harmful</a:t>
                      </a:r>
                    </a:p>
                  </a:txBody>
                  <a:tcPr anchor="ctr"/>
                </a:tc>
                <a:tc>
                  <a:txBody>
                    <a:bodyPr/>
                    <a:lstStyle/>
                    <a:p>
                      <a:pPr algn="r">
                        <a:buNone/>
                      </a:pPr>
                      <a:r>
                        <a:rPr lang="en-US">
                          <a:effectLst/>
                        </a:rPr>
                        <a:t>Benign</a:t>
                      </a:r>
                    </a:p>
                  </a:txBody>
                  <a:tcPr anchor="ctr"/>
                </a:tc>
                <a:tc>
                  <a:txBody>
                    <a:bodyPr/>
                    <a:lstStyle/>
                    <a:p>
                      <a:pPr>
                        <a:buNone/>
                      </a:pPr>
                      <a:r>
                        <a:rPr lang="en-US"/>
                        <a:t>Visual semantic safety</a:t>
                      </a:r>
                    </a:p>
                  </a:txBody>
                  <a:tcPr anchor="ctr"/>
                </a:tc>
                <a:extLst>
                  <a:ext uri="{0D108BD9-81ED-4DB2-BD59-A6C34878D82A}">
                    <a16:rowId xmlns:a16="http://schemas.microsoft.com/office/drawing/2014/main" val="1769460596"/>
                  </a:ext>
                </a:extLst>
              </a:tr>
              <a:tr h="676734">
                <a:tc>
                  <a:txBody>
                    <a:bodyPr/>
                    <a:lstStyle/>
                    <a:p>
                      <a:pPr>
                        <a:buNone/>
                      </a:pPr>
                      <a:r>
                        <a:rPr lang="en-US"/>
                        <a:t>Benign image, harmful text</a:t>
                      </a:r>
                    </a:p>
                  </a:txBody>
                  <a:tcPr anchor="ctr"/>
                </a:tc>
                <a:tc>
                  <a:txBody>
                    <a:bodyPr/>
                    <a:lstStyle/>
                    <a:p>
                      <a:pPr algn="r">
                        <a:buNone/>
                      </a:pPr>
                      <a:r>
                        <a:rPr lang="en-US">
                          <a:effectLst/>
                        </a:rPr>
                        <a:t>Benign</a:t>
                      </a:r>
                    </a:p>
                  </a:txBody>
                  <a:tcPr anchor="ctr"/>
                </a:tc>
                <a:tc>
                  <a:txBody>
                    <a:bodyPr/>
                    <a:lstStyle/>
                    <a:p>
                      <a:pPr algn="r">
                        <a:buNone/>
                      </a:pPr>
                      <a:r>
                        <a:rPr lang="en-US">
                          <a:effectLst/>
                        </a:rPr>
                        <a:t>Harmful</a:t>
                      </a:r>
                    </a:p>
                  </a:txBody>
                  <a:tcPr anchor="ctr"/>
                </a:tc>
                <a:tc>
                  <a:txBody>
                    <a:bodyPr/>
                    <a:lstStyle/>
                    <a:p>
                      <a:pPr>
                        <a:buNone/>
                      </a:pPr>
                      <a:r>
                        <a:rPr lang="en-US"/>
                        <a:t>Text-channel safety with visual context</a:t>
                      </a:r>
                    </a:p>
                  </a:txBody>
                  <a:tcPr anchor="ctr"/>
                </a:tc>
                <a:extLst>
                  <a:ext uri="{0D108BD9-81ED-4DB2-BD59-A6C34878D82A}">
                    <a16:rowId xmlns:a16="http://schemas.microsoft.com/office/drawing/2014/main" val="2333668519"/>
                  </a:ext>
                </a:extLst>
              </a:tr>
              <a:tr h="386705">
                <a:tc>
                  <a:txBody>
                    <a:bodyPr/>
                    <a:lstStyle/>
                    <a:p>
                      <a:pPr>
                        <a:buNone/>
                      </a:pPr>
                      <a:r>
                        <a:rPr lang="en-US"/>
                        <a:t>Joint multimodal attack</a:t>
                      </a:r>
                    </a:p>
                  </a:txBody>
                  <a:tcPr anchor="ctr"/>
                </a:tc>
                <a:tc>
                  <a:txBody>
                    <a:bodyPr/>
                    <a:lstStyle/>
                    <a:p>
                      <a:pPr algn="r">
                        <a:buNone/>
                      </a:pPr>
                      <a:r>
                        <a:rPr lang="en-US">
                          <a:effectLst/>
                        </a:rPr>
                        <a:t>Harmful or ambiguous</a:t>
                      </a:r>
                    </a:p>
                  </a:txBody>
                  <a:tcPr anchor="ctr"/>
                </a:tc>
                <a:tc>
                  <a:txBody>
                    <a:bodyPr/>
                    <a:lstStyle/>
                    <a:p>
                      <a:pPr algn="r">
                        <a:buNone/>
                      </a:pPr>
                      <a:r>
                        <a:rPr lang="en-US">
                          <a:effectLst/>
                        </a:rPr>
                        <a:t>Harmful or ambiguous</a:t>
                      </a:r>
                    </a:p>
                  </a:txBody>
                  <a:tcPr anchor="ctr"/>
                </a:tc>
                <a:tc>
                  <a:txBody>
                    <a:bodyPr/>
                    <a:lstStyle/>
                    <a:p>
                      <a:pPr>
                        <a:buNone/>
                      </a:pPr>
                      <a:r>
                        <a:rPr lang="en-US" dirty="0"/>
                        <a:t>Cross-modal interaction</a:t>
                      </a:r>
                    </a:p>
                  </a:txBody>
                  <a:tcPr anchor="ctr"/>
                </a:tc>
                <a:extLst>
                  <a:ext uri="{0D108BD9-81ED-4DB2-BD59-A6C34878D82A}">
                    <a16:rowId xmlns:a16="http://schemas.microsoft.com/office/drawing/2014/main" val="2086956236"/>
                  </a:ext>
                </a:extLst>
              </a:tr>
            </a:tbl>
          </a:graphicData>
        </a:graphic>
      </p:graphicFrame>
    </p:spTree>
    <p:extLst>
      <p:ext uri="{BB962C8B-B14F-4D97-AF65-F5344CB8AC3E}">
        <p14:creationId xmlns:p14="http://schemas.microsoft.com/office/powerpoint/2010/main" val="5769410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70538-C112-891E-FFF3-38916FE8D3A1}"/>
              </a:ext>
            </a:extLst>
          </p:cNvPr>
          <p:cNvSpPr>
            <a:spLocks noGrp="1"/>
          </p:cNvSpPr>
          <p:nvPr>
            <p:ph type="title"/>
          </p:nvPr>
        </p:nvSpPr>
        <p:spPr>
          <a:xfrm>
            <a:off x="838200" y="374456"/>
            <a:ext cx="10515600" cy="1325563"/>
          </a:xfrm>
        </p:spPr>
        <p:txBody>
          <a:bodyPr>
            <a:normAutofit/>
          </a:bodyPr>
          <a:lstStyle/>
          <a:p>
            <a:r>
              <a:rPr lang="en-US" dirty="0"/>
              <a:t>VLM Evaluation and Observability</a:t>
            </a:r>
          </a:p>
        </p:txBody>
      </p:sp>
      <mc:AlternateContent xmlns:mc="http://schemas.openxmlformats.org/markup-compatibility/2006">
        <mc:Choice xmlns:a14="http://schemas.microsoft.com/office/drawing/2010/main" Requires="a14">
          <p:graphicFrame>
            <p:nvGraphicFramePr>
              <p:cNvPr id="6" name="Content Placeholder 5">
                <a:extLst>
                  <a:ext uri="{FF2B5EF4-FFF2-40B4-BE49-F238E27FC236}">
                    <a16:creationId xmlns:a16="http://schemas.microsoft.com/office/drawing/2014/main" id="{A32B5534-53EF-7068-5AE7-8C84ECEEF296}"/>
                  </a:ext>
                </a:extLst>
              </p:cNvPr>
              <p:cNvGraphicFramePr>
                <a:graphicFrameLocks noGrp="1"/>
              </p:cNvGraphicFramePr>
              <p:nvPr>
                <p:ph idx="1"/>
                <p:extLst>
                  <p:ext uri="{D42A27DB-BD31-4B8C-83A1-F6EECF244321}">
                    <p14:modId xmlns:p14="http://schemas.microsoft.com/office/powerpoint/2010/main" val="3548527597"/>
                  </p:ext>
                </p:extLst>
              </p:nvPr>
            </p:nvGraphicFramePr>
            <p:xfrm>
              <a:off x="224852" y="1454046"/>
              <a:ext cx="11692327" cy="4535564"/>
            </p:xfrm>
            <a:graphic>
              <a:graphicData uri="http://schemas.openxmlformats.org/drawingml/2006/table">
                <a:tbl>
                  <a:tblPr>
                    <a:tableStyleId>{5C22544A-7EE6-4342-B048-85BDC9FD1C3A}</a:tableStyleId>
                  </a:tblPr>
                  <a:tblGrid>
                    <a:gridCol w="1813810">
                      <a:extLst>
                        <a:ext uri="{9D8B030D-6E8A-4147-A177-3AD203B41FA5}">
                          <a16:colId xmlns:a16="http://schemas.microsoft.com/office/drawing/2014/main" val="1094669986"/>
                        </a:ext>
                      </a:extLst>
                    </a:gridCol>
                    <a:gridCol w="2698230">
                      <a:extLst>
                        <a:ext uri="{9D8B030D-6E8A-4147-A177-3AD203B41FA5}">
                          <a16:colId xmlns:a16="http://schemas.microsoft.com/office/drawing/2014/main" val="179263160"/>
                        </a:ext>
                      </a:extLst>
                    </a:gridCol>
                    <a:gridCol w="7180287">
                      <a:extLst>
                        <a:ext uri="{9D8B030D-6E8A-4147-A177-3AD203B41FA5}">
                          <a16:colId xmlns:a16="http://schemas.microsoft.com/office/drawing/2014/main" val="2324676047"/>
                        </a:ext>
                      </a:extLst>
                    </a:gridCol>
                  </a:tblGrid>
                  <a:tr h="210670">
                    <a:tc>
                      <a:txBody>
                        <a:bodyPr/>
                        <a:lstStyle/>
                        <a:p>
                          <a:pPr>
                            <a:buNone/>
                          </a:pPr>
                          <a:r>
                            <a:rPr lang="en-US" sz="1200" b="1" dirty="0"/>
                            <a:t>Dimension</a:t>
                          </a:r>
                        </a:p>
                      </a:txBody>
                      <a:tcPr marL="30218" marR="30218" marT="15109" marB="15109" anchor="ctr"/>
                    </a:tc>
                    <a:tc>
                      <a:txBody>
                        <a:bodyPr/>
                        <a:lstStyle/>
                        <a:p>
                          <a:pPr>
                            <a:buNone/>
                          </a:pPr>
                          <a:r>
                            <a:rPr lang="en-US" sz="1200" b="1" dirty="0"/>
                            <a:t>VLM metric / signal</a:t>
                          </a:r>
                        </a:p>
                      </a:txBody>
                      <a:tcPr marL="30218" marR="30218" marT="15109" marB="15109" anchor="ctr"/>
                    </a:tc>
                    <a:tc>
                      <a:txBody>
                        <a:bodyPr/>
                        <a:lstStyle/>
                        <a:p>
                          <a:pPr>
                            <a:buNone/>
                          </a:pPr>
                          <a:r>
                            <a:rPr lang="en-US" sz="1200" b="1" dirty="0"/>
                            <a:t>How we will measure it</a:t>
                          </a:r>
                        </a:p>
                      </a:txBody>
                      <a:tcPr marL="30218" marR="30218" marT="15109" marB="15109" anchor="ctr"/>
                    </a:tc>
                    <a:extLst>
                      <a:ext uri="{0D108BD9-81ED-4DB2-BD59-A6C34878D82A}">
                        <a16:rowId xmlns:a16="http://schemas.microsoft.com/office/drawing/2014/main" val="3056411588"/>
                      </a:ext>
                    </a:extLst>
                  </a:tr>
                  <a:tr h="477974">
                    <a:tc>
                      <a:txBody>
                        <a:bodyPr/>
                        <a:lstStyle/>
                        <a:p>
                          <a:pPr>
                            <a:buNone/>
                          </a:pPr>
                          <a:r>
                            <a:rPr lang="en-US" sz="1200"/>
                            <a:t>Text-channel safety</a:t>
                          </a:r>
                        </a:p>
                      </a:txBody>
                      <a:tcPr marL="30218" marR="30218" marT="15109" marB="15109" anchor="ctr"/>
                    </a:tc>
                    <a:tc>
                      <a:txBody>
                        <a:bodyPr/>
                        <a:lstStyle/>
                        <a:p>
                          <a:pPr>
                            <a:buNone/>
                          </a:pPr>
                          <a14:m>
                            <m:oMathPara xmlns:m="http://schemas.openxmlformats.org/officeDocument/2006/math">
                              <m:oMath>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𝐴𝑆𝑅</m:t>
                                    </m:r>
                                  </m:e>
                                  <m:sub>
                                    <m:r>
                                      <a:rPr lang="en-US" sz="1200" b="0" i="1" dirty="0" smtClean="0">
                                        <a:latin typeface="Cambria Math" panose="02040503050406030204" pitchFamily="18" charset="0"/>
                                      </a:rPr>
                                      <m:t>𝑡𝑒𝑥𝑡</m:t>
                                    </m:r>
                                  </m:sub>
                                </m:sSub>
                              </m:oMath>
                            </m:oMathPara>
                          </a14:m>
                          <a:endParaRPr dirty="0"/>
                        </a:p>
                      </a:txBody>
                      <a:tcPr marL="30218" marR="30218" marT="15109" marB="15109" anchor="ctr"/>
                    </a:tc>
                    <a:tc>
                      <a:txBody>
                        <a:bodyPr/>
                        <a:lstStyle/>
                        <a:p>
                          <a:pPr>
                            <a:buNone/>
                          </a:pPr>
                          <a:r>
                            <a:rPr lang="en-US" sz="1200"/>
                            <a:t>Harmful text prompts with no image; evaluate the VLM’s refusal or harmful completion using an automated judge plus manual audit.</a:t>
                          </a:r>
                        </a:p>
                      </a:txBody>
                      <a:tcPr marL="30218" marR="30218" marT="15109" marB="15109" anchor="ctr"/>
                    </a:tc>
                    <a:extLst>
                      <a:ext uri="{0D108BD9-81ED-4DB2-BD59-A6C34878D82A}">
                        <a16:rowId xmlns:a16="http://schemas.microsoft.com/office/drawing/2014/main" val="1605187175"/>
                      </a:ext>
                    </a:extLst>
                  </a:tr>
                  <a:tr h="391467">
                    <a:tc>
                      <a:txBody>
                        <a:bodyPr/>
                        <a:lstStyle/>
                        <a:p>
                          <a:pPr>
                            <a:buNone/>
                          </a:pPr>
                          <a:r>
                            <a:rPr lang="en-US" sz="1200"/>
                            <a:t>Visual-jailbreak safety</a:t>
                          </a:r>
                        </a:p>
                      </a:txBody>
                      <a:tcPr marL="30218" marR="30218" marT="15109" marB="15109" anchor="ctr"/>
                    </a:tc>
                    <a:tc>
                      <a:txBody>
                        <a:bodyPr/>
                        <a:lstStyle/>
                        <a:p>
                          <a:pPr>
                            <a:buNone/>
                          </a:pPr>
                          <a14:m>
                            <m:oMathPara xmlns:m="http://schemas.openxmlformats.org/officeDocument/2006/math">
                              <m:oMath>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𝐴𝑆𝑅</m:t>
                                    </m:r>
                                  </m:e>
                                  <m:sub>
                                    <m:r>
                                      <a:rPr lang="en-US" sz="1200" b="0" i="1" dirty="0" smtClean="0">
                                        <a:latin typeface="Cambria Math" panose="02040503050406030204" pitchFamily="18" charset="0"/>
                                      </a:rPr>
                                      <m:t>𝑖𝑚𝑎𝑔𝑒</m:t>
                                    </m:r>
                                  </m:sub>
                                </m:sSub>
                              </m:oMath>
                            </m:oMathPara>
                          </a14:m>
                          <a:endParaRPr lang="en-US" sz="1200" dirty="0"/>
                        </a:p>
                      </a:txBody>
                      <a:tcPr marL="30218" marR="30218" marT="15109" marB="15109" anchor="ctr"/>
                    </a:tc>
                    <a:tc>
                      <a:txBody>
                        <a:bodyPr/>
                        <a:lstStyle/>
                        <a:p>
                          <a:pPr>
                            <a:buNone/>
                          </a:pPr>
                          <a:r>
                            <a:rPr lang="en-US" sz="1200"/>
                            <a:t>Harmful instructions conveyed through images, including FigStep-style rendered text and visual semantic attacks.</a:t>
                          </a:r>
                        </a:p>
                      </a:txBody>
                      <a:tcPr marL="30218" marR="30218" marT="15109" marB="15109" anchor="ctr"/>
                    </a:tc>
                    <a:extLst>
                      <a:ext uri="{0D108BD9-81ED-4DB2-BD59-A6C34878D82A}">
                        <a16:rowId xmlns:a16="http://schemas.microsoft.com/office/drawing/2014/main" val="3876295031"/>
                      </a:ext>
                    </a:extLst>
                  </a:tr>
                  <a:tr h="391467">
                    <a:tc>
                      <a:txBody>
                        <a:bodyPr/>
                        <a:lstStyle/>
                        <a:p>
                          <a:pPr>
                            <a:buNone/>
                          </a:pPr>
                          <a:r>
                            <a:rPr lang="en-US" sz="1200"/>
                            <a:t>Cross-modal safety</a:t>
                          </a:r>
                        </a:p>
                      </a:txBody>
                      <a:tcPr marL="30218" marR="30218" marT="15109" marB="15109" anchor="ctr"/>
                    </a:tc>
                    <a:tc>
                      <a:txBody>
                        <a:bodyPr/>
                        <a:lstStyle/>
                        <a:p>
                          <a:pPr>
                            <a:buNone/>
                          </a:pPr>
                          <a14:m>
                            <m:oMathPara xmlns:m="http://schemas.openxmlformats.org/officeDocument/2006/math">
                              <m:oMath>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𝐴𝑆𝑅</m:t>
                                    </m:r>
                                  </m:e>
                                  <m:sub>
                                    <m:r>
                                      <a:rPr lang="en-US" sz="1200" b="0" i="1" dirty="0" smtClean="0">
                                        <a:latin typeface="Cambria Math" panose="02040503050406030204" pitchFamily="18" charset="0"/>
                                      </a:rPr>
                                      <m:t>𝑐𝑟𝑜𝑠𝑠</m:t>
                                    </m:r>
                                  </m:sub>
                                </m:sSub>
                              </m:oMath>
                            </m:oMathPara>
                          </a14:m>
                          <a:endParaRPr lang="en-US" sz="1200" dirty="0"/>
                        </a:p>
                      </a:txBody>
                      <a:tcPr marL="30218" marR="30218" marT="15109" marB="15109" anchor="ctr"/>
                    </a:tc>
                    <a:tc>
                      <a:txBody>
                        <a:bodyPr/>
                        <a:lstStyle/>
                        <a:p>
                          <a:pPr>
                            <a:buNone/>
                          </a:pPr>
                          <a:r>
                            <a:rPr lang="en-US" sz="1200"/>
                            <a:t>Evaluate paired image-text attacks where the image and text jointly create the harmful instruction.</a:t>
                          </a:r>
                        </a:p>
                      </a:txBody>
                      <a:tcPr marL="30218" marR="30218" marT="15109" marB="15109" anchor="ctr"/>
                    </a:tc>
                    <a:extLst>
                      <a:ext uri="{0D108BD9-81ED-4DB2-BD59-A6C34878D82A}">
                        <a16:rowId xmlns:a16="http://schemas.microsoft.com/office/drawing/2014/main" val="1648744535"/>
                      </a:ext>
                    </a:extLst>
                  </a:tr>
                  <a:tr h="391467">
                    <a:tc>
                      <a:txBody>
                        <a:bodyPr/>
                        <a:lstStyle/>
                        <a:p>
                          <a:pPr>
                            <a:buNone/>
                          </a:pPr>
                          <a:r>
                            <a:rPr lang="en-US" sz="1200"/>
                            <a:t>Overall safety</a:t>
                          </a:r>
                        </a:p>
                      </a:txBody>
                      <a:tcPr marL="30218" marR="30218" marT="15109" marB="15109" anchor="ctr"/>
                    </a:tc>
                    <a:tc>
                      <a:txBody>
                        <a:bodyPr/>
                        <a:lstStyle/>
                        <a:p>
                          <a:pPr>
                            <a:buNone/>
                          </a:pPr>
                          <a14:m>
                            <m:oMathPara xmlns:m="http://schemas.openxmlformats.org/officeDocument/2006/math">
                              <m:oMath>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𝐴𝑆𝑅</m:t>
                                    </m:r>
                                  </m:e>
                                  <m:sub>
                                    <m:r>
                                      <a:rPr lang="en-US" sz="1200" b="0" i="1" dirty="0" smtClean="0">
                                        <a:latin typeface="Cambria Math" panose="02040503050406030204" pitchFamily="18" charset="0"/>
                                      </a:rPr>
                                      <m:t>𝑡𝑜𝑡𝑎𝑙</m:t>
                                    </m:r>
                                  </m:sub>
                                </m:sSub>
                              </m:oMath>
                            </m:oMathPara>
                          </a14:m>
                          <a:endParaRPr lang="en-US" sz="1200" dirty="0"/>
                        </a:p>
                      </a:txBody>
                      <a:tcPr marL="30218" marR="30218" marT="15109" marB="15109" anchor="ctr"/>
                    </a:tc>
                    <a:tc>
                      <a:txBody>
                        <a:bodyPr/>
                        <a:lstStyle/>
                        <a:p>
                          <a:pPr>
                            <a:buNone/>
                          </a:pPr>
                          <a:r>
                            <a:rPr lang="en-US" sz="1200"/>
                            <a:t>Aggregate only after reporting the separate text, visual, and cross-modal ASRs. Lower is better.</a:t>
                          </a:r>
                        </a:p>
                      </a:txBody>
                      <a:tcPr marL="30218" marR="30218" marT="15109" marB="15109" anchor="ctr"/>
                    </a:tc>
                    <a:extLst>
                      <a:ext uri="{0D108BD9-81ED-4DB2-BD59-A6C34878D82A}">
                        <a16:rowId xmlns:a16="http://schemas.microsoft.com/office/drawing/2014/main" val="2926045446"/>
                      </a:ext>
                    </a:extLst>
                  </a:tr>
                  <a:tr h="391467">
                    <a:tc>
                      <a:txBody>
                        <a:bodyPr/>
                        <a:lstStyle/>
                        <a:p>
                          <a:pPr>
                            <a:buNone/>
                          </a:pPr>
                          <a:r>
                            <a:rPr lang="en-US" sz="1200"/>
                            <a:t>Over-refusal</a:t>
                          </a:r>
                        </a:p>
                      </a:txBody>
                      <a:tcPr marL="30218" marR="30218" marT="15109" marB="15109" anchor="ctr"/>
                    </a:tc>
                    <a:tc>
                      <a:txBody>
                        <a:bodyPr/>
                        <a:lstStyle/>
                        <a:p>
                          <a:pPr>
                            <a:buNone/>
                          </a:pPr>
                          <a:r>
                            <a:rPr lang="en-US" sz="1200"/>
                            <a:t>Benign refusal rate</a:t>
                          </a:r>
                        </a:p>
                      </a:txBody>
                      <a:tcPr marL="30218" marR="30218" marT="15109" marB="15109" anchor="ctr"/>
                    </a:tc>
                    <a:tc>
                      <a:txBody>
                        <a:bodyPr/>
                        <a:lstStyle/>
                        <a:p>
                          <a:pPr>
                            <a:buNone/>
                          </a:pPr>
                          <a:r>
                            <a:rPr lang="en-US" sz="1200"/>
                            <a:t>Run benign visual questions and safe image-text prompts. Measure how often the model refuses when it should answer.</a:t>
                          </a:r>
                        </a:p>
                      </a:txBody>
                      <a:tcPr marL="30218" marR="30218" marT="15109" marB="15109" anchor="ctr"/>
                    </a:tc>
                    <a:extLst>
                      <a:ext uri="{0D108BD9-81ED-4DB2-BD59-A6C34878D82A}">
                        <a16:rowId xmlns:a16="http://schemas.microsoft.com/office/drawing/2014/main" val="2106317591"/>
                      </a:ext>
                    </a:extLst>
                  </a:tr>
                  <a:tr h="391467">
                    <a:tc>
                      <a:txBody>
                        <a:bodyPr/>
                        <a:lstStyle/>
                        <a:p>
                          <a:pPr>
                            <a:buNone/>
                          </a:pPr>
                          <a:r>
                            <a:rPr lang="en-US" sz="1200"/>
                            <a:t>Visual truthfulness</a:t>
                          </a:r>
                        </a:p>
                      </a:txBody>
                      <a:tcPr marL="30218" marR="30218" marT="15109" marB="15109" anchor="ctr"/>
                    </a:tc>
                    <a:tc>
                      <a:txBody>
                        <a:bodyPr/>
                        <a:lstStyle/>
                        <a:p>
                          <a:pPr>
                            <a:buNone/>
                          </a:pPr>
                          <a:r>
                            <a:rPr lang="en-US" sz="1200" dirty="0"/>
                            <a:t>MMHal-Bench score</a:t>
                          </a:r>
                        </a:p>
                      </a:txBody>
                      <a:tcPr marL="30218" marR="30218" marT="15109" marB="15109" anchor="ctr"/>
                    </a:tc>
                    <a:tc>
                      <a:txBody>
                        <a:bodyPr/>
                        <a:lstStyle/>
                        <a:p>
                          <a:pPr>
                            <a:buNone/>
                          </a:pPr>
                          <a:r>
                            <a:rPr lang="en-US" sz="1200"/>
                            <a:t>Evaluate open-ended visual descriptions and hallucination using the image, question, and generated answer.</a:t>
                          </a:r>
                        </a:p>
                      </a:txBody>
                      <a:tcPr marL="30218" marR="30218" marT="15109" marB="15109" anchor="ctr"/>
                    </a:tc>
                    <a:extLst>
                      <a:ext uri="{0D108BD9-81ED-4DB2-BD59-A6C34878D82A}">
                        <a16:rowId xmlns:a16="http://schemas.microsoft.com/office/drawing/2014/main" val="2368133037"/>
                      </a:ext>
                    </a:extLst>
                  </a:tr>
                  <a:tr h="298734">
                    <a:tc>
                      <a:txBody>
                        <a:bodyPr/>
                        <a:lstStyle/>
                        <a:p>
                          <a:pPr>
                            <a:buNone/>
                          </a:pPr>
                          <a:r>
                            <a:rPr lang="en-US" sz="1200"/>
                            <a:t>Object hallucination</a:t>
                          </a:r>
                        </a:p>
                      </a:txBody>
                      <a:tcPr marL="30218" marR="30218" marT="15109" marB="15109" anchor="ctr"/>
                    </a:tc>
                    <a:tc>
                      <a:txBody>
                        <a:bodyPr/>
                        <a:lstStyle/>
                        <a:p>
                          <a:pPr>
                            <a:buNone/>
                          </a:pPr>
                          <a:r>
                            <a:rPr lang="en-US" sz="1200"/>
                            <a:t>POPE accuracy / F1</a:t>
                          </a:r>
                        </a:p>
                      </a:txBody>
                      <a:tcPr marL="30218" marR="30218" marT="15109" marB="15109" anchor="ctr"/>
                    </a:tc>
                    <a:tc>
                      <a:txBody>
                        <a:bodyPr/>
                        <a:lstStyle/>
                        <a:p>
                          <a:pPr>
                            <a:buNone/>
                          </a:pPr>
                          <a:r>
                            <a:rPr lang="en-US" sz="1200"/>
                            <a:t>Test whether the model incorrectly claims that objects are present in an image.</a:t>
                          </a:r>
                        </a:p>
                      </a:txBody>
                      <a:tcPr marL="30218" marR="30218" marT="15109" marB="15109" anchor="ctr"/>
                    </a:tc>
                    <a:extLst>
                      <a:ext uri="{0D108BD9-81ED-4DB2-BD59-A6C34878D82A}">
                        <a16:rowId xmlns:a16="http://schemas.microsoft.com/office/drawing/2014/main" val="2285422967"/>
                      </a:ext>
                    </a:extLst>
                  </a:tr>
                  <a:tr h="391467">
                    <a:tc>
                      <a:txBody>
                        <a:bodyPr/>
                        <a:lstStyle/>
                        <a:p>
                          <a:pPr>
                            <a:buNone/>
                          </a:pPr>
                          <a:r>
                            <a:rPr lang="en-US" sz="1200"/>
                            <a:t>Task capability</a:t>
                          </a:r>
                        </a:p>
                      </a:txBody>
                      <a:tcPr marL="30218" marR="30218" marT="15109" marB="15109" anchor="ctr"/>
                    </a:tc>
                    <a:tc>
                      <a:txBody>
                        <a:bodyPr/>
                        <a:lstStyle/>
                        <a:p>
                          <a:pPr>
                            <a:buNone/>
                          </a:pPr>
                          <a:r>
                            <a:rPr lang="en-US" sz="1200"/>
                            <a:t>VQA / reasoning score</a:t>
                          </a:r>
                        </a:p>
                      </a:txBody>
                      <a:tcPr marL="30218" marR="30218" marT="15109" marB="15109" anchor="ctr"/>
                    </a:tc>
                    <a:tc>
                      <a:txBody>
                        <a:bodyPr/>
                        <a:lstStyle/>
                        <a:p>
                          <a:pPr>
                            <a:buNone/>
                          </a:pPr>
                          <a:r>
                            <a:rPr lang="en-US" sz="1200"/>
                            <a:t>Evaluate held-out LLaVA-style instruction following, MathVista, medical VQA, and DocVQA test sets.</a:t>
                          </a:r>
                        </a:p>
                      </a:txBody>
                      <a:tcPr marL="30218" marR="30218" marT="15109" marB="15109" anchor="ctr"/>
                    </a:tc>
                    <a:extLst>
                      <a:ext uri="{0D108BD9-81ED-4DB2-BD59-A6C34878D82A}">
                        <a16:rowId xmlns:a16="http://schemas.microsoft.com/office/drawing/2014/main" val="1438813954"/>
                      </a:ext>
                    </a:extLst>
                  </a:tr>
                  <a:tr h="391467">
                    <a:tc>
                      <a:txBody>
                        <a:bodyPr/>
                        <a:lstStyle/>
                        <a:p>
                          <a:pPr>
                            <a:buNone/>
                          </a:pPr>
                          <a:r>
                            <a:rPr lang="en-US" sz="1200"/>
                            <a:t>Continual retention</a:t>
                          </a:r>
                        </a:p>
                      </a:txBody>
                      <a:tcPr marL="30218" marR="30218" marT="15109" marB="15109" anchor="ctr"/>
                    </a:tc>
                    <a:tc>
                      <a:txBody>
                        <a:bodyPr/>
                        <a:lstStyle/>
                        <a:p>
                          <a:pPr>
                            <a:buNone/>
                          </a:pPr>
                          <a14:m>
                            <m:oMath xmlns:m="http://schemas.openxmlformats.org/officeDocument/2006/math">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𝑅</m:t>
                                  </m:r>
                                </m:e>
                                <m:sub>
                                  <m:r>
                                    <a:rPr lang="en-US" sz="1200" b="0" i="1" dirty="0" smtClean="0">
                                      <a:latin typeface="Cambria Math" panose="02040503050406030204" pitchFamily="18" charset="0"/>
                                    </a:rPr>
                                    <m:t>𝑡</m:t>
                                  </m:r>
                                  <m:r>
                                    <a:rPr lang="en-US" sz="1200" b="0" i="1" dirty="0" smtClean="0">
                                      <a:latin typeface="Cambria Math" panose="02040503050406030204" pitchFamily="18" charset="0"/>
                                    </a:rPr>
                                    <m:t>,  </m:t>
                                  </m:r>
                                  <m:r>
                                    <a:rPr lang="en-US" sz="1200" b="0" i="1" dirty="0" smtClean="0">
                                      <a:latin typeface="Cambria Math" panose="02040503050406030204" pitchFamily="18" charset="0"/>
                                    </a:rPr>
                                    <m:t>𝑘</m:t>
                                  </m:r>
                                </m:sub>
                              </m:sSub>
                              <m:r>
                                <a:rPr lang="en-US" sz="1200" i="1" dirty="0">
                                  <a:latin typeface="Cambria Math" panose="02040503050406030204" pitchFamily="18" charset="0"/>
                                </a:rPr>
                                <m:t> </m:t>
                              </m:r>
                            </m:oMath>
                          </a14:m>
                          <a:r>
                            <a:rPr lang="en-US" sz="1200" dirty="0"/>
                            <a:t>matrix</a:t>
                          </a:r>
                        </a:p>
                      </a:txBody>
                      <a:tcPr marL="30218" marR="30218" marT="15109" marB="15109" anchor="ctr"/>
                    </a:tc>
                    <a:tc>
                      <a:txBody>
                        <a:bodyPr/>
                        <a:lstStyle/>
                        <a:p>
                          <a:pPr>
                            <a:buNone/>
                          </a:pPr>
                          <a:r>
                            <a:rPr lang="en-US" sz="1200" dirty="0"/>
                            <a:t>After each task</a:t>
                          </a:r>
                          <a:r>
                            <a:rPr lang="en-US" sz="1200" baseline="0" dirty="0"/>
                            <a:t> </a:t>
                          </a:r>
                          <a14:m>
                            <m:oMath xmlns:m="http://schemas.openxmlformats.org/officeDocument/2006/math">
                              <m:r>
                                <a:rPr lang="en-US" sz="1200" b="0" i="1" baseline="0" smtClean="0">
                                  <a:latin typeface="Cambria Math" panose="02040503050406030204" pitchFamily="18" charset="0"/>
                                </a:rPr>
                                <m:t>𝑡</m:t>
                              </m:r>
                            </m:oMath>
                          </a14:m>
                          <a:r>
                            <a:rPr lang="en-US" sz="1200" dirty="0"/>
                            <a:t>, evaluate the model on every task test set </a:t>
                          </a:r>
                          <a14:m>
                            <m:oMath xmlns:m="http://schemas.openxmlformats.org/officeDocument/2006/math">
                              <m:r>
                                <a:rPr lang="en-US" sz="1200" b="0" i="1" dirty="0" smtClean="0">
                                  <a:latin typeface="Cambria Math" panose="02040503050406030204" pitchFamily="18" charset="0"/>
                                </a:rPr>
                                <m:t>𝑘</m:t>
                              </m:r>
                            </m:oMath>
                          </a14:m>
                          <a:r>
                            <a:rPr lang="en-US" sz="1200" dirty="0"/>
                            <a:t>. This produces the continual-learning performance matrix.</a:t>
                          </a:r>
                        </a:p>
                      </a:txBody>
                      <a:tcPr marL="30218" marR="30218" marT="15109" marB="15109" anchor="ctr"/>
                    </a:tc>
                    <a:extLst>
                      <a:ext uri="{0D108BD9-81ED-4DB2-BD59-A6C34878D82A}">
                        <a16:rowId xmlns:a16="http://schemas.microsoft.com/office/drawing/2014/main" val="3781408998"/>
                      </a:ext>
                    </a:extLst>
                  </a:tr>
                  <a:tr h="391467">
                    <a:tc>
                      <a:txBody>
                        <a:bodyPr/>
                        <a:lstStyle/>
                        <a:p>
                          <a:pPr>
                            <a:buNone/>
                          </a:pPr>
                          <a:r>
                            <a:rPr lang="en-US" sz="1200"/>
                            <a:t>Multimodal safety basin</a:t>
                          </a:r>
                        </a:p>
                      </a:txBody>
                      <a:tcPr marL="30218" marR="30218" marT="15109" marB="15109" anchor="ctr"/>
                    </a:tc>
                    <a:tc>
                      <a:txBody>
                        <a:bodyPr/>
                        <a:lstStyle/>
                        <a:p>
                          <a:pPr>
                            <a:buNone/>
                          </a:pPr>
                          <a:r>
                            <a:rPr lang="en-US" sz="1200" dirty="0"/>
                            <a:t>Adapter-space </a:t>
                          </a:r>
                          <a14:m>
                            <m:oMath xmlns:m="http://schemas.openxmlformats.org/officeDocument/2006/math">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𝑉𝐼𝑆𝐴𝐺𝐸</m:t>
                                  </m:r>
                                </m:e>
                                <m:sub>
                                  <m:r>
                                    <a:rPr lang="en-US" sz="1200" b="0" i="1" dirty="0" smtClean="0">
                                      <a:latin typeface="Cambria Math" panose="02040503050406030204" pitchFamily="18" charset="0"/>
                                    </a:rPr>
                                    <m:t>𝑉𝐿𝑀</m:t>
                                  </m:r>
                                </m:sub>
                              </m:sSub>
                            </m:oMath>
                          </a14:m>
                          <a:endParaRPr lang="en-US" sz="1200" dirty="0"/>
                        </a:p>
                      </a:txBody>
                      <a:tcPr marL="30218" marR="30218" marT="15109" marB="15109" anchor="ctr"/>
                    </a:tc>
                    <a:tc>
                      <a:txBody>
                        <a:bodyPr/>
                        <a:lstStyle/>
                        <a:p>
                          <a:pPr>
                            <a:buNone/>
                          </a:pPr>
                          <a:r>
                            <a:rPr lang="en-US" sz="1200" dirty="0"/>
                            <a:t>Perturb the trainable parameter subspace—LM-</a:t>
                          </a:r>
                          <a:r>
                            <a:rPr lang="en-US" sz="1200" dirty="0" err="1"/>
                            <a:t>LoRA</a:t>
                          </a:r>
                          <a:r>
                            <a:rPr lang="en-US" sz="1200" dirty="0"/>
                            <a:t>, projector, or both, and reevaluate multimodal safety.</a:t>
                          </a:r>
                        </a:p>
                      </a:txBody>
                      <a:tcPr marL="30218" marR="30218" marT="15109" marB="15109" anchor="ctr"/>
                    </a:tc>
                    <a:extLst>
                      <a:ext uri="{0D108BD9-81ED-4DB2-BD59-A6C34878D82A}">
                        <a16:rowId xmlns:a16="http://schemas.microsoft.com/office/drawing/2014/main" val="2429898651"/>
                      </a:ext>
                    </a:extLst>
                  </a:tr>
                  <a:tr h="391467">
                    <a:tc>
                      <a:txBody>
                        <a:bodyPr/>
                        <a:lstStyle/>
                        <a:p>
                          <a:pPr>
                            <a:buNone/>
                          </a:pPr>
                          <a:r>
                            <a:rPr lang="en-US" sz="1200"/>
                            <a:t>Training cost</a:t>
                          </a:r>
                        </a:p>
                      </a:txBody>
                      <a:tcPr marL="30218" marR="30218" marT="15109" marB="15109" anchor="ctr"/>
                    </a:tc>
                    <a:tc>
                      <a:txBody>
                        <a:bodyPr/>
                        <a:lstStyle/>
                        <a:p>
                          <a:pPr>
                            <a:buNone/>
                          </a:pPr>
                          <a:r>
                            <a:rPr lang="en-US" sz="1200"/>
                            <a:t>Time, GPU memory, gradient overhead</a:t>
                          </a:r>
                        </a:p>
                      </a:txBody>
                      <a:tcPr marL="30218" marR="30218" marT="15109" marB="15109" anchor="ctr"/>
                    </a:tc>
                    <a:tc>
                      <a:txBody>
                        <a:bodyPr/>
                        <a:lstStyle/>
                        <a:p>
                          <a:pPr>
                            <a:buNone/>
                          </a:pPr>
                          <a:r>
                            <a:rPr lang="en-US" sz="1200" dirty="0"/>
                            <a:t>Compare standard fine-tuning with sample selection and report wall-clock time, memory, and additional backward passes.</a:t>
                          </a:r>
                        </a:p>
                      </a:txBody>
                      <a:tcPr marL="30218" marR="30218" marT="15109" marB="15109" anchor="ctr"/>
                    </a:tc>
                    <a:extLst>
                      <a:ext uri="{0D108BD9-81ED-4DB2-BD59-A6C34878D82A}">
                        <a16:rowId xmlns:a16="http://schemas.microsoft.com/office/drawing/2014/main" val="1599798568"/>
                      </a:ext>
                    </a:extLst>
                  </a:tr>
                </a:tbl>
              </a:graphicData>
            </a:graphic>
          </p:graphicFrame>
        </mc:Choice>
        <mc:Fallback>
          <p:graphicFrame>
            <p:nvGraphicFramePr>
              <p:cNvPr id="6" name="Content Placeholder 5">
                <a:extLst>
                  <a:ext uri="{FF2B5EF4-FFF2-40B4-BE49-F238E27FC236}">
                    <a16:creationId xmlns:a16="http://schemas.microsoft.com/office/drawing/2014/main" id="{A32B5534-53EF-7068-5AE7-8C84ECEEF296}"/>
                  </a:ext>
                </a:extLst>
              </p:cNvPr>
              <p:cNvGraphicFramePr>
                <a:graphicFrameLocks noGrp="1"/>
              </p:cNvGraphicFramePr>
              <p:nvPr>
                <p:ph idx="1"/>
                <p:extLst>
                  <p:ext uri="{D42A27DB-BD31-4B8C-83A1-F6EECF244321}">
                    <p14:modId xmlns:p14="http://schemas.microsoft.com/office/powerpoint/2010/main" val="3548527597"/>
                  </p:ext>
                </p:extLst>
              </p:nvPr>
            </p:nvGraphicFramePr>
            <p:xfrm>
              <a:off x="224852" y="1454046"/>
              <a:ext cx="11692327" cy="4535564"/>
            </p:xfrm>
            <a:graphic>
              <a:graphicData uri="http://schemas.openxmlformats.org/drawingml/2006/table">
                <a:tbl>
                  <a:tblPr>
                    <a:tableStyleId>{5C22544A-7EE6-4342-B048-85BDC9FD1C3A}</a:tableStyleId>
                  </a:tblPr>
                  <a:tblGrid>
                    <a:gridCol w="1813810">
                      <a:extLst>
                        <a:ext uri="{9D8B030D-6E8A-4147-A177-3AD203B41FA5}">
                          <a16:colId xmlns:a16="http://schemas.microsoft.com/office/drawing/2014/main" val="1094669986"/>
                        </a:ext>
                      </a:extLst>
                    </a:gridCol>
                    <a:gridCol w="2698230">
                      <a:extLst>
                        <a:ext uri="{9D8B030D-6E8A-4147-A177-3AD203B41FA5}">
                          <a16:colId xmlns:a16="http://schemas.microsoft.com/office/drawing/2014/main" val="179263160"/>
                        </a:ext>
                      </a:extLst>
                    </a:gridCol>
                    <a:gridCol w="7180287">
                      <a:extLst>
                        <a:ext uri="{9D8B030D-6E8A-4147-A177-3AD203B41FA5}">
                          <a16:colId xmlns:a16="http://schemas.microsoft.com/office/drawing/2014/main" val="2324676047"/>
                        </a:ext>
                      </a:extLst>
                    </a:gridCol>
                  </a:tblGrid>
                  <a:tr h="213098">
                    <a:tc>
                      <a:txBody>
                        <a:bodyPr/>
                        <a:lstStyle/>
                        <a:p>
                          <a:pPr>
                            <a:buNone/>
                          </a:pPr>
                          <a:r>
                            <a:rPr lang="en-US" sz="1200" b="1" dirty="0"/>
                            <a:t>Dimension</a:t>
                          </a:r>
                        </a:p>
                      </a:txBody>
                      <a:tcPr marL="30218" marR="30218" marT="15109" marB="15109" anchor="ctr"/>
                    </a:tc>
                    <a:tc>
                      <a:txBody>
                        <a:bodyPr/>
                        <a:lstStyle/>
                        <a:p>
                          <a:pPr>
                            <a:buNone/>
                          </a:pPr>
                          <a:r>
                            <a:rPr lang="en-US" sz="1200" b="1" dirty="0"/>
                            <a:t>VLM metric / signal</a:t>
                          </a:r>
                        </a:p>
                      </a:txBody>
                      <a:tcPr marL="30218" marR="30218" marT="15109" marB="15109" anchor="ctr"/>
                    </a:tc>
                    <a:tc>
                      <a:txBody>
                        <a:bodyPr/>
                        <a:lstStyle/>
                        <a:p>
                          <a:pPr>
                            <a:buNone/>
                          </a:pPr>
                          <a:r>
                            <a:rPr lang="en-US" sz="1200" b="1" dirty="0"/>
                            <a:t>How we will measure it</a:t>
                          </a:r>
                        </a:p>
                      </a:txBody>
                      <a:tcPr marL="30218" marR="30218" marT="15109" marB="15109" anchor="ctr"/>
                    </a:tc>
                    <a:extLst>
                      <a:ext uri="{0D108BD9-81ED-4DB2-BD59-A6C34878D82A}">
                        <a16:rowId xmlns:a16="http://schemas.microsoft.com/office/drawing/2014/main" val="3056411588"/>
                      </a:ext>
                    </a:extLst>
                  </a:tr>
                  <a:tr h="477974">
                    <a:tc>
                      <a:txBody>
                        <a:bodyPr/>
                        <a:lstStyle/>
                        <a:p>
                          <a:pPr>
                            <a:buNone/>
                          </a:pPr>
                          <a:r>
                            <a:rPr lang="en-US" sz="1200"/>
                            <a:t>Text-channel safety</a:t>
                          </a:r>
                        </a:p>
                      </a:txBody>
                      <a:tcPr marL="30218" marR="30218" marT="15109" marB="15109" anchor="ctr"/>
                    </a:tc>
                    <a:tc>
                      <a:txBody>
                        <a:bodyPr/>
                        <a:lstStyle/>
                        <a:p>
                          <a:endParaRPr lang="en-US"/>
                        </a:p>
                      </a:txBody>
                      <a:tcPr marL="30218" marR="30218" marT="15109" marB="15109" anchor="ctr">
                        <a:blipFill>
                          <a:blip r:embed="rId3"/>
                          <a:stretch>
                            <a:fillRect l="-67606" t="-52632" r="-266197" b="-810526"/>
                          </a:stretch>
                        </a:blipFill>
                      </a:tcPr>
                    </a:tc>
                    <a:tc>
                      <a:txBody>
                        <a:bodyPr/>
                        <a:lstStyle/>
                        <a:p>
                          <a:pPr>
                            <a:buNone/>
                          </a:pPr>
                          <a:r>
                            <a:rPr lang="en-US" sz="1200"/>
                            <a:t>Harmful text prompts with no image; evaluate the VLM’s refusal or harmful completion using an automated judge plus manual audit.</a:t>
                          </a:r>
                        </a:p>
                      </a:txBody>
                      <a:tcPr marL="30218" marR="30218" marT="15109" marB="15109" anchor="ctr"/>
                    </a:tc>
                    <a:extLst>
                      <a:ext uri="{0D108BD9-81ED-4DB2-BD59-A6C34878D82A}">
                        <a16:rowId xmlns:a16="http://schemas.microsoft.com/office/drawing/2014/main" val="1605187175"/>
                      </a:ext>
                    </a:extLst>
                  </a:tr>
                  <a:tr h="395978">
                    <a:tc>
                      <a:txBody>
                        <a:bodyPr/>
                        <a:lstStyle/>
                        <a:p>
                          <a:pPr>
                            <a:buNone/>
                          </a:pPr>
                          <a:r>
                            <a:rPr lang="en-US" sz="1200"/>
                            <a:t>Visual-jailbreak safety</a:t>
                          </a:r>
                        </a:p>
                      </a:txBody>
                      <a:tcPr marL="30218" marR="30218" marT="15109" marB="15109" anchor="ctr"/>
                    </a:tc>
                    <a:tc>
                      <a:txBody>
                        <a:bodyPr/>
                        <a:lstStyle/>
                        <a:p>
                          <a:endParaRPr lang="en-US"/>
                        </a:p>
                      </a:txBody>
                      <a:tcPr marL="30218" marR="30218" marT="15109" marB="15109" anchor="ctr">
                        <a:blipFill>
                          <a:blip r:embed="rId3"/>
                          <a:stretch>
                            <a:fillRect l="-67606" t="-187097" r="-266197" b="-893548"/>
                          </a:stretch>
                        </a:blipFill>
                      </a:tcPr>
                    </a:tc>
                    <a:tc>
                      <a:txBody>
                        <a:bodyPr/>
                        <a:lstStyle/>
                        <a:p>
                          <a:pPr>
                            <a:buNone/>
                          </a:pPr>
                          <a:r>
                            <a:rPr lang="en-US" sz="1200"/>
                            <a:t>Harmful instructions conveyed through images, including FigStep-style rendered text and visual semantic attacks.</a:t>
                          </a:r>
                        </a:p>
                      </a:txBody>
                      <a:tcPr marL="30218" marR="30218" marT="15109" marB="15109" anchor="ctr"/>
                    </a:tc>
                    <a:extLst>
                      <a:ext uri="{0D108BD9-81ED-4DB2-BD59-A6C34878D82A}">
                        <a16:rowId xmlns:a16="http://schemas.microsoft.com/office/drawing/2014/main" val="3876295031"/>
                      </a:ext>
                    </a:extLst>
                  </a:tr>
                  <a:tr h="391467">
                    <a:tc>
                      <a:txBody>
                        <a:bodyPr/>
                        <a:lstStyle/>
                        <a:p>
                          <a:pPr>
                            <a:buNone/>
                          </a:pPr>
                          <a:r>
                            <a:rPr lang="en-US" sz="1200"/>
                            <a:t>Cross-modal safety</a:t>
                          </a:r>
                        </a:p>
                      </a:txBody>
                      <a:tcPr marL="30218" marR="30218" marT="15109" marB="15109" anchor="ctr"/>
                    </a:tc>
                    <a:tc>
                      <a:txBody>
                        <a:bodyPr/>
                        <a:lstStyle/>
                        <a:p>
                          <a:endParaRPr lang="en-US"/>
                        </a:p>
                      </a:txBody>
                      <a:tcPr marL="30218" marR="30218" marT="15109" marB="15109" anchor="ctr">
                        <a:blipFill>
                          <a:blip r:embed="rId3"/>
                          <a:stretch>
                            <a:fillRect l="-67606" t="-287097" r="-266197" b="-793548"/>
                          </a:stretch>
                        </a:blipFill>
                      </a:tcPr>
                    </a:tc>
                    <a:tc>
                      <a:txBody>
                        <a:bodyPr/>
                        <a:lstStyle/>
                        <a:p>
                          <a:pPr>
                            <a:buNone/>
                          </a:pPr>
                          <a:r>
                            <a:rPr lang="en-US" sz="1200"/>
                            <a:t>Evaluate paired image-text attacks where the image and text jointly create the harmful instruction.</a:t>
                          </a:r>
                        </a:p>
                      </a:txBody>
                      <a:tcPr marL="30218" marR="30218" marT="15109" marB="15109" anchor="ctr"/>
                    </a:tc>
                    <a:extLst>
                      <a:ext uri="{0D108BD9-81ED-4DB2-BD59-A6C34878D82A}">
                        <a16:rowId xmlns:a16="http://schemas.microsoft.com/office/drawing/2014/main" val="1648744535"/>
                      </a:ext>
                    </a:extLst>
                  </a:tr>
                  <a:tr h="391467">
                    <a:tc>
                      <a:txBody>
                        <a:bodyPr/>
                        <a:lstStyle/>
                        <a:p>
                          <a:pPr>
                            <a:buNone/>
                          </a:pPr>
                          <a:r>
                            <a:rPr lang="en-US" sz="1200"/>
                            <a:t>Overall safety</a:t>
                          </a:r>
                        </a:p>
                      </a:txBody>
                      <a:tcPr marL="30218" marR="30218" marT="15109" marB="15109" anchor="ctr"/>
                    </a:tc>
                    <a:tc>
                      <a:txBody>
                        <a:bodyPr/>
                        <a:lstStyle/>
                        <a:p>
                          <a:endParaRPr lang="en-US"/>
                        </a:p>
                      </a:txBody>
                      <a:tcPr marL="30218" marR="30218" marT="15109" marB="15109" anchor="ctr">
                        <a:blipFill>
                          <a:blip r:embed="rId3"/>
                          <a:stretch>
                            <a:fillRect l="-67606" t="-387097" r="-266197" b="-693548"/>
                          </a:stretch>
                        </a:blipFill>
                      </a:tcPr>
                    </a:tc>
                    <a:tc>
                      <a:txBody>
                        <a:bodyPr/>
                        <a:lstStyle/>
                        <a:p>
                          <a:pPr>
                            <a:buNone/>
                          </a:pPr>
                          <a:r>
                            <a:rPr lang="en-US" sz="1200"/>
                            <a:t>Aggregate only after reporting the separate text, visual, and cross-modal ASRs. Lower is better.</a:t>
                          </a:r>
                        </a:p>
                      </a:txBody>
                      <a:tcPr marL="30218" marR="30218" marT="15109" marB="15109" anchor="ctr"/>
                    </a:tc>
                    <a:extLst>
                      <a:ext uri="{0D108BD9-81ED-4DB2-BD59-A6C34878D82A}">
                        <a16:rowId xmlns:a16="http://schemas.microsoft.com/office/drawing/2014/main" val="2926045446"/>
                      </a:ext>
                    </a:extLst>
                  </a:tr>
                  <a:tr h="395978">
                    <a:tc>
                      <a:txBody>
                        <a:bodyPr/>
                        <a:lstStyle/>
                        <a:p>
                          <a:pPr>
                            <a:buNone/>
                          </a:pPr>
                          <a:r>
                            <a:rPr lang="en-US" sz="1200"/>
                            <a:t>Over-refusal</a:t>
                          </a:r>
                        </a:p>
                      </a:txBody>
                      <a:tcPr marL="30218" marR="30218" marT="15109" marB="15109" anchor="ctr"/>
                    </a:tc>
                    <a:tc>
                      <a:txBody>
                        <a:bodyPr/>
                        <a:lstStyle/>
                        <a:p>
                          <a:pPr>
                            <a:buNone/>
                          </a:pPr>
                          <a:r>
                            <a:rPr lang="en-US" sz="1200"/>
                            <a:t>Benign refusal rate</a:t>
                          </a:r>
                        </a:p>
                      </a:txBody>
                      <a:tcPr marL="30218" marR="30218" marT="15109" marB="15109" anchor="ctr"/>
                    </a:tc>
                    <a:tc>
                      <a:txBody>
                        <a:bodyPr/>
                        <a:lstStyle/>
                        <a:p>
                          <a:pPr>
                            <a:buNone/>
                          </a:pPr>
                          <a:r>
                            <a:rPr lang="en-US" sz="1200"/>
                            <a:t>Run benign visual questions and safe image-text prompts. Measure how often the model refuses when it should answer.</a:t>
                          </a:r>
                        </a:p>
                      </a:txBody>
                      <a:tcPr marL="30218" marR="30218" marT="15109" marB="15109" anchor="ctr"/>
                    </a:tc>
                    <a:extLst>
                      <a:ext uri="{0D108BD9-81ED-4DB2-BD59-A6C34878D82A}">
                        <a16:rowId xmlns:a16="http://schemas.microsoft.com/office/drawing/2014/main" val="2106317591"/>
                      </a:ext>
                    </a:extLst>
                  </a:tr>
                  <a:tr h="395978">
                    <a:tc>
                      <a:txBody>
                        <a:bodyPr/>
                        <a:lstStyle/>
                        <a:p>
                          <a:pPr>
                            <a:buNone/>
                          </a:pPr>
                          <a:r>
                            <a:rPr lang="en-US" sz="1200"/>
                            <a:t>Visual truthfulness</a:t>
                          </a:r>
                        </a:p>
                      </a:txBody>
                      <a:tcPr marL="30218" marR="30218" marT="15109" marB="15109" anchor="ctr"/>
                    </a:tc>
                    <a:tc>
                      <a:txBody>
                        <a:bodyPr/>
                        <a:lstStyle/>
                        <a:p>
                          <a:pPr>
                            <a:buNone/>
                          </a:pPr>
                          <a:r>
                            <a:rPr lang="en-US" sz="1200" dirty="0"/>
                            <a:t>MMHal-Bench score</a:t>
                          </a:r>
                        </a:p>
                      </a:txBody>
                      <a:tcPr marL="30218" marR="30218" marT="15109" marB="15109" anchor="ctr"/>
                    </a:tc>
                    <a:tc>
                      <a:txBody>
                        <a:bodyPr/>
                        <a:lstStyle/>
                        <a:p>
                          <a:pPr>
                            <a:buNone/>
                          </a:pPr>
                          <a:r>
                            <a:rPr lang="en-US" sz="1200"/>
                            <a:t>Evaluate open-ended visual descriptions and hallucination using the image, question, and generated answer.</a:t>
                          </a:r>
                        </a:p>
                      </a:txBody>
                      <a:tcPr marL="30218" marR="30218" marT="15109" marB="15109" anchor="ctr"/>
                    </a:tc>
                    <a:extLst>
                      <a:ext uri="{0D108BD9-81ED-4DB2-BD59-A6C34878D82A}">
                        <a16:rowId xmlns:a16="http://schemas.microsoft.com/office/drawing/2014/main" val="2368133037"/>
                      </a:ext>
                    </a:extLst>
                  </a:tr>
                  <a:tr h="298734">
                    <a:tc>
                      <a:txBody>
                        <a:bodyPr/>
                        <a:lstStyle/>
                        <a:p>
                          <a:pPr>
                            <a:buNone/>
                          </a:pPr>
                          <a:r>
                            <a:rPr lang="en-US" sz="1200"/>
                            <a:t>Object hallucination</a:t>
                          </a:r>
                        </a:p>
                      </a:txBody>
                      <a:tcPr marL="30218" marR="30218" marT="15109" marB="15109" anchor="ctr"/>
                    </a:tc>
                    <a:tc>
                      <a:txBody>
                        <a:bodyPr/>
                        <a:lstStyle/>
                        <a:p>
                          <a:pPr>
                            <a:buNone/>
                          </a:pPr>
                          <a:r>
                            <a:rPr lang="en-US" sz="1200"/>
                            <a:t>POPE accuracy / F1</a:t>
                          </a:r>
                        </a:p>
                      </a:txBody>
                      <a:tcPr marL="30218" marR="30218" marT="15109" marB="15109" anchor="ctr"/>
                    </a:tc>
                    <a:tc>
                      <a:txBody>
                        <a:bodyPr/>
                        <a:lstStyle/>
                        <a:p>
                          <a:pPr>
                            <a:buNone/>
                          </a:pPr>
                          <a:r>
                            <a:rPr lang="en-US" sz="1200"/>
                            <a:t>Test whether the model incorrectly claims that objects are present in an image.</a:t>
                          </a:r>
                        </a:p>
                      </a:txBody>
                      <a:tcPr marL="30218" marR="30218" marT="15109" marB="15109" anchor="ctr"/>
                    </a:tc>
                    <a:extLst>
                      <a:ext uri="{0D108BD9-81ED-4DB2-BD59-A6C34878D82A}">
                        <a16:rowId xmlns:a16="http://schemas.microsoft.com/office/drawing/2014/main" val="2285422967"/>
                      </a:ext>
                    </a:extLst>
                  </a:tr>
                  <a:tr h="391467">
                    <a:tc>
                      <a:txBody>
                        <a:bodyPr/>
                        <a:lstStyle/>
                        <a:p>
                          <a:pPr>
                            <a:buNone/>
                          </a:pPr>
                          <a:r>
                            <a:rPr lang="en-US" sz="1200"/>
                            <a:t>Task capability</a:t>
                          </a:r>
                        </a:p>
                      </a:txBody>
                      <a:tcPr marL="30218" marR="30218" marT="15109" marB="15109" anchor="ctr"/>
                    </a:tc>
                    <a:tc>
                      <a:txBody>
                        <a:bodyPr/>
                        <a:lstStyle/>
                        <a:p>
                          <a:pPr>
                            <a:buNone/>
                          </a:pPr>
                          <a:r>
                            <a:rPr lang="en-US" sz="1200"/>
                            <a:t>VQA / reasoning score</a:t>
                          </a:r>
                        </a:p>
                      </a:txBody>
                      <a:tcPr marL="30218" marR="30218" marT="15109" marB="15109" anchor="ctr"/>
                    </a:tc>
                    <a:tc>
                      <a:txBody>
                        <a:bodyPr/>
                        <a:lstStyle/>
                        <a:p>
                          <a:pPr>
                            <a:buNone/>
                          </a:pPr>
                          <a:r>
                            <a:rPr lang="en-US" sz="1200"/>
                            <a:t>Evaluate held-out LLaVA-style instruction following, MathVista, medical VQA, and DocVQA test sets.</a:t>
                          </a:r>
                        </a:p>
                      </a:txBody>
                      <a:tcPr marL="30218" marR="30218" marT="15109" marB="15109" anchor="ctr"/>
                    </a:tc>
                    <a:extLst>
                      <a:ext uri="{0D108BD9-81ED-4DB2-BD59-A6C34878D82A}">
                        <a16:rowId xmlns:a16="http://schemas.microsoft.com/office/drawing/2014/main" val="1438813954"/>
                      </a:ext>
                    </a:extLst>
                  </a:tr>
                  <a:tr h="395978">
                    <a:tc>
                      <a:txBody>
                        <a:bodyPr/>
                        <a:lstStyle/>
                        <a:p>
                          <a:pPr>
                            <a:buNone/>
                          </a:pPr>
                          <a:r>
                            <a:rPr lang="en-US" sz="1200"/>
                            <a:t>Continual retention</a:t>
                          </a:r>
                        </a:p>
                      </a:txBody>
                      <a:tcPr marL="30218" marR="30218" marT="15109" marB="15109" anchor="ctr"/>
                    </a:tc>
                    <a:tc>
                      <a:txBody>
                        <a:bodyPr/>
                        <a:lstStyle/>
                        <a:p>
                          <a:endParaRPr lang="en-US"/>
                        </a:p>
                      </a:txBody>
                      <a:tcPr marL="30218" marR="30218" marT="15109" marB="15109" anchor="ctr">
                        <a:blipFill>
                          <a:blip r:embed="rId3"/>
                          <a:stretch>
                            <a:fillRect l="-67606" t="-864516" r="-266197" b="-216129"/>
                          </a:stretch>
                        </a:blipFill>
                      </a:tcPr>
                    </a:tc>
                    <a:tc>
                      <a:txBody>
                        <a:bodyPr/>
                        <a:lstStyle/>
                        <a:p>
                          <a:endParaRPr lang="en-US"/>
                        </a:p>
                      </a:txBody>
                      <a:tcPr marL="30218" marR="30218" marT="15109" marB="15109" anchor="ctr">
                        <a:blipFill>
                          <a:blip r:embed="rId3"/>
                          <a:stretch>
                            <a:fillRect l="-63074" t="-864516" r="-177" b="-216129"/>
                          </a:stretch>
                        </a:blipFill>
                      </a:tcPr>
                    </a:tc>
                    <a:extLst>
                      <a:ext uri="{0D108BD9-81ED-4DB2-BD59-A6C34878D82A}">
                        <a16:rowId xmlns:a16="http://schemas.microsoft.com/office/drawing/2014/main" val="3781408998"/>
                      </a:ext>
                    </a:extLst>
                  </a:tr>
                  <a:tr h="391467">
                    <a:tc>
                      <a:txBody>
                        <a:bodyPr/>
                        <a:lstStyle/>
                        <a:p>
                          <a:pPr>
                            <a:buNone/>
                          </a:pPr>
                          <a:r>
                            <a:rPr lang="en-US" sz="1200"/>
                            <a:t>Multimodal safety basin</a:t>
                          </a:r>
                        </a:p>
                      </a:txBody>
                      <a:tcPr marL="30218" marR="30218" marT="15109" marB="15109" anchor="ctr"/>
                    </a:tc>
                    <a:tc>
                      <a:txBody>
                        <a:bodyPr/>
                        <a:lstStyle/>
                        <a:p>
                          <a:endParaRPr lang="en-US"/>
                        </a:p>
                      </a:txBody>
                      <a:tcPr marL="30218" marR="30218" marT="15109" marB="15109" anchor="ctr">
                        <a:blipFill>
                          <a:blip r:embed="rId3"/>
                          <a:stretch>
                            <a:fillRect l="-67606" t="-964516" r="-266197" b="-116129"/>
                          </a:stretch>
                        </a:blipFill>
                      </a:tcPr>
                    </a:tc>
                    <a:tc>
                      <a:txBody>
                        <a:bodyPr/>
                        <a:lstStyle/>
                        <a:p>
                          <a:pPr>
                            <a:buNone/>
                          </a:pPr>
                          <a:r>
                            <a:rPr lang="en-US" sz="1200" dirty="0"/>
                            <a:t>Perturb the trainable parameter subspace—LM-</a:t>
                          </a:r>
                          <a:r>
                            <a:rPr lang="en-US" sz="1200" dirty="0" err="1"/>
                            <a:t>LoRA</a:t>
                          </a:r>
                          <a:r>
                            <a:rPr lang="en-US" sz="1200" dirty="0"/>
                            <a:t>, projector, or both, and reevaluate multimodal safety.</a:t>
                          </a:r>
                        </a:p>
                      </a:txBody>
                      <a:tcPr marL="30218" marR="30218" marT="15109" marB="15109" anchor="ctr"/>
                    </a:tc>
                    <a:extLst>
                      <a:ext uri="{0D108BD9-81ED-4DB2-BD59-A6C34878D82A}">
                        <a16:rowId xmlns:a16="http://schemas.microsoft.com/office/drawing/2014/main" val="2429898651"/>
                      </a:ext>
                    </a:extLst>
                  </a:tr>
                  <a:tr h="395978">
                    <a:tc>
                      <a:txBody>
                        <a:bodyPr/>
                        <a:lstStyle/>
                        <a:p>
                          <a:pPr>
                            <a:buNone/>
                          </a:pPr>
                          <a:r>
                            <a:rPr lang="en-US" sz="1200"/>
                            <a:t>Training cost</a:t>
                          </a:r>
                        </a:p>
                      </a:txBody>
                      <a:tcPr marL="30218" marR="30218" marT="15109" marB="15109" anchor="ctr"/>
                    </a:tc>
                    <a:tc>
                      <a:txBody>
                        <a:bodyPr/>
                        <a:lstStyle/>
                        <a:p>
                          <a:pPr>
                            <a:buNone/>
                          </a:pPr>
                          <a:r>
                            <a:rPr lang="en-US" sz="1200"/>
                            <a:t>Time, GPU memory, gradient overhead</a:t>
                          </a:r>
                        </a:p>
                      </a:txBody>
                      <a:tcPr marL="30218" marR="30218" marT="15109" marB="15109" anchor="ctr"/>
                    </a:tc>
                    <a:tc>
                      <a:txBody>
                        <a:bodyPr/>
                        <a:lstStyle/>
                        <a:p>
                          <a:pPr>
                            <a:buNone/>
                          </a:pPr>
                          <a:r>
                            <a:rPr lang="en-US" sz="1200" dirty="0"/>
                            <a:t>Compare standard fine-tuning with sample selection and report wall-clock time, memory, and additional backward passes.</a:t>
                          </a:r>
                        </a:p>
                      </a:txBody>
                      <a:tcPr marL="30218" marR="30218" marT="15109" marB="15109" anchor="ctr"/>
                    </a:tc>
                    <a:extLst>
                      <a:ext uri="{0D108BD9-81ED-4DB2-BD59-A6C34878D82A}">
                        <a16:rowId xmlns:a16="http://schemas.microsoft.com/office/drawing/2014/main" val="1599798568"/>
                      </a:ext>
                    </a:extLst>
                  </a:tr>
                </a:tbl>
              </a:graphicData>
            </a:graphic>
          </p:graphicFrame>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86070511-7BEC-808D-1E37-AD8C32AA15BB}"/>
                  </a:ext>
                </a:extLst>
              </p:cNvPr>
              <p:cNvSpPr txBox="1"/>
              <p:nvPr/>
            </p:nvSpPr>
            <p:spPr>
              <a:xfrm>
                <a:off x="838200" y="5964626"/>
                <a:ext cx="11128948" cy="824521"/>
              </a:xfrm>
              <a:prstGeom prst="rect">
                <a:avLst/>
              </a:prstGeom>
              <a:noFill/>
            </p:spPr>
            <p:txBody>
              <a:bodyPr wrap="square">
                <a:spAutoFit/>
              </a:bodyPr>
              <a:lstStyle/>
              <a:p>
                <a:r>
                  <a:rPr lang="en-US" sz="2200" dirty="0"/>
                  <a:t>training only adaptors:  </a:t>
                </a:r>
                <a14:m>
                  <m:oMath xmlns:m="http://schemas.openxmlformats.org/officeDocument/2006/math">
                    <m:sSup>
                      <m:sSupPr>
                        <m:ctrlPr>
                          <a:rPr lang="en-US" sz="2200" i="1" smtClean="0">
                            <a:latin typeface="Cambria Math" panose="02040503050406030204" pitchFamily="18" charset="0"/>
                            <a:ea typeface="Cambria Math" panose="02040503050406030204" pitchFamily="18" charset="0"/>
                          </a:rPr>
                        </m:ctrlPr>
                      </m:sSupPr>
                      <m:e>
                        <m:r>
                          <a:rPr lang="en-US" sz="2200" i="1" smtClean="0">
                            <a:latin typeface="Cambria Math" panose="02040503050406030204" pitchFamily="18" charset="0"/>
                            <a:ea typeface="Cambria Math" panose="02040503050406030204" pitchFamily="18" charset="0"/>
                          </a:rPr>
                          <m:t>𝜃</m:t>
                        </m:r>
                      </m:e>
                      <m:sup>
                        <m:r>
                          <a:rPr lang="en-US" sz="2200" b="0" i="1" smtClean="0">
                            <a:latin typeface="Cambria Math" panose="02040503050406030204" pitchFamily="18" charset="0"/>
                            <a:ea typeface="Cambria Math" panose="02040503050406030204" pitchFamily="18" charset="0"/>
                          </a:rPr>
                          <m:t>𝑡𝑟𝑎𝑖𝑛</m:t>
                        </m:r>
                      </m:sup>
                    </m:sSup>
                    <m:r>
                      <a:rPr lang="en-US" sz="2200" b="0" i="1" smtClean="0">
                        <a:latin typeface="Cambria Math" panose="02040503050406030204" pitchFamily="18" charset="0"/>
                      </a:rPr>
                      <m:t>= </m:t>
                    </m:r>
                    <m:d>
                      <m:dPr>
                        <m:ctrlPr>
                          <a:rPr lang="en-US" sz="2200" i="1" dirty="0">
                            <a:latin typeface="Cambria Math" panose="02040503050406030204" pitchFamily="18" charset="0"/>
                            <a:ea typeface="Cambria Math" panose="02040503050406030204" pitchFamily="18" charset="0"/>
                          </a:rPr>
                        </m:ctrlPr>
                      </m:dPr>
                      <m:e>
                        <m:sSub>
                          <m:sSubPr>
                            <m:ctrlPr>
                              <a:rPr lang="en-US" sz="2200" i="1" dirty="0">
                                <a:latin typeface="Cambria Math" panose="02040503050406030204" pitchFamily="18" charset="0"/>
                                <a:ea typeface="Cambria Math" panose="02040503050406030204" pitchFamily="18" charset="0"/>
                              </a:rPr>
                            </m:ctrlPr>
                          </m:sSubPr>
                          <m:e>
                            <m:r>
                              <a:rPr lang="en-US" sz="2200" i="1" dirty="0">
                                <a:latin typeface="Cambria Math" panose="02040503050406030204" pitchFamily="18" charset="0"/>
                                <a:ea typeface="Cambria Math" panose="02040503050406030204" pitchFamily="18" charset="0"/>
                              </a:rPr>
                              <m:t>𝜃</m:t>
                            </m:r>
                          </m:e>
                          <m:sub>
                            <m:r>
                              <a:rPr lang="en-US" sz="2200" i="1" dirty="0">
                                <a:latin typeface="Cambria Math" panose="02040503050406030204" pitchFamily="18" charset="0"/>
                              </a:rPr>
                              <m:t>𝐿</m:t>
                            </m:r>
                            <m:sSub>
                              <m:sSubPr>
                                <m:ctrlPr>
                                  <a:rPr lang="en-US" sz="2200" i="1" dirty="0">
                                    <a:latin typeface="Cambria Math" panose="02040503050406030204" pitchFamily="18" charset="0"/>
                                  </a:rPr>
                                </m:ctrlPr>
                              </m:sSubPr>
                              <m:e>
                                <m:r>
                                  <a:rPr lang="en-US" sz="2200" i="1" dirty="0">
                                    <a:latin typeface="Cambria Math" panose="02040503050406030204" pitchFamily="18" charset="0"/>
                                  </a:rPr>
                                  <m:t>𝑀</m:t>
                                </m:r>
                              </m:e>
                              <m:sub>
                                <m:r>
                                  <a:rPr lang="en-US" sz="2200" i="1" dirty="0">
                                    <a:latin typeface="Cambria Math" panose="02040503050406030204" pitchFamily="18" charset="0"/>
                                  </a:rPr>
                                  <m:t>𝐿𝑜𝑅𝐴</m:t>
                                </m:r>
                              </m:sub>
                            </m:sSub>
                          </m:sub>
                        </m:sSub>
                        <m:r>
                          <a:rPr lang="en-US" sz="2200" b="0" i="1" dirty="0" smtClean="0">
                            <a:latin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m:t>
                        </m:r>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𝜃</m:t>
                            </m:r>
                          </m:e>
                          <m:sub>
                            <m:r>
                              <a:rPr lang="en-US" sz="2200" b="0" i="1" smtClean="0">
                                <a:latin typeface="Cambria Math" panose="02040503050406030204" pitchFamily="18" charset="0"/>
                                <a:ea typeface="Cambria Math" panose="02040503050406030204" pitchFamily="18" charset="0"/>
                              </a:rPr>
                              <m:t>𝑝𝑟𝑜𝑗𝑒𝑐𝑡𝑜𝑟</m:t>
                            </m:r>
                          </m:sub>
                        </m:sSub>
                      </m:e>
                    </m:d>
                  </m:oMath>
                </a14:m>
                <a:endParaRPr lang="en-US" sz="2200" dirty="0"/>
              </a:p>
              <a:p>
                <a:r>
                  <a:rPr lang="en-US" sz="2200" dirty="0"/>
                  <a:t>Gradient checkpointing with mixed precision fp16 to ensure </a:t>
                </a:r>
                <a:r>
                  <a:rPr lang="en-US" sz="2200" dirty="0" err="1"/>
                  <a:t>Colab</a:t>
                </a:r>
                <a:r>
                  <a:rPr lang="en-US" sz="2200" dirty="0"/>
                  <a:t> memory doesn’t run out </a:t>
                </a:r>
              </a:p>
            </p:txBody>
          </p:sp>
        </mc:Choice>
        <mc:Fallback>
          <p:sp>
            <p:nvSpPr>
              <p:cNvPr id="8" name="TextBox 7">
                <a:extLst>
                  <a:ext uri="{FF2B5EF4-FFF2-40B4-BE49-F238E27FC236}">
                    <a16:creationId xmlns:a16="http://schemas.microsoft.com/office/drawing/2014/main" id="{86070511-7BEC-808D-1E37-AD8C32AA15BB}"/>
                  </a:ext>
                </a:extLst>
              </p:cNvPr>
              <p:cNvSpPr txBox="1">
                <a:spLocks noRot="1" noChangeAspect="1" noMove="1" noResize="1" noEditPoints="1" noAdjustHandles="1" noChangeArrowheads="1" noChangeShapeType="1" noTextEdit="1"/>
              </p:cNvSpPr>
              <p:nvPr/>
            </p:nvSpPr>
            <p:spPr>
              <a:xfrm>
                <a:off x="838200" y="5964626"/>
                <a:ext cx="11128948" cy="824521"/>
              </a:xfrm>
              <a:prstGeom prst="rect">
                <a:avLst/>
              </a:prstGeom>
              <a:blipFill>
                <a:blip r:embed="rId4"/>
                <a:stretch>
                  <a:fillRect l="-684" b="-13636"/>
                </a:stretch>
              </a:blipFill>
            </p:spPr>
            <p:txBody>
              <a:bodyPr/>
              <a:lstStyle/>
              <a:p>
                <a:r>
                  <a:rPr lang="en-US">
                    <a:noFill/>
                  </a:rPr>
                  <a:t> </a:t>
                </a:r>
              </a:p>
            </p:txBody>
          </p:sp>
        </mc:Fallback>
      </mc:AlternateContent>
    </p:spTree>
    <p:extLst>
      <p:ext uri="{BB962C8B-B14F-4D97-AF65-F5344CB8AC3E}">
        <p14:creationId xmlns:p14="http://schemas.microsoft.com/office/powerpoint/2010/main" val="7129316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0FEBC31-3E05-113B-C48B-4B0FC43D1592}"/>
                  </a:ext>
                </a:extLst>
              </p:cNvPr>
              <p:cNvSpPr>
                <a:spLocks noGrp="1"/>
              </p:cNvSpPr>
              <p:nvPr>
                <p:ph idx="1"/>
              </p:nvPr>
            </p:nvSpPr>
            <p:spPr/>
            <p:txBody>
              <a:bodyPr>
                <a:normAutofit fontScale="55000" lnSpcReduction="20000"/>
              </a:bodyPr>
              <a:lstStyle/>
              <a:p>
                <a:pPr marL="0" indent="0">
                  <a:buNone/>
                </a:pPr>
                <a:r>
                  <a:rPr lang="en-US" b="1" dirty="0"/>
                  <a:t>Continual-learning metrics</a:t>
                </a:r>
              </a:p>
              <a:p>
                <a:r>
                  <a:rPr lang="en-US" dirty="0"/>
                  <a:t>Let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i="1" dirty="0">
                            <a:latin typeface="Cambria Math" panose="02040503050406030204" pitchFamily="18" charset="0"/>
                          </a:rPr>
                          <m:t>𝑡</m:t>
                        </m:r>
                        <m:r>
                          <a:rPr lang="en-US" i="1" dirty="0">
                            <a:latin typeface="Cambria Math" panose="02040503050406030204" pitchFamily="18" charset="0"/>
                          </a:rPr>
                          <m:t>,</m:t>
                        </m:r>
                        <m:r>
                          <a:rPr lang="en-US" i="1" dirty="0">
                            <a:latin typeface="Cambria Math" panose="02040503050406030204" pitchFamily="18" charset="0"/>
                          </a:rPr>
                          <m:t>𝑘</m:t>
                        </m:r>
                      </m:sub>
                    </m:sSub>
                    <m:r>
                      <a:rPr lang="en-US" i="1" dirty="0">
                        <a:latin typeface="Cambria Math" panose="02040503050406030204" pitchFamily="18" charset="0"/>
                      </a:rPr>
                      <m:t> </m:t>
                    </m:r>
                  </m:oMath>
                </a14:m>
                <a:r>
                  <a:rPr lang="en-US" dirty="0"/>
                  <a:t>denote performance on task </a:t>
                </a:r>
                <a14:m>
                  <m:oMath xmlns:m="http://schemas.openxmlformats.org/officeDocument/2006/math">
                    <m:r>
                      <a:rPr lang="en-US" i="1" dirty="0">
                        <a:latin typeface="Cambria Math" panose="02040503050406030204" pitchFamily="18" charset="0"/>
                      </a:rPr>
                      <m:t>𝑘</m:t>
                    </m:r>
                  </m:oMath>
                </a14:m>
                <a:r>
                  <a:rPr lang="en-US" dirty="0"/>
                  <a:t> after training through task </a:t>
                </a:r>
                <a14:m>
                  <m:oMath xmlns:m="http://schemas.openxmlformats.org/officeDocument/2006/math">
                    <m:r>
                      <a:rPr lang="en-US" b="0" i="1" smtClean="0">
                        <a:latin typeface="Cambria Math" panose="02040503050406030204" pitchFamily="18" charset="0"/>
                      </a:rPr>
                      <m:t>𝑡</m:t>
                    </m:r>
                  </m:oMath>
                </a14:m>
                <a:r>
                  <a:rPr lang="en-US" dirty="0"/>
                  <a:t>.</a:t>
                </a:r>
              </a:p>
              <a:p>
                <a:r>
                  <a:rPr lang="en-US" dirty="0"/>
                  <a:t>Display the performance matrix:</a:t>
                </a:r>
              </a:p>
              <a:p>
                <a:pPr marL="0" indent="0">
                  <a:buNone/>
                </a:pPr>
                <a14:m>
                  <m:oMathPara xmlns:m="http://schemas.openxmlformats.org/officeDocument/2006/math">
                    <m:oMath>
                      <m:m>
                        <m:mPr>
                          <m:mcs>
                            <m:mc>
                              <m:mcPr>
                                <m:count m:val="5"/>
                                <m:mcJc m:val="center"/>
                              </m:mcPr>
                            </m:mc>
                          </m:mcs>
                          <m:ctrlPr>
                            <a:rPr lang="en-US" i="1" dirty="0" smtClean="0">
                              <a:latin typeface="Cambria Math" panose="02040503050406030204" pitchFamily="18" charset="0"/>
                            </a:rPr>
                          </m:ctrlPr>
                        </m:mPr>
                        <m:mr>
                          <m:e/>
                          <m:e>
                            <m:sSub>
                              <m:sSubPr>
                                <m:ctrlPr>
                                  <a:rPr lang="en-US" i="1" dirty="0">
                                    <a:latin typeface="Cambria Math" panose="02040503050406030204" pitchFamily="18" charset="0"/>
                                  </a:rPr>
                                </m:ctrlPr>
                              </m:sSubPr>
                              <m:e>
                                <m:r>
                                  <a:rPr lang="en-US" i="1" dirty="0">
                                    <a:latin typeface="Cambria Math" panose="02040503050406030204" pitchFamily="18" charset="0"/>
                                  </a:rPr>
                                  <m:t>𝐷</m:t>
                                </m:r>
                              </m:e>
                              <m:sub>
                                <m:r>
                                  <a:rPr lang="en-US" i="0" dirty="0">
                                    <a:latin typeface="Cambria Math" panose="02040503050406030204" pitchFamily="18" charset="0"/>
                                  </a:rPr>
                                  <m:t>1</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𝐷</m:t>
                                </m:r>
                              </m:e>
                              <m:sub>
                                <m:r>
                                  <a:rPr lang="en-US" i="0" dirty="0">
                                    <a:latin typeface="Cambria Math" panose="02040503050406030204" pitchFamily="18" charset="0"/>
                                  </a:rPr>
                                  <m:t>2</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𝐷</m:t>
                                </m:r>
                              </m:e>
                              <m:sub>
                                <m:r>
                                  <a:rPr lang="en-US" i="0" dirty="0">
                                    <a:latin typeface="Cambria Math" panose="02040503050406030204" pitchFamily="18" charset="0"/>
                                  </a:rPr>
                                  <m:t>3</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𝐷</m:t>
                                </m:r>
                              </m:e>
                              <m:sub>
                                <m:r>
                                  <a:rPr lang="en-US" i="0" dirty="0">
                                    <a:latin typeface="Cambria Math" panose="02040503050406030204" pitchFamily="18" charset="0"/>
                                  </a:rPr>
                                  <m:t>4</m:t>
                                </m:r>
                              </m:sub>
                            </m:sSub>
                          </m:e>
                        </m:mr>
                        <m:mr>
                          <m:e>
                            <m:sSub>
                              <m:sSubPr>
                                <m:ctrlPr>
                                  <a:rPr lang="en-US" i="1" dirty="0">
                                    <a:latin typeface="Cambria Math" panose="02040503050406030204" pitchFamily="18" charset="0"/>
                                  </a:rPr>
                                </m:ctrlPr>
                              </m:sSubPr>
                              <m:e>
                                <m:r>
                                  <a:rPr lang="en-US" i="1" dirty="0">
                                    <a:latin typeface="Cambria Math" panose="02040503050406030204" pitchFamily="18" charset="0"/>
                                  </a:rPr>
                                  <m:t>𝜃</m:t>
                                </m:r>
                              </m:e>
                              <m:sub>
                                <m:r>
                                  <a:rPr lang="en-US" i="0" dirty="0">
                                    <a:latin typeface="Cambria Math" panose="02040503050406030204" pitchFamily="18" charset="0"/>
                                  </a:rPr>
                                  <m:t>1</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i="0" dirty="0">
                                    <a:latin typeface="Cambria Math" panose="02040503050406030204" pitchFamily="18" charset="0"/>
                                  </a:rPr>
                                  <m:t>1,1</m:t>
                                </m:r>
                              </m:sub>
                            </m:sSub>
                          </m:e>
                          <m:e>
                            <m:r>
                              <a:rPr lang="en-US" i="0" dirty="0">
                                <a:latin typeface="Cambria Math" panose="02040503050406030204" pitchFamily="18" charset="0"/>
                              </a:rPr>
                              <m:t>−</m:t>
                            </m:r>
                          </m:e>
                          <m:e>
                            <m:r>
                              <a:rPr lang="en-US" i="0" dirty="0">
                                <a:latin typeface="Cambria Math" panose="02040503050406030204" pitchFamily="18" charset="0"/>
                              </a:rPr>
                              <m:t>−</m:t>
                            </m:r>
                          </m:e>
                          <m:e>
                            <m:r>
                              <a:rPr lang="en-US" i="0" dirty="0">
                                <a:latin typeface="Cambria Math" panose="02040503050406030204" pitchFamily="18" charset="0"/>
                              </a:rPr>
                              <m:t>−</m:t>
                            </m:r>
                          </m:e>
                        </m:mr>
                        <m:mr>
                          <m:e>
                            <m:sSub>
                              <m:sSubPr>
                                <m:ctrlPr>
                                  <a:rPr lang="en-US" i="1" dirty="0">
                                    <a:latin typeface="Cambria Math" panose="02040503050406030204" pitchFamily="18" charset="0"/>
                                  </a:rPr>
                                </m:ctrlPr>
                              </m:sSubPr>
                              <m:e>
                                <m:r>
                                  <a:rPr lang="en-US" i="1" dirty="0">
                                    <a:latin typeface="Cambria Math" panose="02040503050406030204" pitchFamily="18" charset="0"/>
                                  </a:rPr>
                                  <m:t>𝜃</m:t>
                                </m:r>
                              </m:e>
                              <m:sub>
                                <m:r>
                                  <a:rPr lang="en-US" i="0" dirty="0">
                                    <a:latin typeface="Cambria Math" panose="02040503050406030204" pitchFamily="18" charset="0"/>
                                  </a:rPr>
                                  <m:t>2</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i="0" dirty="0">
                                    <a:latin typeface="Cambria Math" panose="02040503050406030204" pitchFamily="18" charset="0"/>
                                  </a:rPr>
                                  <m:t>2,1</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i="0" dirty="0">
                                    <a:latin typeface="Cambria Math" panose="02040503050406030204" pitchFamily="18" charset="0"/>
                                  </a:rPr>
                                  <m:t>2,2</m:t>
                                </m:r>
                              </m:sub>
                            </m:sSub>
                          </m:e>
                          <m:e>
                            <m:r>
                              <a:rPr lang="en-US" i="0" dirty="0">
                                <a:latin typeface="Cambria Math" panose="02040503050406030204" pitchFamily="18" charset="0"/>
                              </a:rPr>
                              <m:t>−</m:t>
                            </m:r>
                          </m:e>
                          <m:e>
                            <m:r>
                              <a:rPr lang="en-US" i="0" dirty="0">
                                <a:latin typeface="Cambria Math" panose="02040503050406030204" pitchFamily="18" charset="0"/>
                              </a:rPr>
                              <m:t>−</m:t>
                            </m:r>
                          </m:e>
                        </m:mr>
                        <m:mr>
                          <m:e>
                            <m:sSub>
                              <m:sSubPr>
                                <m:ctrlPr>
                                  <a:rPr lang="en-US" i="1" dirty="0">
                                    <a:latin typeface="Cambria Math" panose="02040503050406030204" pitchFamily="18" charset="0"/>
                                  </a:rPr>
                                </m:ctrlPr>
                              </m:sSubPr>
                              <m:e>
                                <m:r>
                                  <a:rPr lang="en-US" i="1" dirty="0">
                                    <a:latin typeface="Cambria Math" panose="02040503050406030204" pitchFamily="18" charset="0"/>
                                  </a:rPr>
                                  <m:t>𝜃</m:t>
                                </m:r>
                              </m:e>
                              <m:sub>
                                <m:r>
                                  <a:rPr lang="en-US" i="0" dirty="0">
                                    <a:latin typeface="Cambria Math" panose="02040503050406030204" pitchFamily="18" charset="0"/>
                                  </a:rPr>
                                  <m:t>3</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i="0" dirty="0">
                                    <a:latin typeface="Cambria Math" panose="02040503050406030204" pitchFamily="18" charset="0"/>
                                  </a:rPr>
                                  <m:t>3,1</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i="0" dirty="0">
                                    <a:latin typeface="Cambria Math" panose="02040503050406030204" pitchFamily="18" charset="0"/>
                                  </a:rPr>
                                  <m:t>3,2</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i="0" dirty="0">
                                    <a:latin typeface="Cambria Math" panose="02040503050406030204" pitchFamily="18" charset="0"/>
                                  </a:rPr>
                                  <m:t>3,3</m:t>
                                </m:r>
                              </m:sub>
                            </m:sSub>
                          </m:e>
                          <m:e>
                            <m:r>
                              <a:rPr lang="en-US" i="0" dirty="0">
                                <a:latin typeface="Cambria Math" panose="02040503050406030204" pitchFamily="18" charset="0"/>
                              </a:rPr>
                              <m:t>−</m:t>
                            </m:r>
                          </m:e>
                        </m:mr>
                        <m:mr>
                          <m:e>
                            <m:sSub>
                              <m:sSubPr>
                                <m:ctrlPr>
                                  <a:rPr lang="en-US" i="1" dirty="0">
                                    <a:latin typeface="Cambria Math" panose="02040503050406030204" pitchFamily="18" charset="0"/>
                                  </a:rPr>
                                </m:ctrlPr>
                              </m:sSubPr>
                              <m:e>
                                <m:r>
                                  <a:rPr lang="en-US" i="1" dirty="0">
                                    <a:latin typeface="Cambria Math" panose="02040503050406030204" pitchFamily="18" charset="0"/>
                                  </a:rPr>
                                  <m:t>𝜃</m:t>
                                </m:r>
                              </m:e>
                              <m:sub>
                                <m:r>
                                  <a:rPr lang="en-US" i="0" dirty="0">
                                    <a:latin typeface="Cambria Math" panose="02040503050406030204" pitchFamily="18" charset="0"/>
                                  </a:rPr>
                                  <m:t>4</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i="0" dirty="0">
                                    <a:latin typeface="Cambria Math" panose="02040503050406030204" pitchFamily="18" charset="0"/>
                                  </a:rPr>
                                  <m:t>4,1</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i="0" dirty="0">
                                    <a:latin typeface="Cambria Math" panose="02040503050406030204" pitchFamily="18" charset="0"/>
                                  </a:rPr>
                                  <m:t>4,2</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i="0" dirty="0">
                                    <a:latin typeface="Cambria Math" panose="02040503050406030204" pitchFamily="18" charset="0"/>
                                  </a:rPr>
                                  <m:t>4,3</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i="0" dirty="0">
                                    <a:latin typeface="Cambria Math" panose="02040503050406030204" pitchFamily="18" charset="0"/>
                                  </a:rPr>
                                  <m:t>4,4</m:t>
                                </m:r>
                              </m:sub>
                            </m:sSub>
                          </m:e>
                        </m:mr>
                      </m:m>
                    </m:oMath>
                  </m:oMathPara>
                </a14:m>
                <a:endParaRPr lang="en-US" dirty="0"/>
              </a:p>
              <a:p>
                <a:endParaRPr lang="en-US" dirty="0"/>
              </a:p>
              <a:p>
                <a:r>
                  <a:rPr lang="en-US" dirty="0"/>
                  <a:t>Then report: </a:t>
                </a:r>
                <a:r>
                  <a:rPr lang="en-US" b="1" dirty="0"/>
                  <a:t>Backward Transfer -&gt; </a:t>
                </a:r>
                <a:r>
                  <a:rPr lang="en-US" dirty="0"/>
                  <a:t>Higher is better. Negative BWT indicates degradation on earlier tasks.</a:t>
                </a:r>
              </a:p>
              <a:p>
                <a:pPr marL="0" indent="0">
                  <a:buNone/>
                </a:pPr>
                <a:r>
                  <a:rPr lang="en-US" b="0" dirty="0"/>
                  <a:t>				</a:t>
                </a:r>
                <a14:m>
                  <m:oMath xmlns:m="http://schemas.openxmlformats.org/officeDocument/2006/math">
                    <m:r>
                      <a:rPr lang="en-US" b="0" i="1" dirty="0" smtClean="0">
                        <a:latin typeface="Cambria Math" panose="02040503050406030204" pitchFamily="18" charset="0"/>
                      </a:rPr>
                      <m:t>𝐵𝑊𝑇</m:t>
                    </m:r>
                    <m:r>
                      <a:rPr lang="en-US" b="0" i="1" dirty="0" smtClean="0">
                        <a:latin typeface="Cambria Math" panose="02040503050406030204" pitchFamily="18" charset="0"/>
                      </a:rPr>
                      <m:t>= </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𝑇</m:t>
                        </m:r>
                        <m:r>
                          <a:rPr lang="en-US" b="0" i="1" dirty="0" smtClean="0">
                            <a:latin typeface="Cambria Math" panose="02040503050406030204" pitchFamily="18" charset="0"/>
                          </a:rPr>
                          <m:t>−1</m:t>
                        </m:r>
                      </m:den>
                    </m:f>
                    <m:nary>
                      <m:naryPr>
                        <m:chr m:val="∑"/>
                        <m:ctrlPr>
                          <a:rPr lang="en-US" b="0" i="1" dirty="0" smtClean="0">
                            <a:latin typeface="Cambria Math" panose="02040503050406030204" pitchFamily="18" charset="0"/>
                          </a:rPr>
                        </m:ctrlPr>
                      </m:naryPr>
                      <m:sub>
                        <m:r>
                          <m:rPr>
                            <m:brk m:alnAt="23"/>
                          </m:rPr>
                          <a:rPr lang="en-US" b="0" i="1" dirty="0" smtClean="0">
                            <a:latin typeface="Cambria Math" panose="02040503050406030204" pitchFamily="18" charset="0"/>
                          </a:rPr>
                          <m:t>𝑘</m:t>
                        </m:r>
                        <m:r>
                          <m:rPr>
                            <m:brk m:alnAt="23"/>
                          </m:rPr>
                          <a:rPr lang="en-US" b="0" i="1" dirty="0" smtClean="0">
                            <a:latin typeface="Cambria Math" panose="02040503050406030204" pitchFamily="18" charset="0"/>
                          </a:rPr>
                          <m:t>=</m:t>
                        </m:r>
                        <m:r>
                          <m:rPr>
                            <m:brk m:alnAt="23"/>
                          </m:rPr>
                          <a:rPr lang="en-US" b="0" i="1" dirty="0" smtClean="0">
                            <a:latin typeface="Cambria Math" panose="02040503050406030204" pitchFamily="18" charset="0"/>
                          </a:rPr>
                          <m:t>1</m:t>
                        </m:r>
                      </m:sub>
                      <m:sup>
                        <m:r>
                          <a:rPr lang="en-US" b="0" i="1" dirty="0" smtClean="0">
                            <a:latin typeface="Cambria Math" panose="02040503050406030204" pitchFamily="18" charset="0"/>
                          </a:rPr>
                          <m:t>𝑇</m:t>
                        </m:r>
                        <m:r>
                          <a:rPr lang="en-US" b="0" i="1" dirty="0" smtClean="0">
                            <a:latin typeface="Cambria Math" panose="02040503050406030204" pitchFamily="18" charset="0"/>
                          </a:rPr>
                          <m:t>−1</m:t>
                        </m:r>
                      </m:sup>
                      <m:e>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𝑇</m:t>
                            </m:r>
                            <m:r>
                              <a:rPr lang="en-US" b="0" i="1" dirty="0" smtClean="0">
                                <a:latin typeface="Cambria Math" panose="02040503050406030204" pitchFamily="18" charset="0"/>
                              </a:rPr>
                              <m:t>,</m:t>
                            </m:r>
                            <m:r>
                              <a:rPr lang="en-US" b="0" i="1" dirty="0" smtClean="0">
                                <a:latin typeface="Cambria Math" panose="02040503050406030204" pitchFamily="18" charset="0"/>
                              </a:rPr>
                              <m:t>𝑘</m:t>
                            </m:r>
                          </m:sub>
                        </m:sSub>
                        <m:r>
                          <a:rPr lang="en-US" b="0" i="1" dirty="0" smtClean="0">
                            <a:latin typeface="Cambria Math" panose="02040503050406030204" pitchFamily="18" charset="0"/>
                          </a:rPr>
                          <m:t>−</m:t>
                        </m:r>
                      </m:e>
                    </m:nary>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𝑘</m:t>
                        </m:r>
                        <m:r>
                          <a:rPr lang="en-US" b="0" i="1" dirty="0" smtClean="0">
                            <a:latin typeface="Cambria Math" panose="02040503050406030204" pitchFamily="18" charset="0"/>
                          </a:rPr>
                          <m:t>,</m:t>
                        </m:r>
                        <m:r>
                          <a:rPr lang="en-US" b="0" i="1" dirty="0" smtClean="0">
                            <a:latin typeface="Cambria Math" panose="02040503050406030204" pitchFamily="18" charset="0"/>
                          </a:rPr>
                          <m:t>𝑘</m:t>
                        </m:r>
                      </m:sub>
                    </m:sSub>
                    <m:r>
                      <a:rPr lang="en-US" b="0" i="1" dirty="0" smtClean="0">
                        <a:latin typeface="Cambria Math" panose="02040503050406030204" pitchFamily="18" charset="0"/>
                      </a:rPr>
                      <m:t>)</m:t>
                    </m:r>
                  </m:oMath>
                </a14:m>
                <a:r>
                  <a:rPr lang="en-US" dirty="0"/>
                  <a:t>    </a:t>
                </a:r>
              </a:p>
              <a:p>
                <a:r>
                  <a:rPr lang="en-US" b="1" dirty="0"/>
                  <a:t>Forgetting on task k -&gt; </a:t>
                </a:r>
                <a:r>
                  <a:rPr lang="en-US" dirty="0"/>
                  <a:t>Lower is better.</a:t>
                </a:r>
              </a:p>
              <a:p>
                <a:pPr marL="0" indent="0">
                  <a:buNone/>
                </a:pPr>
                <a:r>
                  <a:rPr lang="en-US" dirty="0"/>
                  <a:t>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𝐹𝑀</m:t>
                        </m:r>
                      </m:e>
                      <m:sub>
                        <m:r>
                          <a:rPr lang="en-US" b="0" i="1" dirty="0" smtClean="0">
                            <a:latin typeface="Cambria Math" panose="02040503050406030204" pitchFamily="18" charset="0"/>
                          </a:rPr>
                          <m:t>𝑘</m:t>
                        </m:r>
                      </m:sub>
                    </m:sSub>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𝑚𝑎𝑥</m:t>
                        </m:r>
                      </m:e>
                      <m:sub>
                        <m:r>
                          <a:rPr lang="en-US" b="0" i="1" dirty="0" smtClean="0">
                            <a:latin typeface="Cambria Math" panose="02040503050406030204" pitchFamily="18" charset="0"/>
                          </a:rPr>
                          <m:t>𝑡</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𝑘</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𝑇</m:t>
                        </m:r>
                        <m:r>
                          <a:rPr lang="en-US" b="0" i="1" dirty="0" smtClean="0">
                            <a:latin typeface="Cambria Math" panose="02040503050406030204" pitchFamily="18" charset="0"/>
                            <a:ea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𝑡</m:t>
                        </m:r>
                        <m:r>
                          <a:rPr lang="en-US" b="0" i="1" dirty="0" smtClean="0">
                            <a:latin typeface="Cambria Math" panose="02040503050406030204" pitchFamily="18" charset="0"/>
                          </a:rPr>
                          <m:t>,</m:t>
                        </m:r>
                        <m:r>
                          <a:rPr lang="en-US" b="0" i="1" dirty="0" smtClean="0">
                            <a:latin typeface="Cambria Math" panose="02040503050406030204" pitchFamily="18" charset="0"/>
                          </a:rPr>
                          <m:t>𝑘</m:t>
                        </m:r>
                      </m:sub>
                    </m:sSub>
                  </m:oMath>
                </a14:m>
                <a:r>
                  <a:rPr lang="en-US" dirty="0"/>
                  <a:t> -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b="0" i="1" dirty="0" smtClean="0">
                            <a:latin typeface="Cambria Math" panose="02040503050406030204" pitchFamily="18" charset="0"/>
                          </a:rPr>
                          <m:t>𝑇</m:t>
                        </m:r>
                        <m:r>
                          <a:rPr lang="en-US" i="1" dirty="0">
                            <a:latin typeface="Cambria Math" panose="02040503050406030204" pitchFamily="18" charset="0"/>
                          </a:rPr>
                          <m:t>,</m:t>
                        </m:r>
                        <m:r>
                          <a:rPr lang="en-US" i="1" dirty="0">
                            <a:latin typeface="Cambria Math" panose="02040503050406030204" pitchFamily="18" charset="0"/>
                          </a:rPr>
                          <m:t>𝑘</m:t>
                        </m:r>
                      </m:sub>
                    </m:sSub>
                    <m:r>
                      <a:rPr lang="en-US" b="0" i="1" dirty="0" smtClean="0">
                        <a:latin typeface="Cambria Math" panose="02040503050406030204" pitchFamily="18" charset="0"/>
                      </a:rPr>
                      <m:t>)</m:t>
                    </m:r>
                  </m:oMath>
                </a14:m>
                <a:endParaRPr lang="en-US" dirty="0"/>
              </a:p>
              <a:p>
                <a:r>
                  <a:rPr lang="en-US" b="1" dirty="0"/>
                  <a:t>Task interference -&gt; </a:t>
                </a:r>
                <a:r>
                  <a:rPr lang="en-US" dirty="0"/>
                  <a:t>This measures how training on task </a:t>
                </a:r>
                <a14:m>
                  <m:oMath xmlns:m="http://schemas.openxmlformats.org/officeDocument/2006/math">
                    <m:r>
                      <a:rPr lang="en-US" i="1" dirty="0" smtClean="0">
                        <a:latin typeface="Cambria Math" panose="02040503050406030204" pitchFamily="18" charset="0"/>
                      </a:rPr>
                      <m:t>𝑗</m:t>
                    </m:r>
                  </m:oMath>
                </a14:m>
                <a:r>
                  <a:rPr lang="en-US" dirty="0"/>
                  <a:t> changes performance on an earlier task </a:t>
                </a:r>
                <a14:m>
                  <m:oMath xmlns:m="http://schemas.openxmlformats.org/officeDocument/2006/math">
                    <m:r>
                      <a:rPr lang="en-US" i="1" dirty="0" smtClean="0">
                        <a:latin typeface="Cambria Math" panose="02040503050406030204" pitchFamily="18" charset="0"/>
                      </a:rPr>
                      <m:t>𝑘</m:t>
                    </m:r>
                  </m:oMath>
                </a14:m>
                <a:r>
                  <a:rPr lang="en-US" dirty="0"/>
                  <a:t>.</a:t>
                </a:r>
              </a:p>
              <a:p>
                <a:pPr marL="0" indent="0">
                  <a:buNone/>
                </a:pPr>
                <a:endParaRPr lang="en-US" dirty="0"/>
              </a:p>
              <a:p>
                <a:pPr marL="0" indent="0">
                  <a:buNone/>
                </a:pPr>
                <a14:m>
                  <m:oMathPara xmlns:m="http://schemas.openxmlformats.org/officeDocument/2006/math">
                    <m:o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𝐼</m:t>
                          </m:r>
                        </m:e>
                        <m:sub>
                          <m:r>
                            <a:rPr lang="en-US" b="0" i="1" dirty="0" smtClean="0">
                              <a:latin typeface="Cambria Math" panose="02040503050406030204" pitchFamily="18" charset="0"/>
                            </a:rPr>
                            <m:t>𝑗</m:t>
                          </m:r>
                          <m:r>
                            <a:rPr lang="en-US" b="0" i="1" dirty="0" smtClean="0">
                              <a:latin typeface="Cambria Math" panose="02040503050406030204" pitchFamily="18" charset="0"/>
                            </a:rPr>
                            <m:t>→</m:t>
                          </m:r>
                          <m:r>
                            <a:rPr lang="en-US" b="0" i="1" dirty="0" smtClean="0">
                              <a:latin typeface="Cambria Math" panose="02040503050406030204" pitchFamily="18" charset="0"/>
                            </a:rPr>
                            <m:t>𝑘</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𝑗</m:t>
                          </m:r>
                          <m:r>
                            <a:rPr lang="en-US" b="0" i="1" dirty="0" smtClean="0">
                              <a:latin typeface="Cambria Math" panose="02040503050406030204" pitchFamily="18" charset="0"/>
                            </a:rPr>
                            <m:t>,</m:t>
                          </m:r>
                          <m:r>
                            <a:rPr lang="en-US" b="0" i="1" dirty="0" smtClean="0">
                              <a:latin typeface="Cambria Math" panose="02040503050406030204" pitchFamily="18" charset="0"/>
                            </a:rPr>
                            <m:t>𝑘</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𝑗</m:t>
                          </m:r>
                          <m:r>
                            <a:rPr lang="en-US" b="0" i="1" dirty="0" smtClean="0">
                              <a:latin typeface="Cambria Math" panose="02040503050406030204" pitchFamily="18" charset="0"/>
                            </a:rPr>
                            <m:t>−1,</m:t>
                          </m:r>
                          <m:r>
                            <a:rPr lang="en-US" b="0" i="1" dirty="0" smtClean="0">
                              <a:latin typeface="Cambria Math" panose="02040503050406030204" pitchFamily="18" charset="0"/>
                            </a:rPr>
                            <m:t>𝑘</m:t>
                          </m:r>
                        </m:sub>
                      </m:sSub>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40FEBC31-3E05-113B-C48B-4B0FC43D1592}"/>
                  </a:ext>
                </a:extLst>
              </p:cNvPr>
              <p:cNvSpPr>
                <a:spLocks noGrp="1" noRot="1" noChangeAspect="1" noMove="1" noResize="1" noEditPoints="1" noAdjustHandles="1" noChangeArrowheads="1" noChangeShapeType="1" noTextEdit="1"/>
              </p:cNvSpPr>
              <p:nvPr>
                <p:ph idx="1"/>
              </p:nvPr>
            </p:nvSpPr>
            <p:spPr>
              <a:blipFill>
                <a:blip r:embed="rId3"/>
                <a:stretch>
                  <a:fillRect l="-362" t="-1744"/>
                </a:stretch>
              </a:blipFill>
            </p:spPr>
            <p:txBody>
              <a:bodyPr/>
              <a:lstStyle/>
              <a:p>
                <a:r>
                  <a:rPr lang="en-US">
                    <a:noFill/>
                  </a:rPr>
                  <a:t> </a:t>
                </a:r>
              </a:p>
            </p:txBody>
          </p:sp>
        </mc:Fallback>
      </mc:AlternateContent>
      <p:sp>
        <p:nvSpPr>
          <p:cNvPr id="5" name="Title 1">
            <a:extLst>
              <a:ext uri="{FF2B5EF4-FFF2-40B4-BE49-F238E27FC236}">
                <a16:creationId xmlns:a16="http://schemas.microsoft.com/office/drawing/2014/main" id="{7848C71F-9946-EA2A-8EC3-C2FF435B3722}"/>
              </a:ext>
            </a:extLst>
          </p:cNvPr>
          <p:cNvSpPr>
            <a:spLocks noGrp="1"/>
          </p:cNvSpPr>
          <p:nvPr>
            <p:ph type="title"/>
          </p:nvPr>
        </p:nvSpPr>
        <p:spPr>
          <a:xfrm>
            <a:off x="838200" y="374456"/>
            <a:ext cx="10515600" cy="1325563"/>
          </a:xfrm>
        </p:spPr>
        <p:txBody>
          <a:bodyPr>
            <a:normAutofit/>
          </a:bodyPr>
          <a:lstStyle/>
          <a:p>
            <a:r>
              <a:rPr lang="en-US" dirty="0"/>
              <a:t>VLM Continual-Learning Diagnostics</a:t>
            </a:r>
            <a:br>
              <a:rPr lang="en-US" dirty="0"/>
            </a:br>
            <a:r>
              <a:rPr lang="en-US" sz="2200" dirty="0"/>
              <a:t>VLM Continual Learning Metrics</a:t>
            </a:r>
          </a:p>
        </p:txBody>
      </p:sp>
      <p:cxnSp>
        <p:nvCxnSpPr>
          <p:cNvPr id="7" name="Straight Connector 6">
            <a:extLst>
              <a:ext uri="{FF2B5EF4-FFF2-40B4-BE49-F238E27FC236}">
                <a16:creationId xmlns:a16="http://schemas.microsoft.com/office/drawing/2014/main" id="{3A690D52-6E0C-F625-7494-273FB3E5F0A9}"/>
              </a:ext>
            </a:extLst>
          </p:cNvPr>
          <p:cNvCxnSpPr/>
          <p:nvPr/>
        </p:nvCxnSpPr>
        <p:spPr>
          <a:xfrm>
            <a:off x="5292762" y="2441986"/>
            <a:ext cx="0" cy="132319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B1D15969-DE18-C260-0EDA-4EEEDBC640AA}"/>
              </a:ext>
            </a:extLst>
          </p:cNvPr>
          <p:cNvCxnSpPr/>
          <p:nvPr/>
        </p:nvCxnSpPr>
        <p:spPr>
          <a:xfrm>
            <a:off x="4830184" y="2764716"/>
            <a:ext cx="256032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B75D565F-A6AD-E111-D5C9-E0FD4AB4EF3C}"/>
              </a:ext>
            </a:extLst>
          </p:cNvPr>
          <p:cNvCxnSpPr/>
          <p:nvPr/>
        </p:nvCxnSpPr>
        <p:spPr>
          <a:xfrm>
            <a:off x="4830184" y="2441986"/>
            <a:ext cx="0" cy="132319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3679CEA-3559-C3E9-AB49-77F70FE8BAB7}"/>
              </a:ext>
            </a:extLst>
          </p:cNvPr>
          <p:cNvCxnSpPr/>
          <p:nvPr/>
        </p:nvCxnSpPr>
        <p:spPr>
          <a:xfrm>
            <a:off x="4830184" y="2441986"/>
            <a:ext cx="256032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499FAED-73FC-5CA9-56B5-420625E571CA}"/>
              </a:ext>
            </a:extLst>
          </p:cNvPr>
          <p:cNvCxnSpPr/>
          <p:nvPr/>
        </p:nvCxnSpPr>
        <p:spPr>
          <a:xfrm>
            <a:off x="4830184" y="3765176"/>
            <a:ext cx="256032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468F709-5E01-0C82-7C71-C096B3403DD5}"/>
              </a:ext>
            </a:extLst>
          </p:cNvPr>
          <p:cNvCxnSpPr/>
          <p:nvPr/>
        </p:nvCxnSpPr>
        <p:spPr>
          <a:xfrm>
            <a:off x="7390504" y="2441986"/>
            <a:ext cx="0" cy="132319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56C2F4A-AA01-B939-2C5B-811024728E9D}"/>
              </a:ext>
            </a:extLst>
          </p:cNvPr>
          <p:cNvCxnSpPr/>
          <p:nvPr/>
        </p:nvCxnSpPr>
        <p:spPr>
          <a:xfrm>
            <a:off x="5733826" y="2441986"/>
            <a:ext cx="0" cy="132319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8B0C67F7-E927-1B6B-6EEA-0192CDD68C86}"/>
              </a:ext>
            </a:extLst>
          </p:cNvPr>
          <p:cNvCxnSpPr/>
          <p:nvPr/>
        </p:nvCxnSpPr>
        <p:spPr>
          <a:xfrm>
            <a:off x="6273501" y="2441986"/>
            <a:ext cx="0" cy="132319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57008E23-D562-6A79-E2F3-5577CDE01833}"/>
              </a:ext>
            </a:extLst>
          </p:cNvPr>
          <p:cNvCxnSpPr/>
          <p:nvPr/>
        </p:nvCxnSpPr>
        <p:spPr>
          <a:xfrm>
            <a:off x="6789869" y="2441986"/>
            <a:ext cx="0" cy="132319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95573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0DDF5-AC69-5357-A4C5-4612E08C07E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13866B5-28C3-3CE7-95FC-E9C38DCBDC3F}"/>
              </a:ext>
            </a:extLst>
          </p:cNvPr>
          <p:cNvSpPr>
            <a:spLocks noGrp="1"/>
          </p:cNvSpPr>
          <p:nvPr>
            <p:ph type="title"/>
          </p:nvPr>
        </p:nvSpPr>
        <p:spPr>
          <a:xfrm>
            <a:off x="838200" y="374456"/>
            <a:ext cx="10515600" cy="1325563"/>
          </a:xfrm>
        </p:spPr>
        <p:txBody>
          <a:bodyPr>
            <a:normAutofit/>
          </a:bodyPr>
          <a:lstStyle/>
          <a:p>
            <a:r>
              <a:rPr lang="en-US" dirty="0"/>
              <a:t>VLM specific mechanism Diagnostics</a:t>
            </a:r>
            <a:endParaRPr lang="en-US" sz="2200" dirty="0"/>
          </a:p>
        </p:txBody>
      </p:sp>
      <mc:AlternateContent xmlns:mc="http://schemas.openxmlformats.org/markup-compatibility/2006">
        <mc:Choice xmlns:a14="http://schemas.microsoft.com/office/drawing/2010/main" Requires="a14">
          <p:graphicFrame>
            <p:nvGraphicFramePr>
              <p:cNvPr id="6" name="Table 5">
                <a:extLst>
                  <a:ext uri="{FF2B5EF4-FFF2-40B4-BE49-F238E27FC236}">
                    <a16:creationId xmlns:a16="http://schemas.microsoft.com/office/drawing/2014/main" id="{DE3BE8A7-7084-4097-4C4B-5C006DE19F6D}"/>
                  </a:ext>
                </a:extLst>
              </p:cNvPr>
              <p:cNvGraphicFramePr>
                <a:graphicFrameLocks noGrp="1"/>
              </p:cNvGraphicFramePr>
              <p:nvPr>
                <p:extLst>
                  <p:ext uri="{D42A27DB-BD31-4B8C-83A1-F6EECF244321}">
                    <p14:modId xmlns:p14="http://schemas.microsoft.com/office/powerpoint/2010/main" val="528427970"/>
                  </p:ext>
                </p:extLst>
              </p:nvPr>
            </p:nvGraphicFramePr>
            <p:xfrm>
              <a:off x="1280159" y="1714214"/>
              <a:ext cx="9843246" cy="4358536"/>
            </p:xfrm>
            <a:graphic>
              <a:graphicData uri="http://schemas.openxmlformats.org/drawingml/2006/table">
                <a:tbl>
                  <a:tblPr>
                    <a:tableStyleId>{5C22544A-7EE6-4342-B048-85BDC9FD1C3A}</a:tableStyleId>
                  </a:tblPr>
                  <a:tblGrid>
                    <a:gridCol w="2000923">
                      <a:extLst>
                        <a:ext uri="{9D8B030D-6E8A-4147-A177-3AD203B41FA5}">
                          <a16:colId xmlns:a16="http://schemas.microsoft.com/office/drawing/2014/main" val="830531203"/>
                        </a:ext>
                      </a:extLst>
                    </a:gridCol>
                    <a:gridCol w="3945983">
                      <a:extLst>
                        <a:ext uri="{9D8B030D-6E8A-4147-A177-3AD203B41FA5}">
                          <a16:colId xmlns:a16="http://schemas.microsoft.com/office/drawing/2014/main" val="2968944470"/>
                        </a:ext>
                      </a:extLst>
                    </a:gridCol>
                    <a:gridCol w="3896340">
                      <a:extLst>
                        <a:ext uri="{9D8B030D-6E8A-4147-A177-3AD203B41FA5}">
                          <a16:colId xmlns:a16="http://schemas.microsoft.com/office/drawing/2014/main" val="3440716137"/>
                        </a:ext>
                      </a:extLst>
                    </a:gridCol>
                  </a:tblGrid>
                  <a:tr h="220321">
                    <a:tc>
                      <a:txBody>
                        <a:bodyPr/>
                        <a:lstStyle/>
                        <a:p>
                          <a:pPr>
                            <a:buNone/>
                          </a:pPr>
                          <a:r>
                            <a:rPr lang="en-US" sz="1100" b="1" dirty="0"/>
                            <a:t>Diagnostic</a:t>
                          </a:r>
                        </a:p>
                      </a:txBody>
                      <a:tcPr marL="55080" marR="55080" marT="27540" marB="27540" anchor="ctr"/>
                    </a:tc>
                    <a:tc>
                      <a:txBody>
                        <a:bodyPr/>
                        <a:lstStyle/>
                        <a:p>
                          <a:pPr>
                            <a:buNone/>
                          </a:pPr>
                          <a:r>
                            <a:rPr lang="en-US" sz="1100" b="1" dirty="0"/>
                            <a:t>What to log</a:t>
                          </a:r>
                        </a:p>
                      </a:txBody>
                      <a:tcPr marL="55080" marR="55080" marT="27540" marB="27540" anchor="ctr"/>
                    </a:tc>
                    <a:tc>
                      <a:txBody>
                        <a:bodyPr/>
                        <a:lstStyle/>
                        <a:p>
                          <a:pPr>
                            <a:buNone/>
                          </a:pPr>
                          <a:r>
                            <a:rPr lang="en-US" sz="1100" b="1" dirty="0"/>
                            <a:t>Why it matters</a:t>
                          </a:r>
                        </a:p>
                      </a:txBody>
                      <a:tcPr marL="55080" marR="55080" marT="27540" marB="27540" anchor="ctr"/>
                    </a:tc>
                    <a:extLst>
                      <a:ext uri="{0D108BD9-81ED-4DB2-BD59-A6C34878D82A}">
                        <a16:rowId xmlns:a16="http://schemas.microsoft.com/office/drawing/2014/main" val="1930502874"/>
                      </a:ext>
                    </a:extLst>
                  </a:tr>
                  <a:tr h="385562">
                    <a:tc>
                      <a:txBody>
                        <a:bodyPr/>
                        <a:lstStyle/>
                        <a:p>
                          <a:pPr>
                            <a:buNone/>
                          </a:pPr>
                          <a:r>
                            <a:rPr lang="en-US" sz="1100"/>
                            <a:t>Language gradient</a:t>
                          </a:r>
                        </a:p>
                      </a:txBody>
                      <a:tcPr marL="55080" marR="55080" marT="27540" marB="27540" anchor="ctr"/>
                    </a:tc>
                    <a:tc>
                      <a:txBody>
                        <a:bodyPr/>
                        <a:lstStyle/>
                        <a:p>
                          <a:pPr>
                            <a:buNone/>
                          </a:pPr>
                          <a14:m>
                            <m:oMathPara xmlns:m="http://schemas.openxmlformats.org/officeDocument/2006/math">
                              <m:oMath>
                                <m:sSubSup>
                                  <m:sSubSupPr>
                                    <m:ctrlPr>
                                      <a:rPr lang="en-US" sz="1100" b="0" i="1" dirty="0" smtClean="0">
                                        <a:latin typeface="Cambria Math" panose="02040503050406030204" pitchFamily="18" charset="0"/>
                                      </a:rPr>
                                    </m:ctrlPr>
                                  </m:sSubSupPr>
                                  <m:e>
                                    <m:r>
                                      <a:rPr lang="en-US" sz="1100" b="0" i="1" dirty="0" smtClean="0">
                                        <a:latin typeface="Cambria Math" panose="02040503050406030204" pitchFamily="18" charset="0"/>
                                      </a:rPr>
                                      <m:t>𝐺</m:t>
                                    </m:r>
                                  </m:e>
                                  <m:sub>
                                    <m:r>
                                      <a:rPr lang="en-US" sz="1100" b="0" i="1" dirty="0" smtClean="0">
                                        <a:latin typeface="Cambria Math" panose="02040503050406030204" pitchFamily="18" charset="0"/>
                                      </a:rPr>
                                      <m:t>𝑖</m:t>
                                    </m:r>
                                  </m:sub>
                                  <m:sup>
                                    <m:r>
                                      <a:rPr lang="en-US" sz="1100" b="0" i="1" dirty="0" smtClean="0">
                                        <a:latin typeface="Cambria Math" panose="02040503050406030204" pitchFamily="18" charset="0"/>
                                      </a:rPr>
                                      <m:t>𝐿</m:t>
                                    </m:r>
                                  </m:sup>
                                </m:sSubSup>
                              </m:oMath>
                            </m:oMathPara>
                          </a14:m>
                          <a:endParaRPr lang="en-US" sz="1100" dirty="0"/>
                        </a:p>
                      </a:txBody>
                      <a:tcPr marL="55080" marR="55080" marT="27540" marB="27540" anchor="ctr"/>
                    </a:tc>
                    <a:tc>
                      <a:txBody>
                        <a:bodyPr/>
                        <a:lstStyle/>
                        <a:p>
                          <a:pPr>
                            <a:buNone/>
                          </a:pPr>
                          <a:r>
                            <a:rPr lang="en-US" sz="1100" dirty="0"/>
                            <a:t>Measures response-learning tension in LM-</a:t>
                          </a:r>
                          <a:r>
                            <a:rPr lang="en-US" sz="1100" dirty="0" err="1"/>
                            <a:t>LoRA</a:t>
                          </a:r>
                          <a:r>
                            <a:rPr lang="en-US" sz="1100" dirty="0"/>
                            <a:t> parameters.</a:t>
                          </a:r>
                        </a:p>
                      </a:txBody>
                      <a:tcPr marL="55080" marR="55080" marT="27540" marB="27540" anchor="ctr"/>
                    </a:tc>
                    <a:extLst>
                      <a:ext uri="{0D108BD9-81ED-4DB2-BD59-A6C34878D82A}">
                        <a16:rowId xmlns:a16="http://schemas.microsoft.com/office/drawing/2014/main" val="3972772070"/>
                      </a:ext>
                    </a:extLst>
                  </a:tr>
                  <a:tr h="385562">
                    <a:tc>
                      <a:txBody>
                        <a:bodyPr/>
                        <a:lstStyle/>
                        <a:p>
                          <a:pPr>
                            <a:buNone/>
                          </a:pPr>
                          <a:r>
                            <a:rPr lang="en-US" sz="1100"/>
                            <a:t>Projector gradient</a:t>
                          </a:r>
                        </a:p>
                      </a:txBody>
                      <a:tcPr marL="55080" marR="55080" marT="27540" marB="27540" anchor="ctr"/>
                    </a:tc>
                    <a:tc>
                      <a:txBody>
                        <a:bodyPr/>
                        <a:lstStyle/>
                        <a:p>
                          <a:pPr>
                            <a:buNone/>
                          </a:pPr>
                          <a14:m>
                            <m:oMathPara xmlns:m="http://schemas.openxmlformats.org/officeDocument/2006/math">
                              <m:oMath>
                                <m:sSubSup>
                                  <m:sSubSupPr>
                                    <m:ctrlPr>
                                      <a:rPr lang="en-US" sz="1100" b="0" i="1" dirty="0" smtClean="0">
                                        <a:latin typeface="Cambria Math" panose="02040503050406030204" pitchFamily="18" charset="0"/>
                                      </a:rPr>
                                    </m:ctrlPr>
                                  </m:sSubSupPr>
                                  <m:e>
                                    <m:r>
                                      <a:rPr lang="en-US" sz="1100" b="0" i="1" dirty="0" smtClean="0">
                                        <a:latin typeface="Cambria Math" panose="02040503050406030204" pitchFamily="18" charset="0"/>
                                      </a:rPr>
                                      <m:t>𝐺</m:t>
                                    </m:r>
                                  </m:e>
                                  <m:sub>
                                    <m:r>
                                      <a:rPr lang="en-US" sz="1100" b="0" i="1" dirty="0" smtClean="0">
                                        <a:latin typeface="Cambria Math" panose="02040503050406030204" pitchFamily="18" charset="0"/>
                                      </a:rPr>
                                      <m:t>𝑖</m:t>
                                    </m:r>
                                  </m:sub>
                                  <m:sup>
                                    <m:r>
                                      <a:rPr lang="en-US" sz="1100" b="0" i="1" dirty="0" smtClean="0">
                                        <a:latin typeface="Cambria Math" panose="02040503050406030204" pitchFamily="18" charset="0"/>
                                      </a:rPr>
                                      <m:t>𝑃</m:t>
                                    </m:r>
                                  </m:sup>
                                </m:sSubSup>
                              </m:oMath>
                            </m:oMathPara>
                          </a14:m>
                          <a:endParaRPr lang="en-US" sz="1100" dirty="0"/>
                        </a:p>
                      </a:txBody>
                      <a:tcPr marL="55080" marR="55080" marT="27540" marB="27540" anchor="ctr"/>
                    </a:tc>
                    <a:tc>
                      <a:txBody>
                        <a:bodyPr/>
                        <a:lstStyle/>
                        <a:p>
                          <a:pPr>
                            <a:buNone/>
                          </a:pPr>
                          <a:r>
                            <a:rPr lang="en-US" sz="1100" dirty="0"/>
                            <a:t>Measures image-to-language alignment tension.</a:t>
                          </a:r>
                        </a:p>
                      </a:txBody>
                      <a:tcPr marL="55080" marR="55080" marT="27540" marB="27540" anchor="ctr"/>
                    </a:tc>
                    <a:extLst>
                      <a:ext uri="{0D108BD9-81ED-4DB2-BD59-A6C34878D82A}">
                        <a16:rowId xmlns:a16="http://schemas.microsoft.com/office/drawing/2014/main" val="288417266"/>
                      </a:ext>
                    </a:extLst>
                  </a:tr>
                  <a:tr h="550802">
                    <a:tc>
                      <a:txBody>
                        <a:bodyPr/>
                        <a:lstStyle/>
                        <a:p>
                          <a:pPr>
                            <a:buNone/>
                          </a:pPr>
                          <a:r>
                            <a:rPr lang="en-US" sz="1100"/>
                            <a:t>Joint gradient</a:t>
                          </a:r>
                        </a:p>
                      </a:txBody>
                      <a:tcPr marL="55080" marR="55080" marT="27540" marB="27540" anchor="ctr"/>
                    </a:tc>
                    <a:tc>
                      <a:txBody>
                        <a:bodyPr/>
                        <a:lstStyle/>
                        <a:p>
                          <a:pPr>
                            <a:buNone/>
                          </a:pPr>
                          <a14:m>
                            <m:oMathPara xmlns:m="http://schemas.openxmlformats.org/officeDocument/2006/math">
                              <m:oMath>
                                <m:sSubSup>
                                  <m:sSubSupPr>
                                    <m:ctrlPr>
                                      <a:rPr lang="en-US" sz="1100" b="0" i="1" dirty="0" smtClean="0">
                                        <a:latin typeface="Cambria Math" panose="02040503050406030204" pitchFamily="18" charset="0"/>
                                      </a:rPr>
                                    </m:ctrlPr>
                                  </m:sSubSupPr>
                                  <m:e>
                                    <m:r>
                                      <a:rPr lang="en-US" sz="1100" b="0" i="1" dirty="0" smtClean="0">
                                        <a:latin typeface="Cambria Math" panose="02040503050406030204" pitchFamily="18" charset="0"/>
                                      </a:rPr>
                                      <m:t>𝐺</m:t>
                                    </m:r>
                                  </m:e>
                                  <m:sub>
                                    <m:r>
                                      <a:rPr lang="en-US" sz="1100" b="0" i="1" dirty="0" smtClean="0">
                                        <a:latin typeface="Cambria Math" panose="02040503050406030204" pitchFamily="18" charset="0"/>
                                      </a:rPr>
                                      <m:t>𝑖</m:t>
                                    </m:r>
                                  </m:sub>
                                  <m:sup>
                                    <m:r>
                                      <a:rPr lang="en-US" sz="1100" b="0" i="1" dirty="0" smtClean="0">
                                        <a:latin typeface="Cambria Math" panose="02040503050406030204" pitchFamily="18" charset="0"/>
                                      </a:rPr>
                                      <m:t>𝐽</m:t>
                                    </m:r>
                                  </m:sup>
                                </m:sSubSup>
                              </m:oMath>
                            </m:oMathPara>
                          </a14:m>
                          <a:endParaRPr lang="en-US" sz="1100" dirty="0"/>
                        </a:p>
                      </a:txBody>
                      <a:tcPr marL="55080" marR="55080" marT="27540" marB="27540" anchor="ctr"/>
                    </a:tc>
                    <a:tc>
                      <a:txBody>
                        <a:bodyPr/>
                        <a:lstStyle/>
                        <a:p>
                          <a:pPr>
                            <a:buNone/>
                          </a:pPr>
                          <a:r>
                            <a:rPr lang="en-US" sz="1100"/>
                            <a:t>Combines language and projector signals after normalization.</a:t>
                          </a:r>
                        </a:p>
                      </a:txBody>
                      <a:tcPr marL="55080" marR="55080" marT="27540" marB="27540" anchor="ctr"/>
                    </a:tc>
                    <a:extLst>
                      <a:ext uri="{0D108BD9-81ED-4DB2-BD59-A6C34878D82A}">
                        <a16:rowId xmlns:a16="http://schemas.microsoft.com/office/drawing/2014/main" val="3051603572"/>
                      </a:ext>
                    </a:extLst>
                  </a:tr>
                  <a:tr h="550802">
                    <a:tc>
                      <a:txBody>
                        <a:bodyPr/>
                        <a:lstStyle/>
                        <a:p>
                          <a:pPr>
                            <a:buNone/>
                          </a:pPr>
                          <a:r>
                            <a:rPr lang="en-US" sz="1100"/>
                            <a:t>Response loss</a:t>
                          </a:r>
                        </a:p>
                      </a:txBody>
                      <a:tcPr marL="55080" marR="55080" marT="27540" marB="27540" anchor="ctr"/>
                    </a:tc>
                    <a:tc>
                      <a:txBody>
                        <a:bodyPr/>
                        <a:lstStyle/>
                        <a:p>
                          <a:pPr>
                            <a:buNone/>
                          </a:pPr>
                          <a:r>
                            <a:rPr lang="en-US" sz="1100"/>
                            <a:t>Mean loss over assistant tokens only</a:t>
                          </a:r>
                        </a:p>
                      </a:txBody>
                      <a:tcPr marL="55080" marR="55080" marT="27540" marB="27540" anchor="ctr"/>
                    </a:tc>
                    <a:tc>
                      <a:txBody>
                        <a:bodyPr/>
                        <a:lstStyle/>
                        <a:p>
                          <a:pPr>
                            <a:buNone/>
                          </a:pPr>
                          <a:r>
                            <a:rPr lang="en-US" sz="1100"/>
                            <a:t>Prevents prompt and image-token positions from contaminating the score.</a:t>
                          </a:r>
                        </a:p>
                      </a:txBody>
                      <a:tcPr marL="55080" marR="55080" marT="27540" marB="27540" anchor="ctr"/>
                    </a:tc>
                    <a:extLst>
                      <a:ext uri="{0D108BD9-81ED-4DB2-BD59-A6C34878D82A}">
                        <a16:rowId xmlns:a16="http://schemas.microsoft.com/office/drawing/2014/main" val="1311305595"/>
                      </a:ext>
                    </a:extLst>
                  </a:tr>
                  <a:tr h="385562">
                    <a:tc>
                      <a:txBody>
                        <a:bodyPr/>
                        <a:lstStyle/>
                        <a:p>
                          <a:pPr>
                            <a:buNone/>
                          </a:pPr>
                          <a:r>
                            <a:rPr lang="en-US" sz="1100" dirty="0"/>
                            <a:t>Target length</a:t>
                          </a:r>
                        </a:p>
                      </a:txBody>
                      <a:tcPr marL="55080" marR="55080" marT="27540" marB="27540" anchor="ctr"/>
                    </a:tc>
                    <a:tc>
                      <a:txBody>
                        <a:bodyPr/>
                        <a:lstStyle/>
                        <a:p>
                          <a:pPr>
                            <a:buNone/>
                          </a:pPr>
                          <a:r>
                            <a:rPr lang="en-US" sz="1100"/>
                            <a:t>Number of assistant-response tokens</a:t>
                          </a:r>
                        </a:p>
                      </a:txBody>
                      <a:tcPr marL="55080" marR="55080" marT="27540" marB="27540" anchor="ctr"/>
                    </a:tc>
                    <a:tc>
                      <a:txBody>
                        <a:bodyPr/>
                        <a:lstStyle/>
                        <a:p>
                          <a:pPr>
                            <a:buNone/>
                          </a:pPr>
                          <a:r>
                            <a:rPr lang="en-US" sz="1100"/>
                            <a:t>Tests whether gradient magnitude is confounded by answer length.</a:t>
                          </a:r>
                        </a:p>
                      </a:txBody>
                      <a:tcPr marL="55080" marR="55080" marT="27540" marB="27540" anchor="ctr"/>
                    </a:tc>
                    <a:extLst>
                      <a:ext uri="{0D108BD9-81ED-4DB2-BD59-A6C34878D82A}">
                        <a16:rowId xmlns:a16="http://schemas.microsoft.com/office/drawing/2014/main" val="3475880123"/>
                      </a:ext>
                    </a:extLst>
                  </a:tr>
                  <a:tr h="550802">
                    <a:tc>
                      <a:txBody>
                        <a:bodyPr/>
                        <a:lstStyle/>
                        <a:p>
                          <a:pPr>
                            <a:buNone/>
                          </a:pPr>
                          <a:r>
                            <a:rPr lang="en-US" sz="1100"/>
                            <a:t>Image complexity</a:t>
                          </a:r>
                        </a:p>
                      </a:txBody>
                      <a:tcPr marL="55080" marR="55080" marT="27540" marB="27540" anchor="ctr"/>
                    </a:tc>
                    <a:tc>
                      <a:txBody>
                        <a:bodyPr/>
                        <a:lstStyle/>
                        <a:p>
                          <a:pPr>
                            <a:buNone/>
                          </a:pPr>
                          <a:r>
                            <a:rPr lang="en-US" sz="1100"/>
                            <a:t>Resolution, aspect ratio, image-token count, OCR density</a:t>
                          </a:r>
                        </a:p>
                      </a:txBody>
                      <a:tcPr marL="55080" marR="55080" marT="27540" marB="27540" anchor="ctr"/>
                    </a:tc>
                    <a:tc>
                      <a:txBody>
                        <a:bodyPr/>
                        <a:lstStyle/>
                        <a:p>
                          <a:pPr>
                            <a:buNone/>
                          </a:pPr>
                          <a:r>
                            <a:rPr lang="en-US" sz="1100"/>
                            <a:t>Tests whether high gradients reflect visual difficulty rather than safety tension.</a:t>
                          </a:r>
                        </a:p>
                      </a:txBody>
                      <a:tcPr marL="55080" marR="55080" marT="27540" marB="27540" anchor="ctr"/>
                    </a:tc>
                    <a:extLst>
                      <a:ext uri="{0D108BD9-81ED-4DB2-BD59-A6C34878D82A}">
                        <a16:rowId xmlns:a16="http://schemas.microsoft.com/office/drawing/2014/main" val="2357350055"/>
                      </a:ext>
                    </a:extLst>
                  </a:tr>
                  <a:tr h="385562">
                    <a:tc>
                      <a:txBody>
                        <a:bodyPr/>
                        <a:lstStyle/>
                        <a:p>
                          <a:pPr>
                            <a:buNone/>
                          </a:pPr>
                          <a:r>
                            <a:rPr lang="en-US" sz="1100"/>
                            <a:t>Parameter drift</a:t>
                          </a:r>
                        </a:p>
                      </a:txBody>
                      <a:tcPr marL="55080" marR="55080" marT="27540" marB="27540" anchor="ctr"/>
                    </a:tc>
                    <a:tc>
                      <a:txBody>
                        <a:bodyPr/>
                        <a:lstStyle/>
                        <a:p>
                          <a:pPr>
                            <a:buNone/>
                          </a:pPr>
                          <a:r>
                            <a:rPr lang="en-US" sz="1100"/>
                            <a:t>Distance from initial adapter/projector weights</a:t>
                          </a:r>
                        </a:p>
                      </a:txBody>
                      <a:tcPr marL="55080" marR="55080" marT="27540" marB="27540" anchor="ctr"/>
                    </a:tc>
                    <a:tc>
                      <a:txBody>
                        <a:bodyPr/>
                        <a:lstStyle/>
                        <a:p>
                          <a:pPr>
                            <a:buNone/>
                          </a:pPr>
                          <a:r>
                            <a:rPr lang="en-US" sz="1100"/>
                            <a:t>Links sample selection to actual model changes.</a:t>
                          </a:r>
                        </a:p>
                      </a:txBody>
                      <a:tcPr marL="55080" marR="55080" marT="27540" marB="27540" anchor="ctr"/>
                    </a:tc>
                    <a:extLst>
                      <a:ext uri="{0D108BD9-81ED-4DB2-BD59-A6C34878D82A}">
                        <a16:rowId xmlns:a16="http://schemas.microsoft.com/office/drawing/2014/main" val="2062490320"/>
                      </a:ext>
                    </a:extLst>
                  </a:tr>
                  <a:tr h="550802">
                    <a:tc>
                      <a:txBody>
                        <a:bodyPr/>
                        <a:lstStyle/>
                        <a:p>
                          <a:pPr>
                            <a:buNone/>
                          </a:pPr>
                          <a:r>
                            <a:rPr lang="en-US" sz="1100"/>
                            <a:t>Safety drift trajectory</a:t>
                          </a:r>
                        </a:p>
                      </a:txBody>
                      <a:tcPr marL="55080" marR="55080" marT="27540" marB="27540" anchor="ctr"/>
                    </a:tc>
                    <a:tc>
                      <a:txBody>
                        <a:bodyPr/>
                        <a:lstStyle/>
                        <a:p>
                          <a:pPr>
                            <a:buNone/>
                          </a:pPr>
                          <a:r>
                            <a:rPr lang="en-US" sz="1100" dirty="0"/>
                            <a:t>ASR and VISAGE at </a:t>
                          </a:r>
                          <a14:m>
                            <m:oMath xmlns:m="http://schemas.openxmlformats.org/officeDocument/2006/math">
                              <m:sSub>
                                <m:sSubPr>
                                  <m:ctrlPr>
                                    <a:rPr lang="en-US" sz="1100" i="1" dirty="0">
                                      <a:latin typeface="Cambria Math" panose="02040503050406030204" pitchFamily="18" charset="0"/>
                                    </a:rPr>
                                  </m:ctrlPr>
                                </m:sSubPr>
                                <m:e>
                                  <m:r>
                                    <a:rPr lang="en-US" sz="1100" i="1" dirty="0">
                                      <a:latin typeface="Cambria Math" panose="02040503050406030204" pitchFamily="18" charset="0"/>
                                    </a:rPr>
                                    <m:t>𝜃</m:t>
                                  </m:r>
                                </m:e>
                                <m:sub>
                                  <m:r>
                                    <a:rPr lang="en-US" sz="1100" b="0" i="0" dirty="0" smtClean="0">
                                      <a:latin typeface="Cambria Math" panose="02040503050406030204" pitchFamily="18" charset="0"/>
                                    </a:rPr>
                                    <m:t>0</m:t>
                                  </m:r>
                                </m:sub>
                              </m:sSub>
                            </m:oMath>
                          </a14:m>
                          <a:r>
                            <a:rPr lang="en-US" sz="1100" dirty="0"/>
                            <a:t>, </a:t>
                          </a:r>
                          <a14:m>
                            <m:oMath xmlns:m="http://schemas.openxmlformats.org/officeDocument/2006/math">
                              <m:sSub>
                                <m:sSubPr>
                                  <m:ctrlPr>
                                    <a:rPr lang="en-US" sz="1100" i="1" dirty="0">
                                      <a:latin typeface="Cambria Math" panose="02040503050406030204" pitchFamily="18" charset="0"/>
                                    </a:rPr>
                                  </m:ctrlPr>
                                </m:sSubPr>
                                <m:e>
                                  <m:r>
                                    <a:rPr lang="en-US" sz="1100" i="1" dirty="0">
                                      <a:latin typeface="Cambria Math" panose="02040503050406030204" pitchFamily="18" charset="0"/>
                                    </a:rPr>
                                    <m:t>𝜃</m:t>
                                  </m:r>
                                </m:e>
                                <m:sub>
                                  <m:r>
                                    <a:rPr lang="en-US" sz="1100" i="0" dirty="0">
                                      <a:latin typeface="Cambria Math" panose="02040503050406030204" pitchFamily="18" charset="0"/>
                                    </a:rPr>
                                    <m:t>1</m:t>
                                  </m:r>
                                </m:sub>
                              </m:sSub>
                            </m:oMath>
                          </a14:m>
                          <a:r>
                            <a:rPr lang="en-US" sz="1100" dirty="0"/>
                            <a:t>,..., </a:t>
                          </a:r>
                          <a14:m>
                            <m:oMath xmlns:m="http://schemas.openxmlformats.org/officeDocument/2006/math">
                              <m:sSub>
                                <m:sSubPr>
                                  <m:ctrlPr>
                                    <a:rPr lang="en-US" sz="1100" i="1" dirty="0">
                                      <a:latin typeface="Cambria Math" panose="02040503050406030204" pitchFamily="18" charset="0"/>
                                    </a:rPr>
                                  </m:ctrlPr>
                                </m:sSubPr>
                                <m:e>
                                  <m:r>
                                    <a:rPr lang="en-US" sz="1100" i="1" dirty="0">
                                      <a:latin typeface="Cambria Math" panose="02040503050406030204" pitchFamily="18" charset="0"/>
                                    </a:rPr>
                                    <m:t>𝜃</m:t>
                                  </m:r>
                                </m:e>
                                <m:sub>
                                  <m:r>
                                    <m:rPr>
                                      <m:sty m:val="p"/>
                                    </m:rPr>
                                    <a:rPr lang="en-US" sz="1100" b="0" i="0" dirty="0" smtClean="0">
                                      <a:latin typeface="Cambria Math" panose="02040503050406030204" pitchFamily="18" charset="0"/>
                                    </a:rPr>
                                    <m:t>T</m:t>
                                  </m:r>
                                </m:sub>
                              </m:sSub>
                            </m:oMath>
                          </a14:m>
                          <a:endParaRPr lang="en-US" sz="1100" dirty="0"/>
                        </a:p>
                      </a:txBody>
                      <a:tcPr marL="55080" marR="55080" marT="27540" marB="27540" anchor="ctr"/>
                    </a:tc>
                    <a:tc>
                      <a:txBody>
                        <a:bodyPr/>
                        <a:lstStyle/>
                        <a:p>
                          <a:pPr>
                            <a:buNone/>
                          </a:pPr>
                          <a:r>
                            <a:rPr lang="en-US" sz="1100"/>
                            <a:t>Tests whether safety degradation accumulates across tasks.</a:t>
                          </a:r>
                        </a:p>
                      </a:txBody>
                      <a:tcPr marL="55080" marR="55080" marT="27540" marB="27540" anchor="ctr"/>
                    </a:tc>
                    <a:extLst>
                      <a:ext uri="{0D108BD9-81ED-4DB2-BD59-A6C34878D82A}">
                        <a16:rowId xmlns:a16="http://schemas.microsoft.com/office/drawing/2014/main" val="1704170954"/>
                      </a:ext>
                    </a:extLst>
                  </a:tr>
                  <a:tr h="385562">
                    <a:tc>
                      <a:txBody>
                        <a:bodyPr/>
                        <a:lstStyle/>
                        <a:p>
                          <a:pPr>
                            <a:buNone/>
                          </a:pPr>
                          <a:r>
                            <a:rPr lang="en-US" sz="1100"/>
                            <a:t>Judge validity</a:t>
                          </a:r>
                        </a:p>
                      </a:txBody>
                      <a:tcPr marL="55080" marR="55080" marT="27540" marB="27540" anchor="ctr"/>
                    </a:tc>
                    <a:tc>
                      <a:txBody>
                        <a:bodyPr/>
                        <a:lstStyle/>
                        <a:p>
                          <a:pPr>
                            <a:buNone/>
                          </a:pPr>
                          <a:r>
                            <a:rPr lang="en-US" sz="1100"/>
                            <a:t>Automatic label versus manual audit</a:t>
                          </a:r>
                        </a:p>
                      </a:txBody>
                      <a:tcPr marL="55080" marR="55080" marT="27540" marB="27540" anchor="ctr"/>
                    </a:tc>
                    <a:tc>
                      <a:txBody>
                        <a:bodyPr/>
                        <a:lstStyle/>
                        <a:p>
                          <a:pPr>
                            <a:buNone/>
                          </a:pPr>
                          <a:r>
                            <a:rPr lang="en-US" sz="1100" dirty="0"/>
                            <a:t>Detects errors caused by text-only judging of visual attacks.</a:t>
                          </a:r>
                        </a:p>
                      </a:txBody>
                      <a:tcPr marL="55080" marR="55080" marT="27540" marB="27540" anchor="ctr"/>
                    </a:tc>
                    <a:extLst>
                      <a:ext uri="{0D108BD9-81ED-4DB2-BD59-A6C34878D82A}">
                        <a16:rowId xmlns:a16="http://schemas.microsoft.com/office/drawing/2014/main" val="3079306660"/>
                      </a:ext>
                    </a:extLst>
                  </a:tr>
                </a:tbl>
              </a:graphicData>
            </a:graphic>
          </p:graphicFrame>
        </mc:Choice>
        <mc:Fallback>
          <p:graphicFrame>
            <p:nvGraphicFramePr>
              <p:cNvPr id="6" name="Table 5">
                <a:extLst>
                  <a:ext uri="{FF2B5EF4-FFF2-40B4-BE49-F238E27FC236}">
                    <a16:creationId xmlns:a16="http://schemas.microsoft.com/office/drawing/2014/main" id="{DE3BE8A7-7084-4097-4C4B-5C006DE19F6D}"/>
                  </a:ext>
                </a:extLst>
              </p:cNvPr>
              <p:cNvGraphicFramePr>
                <a:graphicFrameLocks noGrp="1"/>
              </p:cNvGraphicFramePr>
              <p:nvPr>
                <p:extLst>
                  <p:ext uri="{D42A27DB-BD31-4B8C-83A1-F6EECF244321}">
                    <p14:modId xmlns:p14="http://schemas.microsoft.com/office/powerpoint/2010/main" val="528427970"/>
                  </p:ext>
                </p:extLst>
              </p:nvPr>
            </p:nvGraphicFramePr>
            <p:xfrm>
              <a:off x="1280159" y="1714214"/>
              <a:ext cx="9843246" cy="4358536"/>
            </p:xfrm>
            <a:graphic>
              <a:graphicData uri="http://schemas.openxmlformats.org/drawingml/2006/table">
                <a:tbl>
                  <a:tblPr>
                    <a:tableStyleId>{5C22544A-7EE6-4342-B048-85BDC9FD1C3A}</a:tableStyleId>
                  </a:tblPr>
                  <a:tblGrid>
                    <a:gridCol w="2000923">
                      <a:extLst>
                        <a:ext uri="{9D8B030D-6E8A-4147-A177-3AD203B41FA5}">
                          <a16:colId xmlns:a16="http://schemas.microsoft.com/office/drawing/2014/main" val="830531203"/>
                        </a:ext>
                      </a:extLst>
                    </a:gridCol>
                    <a:gridCol w="3945983">
                      <a:extLst>
                        <a:ext uri="{9D8B030D-6E8A-4147-A177-3AD203B41FA5}">
                          <a16:colId xmlns:a16="http://schemas.microsoft.com/office/drawing/2014/main" val="2968944470"/>
                        </a:ext>
                      </a:extLst>
                    </a:gridCol>
                    <a:gridCol w="3896340">
                      <a:extLst>
                        <a:ext uri="{9D8B030D-6E8A-4147-A177-3AD203B41FA5}">
                          <a16:colId xmlns:a16="http://schemas.microsoft.com/office/drawing/2014/main" val="3440716137"/>
                        </a:ext>
                      </a:extLst>
                    </a:gridCol>
                  </a:tblGrid>
                  <a:tr h="222720">
                    <a:tc>
                      <a:txBody>
                        <a:bodyPr/>
                        <a:lstStyle/>
                        <a:p>
                          <a:pPr>
                            <a:buNone/>
                          </a:pPr>
                          <a:r>
                            <a:rPr lang="en-US" sz="1100" b="1" dirty="0"/>
                            <a:t>Diagnostic</a:t>
                          </a:r>
                        </a:p>
                      </a:txBody>
                      <a:tcPr marL="55080" marR="55080" marT="27540" marB="27540" anchor="ctr"/>
                    </a:tc>
                    <a:tc>
                      <a:txBody>
                        <a:bodyPr/>
                        <a:lstStyle/>
                        <a:p>
                          <a:pPr>
                            <a:buNone/>
                          </a:pPr>
                          <a:r>
                            <a:rPr lang="en-US" sz="1100" b="1" dirty="0"/>
                            <a:t>What to log</a:t>
                          </a:r>
                        </a:p>
                      </a:txBody>
                      <a:tcPr marL="55080" marR="55080" marT="27540" marB="27540" anchor="ctr"/>
                    </a:tc>
                    <a:tc>
                      <a:txBody>
                        <a:bodyPr/>
                        <a:lstStyle/>
                        <a:p>
                          <a:pPr>
                            <a:buNone/>
                          </a:pPr>
                          <a:r>
                            <a:rPr lang="en-US" sz="1100" b="1" dirty="0"/>
                            <a:t>Why it matters</a:t>
                          </a:r>
                        </a:p>
                      </a:txBody>
                      <a:tcPr marL="55080" marR="55080" marT="27540" marB="27540" anchor="ctr"/>
                    </a:tc>
                    <a:extLst>
                      <a:ext uri="{0D108BD9-81ED-4DB2-BD59-A6C34878D82A}">
                        <a16:rowId xmlns:a16="http://schemas.microsoft.com/office/drawing/2014/main" val="1930502874"/>
                      </a:ext>
                    </a:extLst>
                  </a:tr>
                  <a:tr h="385562">
                    <a:tc>
                      <a:txBody>
                        <a:bodyPr/>
                        <a:lstStyle/>
                        <a:p>
                          <a:pPr>
                            <a:buNone/>
                          </a:pPr>
                          <a:r>
                            <a:rPr lang="en-US" sz="1100"/>
                            <a:t>Language gradient</a:t>
                          </a:r>
                        </a:p>
                      </a:txBody>
                      <a:tcPr marL="55080" marR="55080" marT="27540" marB="27540" anchor="ctr"/>
                    </a:tc>
                    <a:tc>
                      <a:txBody>
                        <a:bodyPr/>
                        <a:lstStyle/>
                        <a:p>
                          <a:endParaRPr lang="en-US"/>
                        </a:p>
                      </a:txBody>
                      <a:tcPr marL="55080" marR="55080" marT="27540" marB="27540" anchor="ctr">
                        <a:blipFill>
                          <a:blip r:embed="rId3"/>
                          <a:stretch>
                            <a:fillRect l="-51125" t="-63333" r="-99035" b="-993333"/>
                          </a:stretch>
                        </a:blipFill>
                      </a:tcPr>
                    </a:tc>
                    <a:tc>
                      <a:txBody>
                        <a:bodyPr/>
                        <a:lstStyle/>
                        <a:p>
                          <a:pPr>
                            <a:buNone/>
                          </a:pPr>
                          <a:r>
                            <a:rPr lang="en-US" sz="1100" dirty="0"/>
                            <a:t>Measures response-learning tension in LM-</a:t>
                          </a:r>
                          <a:r>
                            <a:rPr lang="en-US" sz="1100" dirty="0" err="1"/>
                            <a:t>LoRA</a:t>
                          </a:r>
                          <a:r>
                            <a:rPr lang="en-US" sz="1100" dirty="0"/>
                            <a:t> parameters.</a:t>
                          </a:r>
                        </a:p>
                      </a:txBody>
                      <a:tcPr marL="55080" marR="55080" marT="27540" marB="27540" anchor="ctr"/>
                    </a:tc>
                    <a:extLst>
                      <a:ext uri="{0D108BD9-81ED-4DB2-BD59-A6C34878D82A}">
                        <a16:rowId xmlns:a16="http://schemas.microsoft.com/office/drawing/2014/main" val="3972772070"/>
                      </a:ext>
                    </a:extLst>
                  </a:tr>
                  <a:tr h="385562">
                    <a:tc>
                      <a:txBody>
                        <a:bodyPr/>
                        <a:lstStyle/>
                        <a:p>
                          <a:pPr>
                            <a:buNone/>
                          </a:pPr>
                          <a:r>
                            <a:rPr lang="en-US" sz="1100"/>
                            <a:t>Projector gradient</a:t>
                          </a:r>
                        </a:p>
                      </a:txBody>
                      <a:tcPr marL="55080" marR="55080" marT="27540" marB="27540" anchor="ctr"/>
                    </a:tc>
                    <a:tc>
                      <a:txBody>
                        <a:bodyPr/>
                        <a:lstStyle/>
                        <a:p>
                          <a:endParaRPr lang="en-US"/>
                        </a:p>
                      </a:txBody>
                      <a:tcPr marL="55080" marR="55080" marT="27540" marB="27540" anchor="ctr">
                        <a:blipFill>
                          <a:blip r:embed="rId3"/>
                          <a:stretch>
                            <a:fillRect l="-51125" t="-158065" r="-99035" b="-861290"/>
                          </a:stretch>
                        </a:blipFill>
                      </a:tcPr>
                    </a:tc>
                    <a:tc>
                      <a:txBody>
                        <a:bodyPr/>
                        <a:lstStyle/>
                        <a:p>
                          <a:pPr>
                            <a:buNone/>
                          </a:pPr>
                          <a:r>
                            <a:rPr lang="en-US" sz="1100" dirty="0"/>
                            <a:t>Measures image-to-language alignment tension.</a:t>
                          </a:r>
                        </a:p>
                      </a:txBody>
                      <a:tcPr marL="55080" marR="55080" marT="27540" marB="27540" anchor="ctr"/>
                    </a:tc>
                    <a:extLst>
                      <a:ext uri="{0D108BD9-81ED-4DB2-BD59-A6C34878D82A}">
                        <a16:rowId xmlns:a16="http://schemas.microsoft.com/office/drawing/2014/main" val="288417266"/>
                      </a:ext>
                    </a:extLst>
                  </a:tr>
                  <a:tr h="550802">
                    <a:tc>
                      <a:txBody>
                        <a:bodyPr/>
                        <a:lstStyle/>
                        <a:p>
                          <a:pPr>
                            <a:buNone/>
                          </a:pPr>
                          <a:r>
                            <a:rPr lang="en-US" sz="1100"/>
                            <a:t>Joint gradient</a:t>
                          </a:r>
                        </a:p>
                      </a:txBody>
                      <a:tcPr marL="55080" marR="55080" marT="27540" marB="27540" anchor="ctr"/>
                    </a:tc>
                    <a:tc>
                      <a:txBody>
                        <a:bodyPr/>
                        <a:lstStyle/>
                        <a:p>
                          <a:endParaRPr lang="en-US"/>
                        </a:p>
                      </a:txBody>
                      <a:tcPr marL="55080" marR="55080" marT="27540" marB="27540" anchor="ctr">
                        <a:blipFill>
                          <a:blip r:embed="rId3"/>
                          <a:stretch>
                            <a:fillRect l="-51125" t="-186047" r="-99035" b="-520930"/>
                          </a:stretch>
                        </a:blipFill>
                      </a:tcPr>
                    </a:tc>
                    <a:tc>
                      <a:txBody>
                        <a:bodyPr/>
                        <a:lstStyle/>
                        <a:p>
                          <a:pPr>
                            <a:buNone/>
                          </a:pPr>
                          <a:r>
                            <a:rPr lang="en-US" sz="1100"/>
                            <a:t>Combines language and projector signals after normalization.</a:t>
                          </a:r>
                        </a:p>
                      </a:txBody>
                      <a:tcPr marL="55080" marR="55080" marT="27540" marB="27540" anchor="ctr"/>
                    </a:tc>
                    <a:extLst>
                      <a:ext uri="{0D108BD9-81ED-4DB2-BD59-A6C34878D82A}">
                        <a16:rowId xmlns:a16="http://schemas.microsoft.com/office/drawing/2014/main" val="3051603572"/>
                      </a:ext>
                    </a:extLst>
                  </a:tr>
                  <a:tr h="550802">
                    <a:tc>
                      <a:txBody>
                        <a:bodyPr/>
                        <a:lstStyle/>
                        <a:p>
                          <a:pPr>
                            <a:buNone/>
                          </a:pPr>
                          <a:r>
                            <a:rPr lang="en-US" sz="1100"/>
                            <a:t>Response loss</a:t>
                          </a:r>
                        </a:p>
                      </a:txBody>
                      <a:tcPr marL="55080" marR="55080" marT="27540" marB="27540" anchor="ctr"/>
                    </a:tc>
                    <a:tc>
                      <a:txBody>
                        <a:bodyPr/>
                        <a:lstStyle/>
                        <a:p>
                          <a:pPr>
                            <a:buNone/>
                          </a:pPr>
                          <a:r>
                            <a:rPr lang="en-US" sz="1100"/>
                            <a:t>Mean loss over assistant tokens only</a:t>
                          </a:r>
                        </a:p>
                      </a:txBody>
                      <a:tcPr marL="55080" marR="55080" marT="27540" marB="27540" anchor="ctr"/>
                    </a:tc>
                    <a:tc>
                      <a:txBody>
                        <a:bodyPr/>
                        <a:lstStyle/>
                        <a:p>
                          <a:pPr>
                            <a:buNone/>
                          </a:pPr>
                          <a:r>
                            <a:rPr lang="en-US" sz="1100"/>
                            <a:t>Prevents prompt and image-token positions from contaminating the score.</a:t>
                          </a:r>
                        </a:p>
                      </a:txBody>
                      <a:tcPr marL="55080" marR="55080" marT="27540" marB="27540" anchor="ctr"/>
                    </a:tc>
                    <a:extLst>
                      <a:ext uri="{0D108BD9-81ED-4DB2-BD59-A6C34878D82A}">
                        <a16:rowId xmlns:a16="http://schemas.microsoft.com/office/drawing/2014/main" val="1311305595"/>
                      </a:ext>
                    </a:extLst>
                  </a:tr>
                  <a:tr h="390360">
                    <a:tc>
                      <a:txBody>
                        <a:bodyPr/>
                        <a:lstStyle/>
                        <a:p>
                          <a:pPr>
                            <a:buNone/>
                          </a:pPr>
                          <a:r>
                            <a:rPr lang="en-US" sz="1100" dirty="0"/>
                            <a:t>Target length</a:t>
                          </a:r>
                        </a:p>
                      </a:txBody>
                      <a:tcPr marL="55080" marR="55080" marT="27540" marB="27540" anchor="ctr"/>
                    </a:tc>
                    <a:tc>
                      <a:txBody>
                        <a:bodyPr/>
                        <a:lstStyle/>
                        <a:p>
                          <a:pPr>
                            <a:buNone/>
                          </a:pPr>
                          <a:r>
                            <a:rPr lang="en-US" sz="1100"/>
                            <a:t>Number of assistant-response tokens</a:t>
                          </a:r>
                        </a:p>
                      </a:txBody>
                      <a:tcPr marL="55080" marR="55080" marT="27540" marB="27540" anchor="ctr"/>
                    </a:tc>
                    <a:tc>
                      <a:txBody>
                        <a:bodyPr/>
                        <a:lstStyle/>
                        <a:p>
                          <a:pPr>
                            <a:buNone/>
                          </a:pPr>
                          <a:r>
                            <a:rPr lang="en-US" sz="1100"/>
                            <a:t>Tests whether gradient magnitude is confounded by answer length.</a:t>
                          </a:r>
                        </a:p>
                      </a:txBody>
                      <a:tcPr marL="55080" marR="55080" marT="27540" marB="27540" anchor="ctr"/>
                    </a:tc>
                    <a:extLst>
                      <a:ext uri="{0D108BD9-81ED-4DB2-BD59-A6C34878D82A}">
                        <a16:rowId xmlns:a16="http://schemas.microsoft.com/office/drawing/2014/main" val="3475880123"/>
                      </a:ext>
                    </a:extLst>
                  </a:tr>
                  <a:tr h="550802">
                    <a:tc>
                      <a:txBody>
                        <a:bodyPr/>
                        <a:lstStyle/>
                        <a:p>
                          <a:pPr>
                            <a:buNone/>
                          </a:pPr>
                          <a:r>
                            <a:rPr lang="en-US" sz="1100"/>
                            <a:t>Image complexity</a:t>
                          </a:r>
                        </a:p>
                      </a:txBody>
                      <a:tcPr marL="55080" marR="55080" marT="27540" marB="27540" anchor="ctr"/>
                    </a:tc>
                    <a:tc>
                      <a:txBody>
                        <a:bodyPr/>
                        <a:lstStyle/>
                        <a:p>
                          <a:pPr>
                            <a:buNone/>
                          </a:pPr>
                          <a:r>
                            <a:rPr lang="en-US" sz="1100"/>
                            <a:t>Resolution, aspect ratio, image-token count, OCR density</a:t>
                          </a:r>
                        </a:p>
                      </a:txBody>
                      <a:tcPr marL="55080" marR="55080" marT="27540" marB="27540" anchor="ctr"/>
                    </a:tc>
                    <a:tc>
                      <a:txBody>
                        <a:bodyPr/>
                        <a:lstStyle/>
                        <a:p>
                          <a:pPr>
                            <a:buNone/>
                          </a:pPr>
                          <a:r>
                            <a:rPr lang="en-US" sz="1100"/>
                            <a:t>Tests whether high gradients reflect visual difficulty rather than safety tension.</a:t>
                          </a:r>
                        </a:p>
                      </a:txBody>
                      <a:tcPr marL="55080" marR="55080" marT="27540" marB="27540" anchor="ctr"/>
                    </a:tc>
                    <a:extLst>
                      <a:ext uri="{0D108BD9-81ED-4DB2-BD59-A6C34878D82A}">
                        <a16:rowId xmlns:a16="http://schemas.microsoft.com/office/drawing/2014/main" val="2357350055"/>
                      </a:ext>
                    </a:extLst>
                  </a:tr>
                  <a:tr h="385562">
                    <a:tc>
                      <a:txBody>
                        <a:bodyPr/>
                        <a:lstStyle/>
                        <a:p>
                          <a:pPr>
                            <a:buNone/>
                          </a:pPr>
                          <a:r>
                            <a:rPr lang="en-US" sz="1100"/>
                            <a:t>Parameter drift</a:t>
                          </a:r>
                        </a:p>
                      </a:txBody>
                      <a:tcPr marL="55080" marR="55080" marT="27540" marB="27540" anchor="ctr"/>
                    </a:tc>
                    <a:tc>
                      <a:txBody>
                        <a:bodyPr/>
                        <a:lstStyle/>
                        <a:p>
                          <a:pPr>
                            <a:buNone/>
                          </a:pPr>
                          <a:r>
                            <a:rPr lang="en-US" sz="1100"/>
                            <a:t>Distance from initial adapter/projector weights</a:t>
                          </a:r>
                        </a:p>
                      </a:txBody>
                      <a:tcPr marL="55080" marR="55080" marT="27540" marB="27540" anchor="ctr"/>
                    </a:tc>
                    <a:tc>
                      <a:txBody>
                        <a:bodyPr/>
                        <a:lstStyle/>
                        <a:p>
                          <a:pPr>
                            <a:buNone/>
                          </a:pPr>
                          <a:r>
                            <a:rPr lang="en-US" sz="1100"/>
                            <a:t>Links sample selection to actual model changes.</a:t>
                          </a:r>
                        </a:p>
                      </a:txBody>
                      <a:tcPr marL="55080" marR="55080" marT="27540" marB="27540" anchor="ctr"/>
                    </a:tc>
                    <a:extLst>
                      <a:ext uri="{0D108BD9-81ED-4DB2-BD59-A6C34878D82A}">
                        <a16:rowId xmlns:a16="http://schemas.microsoft.com/office/drawing/2014/main" val="2062490320"/>
                      </a:ext>
                    </a:extLst>
                  </a:tr>
                  <a:tr h="550802">
                    <a:tc>
                      <a:txBody>
                        <a:bodyPr/>
                        <a:lstStyle/>
                        <a:p>
                          <a:pPr>
                            <a:buNone/>
                          </a:pPr>
                          <a:r>
                            <a:rPr lang="en-US" sz="1100"/>
                            <a:t>Safety drift trajectory</a:t>
                          </a:r>
                        </a:p>
                      </a:txBody>
                      <a:tcPr marL="55080" marR="55080" marT="27540" marB="27540" anchor="ctr"/>
                    </a:tc>
                    <a:tc>
                      <a:txBody>
                        <a:bodyPr/>
                        <a:lstStyle/>
                        <a:p>
                          <a:endParaRPr lang="en-US"/>
                        </a:p>
                      </a:txBody>
                      <a:tcPr marL="55080" marR="55080" marT="27540" marB="27540" anchor="ctr">
                        <a:blipFill>
                          <a:blip r:embed="rId3"/>
                          <a:stretch>
                            <a:fillRect l="-51125" t="-632558" r="-99035" b="-74419"/>
                          </a:stretch>
                        </a:blipFill>
                      </a:tcPr>
                    </a:tc>
                    <a:tc>
                      <a:txBody>
                        <a:bodyPr/>
                        <a:lstStyle/>
                        <a:p>
                          <a:pPr>
                            <a:buNone/>
                          </a:pPr>
                          <a:r>
                            <a:rPr lang="en-US" sz="1100"/>
                            <a:t>Tests whether safety degradation accumulates across tasks.</a:t>
                          </a:r>
                        </a:p>
                      </a:txBody>
                      <a:tcPr marL="55080" marR="55080" marT="27540" marB="27540" anchor="ctr"/>
                    </a:tc>
                    <a:extLst>
                      <a:ext uri="{0D108BD9-81ED-4DB2-BD59-A6C34878D82A}">
                        <a16:rowId xmlns:a16="http://schemas.microsoft.com/office/drawing/2014/main" val="1704170954"/>
                      </a:ext>
                    </a:extLst>
                  </a:tr>
                  <a:tr h="385562">
                    <a:tc>
                      <a:txBody>
                        <a:bodyPr/>
                        <a:lstStyle/>
                        <a:p>
                          <a:pPr>
                            <a:buNone/>
                          </a:pPr>
                          <a:r>
                            <a:rPr lang="en-US" sz="1100"/>
                            <a:t>Judge validity</a:t>
                          </a:r>
                        </a:p>
                      </a:txBody>
                      <a:tcPr marL="55080" marR="55080" marT="27540" marB="27540" anchor="ctr"/>
                    </a:tc>
                    <a:tc>
                      <a:txBody>
                        <a:bodyPr/>
                        <a:lstStyle/>
                        <a:p>
                          <a:pPr>
                            <a:buNone/>
                          </a:pPr>
                          <a:r>
                            <a:rPr lang="en-US" sz="1100"/>
                            <a:t>Automatic label versus manual audit</a:t>
                          </a:r>
                        </a:p>
                      </a:txBody>
                      <a:tcPr marL="55080" marR="55080" marT="27540" marB="27540" anchor="ctr"/>
                    </a:tc>
                    <a:tc>
                      <a:txBody>
                        <a:bodyPr/>
                        <a:lstStyle/>
                        <a:p>
                          <a:pPr>
                            <a:buNone/>
                          </a:pPr>
                          <a:r>
                            <a:rPr lang="en-US" sz="1100" dirty="0"/>
                            <a:t>Detects errors caused by text-only judging of visual attacks.</a:t>
                          </a:r>
                        </a:p>
                      </a:txBody>
                      <a:tcPr marL="55080" marR="55080" marT="27540" marB="27540" anchor="ctr"/>
                    </a:tc>
                    <a:extLst>
                      <a:ext uri="{0D108BD9-81ED-4DB2-BD59-A6C34878D82A}">
                        <a16:rowId xmlns:a16="http://schemas.microsoft.com/office/drawing/2014/main" val="3079306660"/>
                      </a:ext>
                    </a:extLst>
                  </a:tr>
                </a:tbl>
              </a:graphicData>
            </a:graphic>
          </p:graphicFrame>
        </mc:Fallback>
      </mc:AlternateContent>
    </p:spTree>
    <p:extLst>
      <p:ext uri="{BB962C8B-B14F-4D97-AF65-F5344CB8AC3E}">
        <p14:creationId xmlns:p14="http://schemas.microsoft.com/office/powerpoint/2010/main" val="25809667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101E1-13E7-5342-A2CF-B492DDD9872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420B63B-C9C2-25AC-F588-B8AD9058DF49}"/>
              </a:ext>
            </a:extLst>
          </p:cNvPr>
          <p:cNvSpPr>
            <a:spLocks noGrp="1"/>
          </p:cNvSpPr>
          <p:nvPr>
            <p:ph type="title"/>
          </p:nvPr>
        </p:nvSpPr>
        <p:spPr>
          <a:xfrm>
            <a:off x="838200" y="374456"/>
            <a:ext cx="10515600" cy="1325563"/>
          </a:xfrm>
        </p:spPr>
        <p:txBody>
          <a:bodyPr>
            <a:normAutofit/>
          </a:bodyPr>
          <a:lstStyle/>
          <a:p>
            <a:r>
              <a:rPr lang="en-US" dirty="0"/>
              <a:t>VLM Control Conditions and Baselines</a:t>
            </a:r>
            <a:endParaRPr lang="en-US" sz="2200" dirty="0"/>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67E17960-CF34-51AB-E8A6-5577EBDFC555}"/>
                  </a:ext>
                </a:extLst>
              </p:cNvPr>
              <p:cNvGraphicFramePr>
                <a:graphicFrameLocks noGrp="1"/>
              </p:cNvGraphicFramePr>
              <p:nvPr>
                <p:extLst>
                  <p:ext uri="{D42A27DB-BD31-4B8C-83A1-F6EECF244321}">
                    <p14:modId xmlns:p14="http://schemas.microsoft.com/office/powerpoint/2010/main" val="1903405414"/>
                  </p:ext>
                </p:extLst>
              </p:nvPr>
            </p:nvGraphicFramePr>
            <p:xfrm>
              <a:off x="276113" y="1700019"/>
              <a:ext cx="11639774" cy="4973556"/>
            </p:xfrm>
            <a:graphic>
              <a:graphicData uri="http://schemas.openxmlformats.org/drawingml/2006/table">
                <a:tbl>
                  <a:tblPr>
                    <a:tableStyleId>{5C22544A-7EE6-4342-B048-85BDC9FD1C3A}</a:tableStyleId>
                  </a:tblPr>
                  <a:tblGrid>
                    <a:gridCol w="2497453">
                      <a:extLst>
                        <a:ext uri="{9D8B030D-6E8A-4147-A177-3AD203B41FA5}">
                          <a16:colId xmlns:a16="http://schemas.microsoft.com/office/drawing/2014/main" val="3169338094"/>
                        </a:ext>
                      </a:extLst>
                    </a:gridCol>
                    <a:gridCol w="4430579">
                      <a:extLst>
                        <a:ext uri="{9D8B030D-6E8A-4147-A177-3AD203B41FA5}">
                          <a16:colId xmlns:a16="http://schemas.microsoft.com/office/drawing/2014/main" val="1306039912"/>
                        </a:ext>
                      </a:extLst>
                    </a:gridCol>
                    <a:gridCol w="4711742">
                      <a:extLst>
                        <a:ext uri="{9D8B030D-6E8A-4147-A177-3AD203B41FA5}">
                          <a16:colId xmlns:a16="http://schemas.microsoft.com/office/drawing/2014/main" val="845199573"/>
                        </a:ext>
                      </a:extLst>
                    </a:gridCol>
                  </a:tblGrid>
                  <a:tr h="179078">
                    <a:tc>
                      <a:txBody>
                        <a:bodyPr/>
                        <a:lstStyle/>
                        <a:p>
                          <a:pPr>
                            <a:buNone/>
                          </a:pPr>
                          <a:r>
                            <a:rPr lang="en-US" sz="1300" b="1" dirty="0"/>
                            <a:t>Condition</a:t>
                          </a:r>
                        </a:p>
                      </a:txBody>
                      <a:tcPr marL="40667" marR="40667" marT="20333" marB="20333" anchor="ctr"/>
                    </a:tc>
                    <a:tc>
                      <a:txBody>
                        <a:bodyPr/>
                        <a:lstStyle/>
                        <a:p>
                          <a:pPr>
                            <a:buNone/>
                          </a:pPr>
                          <a:r>
                            <a:rPr lang="en-US" sz="1300" b="1" dirty="0"/>
                            <a:t>VLM implementation</a:t>
                          </a:r>
                        </a:p>
                      </a:txBody>
                      <a:tcPr marL="40667" marR="40667" marT="20333" marB="20333" anchor="ctr"/>
                    </a:tc>
                    <a:tc>
                      <a:txBody>
                        <a:bodyPr/>
                        <a:lstStyle/>
                        <a:p>
                          <a:pPr>
                            <a:buNone/>
                          </a:pPr>
                          <a:r>
                            <a:rPr lang="en-US" sz="1300" b="1" dirty="0"/>
                            <a:t>Scientific question</a:t>
                          </a:r>
                        </a:p>
                      </a:txBody>
                      <a:tcPr marL="40667" marR="40667" marT="20333" marB="20333" anchor="ctr"/>
                    </a:tc>
                    <a:extLst>
                      <a:ext uri="{0D108BD9-81ED-4DB2-BD59-A6C34878D82A}">
                        <a16:rowId xmlns:a16="http://schemas.microsoft.com/office/drawing/2014/main" val="2802612115"/>
                      </a:ext>
                    </a:extLst>
                  </a:tr>
                  <a:tr h="313386">
                    <a:tc>
                      <a:txBody>
                        <a:bodyPr/>
                        <a:lstStyle/>
                        <a:p>
                          <a:pPr>
                            <a:buNone/>
                          </a:pPr>
                          <a:r>
                            <a:rPr lang="en-US" sz="1300" dirty="0"/>
                            <a:t>Aligned checkpoint </a:t>
                          </a:r>
                        </a:p>
                      </a:txBody>
                      <a:tcPr marL="40667" marR="40667" marT="20333" marB="20333" anchor="ctr"/>
                    </a:tc>
                    <a:tc>
                      <a:txBody>
                        <a:bodyPr/>
                        <a:lstStyle/>
                        <a:p>
                          <a:pPr>
                            <a:buNone/>
                          </a:pPr>
                          <a:r>
                            <a:rPr lang="en-US" sz="1300"/>
                            <a:t>No downstream fine-tuning</a:t>
                          </a:r>
                        </a:p>
                      </a:txBody>
                      <a:tcPr marL="40667" marR="40667" marT="20333" marB="20333" anchor="ctr"/>
                    </a:tc>
                    <a:tc>
                      <a:txBody>
                        <a:bodyPr/>
                        <a:lstStyle/>
                        <a:p>
                          <a:pPr>
                            <a:buNone/>
                          </a:pPr>
                          <a:r>
                            <a:rPr lang="en-US" sz="1300"/>
                            <a:t>What is the initial safety-capability trade-off?</a:t>
                          </a:r>
                        </a:p>
                      </a:txBody>
                      <a:tcPr marL="40667" marR="40667" marT="20333" marB="20333" anchor="ctr"/>
                    </a:tc>
                    <a:extLst>
                      <a:ext uri="{0D108BD9-81ED-4DB2-BD59-A6C34878D82A}">
                        <a16:rowId xmlns:a16="http://schemas.microsoft.com/office/drawing/2014/main" val="4088831186"/>
                      </a:ext>
                    </a:extLst>
                  </a:tr>
                  <a:tr h="313386">
                    <a:tc>
                      <a:txBody>
                        <a:bodyPr/>
                        <a:lstStyle/>
                        <a:p>
                          <a:pPr>
                            <a:buNone/>
                          </a:pPr>
                          <a:r>
                            <a:rPr lang="en-US" sz="1300" dirty="0"/>
                            <a:t>Standard fine-tuning</a:t>
                          </a:r>
                        </a:p>
                      </a:txBody>
                      <a:tcPr marL="40667" marR="40667" marT="20333" marB="20333" anchor="ctr"/>
                    </a:tc>
                    <a:tc>
                      <a:txBody>
                        <a:bodyPr/>
                        <a:lstStyle/>
                        <a:p>
                          <a:pPr>
                            <a:buNone/>
                          </a:pPr>
                          <a:r>
                            <a:rPr lang="en-US" sz="1300"/>
                            <a:t>Train on all available multimodal samples</a:t>
                          </a:r>
                        </a:p>
                      </a:txBody>
                      <a:tcPr marL="40667" marR="40667" marT="20333" marB="20333" anchor="ctr"/>
                    </a:tc>
                    <a:tc>
                      <a:txBody>
                        <a:bodyPr/>
                        <a:lstStyle/>
                        <a:p>
                          <a:pPr>
                            <a:buNone/>
                          </a:pPr>
                          <a:r>
                            <a:rPr lang="en-US" sz="1300"/>
                            <a:t>How much safety drift occurs without selection?</a:t>
                          </a:r>
                        </a:p>
                      </a:txBody>
                      <a:tcPr marL="40667" marR="40667" marT="20333" marB="20333" anchor="ctr"/>
                    </a:tc>
                    <a:extLst>
                      <a:ext uri="{0D108BD9-81ED-4DB2-BD59-A6C34878D82A}">
                        <a16:rowId xmlns:a16="http://schemas.microsoft.com/office/drawing/2014/main" val="3901606232"/>
                      </a:ext>
                    </a:extLst>
                  </a:tr>
                  <a:tr h="447694">
                    <a:tc>
                      <a:txBody>
                        <a:bodyPr/>
                        <a:lstStyle/>
                        <a:p>
                          <a:pPr>
                            <a:buNone/>
                          </a:pPr>
                          <a:r>
                            <a:rPr lang="en-US" sz="1300" dirty="0"/>
                            <a:t>Random 20%</a:t>
                          </a:r>
                        </a:p>
                      </a:txBody>
                      <a:tcPr marL="40667" marR="40667" marT="20333" marB="20333" anchor="ctr"/>
                    </a:tc>
                    <a:tc>
                      <a:txBody>
                        <a:bodyPr/>
                        <a:lstStyle/>
                        <a:p>
                          <a:pPr>
                            <a:buNone/>
                          </a:pPr>
                          <a:r>
                            <a:rPr lang="en-US" sz="1300"/>
                            <a:t>Same training budget and sample count as selection methods</a:t>
                          </a:r>
                        </a:p>
                      </a:txBody>
                      <a:tcPr marL="40667" marR="40667" marT="20333" marB="20333" anchor="ctr"/>
                    </a:tc>
                    <a:tc>
                      <a:txBody>
                        <a:bodyPr/>
                        <a:lstStyle/>
                        <a:p>
                          <a:pPr>
                            <a:buNone/>
                          </a:pPr>
                          <a:r>
                            <a:rPr lang="en-US" sz="1300"/>
                            <a:t>Does any improvement come merely from using fewer samples?</a:t>
                          </a:r>
                        </a:p>
                      </a:txBody>
                      <a:tcPr marL="40667" marR="40667" marT="20333" marB="20333" anchor="ctr"/>
                    </a:tc>
                    <a:extLst>
                      <a:ext uri="{0D108BD9-81ED-4DB2-BD59-A6C34878D82A}">
                        <a16:rowId xmlns:a16="http://schemas.microsoft.com/office/drawing/2014/main" val="3434707368"/>
                      </a:ext>
                    </a:extLst>
                  </a:tr>
                  <a:tr h="313386">
                    <a:tc>
                      <a:txBody>
                        <a:bodyPr/>
                        <a:lstStyle/>
                        <a:p>
                          <a:pPr>
                            <a:buNone/>
                          </a:pPr>
                          <a:r>
                            <a:rPr lang="en-US" sz="1300" dirty="0"/>
                            <a:t>Low-</a:t>
                          </a: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𝐺</m:t>
                                  </m:r>
                                </m:e>
                                <m:sub>
                                  <m:r>
                                    <a:rPr lang="en-US" sz="1400" b="0" i="1" smtClean="0">
                                      <a:latin typeface="Cambria Math" panose="02040503050406030204" pitchFamily="18" charset="0"/>
                                    </a:rPr>
                                    <m:t>𝑖</m:t>
                                  </m:r>
                                </m:sub>
                              </m:sSub>
                            </m:oMath>
                          </a14:m>
                          <a:endParaRPr lang="en-US" sz="1300" dirty="0"/>
                        </a:p>
                      </a:txBody>
                      <a:tcPr marL="40667" marR="40667" marT="20333" marB="20333" anchor="ctr"/>
                    </a:tc>
                    <a:tc>
                      <a:txBody>
                        <a:bodyPr/>
                        <a:lstStyle/>
                        <a:p>
                          <a:pPr>
                            <a:buNone/>
                          </a:pPr>
                          <a:r>
                            <a:rPr lang="en-US" sz="1300"/>
                            <a:t>Select the lowest-gradient multimodal samples</a:t>
                          </a:r>
                        </a:p>
                      </a:txBody>
                      <a:tcPr marL="40667" marR="40667" marT="20333" marB="20333" anchor="ctr"/>
                    </a:tc>
                    <a:tc>
                      <a:txBody>
                        <a:bodyPr/>
                        <a:lstStyle/>
                        <a:p>
                          <a:pPr>
                            <a:buNone/>
                          </a:pPr>
                          <a:r>
                            <a:rPr lang="en-US" sz="1300"/>
                            <a:t>What is the safety-first end of the spectrum?</a:t>
                          </a:r>
                        </a:p>
                      </a:txBody>
                      <a:tcPr marL="40667" marR="40667" marT="20333" marB="20333" anchor="ctr"/>
                    </a:tc>
                    <a:extLst>
                      <a:ext uri="{0D108BD9-81ED-4DB2-BD59-A6C34878D82A}">
                        <a16:rowId xmlns:a16="http://schemas.microsoft.com/office/drawing/2014/main" val="600546047"/>
                      </a:ext>
                    </a:extLst>
                  </a:tr>
                  <a:tr h="447694">
                    <a:tc>
                      <a:txBody>
                        <a:bodyPr/>
                        <a:lstStyle/>
                        <a:p>
                          <a:pPr>
                            <a:buNone/>
                          </a:pPr>
                          <a:r>
                            <a:rPr lang="en-US" sz="1300" dirty="0"/>
                            <a:t>High-</a:t>
                          </a:r>
                          <a14:m>
                            <m:oMath xmlns:m="http://schemas.openxmlformats.org/officeDocument/2006/math">
                              <m:sSub>
                                <m:sSubPr>
                                  <m:ctrlPr>
                                    <a:rPr lang="en-US" sz="1300" b="0" i="1" smtClean="0">
                                      <a:latin typeface="Cambria Math" panose="02040503050406030204" pitchFamily="18" charset="0"/>
                                    </a:rPr>
                                  </m:ctrlPr>
                                </m:sSubPr>
                                <m:e>
                                  <m:r>
                                    <a:rPr lang="en-US" sz="1300" b="0" i="1" smtClean="0">
                                      <a:latin typeface="Cambria Math" panose="02040503050406030204" pitchFamily="18" charset="0"/>
                                    </a:rPr>
                                    <m:t>𝐺</m:t>
                                  </m:r>
                                </m:e>
                                <m:sub>
                                  <m:r>
                                    <a:rPr lang="en-US" sz="1300" b="0" i="1" smtClean="0">
                                      <a:latin typeface="Cambria Math" panose="02040503050406030204" pitchFamily="18" charset="0"/>
                                    </a:rPr>
                                    <m:t>𝑖</m:t>
                                  </m:r>
                                </m:sub>
                              </m:sSub>
                            </m:oMath>
                          </a14:m>
                          <a:endParaRPr lang="en-US" sz="1300" dirty="0"/>
                        </a:p>
                      </a:txBody>
                      <a:tcPr marL="40667" marR="40667" marT="20333" marB="20333" anchor="ctr"/>
                    </a:tc>
                    <a:tc>
                      <a:txBody>
                        <a:bodyPr/>
                        <a:lstStyle/>
                        <a:p>
                          <a:pPr>
                            <a:buNone/>
                          </a:pPr>
                          <a:r>
                            <a:rPr lang="en-US" sz="1300"/>
                            <a:t>Select the highest-gradient multimodal samples</a:t>
                          </a:r>
                        </a:p>
                      </a:txBody>
                      <a:tcPr marL="40667" marR="40667" marT="20333" marB="20333" anchor="ctr"/>
                    </a:tc>
                    <a:tc>
                      <a:txBody>
                        <a:bodyPr/>
                        <a:lstStyle/>
                        <a:p>
                          <a:pPr>
                            <a:buNone/>
                          </a:pPr>
                          <a:r>
                            <a:rPr lang="en-US" sz="1300"/>
                            <a:t>Are high-gradient samples specifically associated with safety degradation?</a:t>
                          </a:r>
                        </a:p>
                      </a:txBody>
                      <a:tcPr marL="40667" marR="40667" marT="20333" marB="20333" anchor="ctr"/>
                    </a:tc>
                    <a:extLst>
                      <a:ext uri="{0D108BD9-81ED-4DB2-BD59-A6C34878D82A}">
                        <a16:rowId xmlns:a16="http://schemas.microsoft.com/office/drawing/2014/main" val="3223051087"/>
                      </a:ext>
                    </a:extLst>
                  </a:tr>
                  <a:tr h="313386">
                    <a:tc>
                      <a:txBody>
                        <a:bodyPr/>
                        <a:lstStyle/>
                        <a:p>
                          <a:pPr>
                            <a:buNone/>
                          </a:pPr>
                          <a:r>
                            <a:rPr lang="en-US" sz="1300" dirty="0"/>
                            <a:t>Moderate-</a:t>
                          </a:r>
                          <a14:m>
                            <m:oMath xmlns:m="http://schemas.openxmlformats.org/officeDocument/2006/math">
                              <m:sSub>
                                <m:sSubPr>
                                  <m:ctrlPr>
                                    <a:rPr lang="en-US" sz="1300" b="0" i="1" smtClean="0">
                                      <a:latin typeface="Cambria Math" panose="02040503050406030204" pitchFamily="18" charset="0"/>
                                    </a:rPr>
                                  </m:ctrlPr>
                                </m:sSubPr>
                                <m:e>
                                  <m:r>
                                    <a:rPr lang="en-US" sz="1300" b="0" i="1" smtClean="0">
                                      <a:latin typeface="Cambria Math" panose="02040503050406030204" pitchFamily="18" charset="0"/>
                                    </a:rPr>
                                    <m:t>𝐺</m:t>
                                  </m:r>
                                </m:e>
                                <m:sub>
                                  <m:r>
                                    <a:rPr lang="en-US" sz="1300" b="0" i="1" smtClean="0">
                                      <a:latin typeface="Cambria Math" panose="02040503050406030204" pitchFamily="18" charset="0"/>
                                    </a:rPr>
                                    <m:t>𝑖</m:t>
                                  </m:r>
                                </m:sub>
                              </m:sSub>
                            </m:oMath>
                          </a14:m>
                          <a:endParaRPr lang="en-US" sz="1300" dirty="0"/>
                        </a:p>
                      </a:txBody>
                      <a:tcPr marL="40667" marR="40667" marT="20333" marB="20333" anchor="ctr"/>
                    </a:tc>
                    <a:tc>
                      <a:txBody>
                        <a:bodyPr/>
                        <a:lstStyle/>
                        <a:p>
                          <a:pPr>
                            <a:buNone/>
                          </a:pPr>
                          <a:r>
                            <a:rPr lang="en-US" sz="1300"/>
                            <a:t>Select samples closest to the median gradient</a:t>
                          </a:r>
                        </a:p>
                      </a:txBody>
                      <a:tcPr marL="40667" marR="40667" marT="20333" marB="20333" anchor="ctr"/>
                    </a:tc>
                    <a:tc>
                      <a:txBody>
                        <a:bodyPr/>
                        <a:lstStyle/>
                        <a:p>
                          <a:pPr>
                            <a:buNone/>
                          </a:pPr>
                          <a:r>
                            <a:rPr lang="en-US" sz="1300"/>
                            <a:t>Does the proposed method preserve safety and capability?</a:t>
                          </a:r>
                        </a:p>
                      </a:txBody>
                      <a:tcPr marL="40667" marR="40667" marT="20333" marB="20333" anchor="ctr"/>
                    </a:tc>
                    <a:extLst>
                      <a:ext uri="{0D108BD9-81ED-4DB2-BD59-A6C34878D82A}">
                        <a16:rowId xmlns:a16="http://schemas.microsoft.com/office/drawing/2014/main" val="1091257754"/>
                      </a:ext>
                    </a:extLst>
                  </a:tr>
                  <a:tr h="313386">
                    <a:tc>
                      <a:txBody>
                        <a:bodyPr/>
                        <a:lstStyle/>
                        <a:p>
                          <a:pPr>
                            <a:buNone/>
                          </a:pPr>
                          <a:r>
                            <a:rPr lang="en-US" sz="1300"/>
                            <a:t>Gradient clipping</a:t>
                          </a:r>
                        </a:p>
                      </a:txBody>
                      <a:tcPr marL="40667" marR="40667" marT="20333" marB="20333" anchor="ctr"/>
                    </a:tc>
                    <a:tc>
                      <a:txBody>
                        <a:bodyPr/>
                        <a:lstStyle/>
                        <a:p>
                          <a:pPr>
                            <a:buNone/>
                          </a:pPr>
                          <a:r>
                            <a:rPr lang="en-US" sz="1300"/>
                            <a:t>Same multimodal training data with fixed clipping threshold</a:t>
                          </a:r>
                        </a:p>
                      </a:txBody>
                      <a:tcPr marL="40667" marR="40667" marT="20333" marB="20333" anchor="ctr"/>
                    </a:tc>
                    <a:tc>
                      <a:txBody>
                        <a:bodyPr/>
                        <a:lstStyle/>
                        <a:p>
                          <a:pPr>
                            <a:buNone/>
                          </a:pPr>
                          <a:r>
                            <a:rPr lang="en-US" sz="1300"/>
                            <a:t>Is controlling update magnitude sufficient?</a:t>
                          </a:r>
                        </a:p>
                      </a:txBody>
                      <a:tcPr marL="40667" marR="40667" marT="20333" marB="20333" anchor="ctr"/>
                    </a:tc>
                    <a:extLst>
                      <a:ext uri="{0D108BD9-81ED-4DB2-BD59-A6C34878D82A}">
                        <a16:rowId xmlns:a16="http://schemas.microsoft.com/office/drawing/2014/main" val="2354319516"/>
                      </a:ext>
                    </a:extLst>
                  </a:tr>
                  <a:tr h="447694">
                    <a:tc>
                      <a:txBody>
                        <a:bodyPr/>
                        <a:lstStyle/>
                        <a:p>
                          <a:pPr>
                            <a:buNone/>
                          </a:pPr>
                          <a:r>
                            <a:rPr lang="en-US" sz="1300"/>
                            <a:t>KL anchoring</a:t>
                          </a:r>
                        </a:p>
                      </a:txBody>
                      <a:tcPr marL="40667" marR="40667" marT="20333" marB="20333" anchor="ctr"/>
                    </a:tc>
                    <a:tc>
                      <a:txBody>
                        <a:bodyPr/>
                        <a:lstStyle/>
                        <a:p>
                          <a:pPr>
                            <a:buNone/>
                          </a:pPr>
                          <a:r>
                            <a:rPr lang="en-US" sz="1300"/>
                            <a:t>Penalize divergence from the aligned VLM on a fixed prompt/image set</a:t>
                          </a:r>
                        </a:p>
                      </a:txBody>
                      <a:tcPr marL="40667" marR="40667" marT="20333" marB="20333" anchor="ctr"/>
                    </a:tc>
                    <a:tc>
                      <a:txBody>
                        <a:bodyPr/>
                        <a:lstStyle/>
                        <a:p>
                          <a:pPr>
                            <a:buNone/>
                          </a:pPr>
                          <a:r>
                            <a:rPr lang="en-US" sz="1300"/>
                            <a:t>Does behavioral anchoring prevent multimodal drift?</a:t>
                          </a:r>
                        </a:p>
                      </a:txBody>
                      <a:tcPr marL="40667" marR="40667" marT="20333" marB="20333" anchor="ctr"/>
                    </a:tc>
                    <a:extLst>
                      <a:ext uri="{0D108BD9-81ED-4DB2-BD59-A6C34878D82A}">
                        <a16:rowId xmlns:a16="http://schemas.microsoft.com/office/drawing/2014/main" val="1785325163"/>
                      </a:ext>
                    </a:extLst>
                  </a:tr>
                  <a:tr h="313386">
                    <a:tc>
                      <a:txBody>
                        <a:bodyPr/>
                        <a:lstStyle/>
                        <a:p>
                          <a:pPr>
                            <a:buNone/>
                          </a:pPr>
                          <a:r>
                            <a:rPr lang="en-US" sz="1300"/>
                            <a:t>EWC or continual-learning regularization</a:t>
                          </a:r>
                        </a:p>
                      </a:txBody>
                      <a:tcPr marL="40667" marR="40667" marT="20333" marB="20333" anchor="ctr"/>
                    </a:tc>
                    <a:tc>
                      <a:txBody>
                        <a:bodyPr/>
                        <a:lstStyle/>
                        <a:p>
                          <a:pPr>
                            <a:buNone/>
                          </a:pPr>
                          <a:r>
                            <a:rPr lang="en-US" sz="1300"/>
                            <a:t>Apply parameter-importance regularization</a:t>
                          </a:r>
                        </a:p>
                      </a:txBody>
                      <a:tcPr marL="40667" marR="40667" marT="20333" marB="20333" anchor="ctr"/>
                    </a:tc>
                    <a:tc>
                      <a:txBody>
                        <a:bodyPr/>
                        <a:lstStyle/>
                        <a:p>
                          <a:pPr>
                            <a:buNone/>
                          </a:pPr>
                          <a:r>
                            <a:rPr lang="en-US" sz="1300"/>
                            <a:t>Is generic forgetting prevention enough to preserve safety?</a:t>
                          </a:r>
                        </a:p>
                      </a:txBody>
                      <a:tcPr marL="40667" marR="40667" marT="20333" marB="20333" anchor="ctr"/>
                    </a:tc>
                    <a:extLst>
                      <a:ext uri="{0D108BD9-81ED-4DB2-BD59-A6C34878D82A}">
                        <a16:rowId xmlns:a16="http://schemas.microsoft.com/office/drawing/2014/main" val="3732891163"/>
                      </a:ext>
                    </a:extLst>
                  </a:tr>
                  <a:tr h="313386">
                    <a:tc>
                      <a:txBody>
                        <a:bodyPr/>
                        <a:lstStyle/>
                        <a:p>
                          <a:pPr>
                            <a:buNone/>
                          </a:pPr>
                          <a:r>
                            <a:rPr lang="en-US" sz="1300"/>
                            <a:t>LM-LoRA-only selection</a:t>
                          </a:r>
                        </a:p>
                      </a:txBody>
                      <a:tcPr marL="40667" marR="40667" marT="20333" marB="20333" anchor="ctr"/>
                    </a:tc>
                    <a:tc>
                      <a:txBody>
                        <a:bodyPr/>
                        <a:lstStyle/>
                        <a:p>
                          <a:pPr>
                            <a:buNone/>
                          </a:pPr>
                          <a:r>
                            <a:rPr lang="en-US" sz="1300" dirty="0"/>
                            <a:t>Rank samples using</a:t>
                          </a:r>
                          <a14:m>
                            <m:oMath xmlns:m="http://schemas.openxmlformats.org/officeDocument/2006/math">
                              <m:sSubSup>
                                <m:sSubSupPr>
                                  <m:ctrlPr>
                                    <a:rPr lang="en-US" sz="1400" b="0" i="1" dirty="0" smtClean="0">
                                      <a:latin typeface="Cambria Math" panose="02040503050406030204" pitchFamily="18" charset="0"/>
                                    </a:rPr>
                                  </m:ctrlPr>
                                </m:sSubSupPr>
                                <m:e>
                                  <m:r>
                                    <a:rPr lang="en-US" sz="1400" b="0" i="1" dirty="0" smtClean="0">
                                      <a:latin typeface="Cambria Math" panose="02040503050406030204" pitchFamily="18" charset="0"/>
                                    </a:rPr>
                                    <m:t> </m:t>
                                  </m:r>
                                  <m:r>
                                    <a:rPr lang="en-US" sz="1400" b="0" i="1" dirty="0" smtClean="0">
                                      <a:latin typeface="Cambria Math" panose="02040503050406030204" pitchFamily="18" charset="0"/>
                                    </a:rPr>
                                    <m:t>𝐺</m:t>
                                  </m:r>
                                </m:e>
                                <m:sub>
                                  <m:r>
                                    <a:rPr lang="en-US" sz="1400" b="0" i="1" dirty="0" smtClean="0">
                                      <a:latin typeface="Cambria Math" panose="02040503050406030204" pitchFamily="18" charset="0"/>
                                    </a:rPr>
                                    <m:t>𝑖</m:t>
                                  </m:r>
                                </m:sub>
                                <m:sup>
                                  <m:r>
                                    <a:rPr lang="en-US" sz="1400" b="0" i="1" dirty="0" smtClean="0">
                                      <a:latin typeface="Cambria Math" panose="02040503050406030204" pitchFamily="18" charset="0"/>
                                    </a:rPr>
                                    <m:t>𝐿</m:t>
                                  </m:r>
                                </m:sup>
                              </m:sSubSup>
                            </m:oMath>
                          </a14:m>
                          <a:endParaRPr lang="en-US" sz="1300" dirty="0"/>
                        </a:p>
                      </a:txBody>
                      <a:tcPr marL="40667" marR="40667" marT="20333" marB="20333" anchor="ctr"/>
                    </a:tc>
                    <a:tc>
                      <a:txBody>
                        <a:bodyPr/>
                        <a:lstStyle/>
                        <a:p>
                          <a:pPr>
                            <a:buNone/>
                          </a:pPr>
                          <a:r>
                            <a:rPr lang="en-US" sz="1300"/>
                            <a:t>Is the language pathway the main source of risk?</a:t>
                          </a:r>
                        </a:p>
                      </a:txBody>
                      <a:tcPr marL="40667" marR="40667" marT="20333" marB="20333" anchor="ctr"/>
                    </a:tc>
                    <a:extLst>
                      <a:ext uri="{0D108BD9-81ED-4DB2-BD59-A6C34878D82A}">
                        <a16:rowId xmlns:a16="http://schemas.microsoft.com/office/drawing/2014/main" val="162914150"/>
                      </a:ext>
                    </a:extLst>
                  </a:tr>
                  <a:tr h="313386">
                    <a:tc>
                      <a:txBody>
                        <a:bodyPr/>
                        <a:lstStyle/>
                        <a:p>
                          <a:pPr>
                            <a:buNone/>
                          </a:pPr>
                          <a:r>
                            <a:rPr lang="en-US" sz="1300"/>
                            <a:t>Projector-only selection</a:t>
                          </a:r>
                        </a:p>
                      </a:txBody>
                      <a:tcPr marL="40667" marR="40667" marT="20333" marB="20333" anchor="ctr"/>
                    </a:tc>
                    <a:tc>
                      <a:txBody>
                        <a:bodyPr/>
                        <a:lstStyle/>
                        <a:p>
                          <a:pPr>
                            <a:buNone/>
                          </a:pPr>
                          <a:r>
                            <a:rPr lang="en-US" sz="1300" dirty="0"/>
                            <a:t>Rank samples using </a:t>
                          </a:r>
                          <a14:m>
                            <m:oMath xmlns:m="http://schemas.openxmlformats.org/officeDocument/2006/math">
                              <m:sSubSup>
                                <m:sSubSupPr>
                                  <m:ctrlPr>
                                    <a:rPr lang="en-US" sz="1400" b="0" i="1" dirty="0" smtClean="0">
                                      <a:latin typeface="Cambria Math" panose="02040503050406030204" pitchFamily="18" charset="0"/>
                                    </a:rPr>
                                  </m:ctrlPr>
                                </m:sSubSupPr>
                                <m:e>
                                  <m:r>
                                    <a:rPr lang="en-US" sz="1400" b="0" i="1" dirty="0" smtClean="0">
                                      <a:latin typeface="Cambria Math" panose="02040503050406030204" pitchFamily="18" charset="0"/>
                                    </a:rPr>
                                    <m:t>𝐺</m:t>
                                  </m:r>
                                </m:e>
                                <m:sub>
                                  <m:r>
                                    <a:rPr lang="en-US" sz="1400" b="0" i="1" dirty="0" smtClean="0">
                                      <a:latin typeface="Cambria Math" panose="02040503050406030204" pitchFamily="18" charset="0"/>
                                    </a:rPr>
                                    <m:t>𝑖</m:t>
                                  </m:r>
                                </m:sub>
                                <m:sup>
                                  <m:r>
                                    <a:rPr lang="en-US" sz="1400" b="0" i="1" dirty="0" smtClean="0">
                                      <a:latin typeface="Cambria Math" panose="02040503050406030204" pitchFamily="18" charset="0"/>
                                    </a:rPr>
                                    <m:t>𝑃</m:t>
                                  </m:r>
                                </m:sup>
                              </m:sSubSup>
                            </m:oMath>
                          </a14:m>
                          <a:endParaRPr lang="en-US" sz="1300" dirty="0"/>
                        </a:p>
                      </a:txBody>
                      <a:tcPr marL="40667" marR="40667" marT="20333" marB="20333" anchor="ctr"/>
                    </a:tc>
                    <a:tc>
                      <a:txBody>
                        <a:bodyPr/>
                        <a:lstStyle/>
                        <a:p>
                          <a:pPr>
                            <a:buNone/>
                          </a:pPr>
                          <a:r>
                            <a:rPr lang="en-US" sz="1300" dirty="0"/>
                            <a:t>Is the visual-language bridge the main source of risk?</a:t>
                          </a:r>
                        </a:p>
                      </a:txBody>
                      <a:tcPr marL="40667" marR="40667" marT="20333" marB="20333" anchor="ctr"/>
                    </a:tc>
                    <a:extLst>
                      <a:ext uri="{0D108BD9-81ED-4DB2-BD59-A6C34878D82A}">
                        <a16:rowId xmlns:a16="http://schemas.microsoft.com/office/drawing/2014/main" val="1349680272"/>
                      </a:ext>
                    </a:extLst>
                  </a:tr>
                  <a:tr h="313386">
                    <a:tc>
                      <a:txBody>
                        <a:bodyPr/>
                        <a:lstStyle/>
                        <a:p>
                          <a:pPr>
                            <a:buNone/>
                          </a:pPr>
                          <a:r>
                            <a:rPr lang="en-US" sz="1300"/>
                            <a:t>Joint selection</a:t>
                          </a:r>
                        </a:p>
                      </a:txBody>
                      <a:tcPr marL="40667" marR="40667" marT="20333" marB="20333" anchor="ctr"/>
                    </a:tc>
                    <a:tc>
                      <a:txBody>
                        <a:bodyPr/>
                        <a:lstStyle/>
                        <a:p>
                          <a:pPr>
                            <a:buNone/>
                          </a:pPr>
                          <a:r>
                            <a:rPr lang="en-US" sz="1300" dirty="0"/>
                            <a:t>Rank using normalized </a:t>
                          </a:r>
                          <a14:m>
                            <m:oMath xmlns:m="http://schemas.openxmlformats.org/officeDocument/2006/math">
                              <m:sSubSup>
                                <m:sSubSupPr>
                                  <m:ctrlPr>
                                    <a:rPr lang="en-US" sz="1400" b="0" i="1" dirty="0" smtClean="0">
                                      <a:latin typeface="Cambria Math" panose="02040503050406030204" pitchFamily="18" charset="0"/>
                                    </a:rPr>
                                  </m:ctrlPr>
                                </m:sSubSupPr>
                                <m:e>
                                  <m:r>
                                    <a:rPr lang="en-US" sz="1400" b="0" i="1" dirty="0" smtClean="0">
                                      <a:latin typeface="Cambria Math" panose="02040503050406030204" pitchFamily="18" charset="0"/>
                                    </a:rPr>
                                    <m:t>𝐺</m:t>
                                  </m:r>
                                </m:e>
                                <m:sub>
                                  <m:r>
                                    <a:rPr lang="en-US" sz="1400" b="0" i="1" dirty="0" smtClean="0">
                                      <a:latin typeface="Cambria Math" panose="02040503050406030204" pitchFamily="18" charset="0"/>
                                    </a:rPr>
                                    <m:t>𝑖</m:t>
                                  </m:r>
                                </m:sub>
                                <m:sup>
                                  <m:r>
                                    <a:rPr lang="en-US" sz="1400" b="0" i="1" dirty="0" smtClean="0">
                                      <a:latin typeface="Cambria Math" panose="02040503050406030204" pitchFamily="18" charset="0"/>
                                    </a:rPr>
                                    <m:t>𝐽</m:t>
                                  </m:r>
                                </m:sup>
                              </m:sSubSup>
                            </m:oMath>
                          </a14:m>
                          <a:endParaRPr lang="en-US" sz="1300" dirty="0"/>
                        </a:p>
                      </a:txBody>
                      <a:tcPr marL="40667" marR="40667" marT="20333" marB="20333" anchor="ctr"/>
                    </a:tc>
                    <a:tc>
                      <a:txBody>
                        <a:bodyPr/>
                        <a:lstStyle/>
                        <a:p>
                          <a:pPr>
                            <a:buNone/>
                          </a:pPr>
                          <a:r>
                            <a:rPr lang="en-US" sz="1300"/>
                            <a:t>Does combining both modalities work best?</a:t>
                          </a:r>
                        </a:p>
                      </a:txBody>
                      <a:tcPr marL="40667" marR="40667" marT="20333" marB="20333" anchor="ctr"/>
                    </a:tc>
                    <a:extLst>
                      <a:ext uri="{0D108BD9-81ED-4DB2-BD59-A6C34878D82A}">
                        <a16:rowId xmlns:a16="http://schemas.microsoft.com/office/drawing/2014/main" val="1093861515"/>
                      </a:ext>
                    </a:extLst>
                  </a:tr>
                  <a:tr h="447694">
                    <a:tc>
                      <a:txBody>
                        <a:bodyPr/>
                        <a:lstStyle/>
                        <a:p>
                          <a:pPr>
                            <a:buNone/>
                          </a:pPr>
                          <a:r>
                            <a:rPr lang="en-US" sz="1300"/>
                            <a:t>SafeVLM-style method</a:t>
                          </a:r>
                        </a:p>
                      </a:txBody>
                      <a:tcPr marL="40667" marR="40667" marT="20333" marB="20333" anchor="ctr"/>
                    </a:tc>
                    <a:tc>
                      <a:txBody>
                        <a:bodyPr/>
                        <a:lstStyle/>
                        <a:p>
                          <a:pPr>
                            <a:buNone/>
                          </a:pPr>
                          <a:r>
                            <a:rPr lang="en-US" sz="1300"/>
                            <a:t>Reproduce only if implementation and resources permit</a:t>
                          </a:r>
                        </a:p>
                      </a:txBody>
                      <a:tcPr marL="40667" marR="40667" marT="20333" marB="20333" anchor="ctr"/>
                    </a:tc>
                    <a:tc>
                      <a:txBody>
                        <a:bodyPr/>
                        <a:lstStyle/>
                        <a:p>
                          <a:pPr>
                            <a:buNone/>
                          </a:pPr>
                          <a:r>
                            <a:rPr lang="en-US" sz="1300" dirty="0"/>
                            <a:t>How does data-centric selection compare with architectural safety alignment?</a:t>
                          </a:r>
                        </a:p>
                      </a:txBody>
                      <a:tcPr marL="40667" marR="40667" marT="20333" marB="20333" anchor="ctr"/>
                    </a:tc>
                    <a:extLst>
                      <a:ext uri="{0D108BD9-81ED-4DB2-BD59-A6C34878D82A}">
                        <a16:rowId xmlns:a16="http://schemas.microsoft.com/office/drawing/2014/main" val="1504599668"/>
                      </a:ext>
                    </a:extLst>
                  </a:tr>
                </a:tbl>
              </a:graphicData>
            </a:graphic>
          </p:graphicFrame>
        </mc:Choice>
        <mc:Fallback>
          <p:graphicFrame>
            <p:nvGraphicFramePr>
              <p:cNvPr id="2" name="Table 1">
                <a:extLst>
                  <a:ext uri="{FF2B5EF4-FFF2-40B4-BE49-F238E27FC236}">
                    <a16:creationId xmlns:a16="http://schemas.microsoft.com/office/drawing/2014/main" id="{67E17960-CF34-51AB-E8A6-5577EBDFC555}"/>
                  </a:ext>
                </a:extLst>
              </p:cNvPr>
              <p:cNvGraphicFramePr>
                <a:graphicFrameLocks noGrp="1"/>
              </p:cNvGraphicFramePr>
              <p:nvPr>
                <p:extLst>
                  <p:ext uri="{D42A27DB-BD31-4B8C-83A1-F6EECF244321}">
                    <p14:modId xmlns:p14="http://schemas.microsoft.com/office/powerpoint/2010/main" val="1903405414"/>
                  </p:ext>
                </p:extLst>
              </p:nvPr>
            </p:nvGraphicFramePr>
            <p:xfrm>
              <a:off x="276113" y="1700019"/>
              <a:ext cx="11639774" cy="4973556"/>
            </p:xfrm>
            <a:graphic>
              <a:graphicData uri="http://schemas.openxmlformats.org/drawingml/2006/table">
                <a:tbl>
                  <a:tblPr>
                    <a:tableStyleId>{5C22544A-7EE6-4342-B048-85BDC9FD1C3A}</a:tableStyleId>
                  </a:tblPr>
                  <a:tblGrid>
                    <a:gridCol w="2497453">
                      <a:extLst>
                        <a:ext uri="{9D8B030D-6E8A-4147-A177-3AD203B41FA5}">
                          <a16:colId xmlns:a16="http://schemas.microsoft.com/office/drawing/2014/main" val="3169338094"/>
                        </a:ext>
                      </a:extLst>
                    </a:gridCol>
                    <a:gridCol w="4430579">
                      <a:extLst>
                        <a:ext uri="{9D8B030D-6E8A-4147-A177-3AD203B41FA5}">
                          <a16:colId xmlns:a16="http://schemas.microsoft.com/office/drawing/2014/main" val="1306039912"/>
                        </a:ext>
                      </a:extLst>
                    </a:gridCol>
                    <a:gridCol w="4711742">
                      <a:extLst>
                        <a:ext uri="{9D8B030D-6E8A-4147-A177-3AD203B41FA5}">
                          <a16:colId xmlns:a16="http://schemas.microsoft.com/office/drawing/2014/main" val="845199573"/>
                        </a:ext>
                      </a:extLst>
                    </a:gridCol>
                  </a:tblGrid>
                  <a:tr h="238786">
                    <a:tc>
                      <a:txBody>
                        <a:bodyPr/>
                        <a:lstStyle/>
                        <a:p>
                          <a:pPr>
                            <a:buNone/>
                          </a:pPr>
                          <a:r>
                            <a:rPr lang="en-US" sz="1300" b="1" dirty="0"/>
                            <a:t>Condition</a:t>
                          </a:r>
                        </a:p>
                      </a:txBody>
                      <a:tcPr marL="40667" marR="40667" marT="20333" marB="20333" anchor="ctr"/>
                    </a:tc>
                    <a:tc>
                      <a:txBody>
                        <a:bodyPr/>
                        <a:lstStyle/>
                        <a:p>
                          <a:pPr>
                            <a:buNone/>
                          </a:pPr>
                          <a:r>
                            <a:rPr lang="en-US" sz="1300" b="1" dirty="0"/>
                            <a:t>VLM implementation</a:t>
                          </a:r>
                        </a:p>
                      </a:txBody>
                      <a:tcPr marL="40667" marR="40667" marT="20333" marB="20333" anchor="ctr"/>
                    </a:tc>
                    <a:tc>
                      <a:txBody>
                        <a:bodyPr/>
                        <a:lstStyle/>
                        <a:p>
                          <a:pPr>
                            <a:buNone/>
                          </a:pPr>
                          <a:r>
                            <a:rPr lang="en-US" sz="1300" b="1" dirty="0"/>
                            <a:t>Scientific question</a:t>
                          </a:r>
                        </a:p>
                      </a:txBody>
                      <a:tcPr marL="40667" marR="40667" marT="20333" marB="20333" anchor="ctr"/>
                    </a:tc>
                    <a:extLst>
                      <a:ext uri="{0D108BD9-81ED-4DB2-BD59-A6C34878D82A}">
                        <a16:rowId xmlns:a16="http://schemas.microsoft.com/office/drawing/2014/main" val="2802612115"/>
                      </a:ext>
                    </a:extLst>
                  </a:tr>
                  <a:tr h="313386">
                    <a:tc>
                      <a:txBody>
                        <a:bodyPr/>
                        <a:lstStyle/>
                        <a:p>
                          <a:pPr>
                            <a:buNone/>
                          </a:pPr>
                          <a:r>
                            <a:rPr lang="en-US" sz="1300" dirty="0"/>
                            <a:t>Aligned checkpoint </a:t>
                          </a:r>
                        </a:p>
                      </a:txBody>
                      <a:tcPr marL="40667" marR="40667" marT="20333" marB="20333" anchor="ctr"/>
                    </a:tc>
                    <a:tc>
                      <a:txBody>
                        <a:bodyPr/>
                        <a:lstStyle/>
                        <a:p>
                          <a:pPr>
                            <a:buNone/>
                          </a:pPr>
                          <a:r>
                            <a:rPr lang="en-US" sz="1300"/>
                            <a:t>No downstream fine-tuning</a:t>
                          </a:r>
                        </a:p>
                      </a:txBody>
                      <a:tcPr marL="40667" marR="40667" marT="20333" marB="20333" anchor="ctr"/>
                    </a:tc>
                    <a:tc>
                      <a:txBody>
                        <a:bodyPr/>
                        <a:lstStyle/>
                        <a:p>
                          <a:pPr>
                            <a:buNone/>
                          </a:pPr>
                          <a:r>
                            <a:rPr lang="en-US" sz="1300"/>
                            <a:t>What is the initial safety-capability trade-off?</a:t>
                          </a:r>
                        </a:p>
                      </a:txBody>
                      <a:tcPr marL="40667" marR="40667" marT="20333" marB="20333" anchor="ctr"/>
                    </a:tc>
                    <a:extLst>
                      <a:ext uri="{0D108BD9-81ED-4DB2-BD59-A6C34878D82A}">
                        <a16:rowId xmlns:a16="http://schemas.microsoft.com/office/drawing/2014/main" val="4088831186"/>
                      </a:ext>
                    </a:extLst>
                  </a:tr>
                  <a:tr h="313386">
                    <a:tc>
                      <a:txBody>
                        <a:bodyPr/>
                        <a:lstStyle/>
                        <a:p>
                          <a:pPr>
                            <a:buNone/>
                          </a:pPr>
                          <a:r>
                            <a:rPr lang="en-US" sz="1300" dirty="0"/>
                            <a:t>Standard fine-tuning</a:t>
                          </a:r>
                        </a:p>
                      </a:txBody>
                      <a:tcPr marL="40667" marR="40667" marT="20333" marB="20333" anchor="ctr"/>
                    </a:tc>
                    <a:tc>
                      <a:txBody>
                        <a:bodyPr/>
                        <a:lstStyle/>
                        <a:p>
                          <a:pPr>
                            <a:buNone/>
                          </a:pPr>
                          <a:r>
                            <a:rPr lang="en-US" sz="1300"/>
                            <a:t>Train on all available multimodal samples</a:t>
                          </a:r>
                        </a:p>
                      </a:txBody>
                      <a:tcPr marL="40667" marR="40667" marT="20333" marB="20333" anchor="ctr"/>
                    </a:tc>
                    <a:tc>
                      <a:txBody>
                        <a:bodyPr/>
                        <a:lstStyle/>
                        <a:p>
                          <a:pPr>
                            <a:buNone/>
                          </a:pPr>
                          <a:r>
                            <a:rPr lang="en-US" sz="1300"/>
                            <a:t>How much safety drift occurs without selection?</a:t>
                          </a:r>
                        </a:p>
                      </a:txBody>
                      <a:tcPr marL="40667" marR="40667" marT="20333" marB="20333" anchor="ctr"/>
                    </a:tc>
                    <a:extLst>
                      <a:ext uri="{0D108BD9-81ED-4DB2-BD59-A6C34878D82A}">
                        <a16:rowId xmlns:a16="http://schemas.microsoft.com/office/drawing/2014/main" val="3901606232"/>
                      </a:ext>
                    </a:extLst>
                  </a:tr>
                  <a:tr h="447694">
                    <a:tc>
                      <a:txBody>
                        <a:bodyPr/>
                        <a:lstStyle/>
                        <a:p>
                          <a:pPr>
                            <a:buNone/>
                          </a:pPr>
                          <a:r>
                            <a:rPr lang="en-US" sz="1300" dirty="0"/>
                            <a:t>Random 20%</a:t>
                          </a:r>
                        </a:p>
                      </a:txBody>
                      <a:tcPr marL="40667" marR="40667" marT="20333" marB="20333" anchor="ctr"/>
                    </a:tc>
                    <a:tc>
                      <a:txBody>
                        <a:bodyPr/>
                        <a:lstStyle/>
                        <a:p>
                          <a:pPr>
                            <a:buNone/>
                          </a:pPr>
                          <a:r>
                            <a:rPr lang="en-US" sz="1300"/>
                            <a:t>Same training budget and sample count as selection methods</a:t>
                          </a:r>
                        </a:p>
                      </a:txBody>
                      <a:tcPr marL="40667" marR="40667" marT="20333" marB="20333" anchor="ctr"/>
                    </a:tc>
                    <a:tc>
                      <a:txBody>
                        <a:bodyPr/>
                        <a:lstStyle/>
                        <a:p>
                          <a:pPr>
                            <a:buNone/>
                          </a:pPr>
                          <a:r>
                            <a:rPr lang="en-US" sz="1300"/>
                            <a:t>Does any improvement come merely from using fewer samples?</a:t>
                          </a:r>
                        </a:p>
                      </a:txBody>
                      <a:tcPr marL="40667" marR="40667" marT="20333" marB="20333" anchor="ctr"/>
                    </a:tc>
                    <a:extLst>
                      <a:ext uri="{0D108BD9-81ED-4DB2-BD59-A6C34878D82A}">
                        <a16:rowId xmlns:a16="http://schemas.microsoft.com/office/drawing/2014/main" val="3434707368"/>
                      </a:ext>
                    </a:extLst>
                  </a:tr>
                  <a:tr h="313386">
                    <a:tc>
                      <a:txBody>
                        <a:bodyPr/>
                        <a:lstStyle/>
                        <a:p>
                          <a:endParaRPr lang="en-US"/>
                        </a:p>
                      </a:txBody>
                      <a:tcPr marL="40667" marR="40667" marT="20333" marB="20333" anchor="ctr">
                        <a:blipFill>
                          <a:blip r:embed="rId3"/>
                          <a:stretch>
                            <a:fillRect t="-424000" r="-366497" b="-1084000"/>
                          </a:stretch>
                        </a:blipFill>
                      </a:tcPr>
                    </a:tc>
                    <a:tc>
                      <a:txBody>
                        <a:bodyPr/>
                        <a:lstStyle/>
                        <a:p>
                          <a:pPr>
                            <a:buNone/>
                          </a:pPr>
                          <a:r>
                            <a:rPr lang="en-US" sz="1300"/>
                            <a:t>Select the lowest-gradient multimodal samples</a:t>
                          </a:r>
                        </a:p>
                      </a:txBody>
                      <a:tcPr marL="40667" marR="40667" marT="20333" marB="20333" anchor="ctr"/>
                    </a:tc>
                    <a:tc>
                      <a:txBody>
                        <a:bodyPr/>
                        <a:lstStyle/>
                        <a:p>
                          <a:pPr>
                            <a:buNone/>
                          </a:pPr>
                          <a:r>
                            <a:rPr lang="en-US" sz="1300"/>
                            <a:t>What is the safety-first end of the spectrum?</a:t>
                          </a:r>
                        </a:p>
                      </a:txBody>
                      <a:tcPr marL="40667" marR="40667" marT="20333" marB="20333" anchor="ctr"/>
                    </a:tc>
                    <a:extLst>
                      <a:ext uri="{0D108BD9-81ED-4DB2-BD59-A6C34878D82A}">
                        <a16:rowId xmlns:a16="http://schemas.microsoft.com/office/drawing/2014/main" val="600546047"/>
                      </a:ext>
                    </a:extLst>
                  </a:tr>
                  <a:tr h="447694">
                    <a:tc>
                      <a:txBody>
                        <a:bodyPr/>
                        <a:lstStyle/>
                        <a:p>
                          <a:endParaRPr lang="en-US"/>
                        </a:p>
                      </a:txBody>
                      <a:tcPr marL="40667" marR="40667" marT="20333" marB="20333" anchor="ctr">
                        <a:blipFill>
                          <a:blip r:embed="rId3"/>
                          <a:stretch>
                            <a:fillRect t="-374286" r="-366497" b="-674286"/>
                          </a:stretch>
                        </a:blipFill>
                      </a:tcPr>
                    </a:tc>
                    <a:tc>
                      <a:txBody>
                        <a:bodyPr/>
                        <a:lstStyle/>
                        <a:p>
                          <a:pPr>
                            <a:buNone/>
                          </a:pPr>
                          <a:r>
                            <a:rPr lang="en-US" sz="1300"/>
                            <a:t>Select the highest-gradient multimodal samples</a:t>
                          </a:r>
                        </a:p>
                      </a:txBody>
                      <a:tcPr marL="40667" marR="40667" marT="20333" marB="20333" anchor="ctr"/>
                    </a:tc>
                    <a:tc>
                      <a:txBody>
                        <a:bodyPr/>
                        <a:lstStyle/>
                        <a:p>
                          <a:pPr>
                            <a:buNone/>
                          </a:pPr>
                          <a:r>
                            <a:rPr lang="en-US" sz="1300"/>
                            <a:t>Are high-gradient samples specifically associated with safety degradation?</a:t>
                          </a:r>
                        </a:p>
                      </a:txBody>
                      <a:tcPr marL="40667" marR="40667" marT="20333" marB="20333" anchor="ctr"/>
                    </a:tc>
                    <a:extLst>
                      <a:ext uri="{0D108BD9-81ED-4DB2-BD59-A6C34878D82A}">
                        <a16:rowId xmlns:a16="http://schemas.microsoft.com/office/drawing/2014/main" val="3223051087"/>
                      </a:ext>
                    </a:extLst>
                  </a:tr>
                  <a:tr h="313386">
                    <a:tc>
                      <a:txBody>
                        <a:bodyPr/>
                        <a:lstStyle/>
                        <a:p>
                          <a:endParaRPr lang="en-US"/>
                        </a:p>
                      </a:txBody>
                      <a:tcPr marL="40667" marR="40667" marT="20333" marB="20333" anchor="ctr">
                        <a:blipFill>
                          <a:blip r:embed="rId3"/>
                          <a:stretch>
                            <a:fillRect t="-664000" r="-366497" b="-844000"/>
                          </a:stretch>
                        </a:blipFill>
                      </a:tcPr>
                    </a:tc>
                    <a:tc>
                      <a:txBody>
                        <a:bodyPr/>
                        <a:lstStyle/>
                        <a:p>
                          <a:pPr>
                            <a:buNone/>
                          </a:pPr>
                          <a:r>
                            <a:rPr lang="en-US" sz="1300"/>
                            <a:t>Select samples closest to the median gradient</a:t>
                          </a:r>
                        </a:p>
                      </a:txBody>
                      <a:tcPr marL="40667" marR="40667" marT="20333" marB="20333" anchor="ctr"/>
                    </a:tc>
                    <a:tc>
                      <a:txBody>
                        <a:bodyPr/>
                        <a:lstStyle/>
                        <a:p>
                          <a:pPr>
                            <a:buNone/>
                          </a:pPr>
                          <a:r>
                            <a:rPr lang="en-US" sz="1300"/>
                            <a:t>Does the proposed method preserve safety and capability?</a:t>
                          </a:r>
                        </a:p>
                      </a:txBody>
                      <a:tcPr marL="40667" marR="40667" marT="20333" marB="20333" anchor="ctr"/>
                    </a:tc>
                    <a:extLst>
                      <a:ext uri="{0D108BD9-81ED-4DB2-BD59-A6C34878D82A}">
                        <a16:rowId xmlns:a16="http://schemas.microsoft.com/office/drawing/2014/main" val="1091257754"/>
                      </a:ext>
                    </a:extLst>
                  </a:tr>
                  <a:tr h="313386">
                    <a:tc>
                      <a:txBody>
                        <a:bodyPr/>
                        <a:lstStyle/>
                        <a:p>
                          <a:pPr>
                            <a:buNone/>
                          </a:pPr>
                          <a:r>
                            <a:rPr lang="en-US" sz="1300"/>
                            <a:t>Gradient clipping</a:t>
                          </a:r>
                        </a:p>
                      </a:txBody>
                      <a:tcPr marL="40667" marR="40667" marT="20333" marB="20333" anchor="ctr"/>
                    </a:tc>
                    <a:tc>
                      <a:txBody>
                        <a:bodyPr/>
                        <a:lstStyle/>
                        <a:p>
                          <a:pPr>
                            <a:buNone/>
                          </a:pPr>
                          <a:r>
                            <a:rPr lang="en-US" sz="1300"/>
                            <a:t>Same multimodal training data with fixed clipping threshold</a:t>
                          </a:r>
                        </a:p>
                      </a:txBody>
                      <a:tcPr marL="40667" marR="40667" marT="20333" marB="20333" anchor="ctr"/>
                    </a:tc>
                    <a:tc>
                      <a:txBody>
                        <a:bodyPr/>
                        <a:lstStyle/>
                        <a:p>
                          <a:pPr>
                            <a:buNone/>
                          </a:pPr>
                          <a:r>
                            <a:rPr lang="en-US" sz="1300"/>
                            <a:t>Is controlling update magnitude sufficient?</a:t>
                          </a:r>
                        </a:p>
                      </a:txBody>
                      <a:tcPr marL="40667" marR="40667" marT="20333" marB="20333" anchor="ctr"/>
                    </a:tc>
                    <a:extLst>
                      <a:ext uri="{0D108BD9-81ED-4DB2-BD59-A6C34878D82A}">
                        <a16:rowId xmlns:a16="http://schemas.microsoft.com/office/drawing/2014/main" val="2354319516"/>
                      </a:ext>
                    </a:extLst>
                  </a:tr>
                  <a:tr h="447694">
                    <a:tc>
                      <a:txBody>
                        <a:bodyPr/>
                        <a:lstStyle/>
                        <a:p>
                          <a:pPr>
                            <a:buNone/>
                          </a:pPr>
                          <a:r>
                            <a:rPr lang="en-US" sz="1300"/>
                            <a:t>KL anchoring</a:t>
                          </a:r>
                        </a:p>
                      </a:txBody>
                      <a:tcPr marL="40667" marR="40667" marT="20333" marB="20333" anchor="ctr"/>
                    </a:tc>
                    <a:tc>
                      <a:txBody>
                        <a:bodyPr/>
                        <a:lstStyle/>
                        <a:p>
                          <a:pPr>
                            <a:buNone/>
                          </a:pPr>
                          <a:r>
                            <a:rPr lang="en-US" sz="1300"/>
                            <a:t>Penalize divergence from the aligned VLM on a fixed prompt/image set</a:t>
                          </a:r>
                        </a:p>
                      </a:txBody>
                      <a:tcPr marL="40667" marR="40667" marT="20333" marB="20333" anchor="ctr"/>
                    </a:tc>
                    <a:tc>
                      <a:txBody>
                        <a:bodyPr/>
                        <a:lstStyle/>
                        <a:p>
                          <a:pPr>
                            <a:buNone/>
                          </a:pPr>
                          <a:r>
                            <a:rPr lang="en-US" sz="1300"/>
                            <a:t>Does behavioral anchoring prevent multimodal drift?</a:t>
                          </a:r>
                        </a:p>
                      </a:txBody>
                      <a:tcPr marL="40667" marR="40667" marT="20333" marB="20333" anchor="ctr"/>
                    </a:tc>
                    <a:extLst>
                      <a:ext uri="{0D108BD9-81ED-4DB2-BD59-A6C34878D82A}">
                        <a16:rowId xmlns:a16="http://schemas.microsoft.com/office/drawing/2014/main" val="1785325163"/>
                      </a:ext>
                    </a:extLst>
                  </a:tr>
                  <a:tr h="436906">
                    <a:tc>
                      <a:txBody>
                        <a:bodyPr/>
                        <a:lstStyle/>
                        <a:p>
                          <a:pPr>
                            <a:buNone/>
                          </a:pPr>
                          <a:r>
                            <a:rPr lang="en-US" sz="1300"/>
                            <a:t>EWC or continual-learning regularization</a:t>
                          </a:r>
                        </a:p>
                      </a:txBody>
                      <a:tcPr marL="40667" marR="40667" marT="20333" marB="20333" anchor="ctr"/>
                    </a:tc>
                    <a:tc>
                      <a:txBody>
                        <a:bodyPr/>
                        <a:lstStyle/>
                        <a:p>
                          <a:pPr>
                            <a:buNone/>
                          </a:pPr>
                          <a:r>
                            <a:rPr lang="en-US" sz="1300"/>
                            <a:t>Apply parameter-importance regularization</a:t>
                          </a:r>
                        </a:p>
                      </a:txBody>
                      <a:tcPr marL="40667" marR="40667" marT="20333" marB="20333" anchor="ctr"/>
                    </a:tc>
                    <a:tc>
                      <a:txBody>
                        <a:bodyPr/>
                        <a:lstStyle/>
                        <a:p>
                          <a:pPr>
                            <a:buNone/>
                          </a:pPr>
                          <a:r>
                            <a:rPr lang="en-US" sz="1300"/>
                            <a:t>Is generic forgetting prevention enough to preserve safety?</a:t>
                          </a:r>
                        </a:p>
                      </a:txBody>
                      <a:tcPr marL="40667" marR="40667" marT="20333" marB="20333" anchor="ctr"/>
                    </a:tc>
                    <a:extLst>
                      <a:ext uri="{0D108BD9-81ED-4DB2-BD59-A6C34878D82A}">
                        <a16:rowId xmlns:a16="http://schemas.microsoft.com/office/drawing/2014/main" val="3732891163"/>
                      </a:ext>
                    </a:extLst>
                  </a:tr>
                  <a:tr h="313386">
                    <a:tc>
                      <a:txBody>
                        <a:bodyPr/>
                        <a:lstStyle/>
                        <a:p>
                          <a:pPr>
                            <a:buNone/>
                          </a:pPr>
                          <a:r>
                            <a:rPr lang="en-US" sz="1300"/>
                            <a:t>LM-LoRA-only selection</a:t>
                          </a:r>
                        </a:p>
                      </a:txBody>
                      <a:tcPr marL="40667" marR="40667" marT="20333" marB="20333" anchor="ctr"/>
                    </a:tc>
                    <a:tc>
                      <a:txBody>
                        <a:bodyPr/>
                        <a:lstStyle/>
                        <a:p>
                          <a:endParaRPr lang="en-US"/>
                        </a:p>
                      </a:txBody>
                      <a:tcPr marL="40667" marR="40667" marT="20333" marB="20333" anchor="ctr">
                        <a:blipFill>
                          <a:blip r:embed="rId3"/>
                          <a:stretch>
                            <a:fillRect l="-56447" t="-1140000" r="-106877" b="-368000"/>
                          </a:stretch>
                        </a:blipFill>
                      </a:tcPr>
                    </a:tc>
                    <a:tc>
                      <a:txBody>
                        <a:bodyPr/>
                        <a:lstStyle/>
                        <a:p>
                          <a:pPr>
                            <a:buNone/>
                          </a:pPr>
                          <a:r>
                            <a:rPr lang="en-US" sz="1300"/>
                            <a:t>Is the language pathway the main source of risk?</a:t>
                          </a:r>
                        </a:p>
                      </a:txBody>
                      <a:tcPr marL="40667" marR="40667" marT="20333" marB="20333" anchor="ctr"/>
                    </a:tc>
                    <a:extLst>
                      <a:ext uri="{0D108BD9-81ED-4DB2-BD59-A6C34878D82A}">
                        <a16:rowId xmlns:a16="http://schemas.microsoft.com/office/drawing/2014/main" val="162914150"/>
                      </a:ext>
                    </a:extLst>
                  </a:tr>
                  <a:tr h="313386">
                    <a:tc>
                      <a:txBody>
                        <a:bodyPr/>
                        <a:lstStyle/>
                        <a:p>
                          <a:pPr>
                            <a:buNone/>
                          </a:pPr>
                          <a:r>
                            <a:rPr lang="en-US" sz="1300"/>
                            <a:t>Projector-only selection</a:t>
                          </a:r>
                        </a:p>
                      </a:txBody>
                      <a:tcPr marL="40667" marR="40667" marT="20333" marB="20333" anchor="ctr"/>
                    </a:tc>
                    <a:tc>
                      <a:txBody>
                        <a:bodyPr/>
                        <a:lstStyle/>
                        <a:p>
                          <a:endParaRPr lang="en-US"/>
                        </a:p>
                      </a:txBody>
                      <a:tcPr marL="40667" marR="40667" marT="20333" marB="20333" anchor="ctr">
                        <a:blipFill>
                          <a:blip r:embed="rId3"/>
                          <a:stretch>
                            <a:fillRect l="-56447" t="-1240000" r="-106877" b="-268000"/>
                          </a:stretch>
                        </a:blipFill>
                      </a:tcPr>
                    </a:tc>
                    <a:tc>
                      <a:txBody>
                        <a:bodyPr/>
                        <a:lstStyle/>
                        <a:p>
                          <a:pPr>
                            <a:buNone/>
                          </a:pPr>
                          <a:r>
                            <a:rPr lang="en-US" sz="1300" dirty="0"/>
                            <a:t>Is the visual-language bridge the main source of risk?</a:t>
                          </a:r>
                        </a:p>
                      </a:txBody>
                      <a:tcPr marL="40667" marR="40667" marT="20333" marB="20333" anchor="ctr"/>
                    </a:tc>
                    <a:extLst>
                      <a:ext uri="{0D108BD9-81ED-4DB2-BD59-A6C34878D82A}">
                        <a16:rowId xmlns:a16="http://schemas.microsoft.com/office/drawing/2014/main" val="1349680272"/>
                      </a:ext>
                    </a:extLst>
                  </a:tr>
                  <a:tr h="313386">
                    <a:tc>
                      <a:txBody>
                        <a:bodyPr/>
                        <a:lstStyle/>
                        <a:p>
                          <a:pPr>
                            <a:buNone/>
                          </a:pPr>
                          <a:r>
                            <a:rPr lang="en-US" sz="1300"/>
                            <a:t>Joint selection</a:t>
                          </a:r>
                        </a:p>
                      </a:txBody>
                      <a:tcPr marL="40667" marR="40667" marT="20333" marB="20333" anchor="ctr"/>
                    </a:tc>
                    <a:tc>
                      <a:txBody>
                        <a:bodyPr/>
                        <a:lstStyle/>
                        <a:p>
                          <a:endParaRPr lang="en-US"/>
                        </a:p>
                      </a:txBody>
                      <a:tcPr marL="40667" marR="40667" marT="20333" marB="20333" anchor="ctr">
                        <a:blipFill>
                          <a:blip r:embed="rId3"/>
                          <a:stretch>
                            <a:fillRect l="-56447" t="-1340000" r="-106877" b="-168000"/>
                          </a:stretch>
                        </a:blipFill>
                      </a:tcPr>
                    </a:tc>
                    <a:tc>
                      <a:txBody>
                        <a:bodyPr/>
                        <a:lstStyle/>
                        <a:p>
                          <a:pPr>
                            <a:buNone/>
                          </a:pPr>
                          <a:r>
                            <a:rPr lang="en-US" sz="1300"/>
                            <a:t>Does combining both modalities work best?</a:t>
                          </a:r>
                        </a:p>
                      </a:txBody>
                      <a:tcPr marL="40667" marR="40667" marT="20333" marB="20333" anchor="ctr"/>
                    </a:tc>
                    <a:extLst>
                      <a:ext uri="{0D108BD9-81ED-4DB2-BD59-A6C34878D82A}">
                        <a16:rowId xmlns:a16="http://schemas.microsoft.com/office/drawing/2014/main" val="1093861515"/>
                      </a:ext>
                    </a:extLst>
                  </a:tr>
                  <a:tr h="447694">
                    <a:tc>
                      <a:txBody>
                        <a:bodyPr/>
                        <a:lstStyle/>
                        <a:p>
                          <a:pPr>
                            <a:buNone/>
                          </a:pPr>
                          <a:r>
                            <a:rPr lang="en-US" sz="1300"/>
                            <a:t>SafeVLM-style method</a:t>
                          </a:r>
                        </a:p>
                      </a:txBody>
                      <a:tcPr marL="40667" marR="40667" marT="20333" marB="20333" anchor="ctr"/>
                    </a:tc>
                    <a:tc>
                      <a:txBody>
                        <a:bodyPr/>
                        <a:lstStyle/>
                        <a:p>
                          <a:pPr>
                            <a:buNone/>
                          </a:pPr>
                          <a:r>
                            <a:rPr lang="en-US" sz="1300"/>
                            <a:t>Reproduce only if implementation and resources permit</a:t>
                          </a:r>
                        </a:p>
                      </a:txBody>
                      <a:tcPr marL="40667" marR="40667" marT="20333" marB="20333" anchor="ctr"/>
                    </a:tc>
                    <a:tc>
                      <a:txBody>
                        <a:bodyPr/>
                        <a:lstStyle/>
                        <a:p>
                          <a:pPr>
                            <a:buNone/>
                          </a:pPr>
                          <a:r>
                            <a:rPr lang="en-US" sz="1300" dirty="0"/>
                            <a:t>How does data-centric selection compare with architectural safety alignment?</a:t>
                          </a:r>
                        </a:p>
                      </a:txBody>
                      <a:tcPr marL="40667" marR="40667" marT="20333" marB="20333" anchor="ctr"/>
                    </a:tc>
                    <a:extLst>
                      <a:ext uri="{0D108BD9-81ED-4DB2-BD59-A6C34878D82A}">
                        <a16:rowId xmlns:a16="http://schemas.microsoft.com/office/drawing/2014/main" val="1504599668"/>
                      </a:ext>
                    </a:extLst>
                  </a:tr>
                </a:tbl>
              </a:graphicData>
            </a:graphic>
          </p:graphicFrame>
        </mc:Fallback>
      </mc:AlternateContent>
    </p:spTree>
    <p:extLst>
      <p:ext uri="{BB962C8B-B14F-4D97-AF65-F5344CB8AC3E}">
        <p14:creationId xmlns:p14="http://schemas.microsoft.com/office/powerpoint/2010/main" val="9979279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BC091-DF07-0544-5721-87AC7A18157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9331C46-2BC6-DFBD-6C70-EE336C1DCADD}"/>
              </a:ext>
            </a:extLst>
          </p:cNvPr>
          <p:cNvSpPr>
            <a:spLocks noGrp="1"/>
          </p:cNvSpPr>
          <p:nvPr>
            <p:ph type="title"/>
          </p:nvPr>
        </p:nvSpPr>
        <p:spPr>
          <a:xfrm>
            <a:off x="838200" y="213091"/>
            <a:ext cx="10515600" cy="1325563"/>
          </a:xfrm>
        </p:spPr>
        <p:txBody>
          <a:bodyPr>
            <a:normAutofit/>
          </a:bodyPr>
          <a:lstStyle/>
          <a:p>
            <a:r>
              <a:rPr lang="en-US" dirty="0"/>
              <a:t>VLM Continual-Learning Diagnostics</a:t>
            </a:r>
            <a:endParaRPr lang="en-US" sz="2200" dirty="0"/>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E4B821BA-38C4-777E-F423-CDF897A0246D}"/>
                  </a:ext>
                </a:extLst>
              </p:cNvPr>
              <p:cNvGraphicFramePr>
                <a:graphicFrameLocks noGrp="1"/>
              </p:cNvGraphicFramePr>
              <p:nvPr>
                <p:extLst>
                  <p:ext uri="{D42A27DB-BD31-4B8C-83A1-F6EECF244321}">
                    <p14:modId xmlns:p14="http://schemas.microsoft.com/office/powerpoint/2010/main" val="2646814639"/>
                  </p:ext>
                </p:extLst>
              </p:nvPr>
            </p:nvGraphicFramePr>
            <p:xfrm>
              <a:off x="168536" y="1222971"/>
              <a:ext cx="11854927" cy="5635029"/>
            </p:xfrm>
            <a:graphic>
              <a:graphicData uri="http://schemas.openxmlformats.org/drawingml/2006/table">
                <a:tbl>
                  <a:tblPr>
                    <a:tableStyleId>{5C22544A-7EE6-4342-B048-85BDC9FD1C3A}</a:tableStyleId>
                  </a:tblPr>
                  <a:tblGrid>
                    <a:gridCol w="1286558">
                      <a:extLst>
                        <a:ext uri="{9D8B030D-6E8A-4147-A177-3AD203B41FA5}">
                          <a16:colId xmlns:a16="http://schemas.microsoft.com/office/drawing/2014/main" val="236439351"/>
                        </a:ext>
                      </a:extLst>
                    </a:gridCol>
                    <a:gridCol w="4945449">
                      <a:extLst>
                        <a:ext uri="{9D8B030D-6E8A-4147-A177-3AD203B41FA5}">
                          <a16:colId xmlns:a16="http://schemas.microsoft.com/office/drawing/2014/main" val="1799933343"/>
                        </a:ext>
                      </a:extLst>
                    </a:gridCol>
                    <a:gridCol w="5622920">
                      <a:extLst>
                        <a:ext uri="{9D8B030D-6E8A-4147-A177-3AD203B41FA5}">
                          <a16:colId xmlns:a16="http://schemas.microsoft.com/office/drawing/2014/main" val="1395285065"/>
                        </a:ext>
                      </a:extLst>
                    </a:gridCol>
                  </a:tblGrid>
                  <a:tr h="215812">
                    <a:tc>
                      <a:txBody>
                        <a:bodyPr/>
                        <a:lstStyle/>
                        <a:p>
                          <a:pPr>
                            <a:buNone/>
                          </a:pPr>
                          <a:r>
                            <a:rPr lang="en-US" sz="1300" b="1" dirty="0"/>
                            <a:t>Dimension</a:t>
                          </a:r>
                        </a:p>
                      </a:txBody>
                      <a:tcPr marL="32717" marR="32717" marT="16358" marB="16358" anchor="ctr"/>
                    </a:tc>
                    <a:tc>
                      <a:txBody>
                        <a:bodyPr/>
                        <a:lstStyle/>
                        <a:p>
                          <a:pPr>
                            <a:buNone/>
                          </a:pPr>
                          <a:r>
                            <a:rPr lang="en-US" sz="1300" b="1" dirty="0"/>
                            <a:t>Metric / signal</a:t>
                          </a:r>
                        </a:p>
                      </a:txBody>
                      <a:tcPr marL="32717" marR="32717" marT="16358" marB="16358" anchor="ctr"/>
                    </a:tc>
                    <a:tc>
                      <a:txBody>
                        <a:bodyPr/>
                        <a:lstStyle/>
                        <a:p>
                          <a:pPr>
                            <a:buNone/>
                          </a:pPr>
                          <a:r>
                            <a:rPr lang="en-US" sz="1300" b="1" dirty="0"/>
                            <a:t>How we will measure it</a:t>
                          </a:r>
                        </a:p>
                      </a:txBody>
                      <a:tcPr marL="32717" marR="32717" marT="16358" marB="16358" anchor="ctr"/>
                    </a:tc>
                    <a:extLst>
                      <a:ext uri="{0D108BD9-81ED-4DB2-BD59-A6C34878D82A}">
                        <a16:rowId xmlns:a16="http://schemas.microsoft.com/office/drawing/2014/main" val="1710192377"/>
                      </a:ext>
                    </a:extLst>
                  </a:tr>
                  <a:tr h="401037">
                    <a:tc>
                      <a:txBody>
                        <a:bodyPr/>
                        <a:lstStyle/>
                        <a:p>
                          <a:pPr>
                            <a:buNone/>
                          </a:pPr>
                          <a:r>
                            <a:rPr lang="en-US" sz="1300"/>
                            <a:t>Multimodal safety</a:t>
                          </a:r>
                        </a:p>
                      </a:txBody>
                      <a:tcPr marL="32717" marR="32717" marT="16358" marB="16358" anchor="ctr"/>
                    </a:tc>
                    <a:tc>
                      <a:txBody>
                        <a:bodyPr/>
                        <a:lstStyle/>
                        <a:p>
                          <a:pPr>
                            <a:buNone/>
                          </a:pPr>
                          <a14:m>
                            <m:oMath xmlns:m="http://schemas.openxmlformats.org/officeDocument/2006/math">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𝐴𝑆𝑅</m:t>
                                  </m:r>
                                </m:e>
                                <m:sub>
                                  <m:r>
                                    <a:rPr lang="en-US" sz="1400" b="0" i="1" dirty="0" smtClean="0">
                                      <a:latin typeface="Cambria Math" panose="02040503050406030204" pitchFamily="18" charset="0"/>
                                    </a:rPr>
                                    <m:t>𝑡𝑒𝑥𝑡</m:t>
                                  </m:r>
                                </m:sub>
                              </m:sSub>
                            </m:oMath>
                          </a14:m>
                          <a:r>
                            <a:rPr lang="en-US" sz="1300" dirty="0"/>
                            <a:t>, </a:t>
                          </a:r>
                          <a14:m>
                            <m:oMath xmlns:m="http://schemas.openxmlformats.org/officeDocument/2006/math">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𝐴𝑆𝑅</m:t>
                                  </m:r>
                                </m:e>
                                <m:sub>
                                  <m:r>
                                    <a:rPr lang="en-US" sz="1400" b="0" i="1" dirty="0" smtClean="0">
                                      <a:latin typeface="Cambria Math" panose="02040503050406030204" pitchFamily="18" charset="0"/>
                                    </a:rPr>
                                    <m:t>𝑣𝑖𝑠𝑢𝑎𝑙</m:t>
                                  </m:r>
                                </m:sub>
                              </m:sSub>
                            </m:oMath>
                          </a14:m>
                          <a:r>
                            <a:rPr lang="en-US" sz="1300" dirty="0"/>
                            <a:t>,</a:t>
                          </a:r>
                          <a:r>
                            <a:rPr lang="en-US" sz="1300" baseline="0" dirty="0"/>
                            <a:t> </a:t>
                          </a:r>
                          <a14:m>
                            <m:oMath xmlns:m="http://schemas.openxmlformats.org/officeDocument/2006/math">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𝐴𝑆𝑅</m:t>
                                  </m:r>
                                </m:e>
                                <m:sub>
                                  <m:r>
                                    <a:rPr lang="en-US" sz="1400" b="0" i="1" dirty="0" smtClean="0">
                                      <a:latin typeface="Cambria Math" panose="02040503050406030204" pitchFamily="18" charset="0"/>
                                    </a:rPr>
                                    <m:t>𝑐𝑟𝑜𝑠𝑠</m:t>
                                  </m:r>
                                </m:sub>
                              </m:sSub>
                            </m:oMath>
                          </a14:m>
                          <a:endParaRPr lang="en-US" sz="1300" dirty="0"/>
                        </a:p>
                      </a:txBody>
                      <a:tcPr marL="32717" marR="32717" marT="16358" marB="16358" anchor="ctr"/>
                    </a:tc>
                    <a:tc>
                      <a:txBody>
                        <a:bodyPr/>
                        <a:lstStyle/>
                        <a:p>
                          <a:pPr>
                            <a:buNone/>
                          </a:pPr>
                          <a:r>
                            <a:rPr lang="en-US" sz="1300"/>
                            <a:t>Evaluate text-only, image-based, and joint image-text attacks separately.</a:t>
                          </a:r>
                        </a:p>
                      </a:txBody>
                      <a:tcPr marL="32717" marR="32717" marT="16358" marB="16358" anchor="ctr"/>
                    </a:tc>
                    <a:extLst>
                      <a:ext uri="{0D108BD9-81ED-4DB2-BD59-A6C34878D82A}">
                        <a16:rowId xmlns:a16="http://schemas.microsoft.com/office/drawing/2014/main" val="3995723137"/>
                      </a:ext>
                    </a:extLst>
                  </a:tr>
                  <a:tr h="233844">
                    <a:tc>
                      <a:txBody>
                        <a:bodyPr/>
                        <a:lstStyle/>
                        <a:p>
                          <a:pPr>
                            <a:buNone/>
                          </a:pPr>
                          <a:r>
                            <a:rPr lang="en-US" sz="1300"/>
                            <a:t>Refusal quality</a:t>
                          </a:r>
                        </a:p>
                      </a:txBody>
                      <a:tcPr marL="32717" marR="32717" marT="16358" marB="16358" anchor="ctr"/>
                    </a:tc>
                    <a:tc>
                      <a:txBody>
                        <a:bodyPr/>
                        <a:lstStyle/>
                        <a:p>
                          <a:pPr>
                            <a:buNone/>
                          </a:pPr>
                          <a:r>
                            <a:rPr lang="en-US" sz="1300"/>
                            <a:t>Harmful refusal rate and benign over-refusal rate</a:t>
                          </a:r>
                        </a:p>
                      </a:txBody>
                      <a:tcPr marL="32717" marR="32717" marT="16358" marB="16358" anchor="ctr"/>
                    </a:tc>
                    <a:tc>
                      <a:txBody>
                        <a:bodyPr/>
                        <a:lstStyle/>
                        <a:p>
                          <a:pPr>
                            <a:buNone/>
                          </a:pPr>
                          <a:r>
                            <a:rPr lang="en-US" sz="1300"/>
                            <a:t>Measure both safe refusal and inappropriate refusal.</a:t>
                          </a:r>
                        </a:p>
                      </a:txBody>
                      <a:tcPr marL="32717" marR="32717" marT="16358" marB="16358" anchor="ctr"/>
                    </a:tc>
                    <a:extLst>
                      <a:ext uri="{0D108BD9-81ED-4DB2-BD59-A6C34878D82A}">
                        <a16:rowId xmlns:a16="http://schemas.microsoft.com/office/drawing/2014/main" val="874753022"/>
                      </a:ext>
                    </a:extLst>
                  </a:tr>
                  <a:tr h="401037">
                    <a:tc>
                      <a:txBody>
                        <a:bodyPr/>
                        <a:lstStyle/>
                        <a:p>
                          <a:pPr>
                            <a:buNone/>
                          </a:pPr>
                          <a:r>
                            <a:rPr lang="en-US" sz="1300"/>
                            <a:t>VLM safety robustness</a:t>
                          </a:r>
                        </a:p>
                      </a:txBody>
                      <a:tcPr marL="32717" marR="32717" marT="16358" marB="16358" anchor="ctr"/>
                    </a:tc>
                    <a:tc>
                      <a:txBody>
                        <a:bodyPr/>
                        <a:lstStyle/>
                        <a:p>
                          <a:pPr>
                            <a:buNone/>
                          </a:pPr>
                          <a14:m>
                            <m:oMathPara xmlns:m="http://schemas.openxmlformats.org/officeDocument/2006/math">
                              <m:oMath>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𝑉𝐼𝑆𝐴𝐺𝐸</m:t>
                                    </m:r>
                                  </m:e>
                                  <m:sub>
                                    <m:r>
                                      <a:rPr lang="en-US" sz="1400" b="0" i="1" dirty="0" smtClean="0">
                                        <a:latin typeface="Cambria Math" panose="02040503050406030204" pitchFamily="18" charset="0"/>
                                      </a:rPr>
                                      <m:t>𝑉𝐿𝑀</m:t>
                                    </m:r>
                                  </m:sub>
                                </m:sSub>
                              </m:oMath>
                            </m:oMathPara>
                          </a14:m>
                          <a:endParaRPr lang="en-US" sz="1300" dirty="0"/>
                        </a:p>
                      </a:txBody>
                      <a:tcPr marL="32717" marR="32717" marT="16358" marB="16358" anchor="ctr"/>
                    </a:tc>
                    <a:tc>
                      <a:txBody>
                        <a:bodyPr/>
                        <a:lstStyle/>
                        <a:p>
                          <a:pPr>
                            <a:buNone/>
                          </a:pPr>
                          <a:r>
                            <a:rPr lang="en-US" sz="1300"/>
                            <a:t>Perturb the LM-LoRA/projector trainable subspace and reevaluate multimodal safety.</a:t>
                          </a:r>
                        </a:p>
                      </a:txBody>
                      <a:tcPr marL="32717" marR="32717" marT="16358" marB="16358" anchor="ctr"/>
                    </a:tc>
                    <a:extLst>
                      <a:ext uri="{0D108BD9-81ED-4DB2-BD59-A6C34878D82A}">
                        <a16:rowId xmlns:a16="http://schemas.microsoft.com/office/drawing/2014/main" val="3016078504"/>
                      </a:ext>
                    </a:extLst>
                  </a:tr>
                  <a:tr h="401037">
                    <a:tc>
                      <a:txBody>
                        <a:bodyPr/>
                        <a:lstStyle/>
                        <a:p>
                          <a:pPr>
                            <a:buNone/>
                          </a:pPr>
                          <a:r>
                            <a:rPr lang="en-US" sz="1300"/>
                            <a:t>Visual truthfulness</a:t>
                          </a:r>
                        </a:p>
                      </a:txBody>
                      <a:tcPr marL="32717" marR="32717" marT="16358" marB="16358" anchor="ctr"/>
                    </a:tc>
                    <a:tc>
                      <a:txBody>
                        <a:bodyPr/>
                        <a:lstStyle/>
                        <a:p>
                          <a:pPr>
                            <a:buNone/>
                          </a:pPr>
                          <a:r>
                            <a:rPr lang="en-US" sz="1300" dirty="0" err="1"/>
                            <a:t>MMHal</a:t>
                          </a:r>
                          <a:r>
                            <a:rPr lang="en-US" sz="1300" dirty="0"/>
                            <a:t>-Bench and POPE</a:t>
                          </a:r>
                        </a:p>
                      </a:txBody>
                      <a:tcPr marL="32717" marR="32717" marT="16358" marB="16358" anchor="ctr"/>
                    </a:tc>
                    <a:tc>
                      <a:txBody>
                        <a:bodyPr/>
                        <a:lstStyle/>
                        <a:p>
                          <a:pPr>
                            <a:buNone/>
                          </a:pPr>
                          <a:r>
                            <a:rPr lang="en-US" sz="1300" dirty="0"/>
                            <a:t>Measure open-ended hallucination and object-existence errors.</a:t>
                          </a:r>
                        </a:p>
                      </a:txBody>
                      <a:tcPr marL="32717" marR="32717" marT="16358" marB="16358" anchor="ctr"/>
                    </a:tc>
                    <a:extLst>
                      <a:ext uri="{0D108BD9-81ED-4DB2-BD59-A6C34878D82A}">
                        <a16:rowId xmlns:a16="http://schemas.microsoft.com/office/drawing/2014/main" val="995314158"/>
                      </a:ext>
                    </a:extLst>
                  </a:tr>
                  <a:tr h="334062">
                    <a:tc>
                      <a:txBody>
                        <a:bodyPr/>
                        <a:lstStyle/>
                        <a:p>
                          <a:pPr>
                            <a:buNone/>
                          </a:pPr>
                          <a:r>
                            <a:rPr lang="en-US" sz="1300"/>
                            <a:t>Task capability</a:t>
                          </a:r>
                        </a:p>
                      </a:txBody>
                      <a:tcPr marL="32717" marR="32717" marT="16358" marB="16358" anchor="ctr"/>
                    </a:tc>
                    <a:tc>
                      <a:txBody>
                        <a:bodyPr/>
                        <a:lstStyle/>
                        <a:p>
                          <a:pPr>
                            <a:buNone/>
                          </a:pPr>
                          <a:r>
                            <a:rPr lang="en-US" sz="1300"/>
                            <a:t>MathVista, medical VQA, DocVQA, visual instruction following</a:t>
                          </a:r>
                        </a:p>
                      </a:txBody>
                      <a:tcPr marL="32717" marR="32717" marT="16358" marB="16358" anchor="ctr"/>
                    </a:tc>
                    <a:tc>
                      <a:txBody>
                        <a:bodyPr/>
                        <a:lstStyle/>
                        <a:p>
                          <a:pPr>
                            <a:buNone/>
                          </a:pPr>
                          <a:r>
                            <a:rPr lang="en-US" sz="1300"/>
                            <a:t>Use disjoint held-out test sets after every continual stage.</a:t>
                          </a:r>
                        </a:p>
                      </a:txBody>
                      <a:tcPr marL="32717" marR="32717" marT="16358" marB="16358" anchor="ctr"/>
                    </a:tc>
                    <a:extLst>
                      <a:ext uri="{0D108BD9-81ED-4DB2-BD59-A6C34878D82A}">
                        <a16:rowId xmlns:a16="http://schemas.microsoft.com/office/drawing/2014/main" val="3627797454"/>
                      </a:ext>
                    </a:extLst>
                  </a:tr>
                  <a:tr h="233844">
                    <a:tc>
                      <a:txBody>
                        <a:bodyPr/>
                        <a:lstStyle/>
                        <a:p>
                          <a:pPr>
                            <a:buNone/>
                          </a:pPr>
                          <a:r>
                            <a:rPr lang="en-US" sz="1300"/>
                            <a:t>Task retention</a:t>
                          </a:r>
                        </a:p>
                      </a:txBody>
                      <a:tcPr marL="32717" marR="32717" marT="16358" marB="16358" anchor="ctr"/>
                    </a:tc>
                    <a:tc>
                      <a:txBody>
                        <a:bodyPr/>
                        <a:lstStyle/>
                        <a:p>
                          <a:pPr>
                            <a:buNone/>
                          </a:pPr>
                          <a14:m>
                            <m:oMath xmlns:m="http://schemas.openxmlformats.org/officeDocument/2006/math">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𝑅</m:t>
                                  </m:r>
                                </m:e>
                                <m:sub>
                                  <m:r>
                                    <a:rPr lang="en-US" sz="1400" b="0" i="1" dirty="0" smtClean="0">
                                      <a:latin typeface="Cambria Math" panose="02040503050406030204" pitchFamily="18" charset="0"/>
                                    </a:rPr>
                                    <m:t>𝑇</m:t>
                                  </m:r>
                                  <m:r>
                                    <a:rPr lang="en-US" sz="1400" b="0" i="1" dirty="0" smtClean="0">
                                      <a:latin typeface="Cambria Math" panose="02040503050406030204" pitchFamily="18" charset="0"/>
                                    </a:rPr>
                                    <m:t>,</m:t>
                                  </m:r>
                                  <m:r>
                                    <a:rPr lang="en-US" sz="1400" b="0" i="1" dirty="0" smtClean="0">
                                      <a:latin typeface="Cambria Math" panose="02040503050406030204" pitchFamily="18" charset="0"/>
                                    </a:rPr>
                                    <m:t>𝑘</m:t>
                                  </m:r>
                                </m:sub>
                              </m:sSub>
                              <m:r>
                                <a:rPr lang="en-US" sz="1400" b="0" i="1" dirty="0" smtClean="0">
                                  <a:latin typeface="Cambria Math" panose="02040503050406030204" pitchFamily="18" charset="0"/>
                                </a:rPr>
                                <m:t> </m:t>
                              </m:r>
                            </m:oMath>
                          </a14:m>
                          <a:r>
                            <a:rPr lang="en-US" sz="1300" dirty="0"/>
                            <a:t>performance matrix</a:t>
                          </a:r>
                        </a:p>
                      </a:txBody>
                      <a:tcPr marL="32717" marR="32717" marT="16358" marB="16358" anchor="ctr"/>
                    </a:tc>
                    <a:tc>
                      <a:txBody>
                        <a:bodyPr/>
                        <a:lstStyle/>
                        <a:p>
                          <a:pPr>
                            <a:buNone/>
                          </a:pPr>
                          <a:r>
                            <a:rPr lang="en-US" sz="1300"/>
                            <a:t>Evaluate every previous task after each new task.</a:t>
                          </a:r>
                        </a:p>
                      </a:txBody>
                      <a:tcPr marL="32717" marR="32717" marT="16358" marB="16358" anchor="ctr"/>
                    </a:tc>
                    <a:extLst>
                      <a:ext uri="{0D108BD9-81ED-4DB2-BD59-A6C34878D82A}">
                        <a16:rowId xmlns:a16="http://schemas.microsoft.com/office/drawing/2014/main" val="3541715414"/>
                      </a:ext>
                    </a:extLst>
                  </a:tr>
                  <a:tr h="215812">
                    <a:tc>
                      <a:txBody>
                        <a:bodyPr/>
                        <a:lstStyle/>
                        <a:p>
                          <a:pPr>
                            <a:buNone/>
                          </a:pPr>
                          <a:r>
                            <a:rPr lang="en-US" sz="1300"/>
                            <a:t>Forgetting</a:t>
                          </a:r>
                        </a:p>
                      </a:txBody>
                      <a:tcPr marL="32717" marR="32717" marT="16358" marB="16358" anchor="ctr"/>
                    </a:tc>
                    <a:tc>
                      <a:txBody>
                        <a:bodyPr/>
                        <a:lstStyle/>
                        <a:p>
                          <a:pPr>
                            <a:buNone/>
                          </a:pPr>
                          <a:r>
                            <a:rPr lang="en-US" sz="1300" dirty="0"/>
                            <a:t>BWT and FM</a:t>
                          </a:r>
                        </a:p>
                      </a:txBody>
                      <a:tcPr marL="32717" marR="32717" marT="16358" marB="16358" anchor="ctr"/>
                    </a:tc>
                    <a:tc>
                      <a:txBody>
                        <a:bodyPr/>
                        <a:lstStyle/>
                        <a:p>
                          <a:pPr>
                            <a:buNone/>
                          </a:pPr>
                          <a:r>
                            <a:rPr lang="en-US" sz="1300"/>
                            <a:t>Compute from the task-performance matrix.</a:t>
                          </a:r>
                        </a:p>
                      </a:txBody>
                      <a:tcPr marL="32717" marR="32717" marT="16358" marB="16358" anchor="ctr"/>
                    </a:tc>
                    <a:extLst>
                      <a:ext uri="{0D108BD9-81ED-4DB2-BD59-A6C34878D82A}">
                        <a16:rowId xmlns:a16="http://schemas.microsoft.com/office/drawing/2014/main" val="2010568309"/>
                      </a:ext>
                    </a:extLst>
                  </a:tr>
                  <a:tr h="401037">
                    <a:tc>
                      <a:txBody>
                        <a:bodyPr/>
                        <a:lstStyle/>
                        <a:p>
                          <a:pPr>
                            <a:buNone/>
                          </a:pPr>
                          <a:r>
                            <a:rPr lang="en-US" sz="1300"/>
                            <a:t>Cross-task interference</a:t>
                          </a:r>
                        </a:p>
                      </a:txBody>
                      <a:tcPr marL="32717" marR="32717" marT="16358" marB="16358" anchor="ctr"/>
                    </a:tc>
                    <a:tc>
                      <a:txBody>
                        <a:bodyPr/>
                        <a:lstStyle/>
                        <a:p>
                          <a:pPr>
                            <a:buNone/>
                          </a:pPr>
                          <a14:m>
                            <m:oMathPara xmlns:m="http://schemas.openxmlformats.org/officeDocument/2006/math">
                              <m:oMath>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𝐼</m:t>
                                    </m:r>
                                  </m:e>
                                  <m:sub>
                                    <m:r>
                                      <a:rPr lang="en-US" sz="1400" b="0" i="1" dirty="0" smtClean="0">
                                        <a:latin typeface="Cambria Math" panose="02040503050406030204" pitchFamily="18" charset="0"/>
                                      </a:rPr>
                                      <m:t>𝑗</m:t>
                                    </m:r>
                                    <m:r>
                                      <a:rPr lang="en-US" sz="1400" b="0" i="1" dirty="0" smtClean="0">
                                        <a:latin typeface="Cambria Math" panose="02040503050406030204" pitchFamily="18" charset="0"/>
                                      </a:rPr>
                                      <m:t>→</m:t>
                                    </m:r>
                                    <m:r>
                                      <a:rPr lang="en-US" sz="1400" b="0" i="1" dirty="0" smtClean="0">
                                        <a:latin typeface="Cambria Math" panose="02040503050406030204" pitchFamily="18" charset="0"/>
                                      </a:rPr>
                                      <m:t>𝑘</m:t>
                                    </m:r>
                                  </m:sub>
                                </m:sSub>
                              </m:oMath>
                            </m:oMathPara>
                          </a14:m>
                          <a:endParaRPr lang="en-US" sz="1300" dirty="0"/>
                        </a:p>
                      </a:txBody>
                      <a:tcPr marL="32717" marR="32717" marT="16358" marB="16358" anchor="ctr"/>
                    </a:tc>
                    <a:tc>
                      <a:txBody>
                        <a:bodyPr/>
                        <a:lstStyle/>
                        <a:p>
                          <a:pPr>
                            <a:buNone/>
                          </a:pPr>
                          <a:r>
                            <a:rPr lang="en-US" sz="1300" dirty="0"/>
                            <a:t>Measure changes in earlier-task performance after learning task j.</a:t>
                          </a:r>
                        </a:p>
                      </a:txBody>
                      <a:tcPr marL="32717" marR="32717" marT="16358" marB="16358" anchor="ctr"/>
                    </a:tc>
                    <a:extLst>
                      <a:ext uri="{0D108BD9-81ED-4DB2-BD59-A6C34878D82A}">
                        <a16:rowId xmlns:a16="http://schemas.microsoft.com/office/drawing/2014/main" val="4226333456"/>
                      </a:ext>
                    </a:extLst>
                  </a:tr>
                  <a:tr h="401037">
                    <a:tc>
                      <a:txBody>
                        <a:bodyPr/>
                        <a:lstStyle/>
                        <a:p>
                          <a:pPr>
                            <a:buNone/>
                          </a:pPr>
                          <a:r>
                            <a:rPr lang="en-US" sz="1300"/>
                            <a:t>Language gradient</a:t>
                          </a:r>
                        </a:p>
                      </a:txBody>
                      <a:tcPr marL="32717" marR="32717" marT="16358" marB="16358" anchor="ctr"/>
                    </a:tc>
                    <a:tc>
                      <a:txBody>
                        <a:bodyPr/>
                        <a:lstStyle/>
                        <a:p>
                          <a:pPr>
                            <a:buNone/>
                          </a:pPr>
                          <a14:m>
                            <m:oMathPara xmlns:m="http://schemas.openxmlformats.org/officeDocument/2006/math">
                              <m:oMath>
                                <m:sSubSup>
                                  <m:sSubSupPr>
                                    <m:ctrlPr>
                                      <a:rPr lang="en-US" sz="1200" b="0" i="1" dirty="0" smtClean="0">
                                        <a:latin typeface="Cambria Math" panose="02040503050406030204" pitchFamily="18" charset="0"/>
                                      </a:rPr>
                                    </m:ctrlPr>
                                  </m:sSubSupPr>
                                  <m:e>
                                    <m:r>
                                      <a:rPr lang="en-US" sz="1200" b="0" i="1" dirty="0" smtClean="0">
                                        <a:latin typeface="Cambria Math" panose="02040503050406030204" pitchFamily="18" charset="0"/>
                                      </a:rPr>
                                      <m:t>𝐺</m:t>
                                    </m:r>
                                  </m:e>
                                  <m:sub>
                                    <m:r>
                                      <a:rPr lang="en-US" sz="1200" b="0" i="1" dirty="0" smtClean="0">
                                        <a:latin typeface="Cambria Math" panose="02040503050406030204" pitchFamily="18" charset="0"/>
                                      </a:rPr>
                                      <m:t>𝑖</m:t>
                                    </m:r>
                                  </m:sub>
                                  <m:sup>
                                    <m:r>
                                      <a:rPr lang="en-US" sz="1200" b="0" i="1" dirty="0" smtClean="0">
                                        <a:latin typeface="Cambria Math" panose="02040503050406030204" pitchFamily="18" charset="0"/>
                                      </a:rPr>
                                      <m:t>𝐿</m:t>
                                    </m:r>
                                  </m:sup>
                                </m:sSubSup>
                              </m:oMath>
                            </m:oMathPara>
                          </a14:m>
                          <a:endParaRPr lang="en-US" sz="1300" dirty="0"/>
                        </a:p>
                      </a:txBody>
                      <a:tcPr marL="32717" marR="32717" marT="16358" marB="16358" anchor="ctr"/>
                    </a:tc>
                    <a:tc>
                      <a:txBody>
                        <a:bodyPr/>
                        <a:lstStyle/>
                        <a:p>
                          <a:pPr>
                            <a:buNone/>
                          </a:pPr>
                          <a:r>
                            <a:rPr lang="en-US" sz="1300"/>
                            <a:t>Response-only loss gradient over LM-LoRA parameters.</a:t>
                          </a:r>
                        </a:p>
                      </a:txBody>
                      <a:tcPr marL="32717" marR="32717" marT="16358" marB="16358" anchor="ctr"/>
                    </a:tc>
                    <a:extLst>
                      <a:ext uri="{0D108BD9-81ED-4DB2-BD59-A6C34878D82A}">
                        <a16:rowId xmlns:a16="http://schemas.microsoft.com/office/drawing/2014/main" val="3791731202"/>
                      </a:ext>
                    </a:extLst>
                  </a:tr>
                  <a:tr h="401037">
                    <a:tc>
                      <a:txBody>
                        <a:bodyPr/>
                        <a:lstStyle/>
                        <a:p>
                          <a:pPr>
                            <a:buNone/>
                          </a:pPr>
                          <a:r>
                            <a:rPr lang="en-US" sz="1300"/>
                            <a:t>Projector gradient</a:t>
                          </a:r>
                        </a:p>
                      </a:txBody>
                      <a:tcPr marL="32717" marR="32717" marT="16358" marB="16358" anchor="ctr"/>
                    </a:tc>
                    <a:tc>
                      <a:txBody>
                        <a:bodyPr/>
                        <a:lstStyle/>
                        <a:p>
                          <a:pPr>
                            <a:buNone/>
                          </a:pPr>
                          <a14:m>
                            <m:oMathPara xmlns:m="http://schemas.openxmlformats.org/officeDocument/2006/math">
                              <m:oMath>
                                <m:sSubSup>
                                  <m:sSubSupPr>
                                    <m:ctrlPr>
                                      <a:rPr lang="en-US" sz="1200" b="0" i="1" dirty="0" smtClean="0">
                                        <a:latin typeface="Cambria Math" panose="02040503050406030204" pitchFamily="18" charset="0"/>
                                      </a:rPr>
                                    </m:ctrlPr>
                                  </m:sSubSupPr>
                                  <m:e>
                                    <m:r>
                                      <a:rPr lang="en-US" sz="1200" b="0" i="1" dirty="0" smtClean="0">
                                        <a:latin typeface="Cambria Math" panose="02040503050406030204" pitchFamily="18" charset="0"/>
                                      </a:rPr>
                                      <m:t>𝐺</m:t>
                                    </m:r>
                                  </m:e>
                                  <m:sub>
                                    <m:r>
                                      <a:rPr lang="en-US" sz="1200" b="0" i="1" dirty="0" smtClean="0">
                                        <a:latin typeface="Cambria Math" panose="02040503050406030204" pitchFamily="18" charset="0"/>
                                      </a:rPr>
                                      <m:t>𝑖</m:t>
                                    </m:r>
                                  </m:sub>
                                  <m:sup>
                                    <m:r>
                                      <a:rPr lang="en-US" sz="1200" b="0" i="1" dirty="0" smtClean="0">
                                        <a:latin typeface="Cambria Math" panose="02040503050406030204" pitchFamily="18" charset="0"/>
                                      </a:rPr>
                                      <m:t>𝑃</m:t>
                                    </m:r>
                                  </m:sup>
                                </m:sSubSup>
                              </m:oMath>
                            </m:oMathPara>
                          </a14:m>
                          <a:endParaRPr lang="en-US" sz="1300" dirty="0"/>
                        </a:p>
                      </a:txBody>
                      <a:tcPr marL="32717" marR="32717" marT="16358" marB="16358" anchor="ctr"/>
                    </a:tc>
                    <a:tc>
                      <a:txBody>
                        <a:bodyPr/>
                        <a:lstStyle/>
                        <a:p>
                          <a:pPr>
                            <a:buNone/>
                          </a:pPr>
                          <a:r>
                            <a:rPr lang="en-US" sz="1300"/>
                            <a:t>Response-only loss gradient over projector parameters.</a:t>
                          </a:r>
                        </a:p>
                      </a:txBody>
                      <a:tcPr marL="32717" marR="32717" marT="16358" marB="16358" anchor="ctr"/>
                    </a:tc>
                    <a:extLst>
                      <a:ext uri="{0D108BD9-81ED-4DB2-BD59-A6C34878D82A}">
                        <a16:rowId xmlns:a16="http://schemas.microsoft.com/office/drawing/2014/main" val="973799993"/>
                      </a:ext>
                    </a:extLst>
                  </a:tr>
                  <a:tr h="233844">
                    <a:tc>
                      <a:txBody>
                        <a:bodyPr/>
                        <a:lstStyle/>
                        <a:p>
                          <a:pPr>
                            <a:buNone/>
                          </a:pPr>
                          <a:r>
                            <a:rPr lang="en-US" sz="1300"/>
                            <a:t>Joint gradient</a:t>
                          </a:r>
                        </a:p>
                      </a:txBody>
                      <a:tcPr marL="32717" marR="32717" marT="16358" marB="16358" anchor="ctr"/>
                    </a:tc>
                    <a:tc>
                      <a:txBody>
                        <a:bodyPr/>
                        <a:lstStyle/>
                        <a:p>
                          <a:pPr>
                            <a:buNone/>
                          </a:pPr>
                          <a14:m>
                            <m:oMathPara xmlns:m="http://schemas.openxmlformats.org/officeDocument/2006/math">
                              <m:oMath>
                                <m:sSubSup>
                                  <m:sSubSupPr>
                                    <m:ctrlPr>
                                      <a:rPr lang="en-US" sz="1200" b="0" i="1" dirty="0" smtClean="0">
                                        <a:latin typeface="Cambria Math" panose="02040503050406030204" pitchFamily="18" charset="0"/>
                                      </a:rPr>
                                    </m:ctrlPr>
                                  </m:sSubSupPr>
                                  <m:e>
                                    <m:r>
                                      <a:rPr lang="en-US" sz="1200" b="0" i="1" dirty="0" smtClean="0">
                                        <a:latin typeface="Cambria Math" panose="02040503050406030204" pitchFamily="18" charset="0"/>
                                      </a:rPr>
                                      <m:t>𝐺</m:t>
                                    </m:r>
                                  </m:e>
                                  <m:sub>
                                    <m:r>
                                      <a:rPr lang="en-US" sz="1200" b="0" i="1" dirty="0" smtClean="0">
                                        <a:latin typeface="Cambria Math" panose="02040503050406030204" pitchFamily="18" charset="0"/>
                                      </a:rPr>
                                      <m:t>𝑖</m:t>
                                    </m:r>
                                  </m:sub>
                                  <m:sup>
                                    <m:r>
                                      <a:rPr lang="en-US" sz="1200" b="0" i="1" dirty="0" smtClean="0">
                                        <a:latin typeface="Cambria Math" panose="02040503050406030204" pitchFamily="18" charset="0"/>
                                      </a:rPr>
                                      <m:t>𝐽</m:t>
                                    </m:r>
                                  </m:sup>
                                </m:sSubSup>
                              </m:oMath>
                            </m:oMathPara>
                          </a14:m>
                          <a:endParaRPr lang="en-US" sz="1300" dirty="0"/>
                        </a:p>
                      </a:txBody>
                      <a:tcPr marL="32717" marR="32717" marT="16358" marB="16358" anchor="ctr"/>
                    </a:tc>
                    <a:tc>
                      <a:txBody>
                        <a:bodyPr/>
                        <a:lstStyle/>
                        <a:p>
                          <a:pPr>
                            <a:buNone/>
                          </a:pPr>
                          <a:r>
                            <a:rPr lang="en-US" sz="1300"/>
                            <a:t>Combine normalized language and projector norms.</a:t>
                          </a:r>
                        </a:p>
                      </a:txBody>
                      <a:tcPr marL="32717" marR="32717" marT="16358" marB="16358" anchor="ctr"/>
                    </a:tc>
                    <a:extLst>
                      <a:ext uri="{0D108BD9-81ED-4DB2-BD59-A6C34878D82A}">
                        <a16:rowId xmlns:a16="http://schemas.microsoft.com/office/drawing/2014/main" val="3423554557"/>
                      </a:ext>
                    </a:extLst>
                  </a:tr>
                  <a:tr h="401037">
                    <a:tc>
                      <a:txBody>
                        <a:bodyPr/>
                        <a:lstStyle/>
                        <a:p>
                          <a:pPr>
                            <a:buNone/>
                          </a:pPr>
                          <a:r>
                            <a:rPr lang="en-US" sz="1300"/>
                            <a:t>Sample confounds</a:t>
                          </a:r>
                        </a:p>
                      </a:txBody>
                      <a:tcPr marL="32717" marR="32717" marT="16358" marB="16358" anchor="ctr"/>
                    </a:tc>
                    <a:tc>
                      <a:txBody>
                        <a:bodyPr/>
                        <a:lstStyle/>
                        <a:p>
                          <a:pPr>
                            <a:buNone/>
                          </a:pPr>
                          <a:r>
                            <a:rPr lang="en-US" sz="1300" dirty="0"/>
                            <a:t>Length and image statistics</a:t>
                          </a:r>
                        </a:p>
                      </a:txBody>
                      <a:tcPr marL="32717" marR="32717" marT="16358" marB="16358" anchor="ctr"/>
                    </a:tc>
                    <a:tc>
                      <a:txBody>
                        <a:bodyPr/>
                        <a:lstStyle/>
                        <a:p>
                          <a:pPr>
                            <a:buNone/>
                          </a:pPr>
                          <a:r>
                            <a:rPr lang="en-US" sz="1300"/>
                            <a:t>Log answer length, prompt length, image-token count, resolution, and OCR complexity.</a:t>
                          </a:r>
                        </a:p>
                      </a:txBody>
                      <a:tcPr marL="32717" marR="32717" marT="16358" marB="16358" anchor="ctr"/>
                    </a:tc>
                    <a:extLst>
                      <a:ext uri="{0D108BD9-81ED-4DB2-BD59-A6C34878D82A}">
                        <a16:rowId xmlns:a16="http://schemas.microsoft.com/office/drawing/2014/main" val="175980464"/>
                      </a:ext>
                    </a:extLst>
                  </a:tr>
                  <a:tr h="434281">
                    <a:tc>
                      <a:txBody>
                        <a:bodyPr/>
                        <a:lstStyle/>
                        <a:p>
                          <a:pPr>
                            <a:buNone/>
                          </a:pPr>
                          <a:r>
                            <a:rPr lang="en-US" sz="1300"/>
                            <a:t>Safety mechanism</a:t>
                          </a:r>
                        </a:p>
                      </a:txBody>
                      <a:tcPr marL="32717" marR="32717" marT="16358" marB="16358" anchor="ctr"/>
                    </a:tc>
                    <a:tc>
                      <a:txBody>
                        <a:bodyPr/>
                        <a:lstStyle/>
                        <a:p>
                          <a:pPr>
                            <a:buNone/>
                          </a:pPr>
                          <a:r>
                            <a:rPr lang="en-US" sz="1300" dirty="0"/>
                            <a:t>Parameter/distribution drift</a:t>
                          </a:r>
                        </a:p>
                      </a:txBody>
                      <a:tcPr marL="32717" marR="32717" marT="16358" marB="16358" anchor="ctr"/>
                    </a:tc>
                    <a:tc>
                      <a:txBody>
                        <a:bodyPr/>
                        <a:lstStyle/>
                        <a:p>
                          <a:pPr>
                            <a:buNone/>
                          </a:pPr>
                          <a:r>
                            <a:rPr lang="en-US" sz="1300"/>
                            <a:t>Compare the adapted VLM with the aligned checkpoint and, if available, the corresponding base model.</a:t>
                          </a:r>
                        </a:p>
                      </a:txBody>
                      <a:tcPr marL="32717" marR="32717" marT="16358" marB="16358" anchor="ctr"/>
                    </a:tc>
                    <a:extLst>
                      <a:ext uri="{0D108BD9-81ED-4DB2-BD59-A6C34878D82A}">
                        <a16:rowId xmlns:a16="http://schemas.microsoft.com/office/drawing/2014/main" val="2022384232"/>
                      </a:ext>
                    </a:extLst>
                  </a:tr>
                  <a:tr h="401037">
                    <a:tc>
                      <a:txBody>
                        <a:bodyPr/>
                        <a:lstStyle/>
                        <a:p>
                          <a:pPr>
                            <a:buNone/>
                          </a:pPr>
                          <a:r>
                            <a:rPr lang="en-US" sz="1300"/>
                            <a:t>Evaluation validity</a:t>
                          </a:r>
                        </a:p>
                      </a:txBody>
                      <a:tcPr marL="32717" marR="32717" marT="16358" marB="16358" anchor="ctr"/>
                    </a:tc>
                    <a:tc>
                      <a:txBody>
                        <a:bodyPr/>
                        <a:lstStyle/>
                        <a:p>
                          <a:pPr>
                            <a:buNone/>
                          </a:pPr>
                          <a:r>
                            <a:rPr lang="en-US" sz="1300" dirty="0"/>
                            <a:t>Judge/manual agreement</a:t>
                          </a:r>
                        </a:p>
                      </a:txBody>
                      <a:tcPr marL="32717" marR="32717" marT="16358" marB="16358" anchor="ctr"/>
                    </a:tc>
                    <a:tc>
                      <a:txBody>
                        <a:bodyPr/>
                        <a:lstStyle/>
                        <a:p>
                          <a:pPr>
                            <a:buNone/>
                          </a:pPr>
                          <a:r>
                            <a:rPr lang="en-US" sz="1300"/>
                            <a:t>Audit automatic safety labels on stratified multimodal examples.</a:t>
                          </a:r>
                        </a:p>
                      </a:txBody>
                      <a:tcPr marL="32717" marR="32717" marT="16358" marB="16358" anchor="ctr"/>
                    </a:tc>
                    <a:extLst>
                      <a:ext uri="{0D108BD9-81ED-4DB2-BD59-A6C34878D82A}">
                        <a16:rowId xmlns:a16="http://schemas.microsoft.com/office/drawing/2014/main" val="4168663808"/>
                      </a:ext>
                    </a:extLst>
                  </a:tr>
                  <a:tr h="233844">
                    <a:tc>
                      <a:txBody>
                        <a:bodyPr/>
                        <a:lstStyle/>
                        <a:p>
                          <a:pPr>
                            <a:buNone/>
                          </a:pPr>
                          <a:r>
                            <a:rPr lang="en-US" sz="1300" dirty="0"/>
                            <a:t>Efficiency</a:t>
                          </a:r>
                        </a:p>
                      </a:txBody>
                      <a:tcPr marL="32717" marR="32717" marT="16358" marB="16358" anchor="ctr"/>
                    </a:tc>
                    <a:tc>
                      <a:txBody>
                        <a:bodyPr/>
                        <a:lstStyle/>
                        <a:p>
                          <a:pPr>
                            <a:buNone/>
                          </a:pPr>
                          <a:r>
                            <a:rPr lang="en-US" sz="1300"/>
                            <a:t>Training time and memory</a:t>
                          </a:r>
                        </a:p>
                      </a:txBody>
                      <a:tcPr marL="32717" marR="32717" marT="16358" marB="16358" anchor="ctr"/>
                    </a:tc>
                    <a:tc>
                      <a:txBody>
                        <a:bodyPr/>
                        <a:lstStyle/>
                        <a:p>
                          <a:pPr>
                            <a:buNone/>
                          </a:pPr>
                          <a:r>
                            <a:rPr lang="en-US" sz="1300" dirty="0"/>
                            <a:t>Measure the extra cost of per-sample gradient computation.</a:t>
                          </a:r>
                        </a:p>
                      </a:txBody>
                      <a:tcPr marL="32717" marR="32717" marT="16358" marB="16358" anchor="ctr"/>
                    </a:tc>
                    <a:extLst>
                      <a:ext uri="{0D108BD9-81ED-4DB2-BD59-A6C34878D82A}">
                        <a16:rowId xmlns:a16="http://schemas.microsoft.com/office/drawing/2014/main" val="3101327908"/>
                      </a:ext>
                    </a:extLst>
                  </a:tr>
                </a:tbl>
              </a:graphicData>
            </a:graphic>
          </p:graphicFrame>
        </mc:Choice>
        <mc:Fallback>
          <p:graphicFrame>
            <p:nvGraphicFramePr>
              <p:cNvPr id="3" name="Table 2">
                <a:extLst>
                  <a:ext uri="{FF2B5EF4-FFF2-40B4-BE49-F238E27FC236}">
                    <a16:creationId xmlns:a16="http://schemas.microsoft.com/office/drawing/2014/main" id="{E4B821BA-38C4-777E-F423-CDF897A0246D}"/>
                  </a:ext>
                </a:extLst>
              </p:cNvPr>
              <p:cNvGraphicFramePr>
                <a:graphicFrameLocks noGrp="1"/>
              </p:cNvGraphicFramePr>
              <p:nvPr>
                <p:extLst>
                  <p:ext uri="{D42A27DB-BD31-4B8C-83A1-F6EECF244321}">
                    <p14:modId xmlns:p14="http://schemas.microsoft.com/office/powerpoint/2010/main" val="2646814639"/>
                  </p:ext>
                </p:extLst>
              </p:nvPr>
            </p:nvGraphicFramePr>
            <p:xfrm>
              <a:off x="168536" y="1222971"/>
              <a:ext cx="11854927" cy="5635029"/>
            </p:xfrm>
            <a:graphic>
              <a:graphicData uri="http://schemas.openxmlformats.org/drawingml/2006/table">
                <a:tbl>
                  <a:tblPr>
                    <a:tableStyleId>{5C22544A-7EE6-4342-B048-85BDC9FD1C3A}</a:tableStyleId>
                  </a:tblPr>
                  <a:tblGrid>
                    <a:gridCol w="1286558">
                      <a:extLst>
                        <a:ext uri="{9D8B030D-6E8A-4147-A177-3AD203B41FA5}">
                          <a16:colId xmlns:a16="http://schemas.microsoft.com/office/drawing/2014/main" val="236439351"/>
                        </a:ext>
                      </a:extLst>
                    </a:gridCol>
                    <a:gridCol w="4945449">
                      <a:extLst>
                        <a:ext uri="{9D8B030D-6E8A-4147-A177-3AD203B41FA5}">
                          <a16:colId xmlns:a16="http://schemas.microsoft.com/office/drawing/2014/main" val="1799933343"/>
                        </a:ext>
                      </a:extLst>
                    </a:gridCol>
                    <a:gridCol w="5622920">
                      <a:extLst>
                        <a:ext uri="{9D8B030D-6E8A-4147-A177-3AD203B41FA5}">
                          <a16:colId xmlns:a16="http://schemas.microsoft.com/office/drawing/2014/main" val="1395285065"/>
                        </a:ext>
                      </a:extLst>
                    </a:gridCol>
                  </a:tblGrid>
                  <a:tr h="230836">
                    <a:tc>
                      <a:txBody>
                        <a:bodyPr/>
                        <a:lstStyle/>
                        <a:p>
                          <a:pPr>
                            <a:buNone/>
                          </a:pPr>
                          <a:r>
                            <a:rPr lang="en-US" sz="1300" b="1" dirty="0"/>
                            <a:t>Dimension</a:t>
                          </a:r>
                        </a:p>
                      </a:txBody>
                      <a:tcPr marL="32717" marR="32717" marT="16358" marB="16358" anchor="ctr"/>
                    </a:tc>
                    <a:tc>
                      <a:txBody>
                        <a:bodyPr/>
                        <a:lstStyle/>
                        <a:p>
                          <a:pPr>
                            <a:buNone/>
                          </a:pPr>
                          <a:r>
                            <a:rPr lang="en-US" sz="1300" b="1" dirty="0"/>
                            <a:t>Metric / signal</a:t>
                          </a:r>
                        </a:p>
                      </a:txBody>
                      <a:tcPr marL="32717" marR="32717" marT="16358" marB="16358" anchor="ctr"/>
                    </a:tc>
                    <a:tc>
                      <a:txBody>
                        <a:bodyPr/>
                        <a:lstStyle/>
                        <a:p>
                          <a:pPr>
                            <a:buNone/>
                          </a:pPr>
                          <a:r>
                            <a:rPr lang="en-US" sz="1300" b="1" dirty="0"/>
                            <a:t>How we will measure it</a:t>
                          </a:r>
                        </a:p>
                      </a:txBody>
                      <a:tcPr marL="32717" marR="32717" marT="16358" marB="16358" anchor="ctr"/>
                    </a:tc>
                    <a:extLst>
                      <a:ext uri="{0D108BD9-81ED-4DB2-BD59-A6C34878D82A}">
                        <a16:rowId xmlns:a16="http://schemas.microsoft.com/office/drawing/2014/main" val="1710192377"/>
                      </a:ext>
                    </a:extLst>
                  </a:tr>
                  <a:tr h="428956">
                    <a:tc>
                      <a:txBody>
                        <a:bodyPr/>
                        <a:lstStyle/>
                        <a:p>
                          <a:pPr>
                            <a:buNone/>
                          </a:pPr>
                          <a:r>
                            <a:rPr lang="en-US" sz="1300"/>
                            <a:t>Multimodal safety</a:t>
                          </a:r>
                        </a:p>
                      </a:txBody>
                      <a:tcPr marL="32717" marR="32717" marT="16358" marB="16358" anchor="ctr"/>
                    </a:tc>
                    <a:tc>
                      <a:txBody>
                        <a:bodyPr/>
                        <a:lstStyle/>
                        <a:p>
                          <a:endParaRPr lang="en-US"/>
                        </a:p>
                      </a:txBody>
                      <a:tcPr marL="32717" marR="32717" marT="16358" marB="16358" anchor="ctr">
                        <a:blipFill>
                          <a:blip r:embed="rId3"/>
                          <a:stretch>
                            <a:fillRect l="-26154" t="-61765" r="-114103" b="-1176471"/>
                          </a:stretch>
                        </a:blipFill>
                      </a:tcPr>
                    </a:tc>
                    <a:tc>
                      <a:txBody>
                        <a:bodyPr/>
                        <a:lstStyle/>
                        <a:p>
                          <a:pPr>
                            <a:buNone/>
                          </a:pPr>
                          <a:r>
                            <a:rPr lang="en-US" sz="1300"/>
                            <a:t>Evaluate text-only, image-based, and joint image-text attacks separately.</a:t>
                          </a:r>
                        </a:p>
                      </a:txBody>
                      <a:tcPr marL="32717" marR="32717" marT="16358" marB="16358" anchor="ctr"/>
                    </a:tc>
                    <a:extLst>
                      <a:ext uri="{0D108BD9-81ED-4DB2-BD59-A6C34878D82A}">
                        <a16:rowId xmlns:a16="http://schemas.microsoft.com/office/drawing/2014/main" val="3995723137"/>
                      </a:ext>
                    </a:extLst>
                  </a:tr>
                  <a:tr h="233844">
                    <a:tc>
                      <a:txBody>
                        <a:bodyPr/>
                        <a:lstStyle/>
                        <a:p>
                          <a:pPr>
                            <a:buNone/>
                          </a:pPr>
                          <a:r>
                            <a:rPr lang="en-US" sz="1300"/>
                            <a:t>Refusal quality</a:t>
                          </a:r>
                        </a:p>
                      </a:txBody>
                      <a:tcPr marL="32717" marR="32717" marT="16358" marB="16358" anchor="ctr"/>
                    </a:tc>
                    <a:tc>
                      <a:txBody>
                        <a:bodyPr/>
                        <a:lstStyle/>
                        <a:p>
                          <a:pPr>
                            <a:buNone/>
                          </a:pPr>
                          <a:r>
                            <a:rPr lang="en-US" sz="1300"/>
                            <a:t>Harmful refusal rate and benign over-refusal rate</a:t>
                          </a:r>
                        </a:p>
                      </a:txBody>
                      <a:tcPr marL="32717" marR="32717" marT="16358" marB="16358" anchor="ctr"/>
                    </a:tc>
                    <a:tc>
                      <a:txBody>
                        <a:bodyPr/>
                        <a:lstStyle/>
                        <a:p>
                          <a:pPr>
                            <a:buNone/>
                          </a:pPr>
                          <a:r>
                            <a:rPr lang="en-US" sz="1300"/>
                            <a:t>Measure both safe refusal and inappropriate refusal.</a:t>
                          </a:r>
                        </a:p>
                      </a:txBody>
                      <a:tcPr marL="32717" marR="32717" marT="16358" marB="16358" anchor="ctr"/>
                    </a:tc>
                    <a:extLst>
                      <a:ext uri="{0D108BD9-81ED-4DB2-BD59-A6C34878D82A}">
                        <a16:rowId xmlns:a16="http://schemas.microsoft.com/office/drawing/2014/main" val="874753022"/>
                      </a:ext>
                    </a:extLst>
                  </a:tr>
                  <a:tr h="428956">
                    <a:tc>
                      <a:txBody>
                        <a:bodyPr/>
                        <a:lstStyle/>
                        <a:p>
                          <a:pPr>
                            <a:buNone/>
                          </a:pPr>
                          <a:r>
                            <a:rPr lang="en-US" sz="1300"/>
                            <a:t>VLM safety robustness</a:t>
                          </a:r>
                        </a:p>
                      </a:txBody>
                      <a:tcPr marL="32717" marR="32717" marT="16358" marB="16358" anchor="ctr"/>
                    </a:tc>
                    <a:tc>
                      <a:txBody>
                        <a:bodyPr/>
                        <a:lstStyle/>
                        <a:p>
                          <a:endParaRPr lang="en-US"/>
                        </a:p>
                      </a:txBody>
                      <a:tcPr marL="32717" marR="32717" marT="16358" marB="16358" anchor="ctr">
                        <a:blipFill>
                          <a:blip r:embed="rId3"/>
                          <a:stretch>
                            <a:fillRect l="-26154" t="-214706" r="-114103" b="-1023529"/>
                          </a:stretch>
                        </a:blipFill>
                      </a:tcPr>
                    </a:tc>
                    <a:tc>
                      <a:txBody>
                        <a:bodyPr/>
                        <a:lstStyle/>
                        <a:p>
                          <a:pPr>
                            <a:buNone/>
                          </a:pPr>
                          <a:r>
                            <a:rPr lang="en-US" sz="1300"/>
                            <a:t>Perturb the LM-LoRA/projector trainable subspace and reevaluate multimodal safety.</a:t>
                          </a:r>
                        </a:p>
                      </a:txBody>
                      <a:tcPr marL="32717" marR="32717" marT="16358" marB="16358" anchor="ctr"/>
                    </a:tc>
                    <a:extLst>
                      <a:ext uri="{0D108BD9-81ED-4DB2-BD59-A6C34878D82A}">
                        <a16:rowId xmlns:a16="http://schemas.microsoft.com/office/drawing/2014/main" val="3016078504"/>
                      </a:ext>
                    </a:extLst>
                  </a:tr>
                  <a:tr h="428956">
                    <a:tc>
                      <a:txBody>
                        <a:bodyPr/>
                        <a:lstStyle/>
                        <a:p>
                          <a:pPr>
                            <a:buNone/>
                          </a:pPr>
                          <a:r>
                            <a:rPr lang="en-US" sz="1300"/>
                            <a:t>Visual truthfulness</a:t>
                          </a:r>
                        </a:p>
                      </a:txBody>
                      <a:tcPr marL="32717" marR="32717" marT="16358" marB="16358" anchor="ctr"/>
                    </a:tc>
                    <a:tc>
                      <a:txBody>
                        <a:bodyPr/>
                        <a:lstStyle/>
                        <a:p>
                          <a:pPr>
                            <a:buNone/>
                          </a:pPr>
                          <a:r>
                            <a:rPr lang="en-US" sz="1300" dirty="0" err="1"/>
                            <a:t>MMHal</a:t>
                          </a:r>
                          <a:r>
                            <a:rPr lang="en-US" sz="1300" dirty="0"/>
                            <a:t>-Bench and POPE</a:t>
                          </a:r>
                        </a:p>
                      </a:txBody>
                      <a:tcPr marL="32717" marR="32717" marT="16358" marB="16358" anchor="ctr"/>
                    </a:tc>
                    <a:tc>
                      <a:txBody>
                        <a:bodyPr/>
                        <a:lstStyle/>
                        <a:p>
                          <a:pPr>
                            <a:buNone/>
                          </a:pPr>
                          <a:r>
                            <a:rPr lang="en-US" sz="1300" dirty="0"/>
                            <a:t>Measure open-ended hallucination and object-existence errors.</a:t>
                          </a:r>
                        </a:p>
                      </a:txBody>
                      <a:tcPr marL="32717" marR="32717" marT="16358" marB="16358" anchor="ctr"/>
                    </a:tc>
                    <a:extLst>
                      <a:ext uri="{0D108BD9-81ED-4DB2-BD59-A6C34878D82A}">
                        <a16:rowId xmlns:a16="http://schemas.microsoft.com/office/drawing/2014/main" val="995314158"/>
                      </a:ext>
                    </a:extLst>
                  </a:tr>
                  <a:tr h="334062">
                    <a:tc>
                      <a:txBody>
                        <a:bodyPr/>
                        <a:lstStyle/>
                        <a:p>
                          <a:pPr>
                            <a:buNone/>
                          </a:pPr>
                          <a:r>
                            <a:rPr lang="en-US" sz="1300"/>
                            <a:t>Task capability</a:t>
                          </a:r>
                        </a:p>
                      </a:txBody>
                      <a:tcPr marL="32717" marR="32717" marT="16358" marB="16358" anchor="ctr"/>
                    </a:tc>
                    <a:tc>
                      <a:txBody>
                        <a:bodyPr/>
                        <a:lstStyle/>
                        <a:p>
                          <a:pPr>
                            <a:buNone/>
                          </a:pPr>
                          <a:r>
                            <a:rPr lang="en-US" sz="1300"/>
                            <a:t>MathVista, medical VQA, DocVQA, visual instruction following</a:t>
                          </a:r>
                        </a:p>
                      </a:txBody>
                      <a:tcPr marL="32717" marR="32717" marT="16358" marB="16358" anchor="ctr"/>
                    </a:tc>
                    <a:tc>
                      <a:txBody>
                        <a:bodyPr/>
                        <a:lstStyle/>
                        <a:p>
                          <a:pPr>
                            <a:buNone/>
                          </a:pPr>
                          <a:r>
                            <a:rPr lang="en-US" sz="1300"/>
                            <a:t>Use disjoint held-out test sets after every continual stage.</a:t>
                          </a:r>
                        </a:p>
                      </a:txBody>
                      <a:tcPr marL="32717" marR="32717" marT="16358" marB="16358" anchor="ctr"/>
                    </a:tc>
                    <a:extLst>
                      <a:ext uri="{0D108BD9-81ED-4DB2-BD59-A6C34878D82A}">
                        <a16:rowId xmlns:a16="http://schemas.microsoft.com/office/drawing/2014/main" val="3627797454"/>
                      </a:ext>
                    </a:extLst>
                  </a:tr>
                  <a:tr h="255411">
                    <a:tc>
                      <a:txBody>
                        <a:bodyPr/>
                        <a:lstStyle/>
                        <a:p>
                          <a:pPr>
                            <a:buNone/>
                          </a:pPr>
                          <a:r>
                            <a:rPr lang="en-US" sz="1300"/>
                            <a:t>Task retention</a:t>
                          </a:r>
                        </a:p>
                      </a:txBody>
                      <a:tcPr marL="32717" marR="32717" marT="16358" marB="16358" anchor="ctr"/>
                    </a:tc>
                    <a:tc>
                      <a:txBody>
                        <a:bodyPr/>
                        <a:lstStyle/>
                        <a:p>
                          <a:endParaRPr lang="en-US"/>
                        </a:p>
                      </a:txBody>
                      <a:tcPr marL="32717" marR="32717" marT="16358" marB="16358" anchor="ctr">
                        <a:blipFill>
                          <a:blip r:embed="rId3"/>
                          <a:stretch>
                            <a:fillRect l="-26154" t="-835000" r="-114103" b="-1340000"/>
                          </a:stretch>
                        </a:blipFill>
                      </a:tcPr>
                    </a:tc>
                    <a:tc>
                      <a:txBody>
                        <a:bodyPr/>
                        <a:lstStyle/>
                        <a:p>
                          <a:pPr>
                            <a:buNone/>
                          </a:pPr>
                          <a:r>
                            <a:rPr lang="en-US" sz="1300"/>
                            <a:t>Evaluate every previous task after each new task.</a:t>
                          </a:r>
                        </a:p>
                      </a:txBody>
                      <a:tcPr marL="32717" marR="32717" marT="16358" marB="16358" anchor="ctr"/>
                    </a:tc>
                    <a:extLst>
                      <a:ext uri="{0D108BD9-81ED-4DB2-BD59-A6C34878D82A}">
                        <a16:rowId xmlns:a16="http://schemas.microsoft.com/office/drawing/2014/main" val="3541715414"/>
                      </a:ext>
                    </a:extLst>
                  </a:tr>
                  <a:tr h="230836">
                    <a:tc>
                      <a:txBody>
                        <a:bodyPr/>
                        <a:lstStyle/>
                        <a:p>
                          <a:pPr>
                            <a:buNone/>
                          </a:pPr>
                          <a:r>
                            <a:rPr lang="en-US" sz="1300"/>
                            <a:t>Forgetting</a:t>
                          </a:r>
                        </a:p>
                      </a:txBody>
                      <a:tcPr marL="32717" marR="32717" marT="16358" marB="16358" anchor="ctr"/>
                    </a:tc>
                    <a:tc>
                      <a:txBody>
                        <a:bodyPr/>
                        <a:lstStyle/>
                        <a:p>
                          <a:pPr>
                            <a:buNone/>
                          </a:pPr>
                          <a:r>
                            <a:rPr lang="en-US" sz="1300" dirty="0"/>
                            <a:t>BWT and FM</a:t>
                          </a:r>
                        </a:p>
                      </a:txBody>
                      <a:tcPr marL="32717" marR="32717" marT="16358" marB="16358" anchor="ctr"/>
                    </a:tc>
                    <a:tc>
                      <a:txBody>
                        <a:bodyPr/>
                        <a:lstStyle/>
                        <a:p>
                          <a:pPr>
                            <a:buNone/>
                          </a:pPr>
                          <a:r>
                            <a:rPr lang="en-US" sz="1300"/>
                            <a:t>Compute from the task-performance matrix.</a:t>
                          </a:r>
                        </a:p>
                      </a:txBody>
                      <a:tcPr marL="32717" marR="32717" marT="16358" marB="16358" anchor="ctr"/>
                    </a:tc>
                    <a:extLst>
                      <a:ext uri="{0D108BD9-81ED-4DB2-BD59-A6C34878D82A}">
                        <a16:rowId xmlns:a16="http://schemas.microsoft.com/office/drawing/2014/main" val="2010568309"/>
                      </a:ext>
                    </a:extLst>
                  </a:tr>
                  <a:tr h="428956">
                    <a:tc>
                      <a:txBody>
                        <a:bodyPr/>
                        <a:lstStyle/>
                        <a:p>
                          <a:pPr>
                            <a:buNone/>
                          </a:pPr>
                          <a:r>
                            <a:rPr lang="en-US" sz="1300"/>
                            <a:t>Cross-task interference</a:t>
                          </a:r>
                        </a:p>
                      </a:txBody>
                      <a:tcPr marL="32717" marR="32717" marT="16358" marB="16358" anchor="ctr"/>
                    </a:tc>
                    <a:tc>
                      <a:txBody>
                        <a:bodyPr/>
                        <a:lstStyle/>
                        <a:p>
                          <a:endParaRPr lang="en-US"/>
                        </a:p>
                      </a:txBody>
                      <a:tcPr marL="32717" marR="32717" marT="16358" marB="16358" anchor="ctr">
                        <a:blipFill>
                          <a:blip r:embed="rId3"/>
                          <a:stretch>
                            <a:fillRect l="-26154" t="-624242" r="-114103" b="-654545"/>
                          </a:stretch>
                        </a:blipFill>
                      </a:tcPr>
                    </a:tc>
                    <a:tc>
                      <a:txBody>
                        <a:bodyPr/>
                        <a:lstStyle/>
                        <a:p>
                          <a:pPr>
                            <a:buNone/>
                          </a:pPr>
                          <a:r>
                            <a:rPr lang="en-US" sz="1300" dirty="0"/>
                            <a:t>Measure changes in earlier-task performance after learning task j.</a:t>
                          </a:r>
                        </a:p>
                      </a:txBody>
                      <a:tcPr marL="32717" marR="32717" marT="16358" marB="16358" anchor="ctr"/>
                    </a:tc>
                    <a:extLst>
                      <a:ext uri="{0D108BD9-81ED-4DB2-BD59-A6C34878D82A}">
                        <a16:rowId xmlns:a16="http://schemas.microsoft.com/office/drawing/2014/main" val="4226333456"/>
                      </a:ext>
                    </a:extLst>
                  </a:tr>
                  <a:tr h="428956">
                    <a:tc>
                      <a:txBody>
                        <a:bodyPr/>
                        <a:lstStyle/>
                        <a:p>
                          <a:pPr>
                            <a:buNone/>
                          </a:pPr>
                          <a:r>
                            <a:rPr lang="en-US" sz="1300"/>
                            <a:t>Language gradient</a:t>
                          </a:r>
                        </a:p>
                      </a:txBody>
                      <a:tcPr marL="32717" marR="32717" marT="16358" marB="16358" anchor="ctr"/>
                    </a:tc>
                    <a:tc>
                      <a:txBody>
                        <a:bodyPr/>
                        <a:lstStyle/>
                        <a:p>
                          <a:endParaRPr lang="en-US"/>
                        </a:p>
                      </a:txBody>
                      <a:tcPr marL="32717" marR="32717" marT="16358" marB="16358" anchor="ctr">
                        <a:blipFill>
                          <a:blip r:embed="rId3"/>
                          <a:stretch>
                            <a:fillRect l="-26154" t="-702941" r="-114103" b="-535294"/>
                          </a:stretch>
                        </a:blipFill>
                      </a:tcPr>
                    </a:tc>
                    <a:tc>
                      <a:txBody>
                        <a:bodyPr/>
                        <a:lstStyle/>
                        <a:p>
                          <a:pPr>
                            <a:buNone/>
                          </a:pPr>
                          <a:r>
                            <a:rPr lang="en-US" sz="1300"/>
                            <a:t>Response-only loss gradient over LM-LoRA parameters.</a:t>
                          </a:r>
                        </a:p>
                      </a:txBody>
                      <a:tcPr marL="32717" marR="32717" marT="16358" marB="16358" anchor="ctr"/>
                    </a:tc>
                    <a:extLst>
                      <a:ext uri="{0D108BD9-81ED-4DB2-BD59-A6C34878D82A}">
                        <a16:rowId xmlns:a16="http://schemas.microsoft.com/office/drawing/2014/main" val="3791731202"/>
                      </a:ext>
                    </a:extLst>
                  </a:tr>
                  <a:tr h="428956">
                    <a:tc>
                      <a:txBody>
                        <a:bodyPr/>
                        <a:lstStyle/>
                        <a:p>
                          <a:pPr>
                            <a:buNone/>
                          </a:pPr>
                          <a:r>
                            <a:rPr lang="en-US" sz="1300"/>
                            <a:t>Projector gradient</a:t>
                          </a:r>
                        </a:p>
                      </a:txBody>
                      <a:tcPr marL="32717" marR="32717" marT="16358" marB="16358" anchor="ctr"/>
                    </a:tc>
                    <a:tc>
                      <a:txBody>
                        <a:bodyPr/>
                        <a:lstStyle/>
                        <a:p>
                          <a:endParaRPr lang="en-US"/>
                        </a:p>
                      </a:txBody>
                      <a:tcPr marL="32717" marR="32717" marT="16358" marB="16358" anchor="ctr">
                        <a:blipFill>
                          <a:blip r:embed="rId3"/>
                          <a:stretch>
                            <a:fillRect l="-26154" t="-802941" r="-114103" b="-435294"/>
                          </a:stretch>
                        </a:blipFill>
                      </a:tcPr>
                    </a:tc>
                    <a:tc>
                      <a:txBody>
                        <a:bodyPr/>
                        <a:lstStyle/>
                        <a:p>
                          <a:pPr>
                            <a:buNone/>
                          </a:pPr>
                          <a:r>
                            <a:rPr lang="en-US" sz="1300"/>
                            <a:t>Response-only loss gradient over projector parameters.</a:t>
                          </a:r>
                        </a:p>
                      </a:txBody>
                      <a:tcPr marL="32717" marR="32717" marT="16358" marB="16358" anchor="ctr"/>
                    </a:tc>
                    <a:extLst>
                      <a:ext uri="{0D108BD9-81ED-4DB2-BD59-A6C34878D82A}">
                        <a16:rowId xmlns:a16="http://schemas.microsoft.com/office/drawing/2014/main" val="973799993"/>
                      </a:ext>
                    </a:extLst>
                  </a:tr>
                  <a:tr h="250267">
                    <a:tc>
                      <a:txBody>
                        <a:bodyPr/>
                        <a:lstStyle/>
                        <a:p>
                          <a:pPr>
                            <a:buNone/>
                          </a:pPr>
                          <a:r>
                            <a:rPr lang="en-US" sz="1300"/>
                            <a:t>Joint gradient</a:t>
                          </a:r>
                        </a:p>
                      </a:txBody>
                      <a:tcPr marL="32717" marR="32717" marT="16358" marB="16358" anchor="ctr"/>
                    </a:tc>
                    <a:tc>
                      <a:txBody>
                        <a:bodyPr/>
                        <a:lstStyle/>
                        <a:p>
                          <a:endParaRPr lang="en-US"/>
                        </a:p>
                      </a:txBody>
                      <a:tcPr marL="32717" marR="32717" marT="16358" marB="16358" anchor="ctr">
                        <a:blipFill>
                          <a:blip r:embed="rId3"/>
                          <a:stretch>
                            <a:fillRect l="-26154" t="-1535000" r="-114103" b="-640000"/>
                          </a:stretch>
                        </a:blipFill>
                      </a:tcPr>
                    </a:tc>
                    <a:tc>
                      <a:txBody>
                        <a:bodyPr/>
                        <a:lstStyle/>
                        <a:p>
                          <a:pPr>
                            <a:buNone/>
                          </a:pPr>
                          <a:r>
                            <a:rPr lang="en-US" sz="1300"/>
                            <a:t>Combine normalized language and projector norms.</a:t>
                          </a:r>
                        </a:p>
                      </a:txBody>
                      <a:tcPr marL="32717" marR="32717" marT="16358" marB="16358" anchor="ctr"/>
                    </a:tc>
                    <a:extLst>
                      <a:ext uri="{0D108BD9-81ED-4DB2-BD59-A6C34878D82A}">
                        <a16:rowId xmlns:a16="http://schemas.microsoft.com/office/drawing/2014/main" val="3423554557"/>
                      </a:ext>
                    </a:extLst>
                  </a:tr>
                  <a:tr h="428956">
                    <a:tc>
                      <a:txBody>
                        <a:bodyPr/>
                        <a:lstStyle/>
                        <a:p>
                          <a:pPr>
                            <a:buNone/>
                          </a:pPr>
                          <a:r>
                            <a:rPr lang="en-US" sz="1300"/>
                            <a:t>Sample confounds</a:t>
                          </a:r>
                        </a:p>
                      </a:txBody>
                      <a:tcPr marL="32717" marR="32717" marT="16358" marB="16358" anchor="ctr"/>
                    </a:tc>
                    <a:tc>
                      <a:txBody>
                        <a:bodyPr/>
                        <a:lstStyle/>
                        <a:p>
                          <a:pPr>
                            <a:buNone/>
                          </a:pPr>
                          <a:r>
                            <a:rPr lang="en-US" sz="1300" dirty="0"/>
                            <a:t>Length and image statistics</a:t>
                          </a:r>
                        </a:p>
                      </a:txBody>
                      <a:tcPr marL="32717" marR="32717" marT="16358" marB="16358" anchor="ctr"/>
                    </a:tc>
                    <a:tc>
                      <a:txBody>
                        <a:bodyPr/>
                        <a:lstStyle/>
                        <a:p>
                          <a:pPr>
                            <a:buNone/>
                          </a:pPr>
                          <a:r>
                            <a:rPr lang="en-US" sz="1300"/>
                            <a:t>Log answer length, prompt length, image-token count, resolution, and OCR complexity.</a:t>
                          </a:r>
                        </a:p>
                      </a:txBody>
                      <a:tcPr marL="32717" marR="32717" marT="16358" marB="16358" anchor="ctr"/>
                    </a:tc>
                    <a:extLst>
                      <a:ext uri="{0D108BD9-81ED-4DB2-BD59-A6C34878D82A}">
                        <a16:rowId xmlns:a16="http://schemas.microsoft.com/office/drawing/2014/main" val="175980464"/>
                      </a:ext>
                    </a:extLst>
                  </a:tr>
                  <a:tr h="434281">
                    <a:tc>
                      <a:txBody>
                        <a:bodyPr/>
                        <a:lstStyle/>
                        <a:p>
                          <a:pPr>
                            <a:buNone/>
                          </a:pPr>
                          <a:r>
                            <a:rPr lang="en-US" sz="1300"/>
                            <a:t>Safety mechanism</a:t>
                          </a:r>
                        </a:p>
                      </a:txBody>
                      <a:tcPr marL="32717" marR="32717" marT="16358" marB="16358" anchor="ctr"/>
                    </a:tc>
                    <a:tc>
                      <a:txBody>
                        <a:bodyPr/>
                        <a:lstStyle/>
                        <a:p>
                          <a:pPr>
                            <a:buNone/>
                          </a:pPr>
                          <a:r>
                            <a:rPr lang="en-US" sz="1300" dirty="0"/>
                            <a:t>Parameter/distribution drift</a:t>
                          </a:r>
                        </a:p>
                      </a:txBody>
                      <a:tcPr marL="32717" marR="32717" marT="16358" marB="16358" anchor="ctr"/>
                    </a:tc>
                    <a:tc>
                      <a:txBody>
                        <a:bodyPr/>
                        <a:lstStyle/>
                        <a:p>
                          <a:pPr>
                            <a:buNone/>
                          </a:pPr>
                          <a:r>
                            <a:rPr lang="en-US" sz="1300"/>
                            <a:t>Compare the adapted VLM with the aligned checkpoint and, if available, the corresponding base model.</a:t>
                          </a:r>
                        </a:p>
                      </a:txBody>
                      <a:tcPr marL="32717" marR="32717" marT="16358" marB="16358" anchor="ctr"/>
                    </a:tc>
                    <a:extLst>
                      <a:ext uri="{0D108BD9-81ED-4DB2-BD59-A6C34878D82A}">
                        <a16:rowId xmlns:a16="http://schemas.microsoft.com/office/drawing/2014/main" val="2022384232"/>
                      </a:ext>
                    </a:extLst>
                  </a:tr>
                  <a:tr h="428956">
                    <a:tc>
                      <a:txBody>
                        <a:bodyPr/>
                        <a:lstStyle/>
                        <a:p>
                          <a:pPr>
                            <a:buNone/>
                          </a:pPr>
                          <a:r>
                            <a:rPr lang="en-US" sz="1300"/>
                            <a:t>Evaluation validity</a:t>
                          </a:r>
                        </a:p>
                      </a:txBody>
                      <a:tcPr marL="32717" marR="32717" marT="16358" marB="16358" anchor="ctr"/>
                    </a:tc>
                    <a:tc>
                      <a:txBody>
                        <a:bodyPr/>
                        <a:lstStyle/>
                        <a:p>
                          <a:pPr>
                            <a:buNone/>
                          </a:pPr>
                          <a:r>
                            <a:rPr lang="en-US" sz="1300" dirty="0"/>
                            <a:t>Judge/manual agreement</a:t>
                          </a:r>
                        </a:p>
                      </a:txBody>
                      <a:tcPr marL="32717" marR="32717" marT="16358" marB="16358" anchor="ctr"/>
                    </a:tc>
                    <a:tc>
                      <a:txBody>
                        <a:bodyPr/>
                        <a:lstStyle/>
                        <a:p>
                          <a:pPr>
                            <a:buNone/>
                          </a:pPr>
                          <a:r>
                            <a:rPr lang="en-US" sz="1300"/>
                            <a:t>Audit automatic safety labels on stratified multimodal examples.</a:t>
                          </a:r>
                        </a:p>
                      </a:txBody>
                      <a:tcPr marL="32717" marR="32717" marT="16358" marB="16358" anchor="ctr"/>
                    </a:tc>
                    <a:extLst>
                      <a:ext uri="{0D108BD9-81ED-4DB2-BD59-A6C34878D82A}">
                        <a16:rowId xmlns:a16="http://schemas.microsoft.com/office/drawing/2014/main" val="4168663808"/>
                      </a:ext>
                    </a:extLst>
                  </a:tr>
                  <a:tr h="233844">
                    <a:tc>
                      <a:txBody>
                        <a:bodyPr/>
                        <a:lstStyle/>
                        <a:p>
                          <a:pPr>
                            <a:buNone/>
                          </a:pPr>
                          <a:r>
                            <a:rPr lang="en-US" sz="1300" dirty="0"/>
                            <a:t>Efficiency</a:t>
                          </a:r>
                        </a:p>
                      </a:txBody>
                      <a:tcPr marL="32717" marR="32717" marT="16358" marB="16358" anchor="ctr"/>
                    </a:tc>
                    <a:tc>
                      <a:txBody>
                        <a:bodyPr/>
                        <a:lstStyle/>
                        <a:p>
                          <a:pPr>
                            <a:buNone/>
                          </a:pPr>
                          <a:r>
                            <a:rPr lang="en-US" sz="1300"/>
                            <a:t>Training time and memory</a:t>
                          </a:r>
                        </a:p>
                      </a:txBody>
                      <a:tcPr marL="32717" marR="32717" marT="16358" marB="16358" anchor="ctr"/>
                    </a:tc>
                    <a:tc>
                      <a:txBody>
                        <a:bodyPr/>
                        <a:lstStyle/>
                        <a:p>
                          <a:pPr>
                            <a:buNone/>
                          </a:pPr>
                          <a:r>
                            <a:rPr lang="en-US" sz="1300" dirty="0"/>
                            <a:t>Measure the extra cost of per-sample gradient computation.</a:t>
                          </a:r>
                        </a:p>
                      </a:txBody>
                      <a:tcPr marL="32717" marR="32717" marT="16358" marB="16358" anchor="ctr"/>
                    </a:tc>
                    <a:extLst>
                      <a:ext uri="{0D108BD9-81ED-4DB2-BD59-A6C34878D82A}">
                        <a16:rowId xmlns:a16="http://schemas.microsoft.com/office/drawing/2014/main" val="3101327908"/>
                      </a:ext>
                    </a:extLst>
                  </a:tr>
                </a:tbl>
              </a:graphicData>
            </a:graphic>
          </p:graphicFrame>
        </mc:Fallback>
      </mc:AlternateContent>
    </p:spTree>
    <p:extLst>
      <p:ext uri="{BB962C8B-B14F-4D97-AF65-F5344CB8AC3E}">
        <p14:creationId xmlns:p14="http://schemas.microsoft.com/office/powerpoint/2010/main" val="2156552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81B61-C7DC-8A42-40D3-F76C4BE46AD9}"/>
              </a:ext>
            </a:extLst>
          </p:cNvPr>
          <p:cNvSpPr>
            <a:spLocks noGrp="1"/>
          </p:cNvSpPr>
          <p:nvPr>
            <p:ph type="title"/>
          </p:nvPr>
        </p:nvSpPr>
        <p:spPr/>
        <p:txBody>
          <a:bodyPr/>
          <a:lstStyle/>
          <a:p>
            <a:r>
              <a:rPr lang="en-US" dirty="0"/>
              <a:t>Summary and Open Research questions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ED87FB2-0D27-3E65-5D42-9296B35020B2}"/>
                  </a:ext>
                </a:extLst>
              </p:cNvPr>
              <p:cNvSpPr>
                <a:spLocks noGrp="1"/>
              </p:cNvSpPr>
              <p:nvPr>
                <p:ph idx="1"/>
              </p:nvPr>
            </p:nvSpPr>
            <p:spPr>
              <a:xfrm>
                <a:off x="838200" y="1825624"/>
                <a:ext cx="10515600" cy="4945045"/>
              </a:xfrm>
            </p:spPr>
            <p:txBody>
              <a:bodyPr>
                <a:normAutofit fontScale="92500" lnSpcReduction="20000"/>
              </a:bodyPr>
              <a:lstStyle/>
              <a:p>
                <a:pPr lvl="0"/>
                <a:r>
                  <a:rPr lang="en-US" b="1" dirty="0"/>
                  <a:t>What We Know (LLMs):</a:t>
                </a:r>
                <a:r>
                  <a:rPr lang="en-US" dirty="0"/>
                  <a:t> In the source LLM study, high-gradient samples were associated with format mismatch and movement consistent with elastic reversion; median filtering preserves alignment without extra safety data.</a:t>
                </a:r>
              </a:p>
              <a:p>
                <a:pPr lvl="0"/>
                <a:r>
                  <a:rPr lang="en-US" b="1" dirty="0"/>
                  <a:t>What We Are Testing (VLMs):</a:t>
                </a:r>
                <a:r>
                  <a:rPr lang="en-US" dirty="0"/>
                  <a:t> </a:t>
                </a:r>
              </a:p>
              <a:p>
                <a:pPr lvl="1"/>
                <a:r>
                  <a:rPr lang="en-US" dirty="0"/>
                  <a:t>Does multimodal gradient selection preserve VLM safety across both text and visual jailbreaks?</a:t>
                </a:r>
              </a:p>
              <a:p>
                <a:pPr lvl="1"/>
                <a:r>
                  <a:rPr lang="en-US" dirty="0"/>
                  <a:t>Does tension concentrate in the language </a:t>
                </a:r>
                <a:r>
                  <a:rPr lang="en-US" dirty="0" err="1"/>
                  <a:t>LoRA</a:t>
                </a:r>
                <a:r>
                  <a:rPr lang="en-US" dirty="0"/>
                  <a:t> weights [</a:t>
                </a:r>
                <a14:m>
                  <m:oMath xmlns:m="http://schemas.openxmlformats.org/officeDocument/2006/math">
                    <m:sSubSup>
                      <m:sSubSupPr>
                        <m:ctrlPr>
                          <a:rPr lang="en-US" b="1" i="1" dirty="0" smtClean="0">
                            <a:latin typeface="Cambria Math" panose="02040503050406030204" pitchFamily="18" charset="0"/>
                          </a:rPr>
                        </m:ctrlPr>
                      </m:sSubSupPr>
                      <m:e>
                        <m:r>
                          <a:rPr lang="en-US" b="1" i="1" dirty="0" smtClean="0">
                            <a:latin typeface="Cambria Math" panose="02040503050406030204" pitchFamily="18" charset="0"/>
                          </a:rPr>
                          <m:t>𝑮</m:t>
                        </m:r>
                      </m:e>
                      <m:sub>
                        <m:r>
                          <a:rPr lang="en-US" b="1" i="1" dirty="0" smtClean="0">
                            <a:latin typeface="Cambria Math" panose="02040503050406030204" pitchFamily="18" charset="0"/>
                          </a:rPr>
                          <m:t>𝒊</m:t>
                        </m:r>
                      </m:sub>
                      <m:sup>
                        <m:r>
                          <a:rPr lang="en-US" b="1" i="1" dirty="0" smtClean="0">
                            <a:latin typeface="Cambria Math" panose="02040503050406030204" pitchFamily="18" charset="0"/>
                          </a:rPr>
                          <m:t>(</m:t>
                        </m:r>
                        <m:r>
                          <a:rPr lang="en-US" b="1" i="1" dirty="0" smtClean="0">
                            <a:latin typeface="Cambria Math" panose="02040503050406030204" pitchFamily="18" charset="0"/>
                          </a:rPr>
                          <m:t>𝑳</m:t>
                        </m:r>
                        <m:r>
                          <a:rPr lang="en-US" b="1" i="1" dirty="0" smtClean="0">
                            <a:latin typeface="Cambria Math" panose="02040503050406030204" pitchFamily="18" charset="0"/>
                          </a:rPr>
                          <m:t>)</m:t>
                        </m:r>
                      </m:sup>
                    </m:sSubSup>
                  </m:oMath>
                </a14:m>
                <a:r>
                  <a:rPr lang="en-US" dirty="0"/>
                  <a:t>] or the cross-modal projector [</a:t>
                </a:r>
                <a14:m>
                  <m:oMath xmlns:m="http://schemas.openxmlformats.org/officeDocument/2006/math">
                    <m:sSubSup>
                      <m:sSubSupPr>
                        <m:ctrlPr>
                          <a:rPr lang="en-US" b="1" i="1" dirty="0" smtClean="0">
                            <a:latin typeface="Cambria Math" panose="02040503050406030204" pitchFamily="18" charset="0"/>
                          </a:rPr>
                        </m:ctrlPr>
                      </m:sSubSupPr>
                      <m:e>
                        <m:r>
                          <a:rPr lang="en-US" b="1" i="1" dirty="0" smtClean="0">
                            <a:latin typeface="Cambria Math" panose="02040503050406030204" pitchFamily="18" charset="0"/>
                          </a:rPr>
                          <m:t>𝑮</m:t>
                        </m:r>
                      </m:e>
                      <m:sub>
                        <m:r>
                          <a:rPr lang="en-US" b="1" i="1" dirty="0" smtClean="0">
                            <a:latin typeface="Cambria Math" panose="02040503050406030204" pitchFamily="18" charset="0"/>
                          </a:rPr>
                          <m:t>𝒊</m:t>
                        </m:r>
                      </m:sub>
                      <m:sup>
                        <m:r>
                          <a:rPr lang="en-US" b="1" i="1" dirty="0" smtClean="0">
                            <a:latin typeface="Cambria Math" panose="02040503050406030204" pitchFamily="18" charset="0"/>
                          </a:rPr>
                          <m:t>(</m:t>
                        </m:r>
                        <m:r>
                          <a:rPr lang="en-US" b="1" i="1" dirty="0" smtClean="0">
                            <a:latin typeface="Cambria Math" panose="02040503050406030204" pitchFamily="18" charset="0"/>
                          </a:rPr>
                          <m:t>𝑷</m:t>
                        </m:r>
                        <m:r>
                          <a:rPr lang="en-US" b="1" i="1" dirty="0" smtClean="0">
                            <a:latin typeface="Cambria Math" panose="02040503050406030204" pitchFamily="18" charset="0"/>
                          </a:rPr>
                          <m:t>)</m:t>
                        </m:r>
                      </m:sup>
                    </m:sSubSup>
                  </m:oMath>
                </a14:m>
                <a:r>
                  <a:rPr lang="en-US" dirty="0"/>
                  <a:t>]?</a:t>
                </a:r>
              </a:p>
              <a:p>
                <a:pPr lvl="1"/>
                <a:r>
                  <a:rPr lang="en-US" dirty="0"/>
                  <a:t>Can we eliminate catastrophic forgetting in continual VLM domain adaptation with zero architecture overhead?</a:t>
                </a:r>
              </a:p>
              <a:p>
                <a:pPr lvl="1"/>
                <a:r>
                  <a:rPr lang="en-US" dirty="0"/>
                  <a:t>Can data-centric median filtering achieve competitive safety retention against architectural approaches like </a:t>
                </a:r>
                <a:r>
                  <a:rPr lang="en-US" dirty="0" err="1"/>
                  <a:t>SafeVLM</a:t>
                </a:r>
                <a:r>
                  <a:rPr lang="en-US" dirty="0"/>
                  <a:t> without inference penalties?</a:t>
                </a:r>
              </a:p>
              <a:p>
                <a:pPr lvl="1"/>
                <a:r>
                  <a:rPr lang="en-US" dirty="0"/>
                  <a:t>Does high-gradient sample selection drive safety basin collapse in multimodal models as it does in text LLMs?</a:t>
                </a:r>
              </a:p>
              <a:p>
                <a:pPr lvl="1"/>
                <a:r>
                  <a:rPr lang="en-US" dirty="0"/>
                  <a:t>Does any observed improvement remain after controlling for target length, image-token count, and over-refusal?</a:t>
                </a:r>
              </a:p>
              <a:p>
                <a:endParaRPr lang="en-US" dirty="0"/>
              </a:p>
            </p:txBody>
          </p:sp>
        </mc:Choice>
        <mc:Fallback xmlns="">
          <p:sp>
            <p:nvSpPr>
              <p:cNvPr id="3" name="Content Placeholder 2">
                <a:extLst>
                  <a:ext uri="{FF2B5EF4-FFF2-40B4-BE49-F238E27FC236}">
                    <a16:creationId xmlns:a16="http://schemas.microsoft.com/office/drawing/2014/main" id="{2ED87FB2-0D27-3E65-5D42-9296B35020B2}"/>
                  </a:ext>
                </a:extLst>
              </p:cNvPr>
              <p:cNvSpPr>
                <a:spLocks noGrp="1" noRot="1" noChangeAspect="1" noMove="1" noResize="1" noEditPoints="1" noAdjustHandles="1" noChangeArrowheads="1" noChangeShapeType="1" noTextEdit="1"/>
              </p:cNvSpPr>
              <p:nvPr>
                <p:ph idx="1"/>
              </p:nvPr>
            </p:nvSpPr>
            <p:spPr>
              <a:xfrm>
                <a:off x="838200" y="1825624"/>
                <a:ext cx="10515600" cy="4945045"/>
              </a:xfrm>
              <a:blipFill>
                <a:blip r:embed="rId3"/>
                <a:stretch>
                  <a:fillRect l="-965" t="-3069" b="-2302"/>
                </a:stretch>
              </a:blipFill>
            </p:spPr>
            <p:txBody>
              <a:bodyPr/>
              <a:lstStyle/>
              <a:p>
                <a:r>
                  <a:rPr lang="en-US">
                    <a:noFill/>
                  </a:rPr>
                  <a:t> </a:t>
                </a:r>
              </a:p>
            </p:txBody>
          </p:sp>
        </mc:Fallback>
      </mc:AlternateContent>
    </p:spTree>
    <p:extLst>
      <p:ext uri="{BB962C8B-B14F-4D97-AF65-F5344CB8AC3E}">
        <p14:creationId xmlns:p14="http://schemas.microsoft.com/office/powerpoint/2010/main" val="34067449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C85C9-AA46-3844-0896-79B16685AF05}"/>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C8892862-AF62-F5B9-0A2F-9F18D0757F89}"/>
              </a:ext>
            </a:extLst>
          </p:cNvPr>
          <p:cNvSpPr>
            <a:spLocks noGrp="1"/>
          </p:cNvSpPr>
          <p:nvPr>
            <p:ph idx="1"/>
          </p:nvPr>
        </p:nvSpPr>
        <p:spPr>
          <a:xfrm>
            <a:off x="838200" y="1411357"/>
            <a:ext cx="10515600" cy="4765606"/>
          </a:xfrm>
        </p:spPr>
        <p:txBody>
          <a:bodyPr>
            <a:normAutofit fontScale="92500" lnSpcReduction="20000"/>
          </a:bodyPr>
          <a:lstStyle/>
          <a:p>
            <a:r>
              <a:rPr lang="en-US" dirty="0"/>
              <a:t>Bach et al. (arXiv:2604.17215)</a:t>
            </a:r>
          </a:p>
          <a:p>
            <a:r>
              <a:rPr lang="en-US" dirty="0"/>
              <a:t>Ji et al. (arXiv:2406.06144)</a:t>
            </a:r>
          </a:p>
          <a:p>
            <a:r>
              <a:rPr lang="en-US" dirty="0"/>
              <a:t>Peng et al. (arXiv:2405.17374)</a:t>
            </a:r>
          </a:p>
          <a:p>
            <a:r>
              <a:rPr lang="en-US" dirty="0"/>
              <a:t>MM-</a:t>
            </a:r>
            <a:r>
              <a:rPr lang="en-US" dirty="0" err="1"/>
              <a:t>SafetyBench</a:t>
            </a:r>
            <a:endParaRPr lang="en-US" dirty="0"/>
          </a:p>
          <a:p>
            <a:r>
              <a:rPr lang="en-US" dirty="0"/>
              <a:t>FigStep</a:t>
            </a:r>
          </a:p>
          <a:p>
            <a:r>
              <a:rPr lang="en-US" dirty="0"/>
              <a:t>SaLORA</a:t>
            </a:r>
          </a:p>
          <a:p>
            <a:r>
              <a:rPr lang="en-US" dirty="0"/>
              <a:t>LARF</a:t>
            </a:r>
          </a:p>
          <a:p>
            <a:r>
              <a:rPr lang="en-US" dirty="0"/>
              <a:t>EWC</a:t>
            </a:r>
          </a:p>
          <a:p>
            <a:r>
              <a:rPr lang="en-US" dirty="0" err="1"/>
              <a:t>VLGuard</a:t>
            </a:r>
            <a:endParaRPr lang="en-US" dirty="0"/>
          </a:p>
          <a:p>
            <a:r>
              <a:rPr lang="en-US" dirty="0" err="1"/>
              <a:t>LLaVA</a:t>
            </a:r>
            <a:endParaRPr lang="en-US" dirty="0"/>
          </a:p>
          <a:p>
            <a:r>
              <a:rPr lang="en-US" dirty="0"/>
              <a:t>MathVista</a:t>
            </a:r>
          </a:p>
          <a:p>
            <a:endParaRPr lang="en-US" dirty="0"/>
          </a:p>
        </p:txBody>
      </p:sp>
    </p:spTree>
    <p:extLst>
      <p:ext uri="{BB962C8B-B14F-4D97-AF65-F5344CB8AC3E}">
        <p14:creationId xmlns:p14="http://schemas.microsoft.com/office/powerpoint/2010/main" val="480567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2247</TotalTime>
  <Words>11813</Words>
  <Application>Microsoft Macintosh PowerPoint</Application>
  <PresentationFormat>Widescreen</PresentationFormat>
  <Paragraphs>872</Paragraphs>
  <Slides>31</Slides>
  <Notes>31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-apple-system</vt:lpstr>
      <vt:lpstr>Aptos</vt:lpstr>
      <vt:lpstr>Aptos Display</vt:lpstr>
      <vt:lpstr>Arial</vt:lpstr>
      <vt:lpstr>Cambria Math</vt:lpstr>
      <vt:lpstr>Google Sans Text</vt:lpstr>
      <vt:lpstr>Symbol</vt:lpstr>
      <vt:lpstr>Office Theme</vt:lpstr>
      <vt:lpstr>PowerPoint Presentation</vt:lpstr>
      <vt:lpstr>PowerPoint Presentation</vt:lpstr>
      <vt:lpstr>LLM Elasticity  This project does not assume dataset size alone determines update direction</vt:lpstr>
      <vt:lpstr>VISAGE: Volumetric Index for Safety Alignment Guided by Explanation</vt:lpstr>
      <vt:lpstr>PowerPoint Presentation</vt:lpstr>
      <vt:lpstr>VLM Attack Surface &amp; Multi-Channel Evaluation</vt:lpstr>
      <vt:lpstr>Related Multimodal safety approach Reference: Nie et al., Safety Alignment for Vision Language Models, arXiv:2405.13581 (SafeVLM) </vt:lpstr>
      <vt:lpstr>SafeVLM Empirical Results: Safety Scores &amp; Over-Refusal Trade-offs (Tables 3 &amp; 4).</vt:lpstr>
      <vt:lpstr>VLM extension: Methodology</vt:lpstr>
      <vt:lpstr>VLM extension: Methodology</vt:lpstr>
      <vt:lpstr>VLM extension: Methodology Disentangling Modality Tension (Format Mismatch vs. Visual Cross-Attention) </vt:lpstr>
      <vt:lpstr>VLM extension: Methodology</vt:lpstr>
      <vt:lpstr>VLM extension: Methodology Proposed gradient attribution ablation</vt:lpstr>
      <vt:lpstr>VLM extension: Methodology</vt:lpstr>
      <vt:lpstr>VLM extension: Methodology VLM-specific diagnostic</vt:lpstr>
      <vt:lpstr>VLM extension: Methodology Language LoRA, Projector, Joint Multimodal Tension, Length normalization </vt:lpstr>
      <vt:lpstr>VLM extension: Methodology</vt:lpstr>
      <vt:lpstr>Execution Plan</vt:lpstr>
      <vt:lpstr>Implementation Plan</vt:lpstr>
      <vt:lpstr>Implementation Plan</vt:lpstr>
      <vt:lpstr>Safety judges for VLMs</vt:lpstr>
      <vt:lpstr>Safety judges for VLMs</vt:lpstr>
      <vt:lpstr>Safety judges for VLMs</vt:lpstr>
      <vt:lpstr>Threat Model</vt:lpstr>
      <vt:lpstr>VLM Evaluation and Observability</vt:lpstr>
      <vt:lpstr>VLM Continual-Learning Diagnostics VLM Continual Learning Metrics</vt:lpstr>
      <vt:lpstr>VLM specific mechanism Diagnostics</vt:lpstr>
      <vt:lpstr>VLM Control Conditions and Baselines</vt:lpstr>
      <vt:lpstr>VLM Continual-Learning Diagnostics</vt:lpstr>
      <vt:lpstr>Summary and Open Research questions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Aryaman Dev</dc:creator>
  <cp:lastModifiedBy>Aryaman Dev</cp:lastModifiedBy>
  <cp:revision>25</cp:revision>
  <dcterms:created xsi:type="dcterms:W3CDTF">2026-09-15T19:14:23Z</dcterms:created>
  <dcterms:modified xsi:type="dcterms:W3CDTF">2026-09-24T19:48:47Z</dcterms:modified>
</cp:coreProperties>
</file>
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6.xml" ContentType="application/vnd.openxmlformats-officedocument.presentationml.notesSlide+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notesSlides/notesSlide14.xml" ContentType="application/vnd.openxmlformats-officedocument.presentationml.notesSlide+xml"/>
  <Override PartName="/ppt/ink/ink37.xml" ContentType="application/inkml+xml"/>
  <Override PartName="/ppt/ink/ink38.xml" ContentType="application/inkml+xml"/>
  <Override PartName="/ppt/ink/ink39.xml" ContentType="application/inkml+xml"/>
  <Override PartName="/ppt/notesSlides/notesSlide15.xml" ContentType="application/vnd.openxmlformats-officedocument.presentationml.notesSlide+xml"/>
  <Override PartName="/ppt/ink/ink40.xml" ContentType="application/inkml+xml"/>
  <Override PartName="/ppt/ink/ink41.xml" ContentType="application/inkml+xml"/>
  <Override PartName="/ppt/ink/ink42.xml" ContentType="application/inkml+xml"/>
  <Override PartName="/ppt/notesSlides/notesSlide16.xml" ContentType="application/vnd.openxmlformats-officedocument.presentationml.notesSlide+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notesSlides/notesSlide17.xml" ContentType="application/vnd.openxmlformats-officedocument.presentationml.notesSlide+xml"/>
  <Override PartName="/ppt/ink/ink48.xml" ContentType="application/inkml+xml"/>
  <Override PartName="/ppt/ink/ink49.xml" ContentType="application/inkml+xml"/>
  <Override PartName="/ppt/notesSlides/notesSlide18.xml" ContentType="application/vnd.openxmlformats-officedocument.presentationml.notesSlide+xml"/>
  <Override PartName="/ppt/ink/ink50.xml" ContentType="application/inkml+xml"/>
  <Override PartName="/ppt/ink/ink51.xml" ContentType="application/inkml+xml"/>
  <Override PartName="/ppt/ink/ink52.xml" ContentType="application/inkml+xml"/>
  <Override PartName="/ppt/ink/ink53.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88" r:id="rId6"/>
    <p:sldId id="274" r:id="rId7"/>
    <p:sldId id="280" r:id="rId8"/>
    <p:sldId id="285" r:id="rId9"/>
    <p:sldId id="286" r:id="rId10"/>
    <p:sldId id="275" r:id="rId11"/>
    <p:sldId id="281" r:id="rId12"/>
    <p:sldId id="287" r:id="rId13"/>
    <p:sldId id="276" r:id="rId14"/>
    <p:sldId id="282" r:id="rId15"/>
    <p:sldId id="277" r:id="rId16"/>
    <p:sldId id="283" r:id="rId17"/>
    <p:sldId id="278" r:id="rId18"/>
    <p:sldId id="284" r:id="rId19"/>
    <p:sldId id="27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8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37"/>
    <p:restoredTop sz="61405"/>
  </p:normalViewPr>
  <p:slideViewPr>
    <p:cSldViewPr snapToGrid="0" snapToObjects="1">
      <p:cViewPr>
        <p:scale>
          <a:sx n="71" d="100"/>
          <a:sy n="71" d="100"/>
        </p:scale>
        <p:origin x="3208" y="512"/>
      </p:cViewPr>
      <p:guideLst>
        <p:guide orient="horz" pos="2160"/>
        <p:guide pos="2880"/>
      </p:guideLst>
    </p:cSldViewPr>
  </p:slideViewPr>
  <p:notesTextViewPr>
    <p:cViewPr>
      <p:scale>
        <a:sx n="150" d="100"/>
        <a:sy n="150" d="100"/>
      </p:scale>
      <p:origin x="0" y="-140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17:02:52.711"/>
    </inkml:context>
    <inkml:brush xml:id="br0">
      <inkml:brushProperty name="width" value="0.035" units="cm"/>
      <inkml:brushProperty name="height" value="0.035" units="cm"/>
      <inkml:brushProperty name="color" value="#E71224"/>
    </inkml:brush>
  </inkml:definitions>
  <inkml:trace contextRef="#ctx0" brushRef="#br0">476 1 24575,'-98'2'0,"1"1"0,46-2 0,-59 2 0,32 0 0,83-3 0,5 0 0,-2 2 0,-3 2 0,-3 4 0,0 2 0,1 1 0,0 0 0,-1 1 0,-2 0 0,0-1 0,0 0 0,2-2 0,0 1 0,1 1 0,0 0 0,-2 1 0,-1 0 0,0-1 0,0 1 0,0-1 0,0-1 0,0 0 0,0 0 0,0 1 0,0 0 0,0 1 0,0 6 0,0 5 0,0 3 0,0 4 0,0-4 0,0 0 0,0 3 0,0-4 0,0-1 0,0-2 0,0-2 0,0 1 0,0-1 0,0-1 0,0-3 0,0 0 0,0-1 0,0 0 0,0 1 0,0 5 0,0-1 0,0 4 0,0-4 0,0 2 0,0 1 0,-3 0 0,0 3 0,-1 0 0,1 0 0,3 0 0,-3 0 0,-1-1 0,1-2 0,0-1 0,3 0 0,-2 1 0,-1 3 0,-1 0 0,1 0 0,0 4 0,-1 1 0,0 3 0,0 0 0,1 1 0,-1 9 0,0-11 0,1 8 0,3-14 0,0 0 0,-2 0 0,-2-1 0,1-2 0,0-1 0,2-4 0,1 1 0,0-2 0,-3 1 0,0-2 0,-1-1 0,1 0 0,3-2 0,0 1 0,0-3 0,0 0 0,0 0 0,0 0 0,0 0 0,0 0 0,0-1 0,2-2 0,4-6 0,2-4 0,3-4 0,7-4 0,-4 1 0,4 0 0,-5 2 0,-1 1 0,0 1 0,0 1 0,0-2 0,0 1 0,-1 1 0,1 0 0,6 3 0,4 0 0,8 0 0,10 0 0,6 0 0,5 0 0,2 3 0,-5 0 0,-6 3 0,-6 1 0,-8-3 0,-8-1 0,-1-3 0,-11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17:03:01.603"/>
    </inkml:context>
    <inkml:brush xml:id="br0">
      <inkml:brushProperty name="width" value="0.035" units="cm"/>
      <inkml:brushProperty name="height" value="0.035" units="cm"/>
      <inkml:brushProperty name="color" value="#E71224"/>
    </inkml:brush>
  </inkml:definitions>
  <inkml:trace contextRef="#ctx0" brushRef="#br0">518 1 24575,'-7'0'0,"-7"0"0,-7 0 0,-4 0 0,-4 0 0,-1 0 0,-6 0 0,7 0 0,0 0 0,13 0 0,2 0 0,0 0 0,1 0 0,1 0 0,-2 0 0,-7 0 0,2 0 0,-5 0 0,5 0 0,-4 2 0,-2 1 0,1 1 0,4-2 0,4 1 0,3 0 0,6 1 0,3 1 0,7-2 0,5 2 0,0 3 0,0 0 0,0 0 0,-1-3 0,-1 0 0,1-2 0,-2 2 0,-2 2 0,-1 1 0,-2 2 0,0 1 0,0-1 0,0 0 0,0 1 0,0-1 0,0 0 0,0 0 0,0 0 0,0 1 0,0-1 0,0 1 0,0 0 0,0 1 0,0-1 0,0 1 0,0-1 0,0 0 0,0-1 0,0 0 0,0 1 0,0 1 0,0-1 0,0 1 0,0-2 0,0 0 0,0 0 0,0 0 0,0 1 0,0 3 0,0 2 0,0-1 0,0 3 0,0-2 0,0 0 0,0-2 0,0-3 0,0-1 0,0 0 0,0 0 0,0 1 0,0 1 0,0 0 0,0 0 0,0 0 0,0-1 0,0 1 0,0-1 0,0 0 0,0-1 0,0 0 0,0 0 0,0 1 0,0 1 0,0 0 0,0 0 0,0-1 0,0 1 0,0 0 0,0-2 0,0 0 0,0 0 0,0 1 0,0 1 0,0-1 0,0 1 0,0-1 0,0-1 0,0 0 0,0 3 0,0 22 0,0-6 0,0 27 0,0-12 0,0-1 0,0-3 0,0-3 0,0 0 0,0 2 0,0-3 0,0-7 0,0-7 0,0-5 0,0-4 0,0-1 0,0-1 0,0 0 0,0 0 0,0-1 0,0 0 0,0 0 0,0 0 0,0 1 0,0 23 0,0-16 0,0 29 0,0-31 0,0 14 0,0-16 0,0 4 0,0-7 0,0 1 0,0 7 0,0 24 0,0-4 0,0 21 0,0-15 0,0 0 0,0 0 0,0-6 0,0 2 0,0-15 0,0 1 0,0-13 0,0 1 0,0-2 0,0-1 0,0 0 0,0 9 0,0 7 0,0 39 0,0-9 0,0 19 0,0-19 0,0-1 0,0 3 0,0 0 0,0-8 0,0-9 0,0-13 0,0-9 0,0-5 0,0-3 0,0-2 0,0 3 0,0 11 0,0 9 0,0 18 0,0 5 0,0 29-322,0-20 0,0-1 322,0 25 0,0-14 0,0-3 0,0-18 0,0-15 0,0-13 0,0-10 0,0-9 644,0-7-644,0-7 0,0-5 0,0 0 0,0 1 0,2 0 0,1 0 0,-1 0 0,1-2 0,0 0 0,0 0 0,0 0 0,-1 0 0,-1-3 0,-1-1 0,0-3 0,2 4 0,0 0 0,1 5 0,0-2 0,-3 0 0,3 0 0,0 0 0,2 0 0,3 0 0,0 4 0,2 2 0,1 6 0,-3 4 0,-1 2 0,1 1 0,0-1 0,1 0 0,-1-1 0,0-1 0,-1-2 0,4-2 0,-1 0 0,1 0 0,0 0 0,1 0 0,0 0 0,-1 0 0,1 0 0,0 0 0,3 0 0,-4 0 0,4 0 0,-4 0 0,0 0 0,1 0 0,3 0 0,0 0 0,1 0 0,-1 0 0,-3 0 0,0 0 0,-1 0 0,-1 0 0,0 0 0,0 2 0,0 1 0,2 0 0,0-1 0,-3 1 0,0 0 0,0 0 0,0 0 0,2-3 0,0 0 0,-1 0 0,0 0 0,1 0 0,0 0 0,0 0 0,0 0 0,-5 0 0,-1 0 0,-5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17:03:07.944"/>
    </inkml:context>
    <inkml:brush xml:id="br0">
      <inkml:brushProperty name="width" value="0.035" units="cm"/>
      <inkml:brushProperty name="height" value="0.035" units="cm"/>
      <inkml:brushProperty name="color" value="#E71224"/>
    </inkml:brush>
  </inkml:definitions>
  <inkml:trace contextRef="#ctx0" brushRef="#br0">552 1 24575,'-10'0'0,"-4"0"0,-7 0 0,-3 0 0,-12 0 0,-2 0 0,-52 0 0,48 0 0,-29 0 0,60 0 0,0 0 0,0 0 0,1 0 0,-1 0 0,-4 0 0,2 0 0,-5 0 0,4 0 0,-1 0 0,0 0 0,-1 0 0,0 0 0,0 0 0,7 2 0,5 1 0,6 2 0,8 2 0,4 2 0,0-1 0,-2 1 0,-3-1 0,-2 0 0,-1 2 0,1-2 0,-2-1 0,1 1 0,-1 1 0,-1 2 0,-1 1 0,0 0 0,0 0 0,0 0 0,0-1 0,-3 6 0,0-2 0,0 3 0,0-4 0,0-2 0,0 3 0,0 1 0,0-1 0,0 0 0,0-2 0,0-1 0,0 0 0,0-1 0,0-1 0,0 0 0,0 0 0,0 0 0,0 2 0,0-1 0,0 1 0,0 0 0,0 0 0,0 3 0,0 4 0,0 3 0,0 19 0,0-14 0,0 13 0,0-20 0,0 2 0,0-2 0,0-3 0,0-1 0,0-4 0,0 1 0,0-1 0,0-1 0,0 0 0,0 0 0,0-1 0,0 1 0,0-1 0,0 1 0,0-1 0,0 0 0,0 1 0,0 0 0,0 0 0,0 1 0,0-1 0,0 1 0,0 0 0,0-2 0,2-2 0,3-2 0,3-3 0,2-2 0,1-1 0,-1-3 0,1 0 0,0 0 0,0 0 0,0 3 0,-3-2 0,0-1 0,-1 0 0,2 0 0,-1 0 0,1 0 0,-1-1 0,0 0 0,2 1 0,0 0 0,1 0 0,0 3 0,1 0 0,-1 0 0,4 0 0,-3 0 0,3 0 0,-4 0 0,1 0 0,-1 0 0,0 0 0,0 0 0,-3-2 0,-1-1 0,1 0 0,-2-2 0,2 1 0,1-2 0,-1-2 0,3 2 0,-1 1 0,0 2 0,1 3 0,0 0 0,0 0 0,1-1 0,-2 1 0,0 0 0,0 0 0,1 0 0,0 0 0,1 0 0,0 0 0,-1 0 0,4 0 0,-3 0 0,3 0 0,-9 0 0,-6 0 0,-8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17:03:23.298"/>
    </inkml:context>
    <inkml:brush xml:id="br0">
      <inkml:brushProperty name="width" value="0.035" units="cm"/>
      <inkml:brushProperty name="height" value="0.035" units="cm"/>
      <inkml:brushProperty name="color" value="#E71224"/>
    </inkml:brush>
  </inkml:definitions>
  <inkml:trace contextRef="#ctx0" brushRef="#br0">552 1 24575,'-10'0'0,"-6"0"0,-20 0 0,7 0 0,-11 0 0,4 0 0,-5 0 0,-3 0 0,2 0 0,10 0 0,5 0 0,1 0 0,4 0 0,-1 2 0,3 1 0,1 0 0,-1 0 0,3-2 0,1-1 0,3 0 0,1 0 0,5 0 0,3 2 0,4 3 0,3 4 0,-1 1 0,1 1 0,2-1 0,0 0 0,-2 1 0,1 0 0,0 0 0,-1 1 0,2 2 0,0 16 0,2-2 0,1 16 0,-1-6 0,0 4 0,0 1 0,0-3 0,0-1 0,-3-3 0,-1-7 0,-3-3 0,0-7 0,0-5 0,0-1 0,0-2 0,0-1 0,0 2 0,0 6 0,0-2 0,0 24 0,0-5 0,0 20 0,0-7 0,0 9 0,4 1 0,0 4 0,0-3 0,-1-3 0,-3-9 0,0-6 0,0-1 0,0-2 0,2 0 0,1 1 0,1-3 0,-2-1 0,2 4 0,0 1 0,-1 7 0,0 1 0,4 27 0,-5-16 0,7 21 0,-6-17 0,4 5 0,0 4 0,-2 2 0,2 0 0,-2 0 0,-1-4 0,0-2 0,-3-4 0,-1-3 0,0 0 0,0-10 0,0-5 0,0-2 0,0-2 0,0 5 0,0-3 0,0-4 0,0 0 0,0-3 0,0 1 0,0-6 0,0-5 0,0-1 0,0-11 0,0 3 0,0-7 0,0 1 0,0 0 0,0-1 0,0 0 0,0 0 0,0 3 0,0 13 0,0 5 0,0 12 0,0-10 0,0-2 0,0-12 0,2-5 0,2-9 0,4-5 0,4-6 0,2-1 0,1 3 0,0 0 0,-6 0 0,-1-1 0,1 1 0,-1 1 0,3 1 0,-3-1 0,0 0 0,-1-1 0,1 0 0,4 2 0,-1 1 0,1 0 0,0-1 0,-1-1 0,5-2 0,-5 1 0,4 1 0,-5 2 0,2 0 0,0 0 0,-1 0 0,1 0 0,0 0 0,0 0 0,0 0 0,-1 0 0,0 0 0,-1 0 0,0 0 0,1 0 0,0 0 0,0 0 0,0 0 0,-5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17:03:29.598"/>
    </inkml:context>
    <inkml:brush xml:id="br0">
      <inkml:brushProperty name="width" value="0.035" units="cm"/>
      <inkml:brushProperty name="height" value="0.035" units="cm"/>
      <inkml:brushProperty name="color" value="#E71224"/>
    </inkml:brush>
  </inkml:definitions>
  <inkml:trace contextRef="#ctx0" brushRef="#br0">0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4:48:48.804"/>
    </inkml:context>
    <inkml:brush xml:id="br0">
      <inkml:brushProperty name="width" value="0.035" units="cm"/>
      <inkml:brushProperty name="height" value="0.035" units="cm"/>
      <inkml:brushProperty name="color" value="#E71224"/>
    </inkml:brush>
  </inkml:definitions>
  <inkml:trace contextRef="#ctx0" brushRef="#br0">135 1 24575,'9'0'0,"2"0"0,11 0 0,2 0 0,8 0 0,-9 0 0,-2 0 0,-8 0 0,2 0 0,0 0 0,1 0 0,0 0 0,-2 0 0,-1 0 0,-4 0 0,0 0 0,-2 0 0,-1 0 0,0 0 0,-1 2 0,-2 4 0,-2 6 0,-1 6 0,0 25 0,0-6 0,-1 14 0,-1-13 0,-1-4 0,1 2 0,2-1 0,0 0 0,0 1 0,0-1 0,-1-3 0,1-3 0,0-1 0,0-5 0,0-4 0,0 0 0,0-6 0,0 2 0,0-2 0,0-3 0,0-1 0,0-2 0,0 0 0,0-1 0,-1-2 0,-5-1 0,-7 0 0,-6-1 0,-28 0 0,16 0 0,-22-2 0,25 0 0,-2 0 0,3 0 0,2 0 0,0 2 0,2 0 0,3 0 0,2-1 0,5 0 0,2-1 0,3 0 0,2 0 0,0 0 0,3 0 0,1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4:48:39.851"/>
    </inkml:context>
    <inkml:brush xml:id="br0">
      <inkml:brushProperty name="width" value="0.035" units="cm"/>
      <inkml:brushProperty name="height" value="0.035" units="cm"/>
      <inkml:brushProperty name="color" value="#E71224"/>
    </inkml:brush>
  </inkml:definitions>
  <inkml:trace contextRef="#ctx0" brushRef="#br0">1 67 24575,'11'-4'0,"0"2"0,4 2 0,-4 0 0,11 0 0,2 0 0,10 0 0,-7 0 0,-2 0 0,-5 0 0,7 0 0,-5 0 0,5 0 0,-6 0 0,4 0 0,1 0 0,1 0 0,2 0 0,-1 0 0,2 0 0,-1 0 0,-3 0 0,0 0 0,-5 0 0,-2 0 0,-1-3 0,-1-1 0,2 0 0,0-1 0,-1 1 0,1 0 0,1-1 0,-1-1 0,3 2 0,-1-2 0,13 1 0,-10 1 0,11 1 0,-14 1 0,2 1 0,1 1 0,-1 0 0,-1-1 0,-3 1 0,-1 0 0,-3 0 0,-2 0 0,-1 0 0,-2 0 0,0 0 0,-1 0 0,-1 0 0,2 0 0,-1 0 0,0 0 0,-1 0 0,-1 0 0,0 0 0,-1 0 0,0 0 0,-1 1 0,-2 2 0,-2 2 0,-1 0 0,0-2 0,0-1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9:48:26.264"/>
    </inkml:context>
    <inkml:brush xml:id="br0">
      <inkml:brushProperty name="width" value="0.035" units="cm"/>
      <inkml:brushProperty name="height" value="0.035" units="cm"/>
      <inkml:brushProperty name="color" value="#E71224"/>
    </inkml:brush>
  </inkml:definitions>
  <inkml:trace contextRef="#ctx0" brushRef="#br0">1 1 24575,'45'0'0,"-8"0"0,31 0 0,-31 0 0,25 0 0,-43 0 0,3 0 0,-16 0 0,-1 0 0,1 0 0,-4 0 0,0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9:48:27.889"/>
    </inkml:context>
    <inkml:brush xml:id="br0">
      <inkml:brushProperty name="width" value="0.035" units="cm"/>
      <inkml:brushProperty name="height" value="0.035" units="cm"/>
      <inkml:brushProperty name="color" value="#E71224"/>
    </inkml:brush>
  </inkml:definitions>
  <inkml:trace contextRef="#ctx0" brushRef="#br0">1 5 24575,'11'-2'0,"24"0"0,-12 2 0,32 0 0,-26 0 0,12 0 0,-8 0 0,-10 0 0,-4 0 0,-14 0 0,-2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9:48:30.272"/>
    </inkml:context>
    <inkml:brush xml:id="br0">
      <inkml:brushProperty name="width" value="0.035" units="cm"/>
      <inkml:brushProperty name="height" value="0.035" units="cm"/>
      <inkml:brushProperty name="color" value="#E71224"/>
    </inkml:brush>
  </inkml:definitions>
  <inkml:trace contextRef="#ctx0" brushRef="#br0">1 1 24575,'44'0'0,"-8"0"0,25 0 0,-11 0 0,-6 0 0,-10 0 0,-10 0 0,-18 0 0,-3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9:48:31.680"/>
    </inkml:context>
    <inkml:brush xml:id="br0">
      <inkml:brushProperty name="width" value="0.035" units="cm"/>
      <inkml:brushProperty name="height" value="0.035" units="cm"/>
      <inkml:brushProperty name="color" value="#E71224"/>
    </inkml:brush>
  </inkml:definitions>
  <inkml:trace contextRef="#ctx0" brushRef="#br0">1 0 24575,'9'0'0,"11"0"0,7 0 0,16 0 0,-3 0 0,9 0 0,-3 0 0,-16 0 0,3 0 0,-20 0 0,1 0 0,-7 0 0,-4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9:57:07.335"/>
    </inkml:context>
    <inkml:brush xml:id="br0">
      <inkml:brushProperty name="width" value="0.035" units="cm"/>
      <inkml:brushProperty name="height" value="0.035" units="cm"/>
      <inkml:brushProperty name="color" value="#E71224"/>
    </inkml:brush>
  </inkml:definitions>
  <inkml:trace contextRef="#ctx0" brushRef="#br0">1 42 24575,'18'0'0,"-2"0"0,7 0 0,-3 0 0,12 0 0,-13 0 0,14 0 0,-21 0 0,7 0 0,-5 0 0,-1-1 0,0 0 0,-1 0 0,-3 0 0,1 0 0,-2-1 0,2 1 0,-1-1 0,0 1 0,1-1 0,-2 0 0,4-1 0,2 0 0,0-1 0,2 2 0,-2-1 0,-4 2 0,-1 0 0,-6 1 0,1-1 0,0 0 0,0 0 0,-1 1 0,0-1 0,1 0 0,-2 0 0,2 1 0,-2 0 0,2 0 0,-1-1 0,0 0 0,2 0 0,-2 1 0,2-1 0,-4 1 0,1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10:04:54.766"/>
    </inkml:context>
    <inkml:brush xml:id="br0">
      <inkml:brushProperty name="width" value="0.035" units="cm"/>
      <inkml:brushProperty name="height" value="0.035" units="cm"/>
      <inkml:brushProperty name="color" value="#E71224"/>
    </inkml:brush>
  </inkml:definitions>
  <inkml:trace contextRef="#ctx0" brushRef="#br0">1 1 24575,'17'0'0,"-7"0"0,11 0 0,-10 0 0,1 0 0,-4 0 0,-4 0 0,-2 0 0,0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10:04:56.282"/>
    </inkml:context>
    <inkml:brush xml:id="br0">
      <inkml:brushProperty name="width" value="0.035" units="cm"/>
      <inkml:brushProperty name="height" value="0.035" units="cm"/>
      <inkml:brushProperty name="color" value="#E71224"/>
    </inkml:brush>
  </inkml:definitions>
  <inkml:trace contextRef="#ctx0" brushRef="#br0">1 0 24575,'8'0'0,"1"0"0,-2 0 0,0 0 0,1 0 0,-1 0 0,0 0 0,-2 0 0,-1 0 0,0 0 0,-1 0 0,2 0 0,-1 0 0,2 0 0,-1 0 0,-3 0 0,1 0 0,-2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10:04:57.583"/>
    </inkml:context>
    <inkml:brush xml:id="br0">
      <inkml:brushProperty name="width" value="0.035" units="cm"/>
      <inkml:brushProperty name="height" value="0.035" units="cm"/>
      <inkml:brushProperty name="color" value="#E71224"/>
    </inkml:brush>
  </inkml:definitions>
  <inkml:trace contextRef="#ctx0" brushRef="#br0">5 2 24575,'5'-2'0,"2"1"0,7 1 0,4 0 0,3 0 0,-6 0 0,-3 0 0,-7 0 0,-1 0 0,-1 0 0,-1 0 0,-1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08:17.638"/>
    </inkml:context>
    <inkml:brush xml:id="br0">
      <inkml:brushProperty name="width" value="0.035" units="cm"/>
      <inkml:brushProperty name="height" value="0.035" units="cm"/>
      <inkml:brushProperty name="color" value="#E71224"/>
    </inkml:brush>
  </inkml:definitions>
  <inkml:trace contextRef="#ctx0" brushRef="#br0">0 14 24575,'6'0'0,"0"0"0,-1 0 0,-1 0 0,3 0 0,1 0 0,9 0 0,-5 0 0,5 0 0,-7 0 0,-1 0 0,0 0 0,-1 0 0,-2 0 0,0 0 0,-1 0 0,0 0 0,0 0 0,0 0 0,0 0 0,8 0 0,-3 0 0,5 0 0,-5 0 0,1 0 0,-4 0 0,1 0 0,-1-2 0,-3-1 0,1 0 0,-3-1 0,1 3 0,-2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08:21.263"/>
    </inkml:context>
    <inkml:brush xml:id="br0">
      <inkml:brushProperty name="width" value="0.035" units="cm"/>
      <inkml:brushProperty name="height" value="0.035" units="cm"/>
      <inkml:brushProperty name="color" value="#E71224"/>
    </inkml:brush>
  </inkml:definitions>
  <inkml:trace contextRef="#ctx0" brushRef="#br0">1 0 24575,'5'0'0,"1"0"0,-1 0 0,0 0 0,7 0 0,1 0 0,5 0 0,-3 0 0,-3 0 0,0 0 0,-1 0 0,-2 0 0,-1 0 0,-3 0 0,1 0 0,-1 0 0,0 0 0,0 0 0,-3 0 0,0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08:23.551"/>
    </inkml:context>
    <inkml:brush xml:id="br0">
      <inkml:brushProperty name="width" value="0.035" units="cm"/>
      <inkml:brushProperty name="height" value="0.035" units="cm"/>
      <inkml:brushProperty name="color" value="#E71224"/>
    </inkml:brush>
  </inkml:definitions>
  <inkml:trace contextRef="#ctx0" brushRef="#br0">0 0 24575,'6'0'0,"0"0"0,-2 0 0,0 0 0,0 0 0,8 0 0,-1 0 0,5 0 0,-5 0 0,-3 0 0,0 0 0,-3 0 0,0 0 0,0 0 0,-1 0 0,1 0 0,-2 0 0,-1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08:26.838"/>
    </inkml:context>
    <inkml:brush xml:id="br0">
      <inkml:brushProperty name="width" value="0.035" units="cm"/>
      <inkml:brushProperty name="height" value="0.035" units="cm"/>
      <inkml:brushProperty name="color" value="#E71224"/>
    </inkml:brush>
  </inkml:definitions>
  <inkml:trace contextRef="#ctx0" brushRef="#br0">1 6 24575,'9'0'0,"0"0"0,10 0 0,-2 0 0,3 0 0,-7 0 0,-6 0 0,-3-1 0,-1 0 0,1-1 0,-1 1 0,2 1 0,0-1 0,-1 1 0,1 0 0,-1 0 0,1 0 0,-1 0 0,2 0 0,0 0 0,1 0 0,0 0 0,-2 0 0,-2 0 0,0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09:23.926"/>
    </inkml:context>
    <inkml:brush xml:id="br0">
      <inkml:brushProperty name="width" value="0.035" units="cm"/>
      <inkml:brushProperty name="height" value="0.035" units="cm"/>
      <inkml:brushProperty name="color" value="#E71224"/>
    </inkml:brush>
  </inkml:definitions>
  <inkml:trace contextRef="#ctx0" brushRef="#br0">1 1 24575,'17'0'0,"3"0"0,1 0 0,-3 0 0,-4 0 0,-8 0 0,1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09:36.359"/>
    </inkml:context>
    <inkml:brush xml:id="br0">
      <inkml:brushProperty name="width" value="0.035" units="cm"/>
      <inkml:brushProperty name="height" value="0.035" units="cm"/>
      <inkml:brushProperty name="color" value="#E71224"/>
    </inkml:brush>
  </inkml:definitions>
  <inkml:trace contextRef="#ctx0" brushRef="#br0">1 4 24575,'7'0'0,"10"0"0,0 0 0,1 0 0,-7 0 0,-7 0 0,0-1 0,-1 0 0,-1 0 0,0 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09:49.851"/>
    </inkml:context>
    <inkml:brush xml:id="br0">
      <inkml:brushProperty name="width" value="0.035" units="cm"/>
      <inkml:brushProperty name="height" value="0.035" units="cm"/>
      <inkml:brushProperty name="color" value="#E71224"/>
    </inkml:brush>
  </inkml:definitions>
  <inkml:trace contextRef="#ctx0" brushRef="#br0">0 0 24575,'12'0'0,"-2"0"0,2 0 0,-1 0 0,-5 0 0,2 0 0,-3 0 0,1 0 0,-1 0 0,4 0 0,0 0 0,1 0 0,1 0 0,-1 0 0,-1 0 0,-1 0 0,-1 0 0,-1 0 0,-1 0 0,-3 0 0,0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09:58.214"/>
    </inkml:context>
    <inkml:brush xml:id="br0">
      <inkml:brushProperty name="width" value="0.035" units="cm"/>
      <inkml:brushProperty name="height" value="0.035" units="cm"/>
      <inkml:brushProperty name="color" value="#E71224"/>
    </inkml:brush>
  </inkml:definitions>
  <inkml:trace contextRef="#ctx0" brushRef="#br0">0 5 24575,'4'0'0,"1"0"0,-1 0 0,0 0 0,-1 0 0,2 0 0,15-1 0,-4 0 0,6 0 0,-11 0 0,-8 1 0,0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0:05.547"/>
    </inkml:context>
    <inkml:brush xml:id="br0">
      <inkml:brushProperty name="width" value="0.035" units="cm"/>
      <inkml:brushProperty name="height" value="0.035" units="cm"/>
      <inkml:brushProperty name="color" value="#E71224"/>
    </inkml:brush>
  </inkml:definitions>
  <inkml:trace contextRef="#ctx0" brushRef="#br0">0 19 24575,'26'0'0,"-14"0"0,15 0 0,-19 0 0,0 0 0,1 0 0,-3 0 0,3-1 0,-5 0 0,1 0 0,-2 0 0,1 1 0,0 0 0,0 0 0,0-1 0,0 0 0,1 0 0,0 0 0,0 0 0,-1 0 0,1 0 0,-1-1 0,0 1 0,-1-1 0,-1 0 0,-1 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0:27.197"/>
    </inkml:context>
    <inkml:brush xml:id="br0">
      <inkml:brushProperty name="width" value="0.035" units="cm"/>
      <inkml:brushProperty name="height" value="0.035" units="cm"/>
      <inkml:brushProperty name="color" value="#E71224"/>
    </inkml:brush>
  </inkml:definitions>
  <inkml:trace contextRef="#ctx0" brushRef="#br0">3 69 24575,'-3'0'0,"7"0"0,0 0 0,8 0 0,2-2 0,-1 1 0,3-1 0,-1 1 0,2-1 0,-4 0 0,2 0 0,-6 1 0,2 0 0,-1 1 0,1 0 0,-2 0 0,1 0 0,-1 0 0,1 0 0,-2 0 0,-2 0 0,-1 0 0,-2 0 0,1 0 0,-1 0 0,2 0 0,-1 0 0,0 0 0,0 0 0,-1-1 0,-2-1 0,0-1 0,-1 0 0,-1-2 0,0 1 0,-5 0 0,3 2 0,-2 0 0,1 0 0,0 0 0,-1 0 0,1-1 0,0 1 0,0 1 0,0-1 0,0 2 0,1-1 0,-1 0 0,0 0 0,1 0 0,0 0 0,0 0 0,-1 0 0,1-1 0,-1 1 0,-1 0 0,1 1 0,-2-1 0,1 0 0,0 0 0,0 0 0,0 1 0,0 0 0,2 0 0,-1 0 0,1 0 0,2 0 0,5 0 0,2 0 0,1 0 0,3 0 0,-3 1 0,2 0 0,-3 1 0,1 0 0,-2 0 0,0 0 0,0-1 0,-1 0 0,0 0 0,1 1 0,-1-1 0,0 0 0,0 1 0,0 0 0,0 0 0,0 1 0,1 0 0,2 1 0,1 1 0,0-1 0,0 1 0,-1-1 0,0 0 0,-2-1 0,-1 0 0,0-1 0,0 1 0,-3 0 0,0-1 0,-1 2 0,0-1 0,-2-1 0,0 0 0,-3 0 0,0 1 0,-1-1 0,0 1 0,0-1 0,0 1 0,-1-1 0,0 0 0,0 2 0,-2-2 0,2 2 0,-2-1 0,4-1 0,-1 0 0,0-1 0,1 1 0,0-1 0,1-1 0,0 0 0,0 0 0,-1 1 0,2 0 0,-1 0 0,0 0 0,1 0 0,1 0 0,1 2 0,1 1 0,0-1 0,1-2 0,-1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0:42.472"/>
    </inkml:context>
    <inkml:brush xml:id="br0">
      <inkml:brushProperty name="width" value="0.035" units="cm"/>
      <inkml:brushProperty name="height" value="0.035" units="cm"/>
      <inkml:brushProperty name="color" value="#E71224"/>
    </inkml:brush>
  </inkml:definitions>
  <inkml:trace contextRef="#ctx0" brushRef="#br0">0 9 24575,'4'0'0,"2"0"0,-2 0 0,3 0 0,-1 0 0,0 0 0,-1 0 0,-1 0 0,0 0 0,0 0 0,0 0 0,-1 0 0,1 0 0,0-1 0,-1 0 0,0-1 0,0 0 0,0 1 0,0 0 0,0 1 0,1 0 0,0 0 0,0 0 0,-1 0 0,1 0 0,-2 0 0,-1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0:49.221"/>
    </inkml:context>
    <inkml:brush xml:id="br0">
      <inkml:brushProperty name="width" value="0.035" units="cm"/>
      <inkml:brushProperty name="height" value="0.035" units="cm"/>
      <inkml:brushProperty name="color" value="#E71224"/>
    </inkml:brush>
  </inkml:definitions>
  <inkml:trace contextRef="#ctx0" brushRef="#br0">0 13 24575,'5'0'0,"-1"0"0,-1 0 0,5 0 0,-3 0 0,4 0 0,-4 0 0,-2 0 0,1 0 0,0 0 0,-1 0 0,1 0 0,0 0 0,-1 0 0,1 0 0,0 0 0,-1 0 0,1 0 0,0 0 0,-1 0 0,0-2 0,0 0 0,-1-1 0,1 1 0,1 1 0,-1 0 0,1 0 0,0 0 0,-1 1 0,1 0 0,0 0 0,-1 0 0,1 0 0,-1 0 0,-1 0 0,0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0:56.922"/>
    </inkml:context>
    <inkml:brush xml:id="br0">
      <inkml:brushProperty name="width" value="0.035" units="cm"/>
      <inkml:brushProperty name="height" value="0.035" units="cm"/>
      <inkml:brushProperty name="color" value="#E71224"/>
    </inkml:brush>
  </inkml:definitions>
  <inkml:trace contextRef="#ctx0" brushRef="#br0">0 9 24575,'4'0'0,"2"0"0,-1 0 0,1 0 0,3 0 0,-4 0 0,2 0 0,-3 0 0,0 0 0,-1 0 0,1 0 0,0 0 0,0 0 0,-1 0 0,1 0 0,-1 0 0,0-2 0,0 0 0,-1 0 0,1-1 0,1 3 0,0 0 0,-1 0 0,1 0 0,0 0 0,-1 0 0,-1 0 0,0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1:07.897"/>
    </inkml:context>
    <inkml:brush xml:id="br0">
      <inkml:brushProperty name="width" value="0.035" units="cm"/>
      <inkml:brushProperty name="height" value="0.035" units="cm"/>
      <inkml:brushProperty name="color" value="#E71224"/>
    </inkml:brush>
  </inkml:definitions>
  <inkml:trace contextRef="#ctx0" brushRef="#br0">1 12 24575,'4'0'0,"1"0"0,0-1 0,-1 0 0,2-1 0,-2 1 0,0 0 0,0 0 0,-1 0 0,-1 0 0,1 0 0,-1 0 0,2 1 0,0-1 0,0 1 0,0 0 0,-1 0 0,1 0 0,0 0 0,0 0 0,-1 0 0,1 0 0,0 0 0,0 0 0,0 0 0,-1 0 0,1 0 0,0 0 0,0 0 0,-1 0 0,1 0 0,0 0 0,0 0 0,-1 0 0,1 0 0,0 0 0,-1 0 0,1 0 0,0 0 0,-2 0 0,-2 0 0,-2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1:40.355"/>
    </inkml:context>
    <inkml:brush xml:id="br0">
      <inkml:brushProperty name="width" value="0.035" units="cm"/>
      <inkml:brushProperty name="height" value="0.035" units="cm"/>
      <inkml:brushProperty name="color" value="#E71224"/>
    </inkml:brush>
  </inkml:definitions>
  <inkml:trace contextRef="#ctx0" brushRef="#br0">1 27 24575,'9'0'0,"-2"0"0,2 0 0,-1 0 0,-1 0 0,0 0 0,-1 0 0,-2 0 0,-1-1 0,0 0 0,-1 0 0,1-1 0,1 1 0,-1 0 0,1 1 0,-1-1 0,0 0 0,0 0 0,-1 0 0,2 1 0,0 0 0,-1 0 0,1 0 0,0 0 0,-1 0 0,1 0 0,0 0 0,-1 0 0,1-2 0,-1 1 0,0-3 0,0 2 0,-1-1 0,0 1 0,-1 1 0,0 0 0,-1 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2:19.672"/>
    </inkml:context>
    <inkml:brush xml:id="br0">
      <inkml:brushProperty name="width" value="0.035" units="cm"/>
      <inkml:brushProperty name="height" value="0.035" units="cm"/>
      <inkml:brushProperty name="color" value="#E71224"/>
    </inkml:brush>
  </inkml:definitions>
  <inkml:trace contextRef="#ctx0" brushRef="#br0">0 0 24575,'12'0'0,"-6"0"0,5 0 0,-7 0 0,0 0 0,1 0 0,-1 0 0,2 0 0,-2 0 0,0 0 0,0 0 0,0 0 0,-1 0 0,1 0 0,-1 0 0,1 0 0,0 0 0,0 0 0,0 1 0,1 1 0,-1 0 0,0 0 0,0-1 0,0-1 0,-1 0 0,1 0 0,0 0 0,-1 0 0,1 0 0,0 0 0,-1-1 0,-2-2 0,0 2 0,-1-1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2:50.184"/>
    </inkml:context>
    <inkml:brush xml:id="br0">
      <inkml:brushProperty name="width" value="0.035" units="cm"/>
      <inkml:brushProperty name="height" value="0.035" units="cm"/>
      <inkml:brushProperty name="color" value="#E71224"/>
    </inkml:brush>
  </inkml:definitions>
  <inkml:trace contextRef="#ctx0" brushRef="#br0">1 1 24575,'6'0'0,"3"0"0,0 0 0,1 0 0,-3 0 0,16 0 0,-1 0 0,3 0 0,-10 0 0,-9 0 0,1 0 0,0 0 0,-1 0 0,0 0 0,-1 0 0,0 0 0,1 0 0,-1 0 0,1 0 0,-2 0 0,0 0 0,1 0 0,-1 0 0,-2 0 0,-2 0 0,-2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2:55.317"/>
    </inkml:context>
    <inkml:brush xml:id="br0">
      <inkml:brushProperty name="width" value="0.035" units="cm"/>
      <inkml:brushProperty name="height" value="0.035" units="cm"/>
      <inkml:brushProperty name="color" value="#E71224"/>
    </inkml:brush>
  </inkml:definitions>
  <inkml:trace contextRef="#ctx0" brushRef="#br0">0 4 24575,'3'-2'0,"-1"1"0,2 1 0,-1 0 0,3 0 0,-2 0 0,2 0 0,-2 0 0,-1 0 0,1 0 0,0 0 0,0 0 0,0 0 0,0 0 0,0 0 0,0 0 0,0 0 0,-1 0 0,1 0 0,0 0 0,0 0 0,-1 0 0,1 0 0,0 0 0,-1 0 0,1 0 0,0 0 0,0 0 0,0 0 0,0 0 0,0 0 0,0 0 0,-1 0 0,0 0 0,0 2 0,-2 1 0,0-1 0,0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17:39.479"/>
    </inkml:context>
    <inkml:brush xml:id="br0">
      <inkml:brushProperty name="width" value="0.035" units="cm"/>
      <inkml:brushProperty name="height" value="0.035" units="cm"/>
      <inkml:brushProperty name="color" value="#E71224"/>
    </inkml:brush>
  </inkml:definitions>
  <inkml:trace contextRef="#ctx0" brushRef="#br0">0 1 24575,'7'0'0,"-2"0"0,2 0 0,-2 0 0,1 0 0,15 0 0,-6 0 0,13 0 0,-9 0 0,5 0 0,0 0 0,9 0 0,-9 1 0,3 2 0,-11 0 0,-3 0 0,-1-1 0,-1-1 0,-2 1 0,-1 0 0,-5-1 0,0-1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7:43:17.689"/>
    </inkml:context>
    <inkml:brush xml:id="br0">
      <inkml:brushProperty name="width" value="0.035" units="cm"/>
      <inkml:brushProperty name="height" value="0.035" units="cm"/>
      <inkml:brushProperty name="color" value="#E71224"/>
    </inkml:brush>
  </inkml:definitions>
  <inkml:trace contextRef="#ctx0" brushRef="#br0">0 0 24575,'9'0'0,"-1"0"0,7 0 0,-4 0 0,4 0 0,3 0 0,-6 0 0,8 0 0,-6 0 0,1 0 0,-1 0 0,4 0 0,2 0 0,-2 0 0,-2 0 0,-4 0 0,-1 0 0,0 0 0,0 0 0,-3 0 0,0 0 0,0 0 0,0 0 0,0 0 0,-1 0 0,0 0 0,-1 0 0,1 0 0,0 0 0,0 0 0,1 0 0,-2 0 0,1 0 0,0 0 0,0 0 0,0 0 0,0 0 0,0 0 0,-3 0 0,-1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7:43:20.289"/>
    </inkml:context>
    <inkml:brush xml:id="br0">
      <inkml:brushProperty name="width" value="0.035" units="cm"/>
      <inkml:brushProperty name="height" value="0.035" units="cm"/>
      <inkml:brushProperty name="color" value="#E71224"/>
    </inkml:brush>
  </inkml:definitions>
  <inkml:trace contextRef="#ctx0" brushRef="#br0">1 1 24575,'9'0'0,"-1"0"0,5 0 0,-4 0 0,17 0 0,-6 0 0,7 0 0,-8 0 0,-5 0 0,1 0 0,-2 0 0,1 0 0,-1 0 0,1 0 0,-2 0 0,0 0 0,-3 0 0,0 0 0,-1 0 0,0 0 0,0 0 0,-1 0 0,-1 0 0,1 0 0,0 0 0,-1 1 0,-1 1 0,0 0 0,1 0 0,1-2 0,0 0 0,-1 0 0,1 0 0,0 0 0,0 0 0,0 0 0,0 0 0,0 0 0,0 0 0,0 0 0,0 0 0,-3 0 0,-1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32:10.728"/>
    </inkml:context>
    <inkml:brush xml:id="br0">
      <inkml:brushProperty name="width" value="0.035" units="cm"/>
      <inkml:brushProperty name="height" value="0.035" units="cm"/>
      <inkml:brushProperty name="color" value="#E71224"/>
    </inkml:brush>
  </inkml:definitions>
  <inkml:trace contextRef="#ctx0" brushRef="#br0">1 27 24575,'9'0'0,"-2"0"0,2 0 0,-2 0 0,-1 0 0,1 0 0,-1 0 0,-1 0 0,1 0 0,-2 0 0,0 0 0,1 0 0,-1 0 0,2 0 0,3 0 0,0 0 0,2 0 0,-1 0 0,2 0 0,1-1 0,-1-1 0,-1 1 0,-2-1 0,1 1 0,-2 0 0,1-2 0,-1 0 0,-2 2 0,1-1 0,-2 1 0,2-1 0,0 0 0,-1 1 0,0-1 0,0 1 0,-1 1 0,0 0 0,0 0 0,-1 0 0,1 0 0,-3 0 0,0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32:14.566"/>
    </inkml:context>
    <inkml:brush xml:id="br0">
      <inkml:brushProperty name="width" value="0.035" units="cm"/>
      <inkml:brushProperty name="height" value="0.035" units="cm"/>
      <inkml:brushProperty name="color" value="#E71224"/>
    </inkml:brush>
  </inkml:definitions>
  <inkml:trace contextRef="#ctx0" brushRef="#br0">1 0 24575,'5'0'0,"0"0"0,2 0 0,-1 0 0,7 0 0,-3 0 0,3 0 0,-3 0 0,0 0 0,-1 0 0,-1 0 0,-1 0 0,1 0 0,-2 0 0,2 0 0,-2 0 0,0 0 0,-1 0 0,-1 0 0,1 0 0,0 0 0,1 0 0,1 0 0,-1 0 0,0 0 0,-1 0 0,0 0 0,-1 0 0,0 0 0,0 0 0,1 0 0,-1 0 0,1 0 0,0 0 0,0 0 0,0 0 0,0 0 0,-1 0 0,1 0 0,-1 0 0,-1 0 0,-1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32:47.632"/>
    </inkml:context>
    <inkml:brush xml:id="br0">
      <inkml:brushProperty name="width" value="0.035" units="cm"/>
      <inkml:brushProperty name="height" value="0.035" units="cm"/>
      <inkml:brushProperty name="color" value="#E71224"/>
    </inkml:brush>
  </inkml:definitions>
  <inkml:trace contextRef="#ctx0" brushRef="#br0">1 30 24575,'5'0'0,"0"0"0,-1 0 0,2 0 0,3 0 0,2 0 0,0 0 0,-3 0 0,-3 0 0,1 0 0,-1 0 0,2 0 0,-1 0 0,1 0 0,1 0 0,-1 0 0,1-1 0,-1 0 0,-1-2 0,0 1 0,-2 0 0,1 1 0,-1 1 0,0-1 0,1-1 0,-1 1 0,1 1 0,0-1 0,-1 1 0,-1-1 0,1 0 0,-1 0 0,0 0 0,1 1 0,0 0 0,0 0 0,1 0 0,-1 0 0,0 0 0,0 0 0,0 0 0,1 0 0,-1-1 0,1-1 0,0 1 0,0-1 0,0 1 0,0-1 0,0 1 0,0 1 0,-3 0 0,-1 0 0,-4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7:59:49.624"/>
    </inkml:context>
    <inkml:brush xml:id="br0">
      <inkml:brushProperty name="width" value="0.035" units="cm"/>
      <inkml:brushProperty name="height" value="0.035" units="cm"/>
      <inkml:brushProperty name="color" value="#E71224"/>
    </inkml:brush>
  </inkml:definitions>
  <inkml:trace contextRef="#ctx0" brushRef="#br0">0 98 24575,'13'0'0,"15"0"0,-4 0 0,7 0 0,-1 0 0,-16 0 0,8 0 0,-15 0 0,-2 0 0,0 0 0,0 0 0,1 0 0,0 0 0,0 0 0,2 0 0,-1 0 0,-1 0 0,0 0 0,-1 0 0,1 0 0,-1-1 0,-1-1 0,0 1 0,-1 0 0,2 1 0,0 0 0,1 0 0,-1 0 0,1 0 0,0 0 0,0 0 0,-1 0 0,0 0 0,1 0 0,-1 0 0,0 0 0,0 0 0,0 0 0,1 0 0,-1 0 0,1 0 0,-1 0 0,0-1 0,0 0 0,0-1 0,0 1 0,1 0 0,-1 1 0,1-1 0,-1-2 0,-2-1 0,-1-1 0,-3 0 0,-2 1 0,0 1 0,-2 2 0,-1 0 0,1-1 0,-1 1 0,0 0 0,0 0 0,0 1 0,0 0 0,0 0 0,-1-1 0,3 0 0,-2-1 0,2 1 0,-1 0 0,-1 1 0,0 0 0,2-1 0,0-1 0,0 1 0,0 0 0,-1 1 0,0-2 0,2 1 0,-1-2 0,1-1 0,-1 0 0,2-1 0,0 0 0,1-1 0,0 1 0,3 1 0,0 1 0,2 2 0,1 1 0,1 1 0,2 3 0,-3-1 0,2 3 0,-2-3 0,1 2 0,-1 1 0,1-1 0,0-1 0,0 0 0,0 0 0,-1 0 0,-1 0 0,0-1 0,0 1 0,0 0 0,0-2 0,-2 2 0,0 0 0,0 0 0,0 2 0,1-2 0,-1 0 0,0 0 0,0-1 0,0 1 0,-2-1 0,-1 1 0,-2 1 0,-2 0 0,-3 1 0,2-1 0,-5 1 0,4-3 0,-1 0 0,1 1 0,1-2 0,2 2 0,0-3 0,2 1 0,-1 2 0,-1 0 0,0 2 0,0-2 0,0 0 0,0-2 0,0 1 0,0 0 0,2-1 0,0 0 0,1-1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7:59:56.612"/>
    </inkml:context>
    <inkml:brush xml:id="br0">
      <inkml:brushProperty name="width" value="0.035" units="cm"/>
      <inkml:brushProperty name="height" value="0.035" units="cm"/>
      <inkml:brushProperty name="color" value="#E71224"/>
    </inkml:brush>
  </inkml:definitions>
  <inkml:trace contextRef="#ctx0" brushRef="#br0">0 26 24575,'22'0'0,"28"0"0,-4 0 0,20 0 0,21 0 0,-38 0 0,27 0 0,-44 0 0,-5 0 0,0 0 0,-4 0 0,-4 0 0,0 0 0,-4 0 0,-3 0 0,-2 0 0,-4 0 0,1 0 0,-2 0 0,1 0 0,0 0 0,0 0 0,0 0 0,-1 0 0,0 0 0,0 0 0,0 0 0,0 0 0,1 0 0,0 0 0,1 0 0,1-2 0,1 1 0,1-1 0,1 1 0,2-1 0,-3 1 0,0-1 0,-3 1 0,0 0 0,2-1 0,-2 1 0,1-1 0,0 2 0,-2 0 0,0 0 0,0 0 0,-1 0 0,6 0 0,-4 0 0,5 0 0,-4 0 0,3-2 0,-1 1 0,2-1 0,-1 1 0,0 0 0,-1 1 0,0 0 0,0 0 0,-1 0 0,0 0 0,0 0 0,1 0 0,0 0 0,0 0 0,2 0 0,0 0 0,0 0 0,-1 0 0,0 0 0,-1 0 0,1 0 0,0 0 0,-2 0 0,3 0 0,-4 0 0,2 0 0,0 0 0,1 0 0,1 0 0,-1 0 0,0 0 0,-1 0 0,0 0 0,-1 0 0,-1 0 0,0 0 0,0 0 0,0 0 0,0 0 0,1 0 0,-1 0 0,1 0 0,2 0 0,-1 0 0,1 0 0,-1 0 0,6 0 0,-4 0 0,4 0 0,-5 0 0,2 0 0,0 0 0,0 0 0,0 0 0,2 0 0,0 0 0,0 0 0,-1 0 0,-1 0 0,-1 0 0,1 0 0,-1 0 0,3 0 0,0 0 0,0 0 0,0 0 0,0 0 0,1 0 0,-1 0 0,-2 0 0,-2 0 0,0 0 0,1 0 0,-1 0 0,-1 1 0,-2 0 0,0 1 0,0-1 0,1-1 0,-1 0 0,1 0 0,2 0 0,0 2 0,1-1 0,0 1 0,-2 0 0,1 0 0,1-1 0,1 1 0,2-1 0,0 1 0,0 0 0,-2-1 0,2-1 0,0 2 0,0-1 0,0 1 0,2-1 0,-5-1 0,4 0 0,-4 0 0,-1 0 0,0 0 0,0 0 0,-1 0 0,1 0 0,-2 2 0,1-1 0,0 1 0,1-1 0,0-1 0,0 0 0,0 0 0,1 0 0,2 0 0,0 1 0,3 1 0,2-1 0,-2 0 0,2 0 0,0-1 0,11 0 0,-9 0 0,12 0 0,-13 0 0,3 0 0,0 0 0,1 0 0,0 0 0,0 0 0,2 0 0,-2 0 0,-1 0 0,0 0 0,0 0 0,-2 0 0,-1 0 0,2 0 0,-1 0 0,2 0 0,0 0 0,-3 0 0,0 0 0,-3 0 0,-1 0 0,-1 0 0,5 3 0,-7-3 0,8 3 0,-6-1 0,3-1 0,2 1 0,1-1 0,0 0 0,1-1 0,-1 0 0,2 0 0,1 1 0,-1 1 0,0 0 0,-5 0 0,2-2 0,-2 0 0,3 0 0,2 1 0,-1 1 0,2-1 0,-3 1 0,1-2 0,-1 0 0,-1 0 0,-2 0 0,4 0 0,-6 0 0,5 0 0,-8 0 0,0 0 0,-1 0 0,1 0 0,0 0 0,1 0 0,0 0 0,1 0 0,0 0 0,1 0 0,-1 0 0,0 0 0,-1 0 0,1 0 0,3 0 0,1 0 0,0 0 0,0 0 0,0 0 0,1 0 0,-1 0 0,-1 0 0,4 0 0,-5 0 0,3 0 0,-7-1 0,2-1 0,0 1 0,0-1 0,1 2 0,0 0 0,-1 0 0,2 0 0,-4 0 0,0 0 0,-2 0 0,-3 0 0,0 0 0,-1 0 0,-1 0 0,0 0 0,0 0 0,0 0 0,0 0 0,0 0 0,0 0 0,-1 0 0,0 0 0,0 0 0,0 0 0,0 0 0,1 0 0,0 0 0,-1 0 0,0 0 0,0 0 0,-2 0 0,-1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8:00:16.016"/>
    </inkml:context>
    <inkml:brush xml:id="br0">
      <inkml:brushProperty name="width" value="0.035" units="cm"/>
      <inkml:brushProperty name="height" value="0.035" units="cm"/>
      <inkml:brushProperty name="color" value="#E71224"/>
    </inkml:brush>
  </inkml:definitions>
  <inkml:trace contextRef="#ctx0" brushRef="#br0">1 115 24575,'6'0'0,"0"0"0,-1 0 0,0 0 0,0 0 0,1 0 0,-1 0 0,0 0 0,0 0 0,0 0 0,0 0 0,1 0 0,-1-1 0,1-1 0,0 1 0,-1-1 0,0 1 0,-1-1 0,0 1 0,-1-1 0,2 2 0,0 0 0,1 0 0,0 0 0,-1 0 0,1-1 0,0 0 0,0-1 0,0 1 0,-1 1 0,4 0 0,-2-1 0,2-1 0,-2 1 0,0 0 0,1-1 0,1 1 0,0-1 0,0 1 0,1 0 0,-1 1 0,0 0 0,-1 0 0,-1 0 0,0 0 0,-1 0 0,1 0 0,-1 0 0,0-1 0,0-1 0,0 1 0,0 0 0,0 0 0,1 1 0,-1 0 0,1 0 0,-2 0 0,1 0 0,-1 0 0,1 0 0,0 0 0,0 0 0,0 0 0,0 0 0,-1 0 0,1 0 0,-1 0 0,0 0 0,-2 0 0,-3 0 0,-2-2 0,-4-2 0,-4 0 0,1-2 0,-3 2 0,-2-3 0,4 3 0,-3-2 0,4 3 0,1-1 0,0 0 0,2 0 0,0 0 0,0 1 0,0-1 0,1 1 0,0 0 0,0 0 0,-1 1 0,1-1 0,-1 2 0,3-1 0,3 2 0,2 1 0,4 2 0,1 2 0,6 4 0,0-2 0,3 3 0,-4-4 0,-2 0 0,0 1 0,-1-1 0,-1 0 0,1 0 0,-1 0 0,0 0 0,-1 0 0,-1-1 0,-1 0 0,0 0 0,0 0 0,0-1 0,0 1 0,1-1 0,0-1 0,-1 2 0,-1-1 0,0-1 0,-1 1 0,-1-1 0,-3-2 0,-5 1 0,1-2 0,-3 0 0,2 0 0,0 0 0,0 0 0,1 0 0,0 0 0,0 0 0,-1 0 0,1 0 0,0 1 0,1 2 0,1 1 0,1 0 0,-2 2 0,0-1 0,-1 0 0,-1 1 0,2-1 0,0-1 0,1 0 0,-1-1 0,1 0 0,-1 0 0,1-1 0,-1 0 0,0-1 0,0 0 0,-1 0 0,2-1 0,1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8:18:11.037"/>
    </inkml:context>
    <inkml:brush xml:id="br0">
      <inkml:brushProperty name="width" value="0.035" units="cm"/>
      <inkml:brushProperty name="height" value="0.035" units="cm"/>
      <inkml:brushProperty name="color" value="#E71224"/>
    </inkml:brush>
  </inkml:definitions>
  <inkml:trace contextRef="#ctx0" brushRef="#br0">1 1 24575,'28'0'0,"7"0"0,-1 0 0,0 0 0,-16 0 0,3 0 0,0 0 0,2 0 0,-8 0 0,0 0 0,-5 0 0,-2 0 0,2 0 0,-4 0 0,1 0 0,-1 0 0,0 0 0,0 0 0,-1 0 0,1 0 0,0 0 0,0 0 0,-2 0 0,-1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8:18:14.170"/>
    </inkml:context>
    <inkml:brush xml:id="br0">
      <inkml:brushProperty name="width" value="0.035" units="cm"/>
      <inkml:brushProperty name="height" value="0.035" units="cm"/>
      <inkml:brushProperty name="color" value="#E71224"/>
    </inkml:brush>
  </inkml:definitions>
  <inkml:trace contextRef="#ctx0" brushRef="#br0">1 80 24575,'8'0'0,"4"0"0,2 0 0,0 0 0,-1 0 0,3 0 0,-4 0 0,1 0 0,-5 0 0,0 0 0,1 0 0,-2 0 0,0 0 0,-1 0 0,-1 0 0,2 0 0,-1 0 0,1 0 0,-1-3 0,0 0 0,-2-1 0,0 0 0,0 2 0,0-1 0,-1 0 0,-1-1 0,-2-2 0,-2 0 0,-1 1 0,-1 1 0,-4 0 0,-1 1 0,1 0 0,-1 1 0,4 0 0,-1 0 0,0-1 0,0 0 0,0 1 0,-1-1 0,1 1 0,-1 0 0,2 1 0,-1 1 0,2 0 0,4 0 0,3 0 0,5 0 0,-2 2 0,4 2 0,-2 0 0,0 1 0,0 1 0,-2-2 0,1 1 0,-1-2 0,1 0 0,-1 1 0,1-1 0,-2 1 0,1-1 0,-1 1 0,-1-1 0,-1 0 0,0 0 0,0 1 0,-1 0 0,0 1 0,-2 1 0,0 0 0,0-1 0,-1 1 0,-2-1 0,0-2 0,-1 0 0,0-1 0,0 1 0,-1-1 0,2 1 0,-1 0 0,0-1 0,0 0 0,0 1 0,1 1 0,0 1 0,0 0 0,0-3 0,0 1 0,1 1 0,0-1 0,0 2 0,-1-3 0,-1 0 0,-1-1 0,2-1 0,0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8:19:53.708"/>
    </inkml:context>
    <inkml:brush xml:id="br0">
      <inkml:brushProperty name="width" value="0.035" units="cm"/>
      <inkml:brushProperty name="height" value="0.035" units="cm"/>
      <inkml:brushProperty name="color" value="#E71224"/>
    </inkml:brush>
  </inkml:definitions>
  <inkml:trace contextRef="#ctx0" brushRef="#br0">0 25 24575,'7'0'0,"0"0"0,-1 0 0,0 0 0,0 0 0,0 0 0,-1-1 0,1-1 0,0 1 0,0-1 0,0 2 0,-2-1 0,0-1 0,1 1 0,-1-1 0,3 2 0,-2-3 0,1 2 0,0-2 0,-1 3 0,2 0 0,-1 0 0,0 0 0,0 0 0,-1 0 0,1 0 0,0 0 0,0 0 0,0 0 0,0 0 0,-1 0 0,1 0 0,0 0 0,0-1 0,0-1 0,-1 1 0,1-1 0,0 2 0,-3 0 0,0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8:20:14.600"/>
    </inkml:context>
    <inkml:brush xml:id="br0">
      <inkml:brushProperty name="width" value="0.035" units="cm"/>
      <inkml:brushProperty name="height" value="0.035" units="cm"/>
      <inkml:brushProperty name="color" value="#E71224"/>
    </inkml:brush>
  </inkml:definitions>
  <inkml:trace contextRef="#ctx0" brushRef="#br0">0 41 24575,'9'0'0,"2"-2"0,-2 1 0,5-2 0,-5 3 0,1-2 0,0 0 0,-3-1 0,1 0 0,-2 2 0,-1-2 0,0 1 0,0 0 0,0 1 0,1-1 0,0 0 0,-1 1 0,1-1 0,0 2 0,0 0 0,0 0 0,0 0 0,-1 0 0,1 0 0,0 0 0,-1 0 0,1 0 0,0 0 0,0 0 0,0 0 0,0 0 0,0 0 0,-1 0 0,1 0 0,0 0 0,1 0 0,-1 0 0,0 0 0,0 0 0,-1 0 0,1 0 0,0 0 0,0 0 0,0 0 0,1 0 0,0 0 0,-1 0 0,1 0 0,-1 0 0,0 0 0,0 0 0,-1 0 0,1 0 0,-1-1 0,0 0 0,-1-1 0,1 0 0,1 2 0,-2-1 0,-1 0 0,-1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8:20:22.584"/>
    </inkml:context>
    <inkml:brush xml:id="br0">
      <inkml:brushProperty name="width" value="0.035" units="cm"/>
      <inkml:brushProperty name="height" value="0.035" units="cm"/>
      <inkml:brushProperty name="color" value="#E71224"/>
    </inkml:brush>
  </inkml:definitions>
  <inkml:trace contextRef="#ctx0" brushRef="#br0">1 65 24575,'18'0'0,"-9"0"0,10 0 0,-7 0 0,1 0 0,8 0 0,-3-3 0,-3 0 0,-2-1 0,-7 1 0,1 2 0,-1 1 0,0 0 0,-1 0 0,1 0 0,0-2 0,0 1 0,0-2 0,1 0 0,-1 1 0,-1 0 0,1 2 0,-1-1 0,2-1 0,-1 1 0,0-2 0,1 1 0,-1 0 0,-1 0 0,1 0 0,-1 1 0,1-1 0,1 1 0,-1-1 0,1 0 0,-1 0 0,1 2 0,-1 0 0,0-1 0,0-1 0,0 0 0,-1 1 0,1 1 0,0 0 0,0 0 0,1 0 0,-1 0 0,1 0 0,-1-2 0,1 0 0,-1 1 0,-1-1 0,1 2 0,0 0 0,0 0 0,1 0 0,-1 0 0,0 0 0,-1 0 0,1 0 0,-3 0 0,0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8:23:19.993"/>
    </inkml:context>
    <inkml:brush xml:id="br0">
      <inkml:brushProperty name="width" value="0.035" units="cm"/>
      <inkml:brushProperty name="height" value="0.035" units="cm"/>
      <inkml:brushProperty name="color" value="#E71224"/>
    </inkml:brush>
  </inkml:definitions>
  <inkml:trace contextRef="#ctx0" brushRef="#br0">0 59 24575,'6'-3'0,"3"0"0,7 3 0,0 0 0,54 0 0,4-3 0,-21 1 0,-1-1 0,15-1 0,-26 0 0,-32 4 0,0 0 0,0 0 0,-2 0 0,4 0 0,-2 0 0,1 0 0,2 0 0,2 0 0,1-2 0,1 0 0,1 0 0,0-1 0,0 1 0,1 0 0,-3 1 0,-1 1 0,2-2 0,-1 0 0,3 0 0,1 1 0,-2 0 0,2 1 0,-2 0 0,1 0 0,-2-1 0,-2 0 0,6-1 0,-7 0 0,6 0 0,-7 2 0,1 0 0,-1 0 0,-1-1 0,-1-1 0,0 1 0,-1-1 0,-1 2 0,1 0 0,-3 0 0,0 0 0,-1 0 0,-1 0 0,-2 0 0,-1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8:23:23.956"/>
    </inkml:context>
    <inkml:brush xml:id="br0">
      <inkml:brushProperty name="width" value="0.035" units="cm"/>
      <inkml:brushProperty name="height" value="0.035" units="cm"/>
      <inkml:brushProperty name="color" value="#E71224"/>
    </inkml:brush>
  </inkml:definitions>
  <inkml:trace contextRef="#ctx0" brushRef="#br0">0 44 24575,'9'0'0,"3"0"0,14 0 0,-4 0 0,9 0 0,18 0 0,-14 0 0,20-1 0,-26-1 0,-5-1 0,-4 0 0,1 2 0,0-3 0,1 1 0,-3 0 0,-1 2 0,-1 0 0,-3 1 0,-1-2 0,-3 0 0,4 0 0,-5 1 0,4 1 0,-6 0 0,3 0 0,2 0 0,-1 0 0,1 0 0,0 0 0,1 0 0,1 0 0,2 0 0,1 0 0,-1 0 0,0 0 0,0 0 0,0 0 0,3 0 0,0 0 0,-1 0 0,1 0 0,-2 0 0,0-2 0,2 1 0,-2-1 0,2 0 0,8 2 0,-8 0 0,8-1 0,-12-1 0,1 0 0,-1 0 0,-2 2 0,-2 0 0,-2 0 0,-2 0 0,0-1 0,-1 1 0,-3 0 0,0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50:13.249"/>
    </inkml:context>
    <inkml:brush xml:id="br0">
      <inkml:brushProperty name="width" value="0.035" units="cm"/>
      <inkml:brushProperty name="height" value="0.035" units="cm"/>
      <inkml:brushProperty name="color" value="#E71224"/>
    </inkml:brush>
  </inkml:definitions>
  <inkml:trace contextRef="#ctx0" brushRef="#br0">1 0 24575,'8'0'0,"1"0"0,17 0 0,-9 0 0,16 0 0,-12 0 0,-1 0 0,2 0 0,-5 0 0,-3 0 0,-1 0 0,-1 0 0,1 0 0,0 0 0,0 1 0,0 1 0,-1 0 0,1-1 0,-3 0 0,-1 1 0,0-1 0,-1 0 0,2-1 0,0 0 0,1 0 0,0 2 0,0-1 0,0 0 0,-1 1 0,1-2 0,-1 0 0,1 2 0,-2-1 0,0 1 0,-4-1 0,0 1 0,1-1 0,0 0 0,-3-1 0,-1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50:15.886"/>
    </inkml:context>
    <inkml:brush xml:id="br0">
      <inkml:brushProperty name="width" value="0.035" units="cm"/>
      <inkml:brushProperty name="height" value="0.035" units="cm"/>
      <inkml:brushProperty name="color" value="#E71224"/>
    </inkml:brush>
  </inkml:definitions>
  <inkml:trace contextRef="#ctx0" brushRef="#br0">0 0 24575,'15'0'0,"-5"0"0,3 0 0,-3 0 0,0 0 0,1 0 0,-2 0 0,-2 0 0,0 0 0,-2 0 0,0 0 0,0 0 0,0 0 0,1 0 0,-3 0 0,0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50:19.470"/>
    </inkml:context>
    <inkml:brush xml:id="br0">
      <inkml:brushProperty name="width" value="0.035" units="cm"/>
      <inkml:brushProperty name="height" value="0.035" units="cm"/>
      <inkml:brushProperty name="color" value="#E71224"/>
    </inkml:brush>
  </inkml:definitions>
  <inkml:trace contextRef="#ctx0" brushRef="#br0">1 0 24575,'11'0'0,"6"0"0,0 0 0,4 0 0,10 0 0,2 0 0,8 0 0,-1 0 0,-16 0 0,3 0 0,-9 0 0,4 0 0,1 0 0,-1 0 0,-1 0 0,-1 0 0,-3 0 0,0 0 0,-1 0 0,-2 0 0,-1 0 0,-1 0 0,-4 0 0,-2 0 0,1 0 0,-2 0 0,1 0 0,-3 0 0,0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05:50:44.686"/>
    </inkml:context>
    <inkml:brush xml:id="br0">
      <inkml:brushProperty name="width" value="0.035" units="cm"/>
      <inkml:brushProperty name="height" value="0.035" units="cm"/>
      <inkml:brushProperty name="color" value="#E71224"/>
    </inkml:brush>
  </inkml:definitions>
  <inkml:trace contextRef="#ctx0" brushRef="#br0">1 1 24575,'18'0'0,"-4"0"0,24 0 0,3 0 0,55 0 0,-23 0 0,3 0 0,-48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765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rxiv.org/html/2510.17277v2"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OPENING</a:t>
            </a:r>
          </a:p>
          <a:p>
            <a:r>
              <a:rPr lang="en-US" dirty="0"/>
              <a:t>This is a focused preliminary review of representative papers. I’ve mapped their methods, benchmarks, and reported results into a proposed study design. The full protocol and version audit is ongoing; we haven’t reproduced or combined these systems yet.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goal is to formulate a controlled study that can compare approaches under a common protocol. The larger review remains a separate workstream.</a:t>
            </a:r>
          </a:p>
          <a:p>
            <a:endParaRPr lang="en-US" dirty="0"/>
          </a:p>
          <a:p>
            <a:r>
              <a:rPr dirty="0"/>
              <a:t>We selected ten papers to learn from in depth: attacks, evaluation validity, training data, alignment methods, and defenses. </a:t>
            </a:r>
            <a:endParaRPr lang="en-US" dirty="0"/>
          </a:p>
          <a:p>
            <a:endParaRPr dirty="0"/>
          </a:p>
          <a:p>
            <a:r>
              <a:rPr dirty="0"/>
              <a:t>TRANSITION</a:t>
            </a:r>
          </a:p>
          <a:p>
            <a:r>
              <a:rPr dirty="0"/>
              <a:t>I will first define the research question, then explain the papers and how each informs one part of the proposed experiment.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turns the broad topic into a testable question. </a:t>
            </a:r>
            <a:endParaRPr lang="en-US" dirty="0"/>
          </a:p>
          <a:p>
            <a:r>
              <a:rPr dirty="0"/>
              <a:t>We care about three things at once: stopping harmful assistance; </a:t>
            </a:r>
            <a:endParaRPr lang="en-US" dirty="0"/>
          </a:p>
          <a:p>
            <a:r>
              <a:rPr dirty="0"/>
              <a:t>not refusing safe, useful requests; </a:t>
            </a:r>
            <a:endParaRPr lang="en-US" dirty="0"/>
          </a:p>
          <a:p>
            <a:r>
              <a:rPr dirty="0"/>
              <a:t>and making safety decisions that actually respond to relevant image evidence. </a:t>
            </a:r>
            <a:endParaRPr lang="en-US" dirty="0"/>
          </a:p>
          <a:p>
            <a:endParaRPr lang="en-US" dirty="0"/>
          </a:p>
          <a:p>
            <a:r>
              <a:rPr dirty="0"/>
              <a:t>“Matched data budget” means the text-only and multimodal comparisons use the same underlying intents, risk mix, number of examples, and training budget. </a:t>
            </a:r>
            <a:endParaRPr lang="en-US" dirty="0"/>
          </a:p>
          <a:p>
            <a:r>
              <a:rPr dirty="0"/>
              <a:t>“Held-out” means attack intents or templates in the test set were not used to construct training examples.</a:t>
            </a:r>
          </a:p>
          <a:p>
            <a:endParaRPr dirty="0"/>
          </a:p>
          <a:p>
            <a:r>
              <a:rPr dirty="0"/>
              <a:t>Read the question aloud. We are not claiming multimodal alignment must win; </a:t>
            </a:r>
            <a:endParaRPr lang="en-US" dirty="0"/>
          </a:p>
          <a:p>
            <a:endParaRPr lang="en-US" dirty="0"/>
          </a:p>
          <a:p>
            <a:r>
              <a:rPr dirty="0"/>
              <a:t>we are proposing to measure whether it transfers better to visual and cross-modal attacks without sacrificing benign answer quality or grounding.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groups four input pathways or mechanisms; it is not the complete five-case </a:t>
            </a:r>
            <a:r>
              <a:rPr dirty="0" err="1"/>
              <a:t>HoliSafe</a:t>
            </a:r>
            <a:r>
              <a:rPr dirty="0"/>
              <a:t> taxonomy. Define the notation first: I = image, T = the accompanying text query, S = safe, U = unsafe.</a:t>
            </a:r>
          </a:p>
          <a:p>
            <a:endParaRPr dirty="0"/>
          </a:p>
          <a:p>
            <a:r>
              <a:rPr dirty="0"/>
              <a:t>Walk across the rows. </a:t>
            </a:r>
            <a:endParaRPr lang="en-US" dirty="0"/>
          </a:p>
          <a:p>
            <a:r>
              <a:rPr dirty="0"/>
              <a:t>(1) An unsafe ordinary text request with a safe image is </a:t>
            </a:r>
            <a:r>
              <a:rPr dirty="0" err="1"/>
              <a:t>S_i</a:t>
            </a:r>
            <a:r>
              <a:rPr dirty="0"/>
              <a:t> + </a:t>
            </a:r>
            <a:r>
              <a:rPr dirty="0" err="1"/>
              <a:t>U_t</a:t>
            </a:r>
            <a:r>
              <a:rPr dirty="0"/>
              <a:t> and probes inherited language safety. </a:t>
            </a:r>
            <a:endParaRPr lang="en-US" dirty="0"/>
          </a:p>
          <a:p>
            <a:r>
              <a:rPr dirty="0"/>
              <a:t>(2) A harmful instruction rendered inside the image, paired with safe accompanying text, is </a:t>
            </a:r>
            <a:r>
              <a:rPr dirty="0" err="1"/>
              <a:t>U_i</a:t>
            </a:r>
            <a:r>
              <a:rPr dirty="0"/>
              <a:t> + </a:t>
            </a:r>
            <a:r>
              <a:rPr dirty="0" err="1"/>
              <a:t>S_t</a:t>
            </a:r>
            <a:r>
              <a:rPr dirty="0"/>
              <a:t> and probes OCR/visual-text safety. </a:t>
            </a:r>
            <a:endParaRPr lang="en-US" dirty="0"/>
          </a:p>
          <a:p>
            <a:endParaRPr lang="en-US" dirty="0"/>
          </a:p>
          <a:p>
            <a:r>
              <a:rPr dirty="0"/>
              <a:t>(3) A risky image with safe text is also </a:t>
            </a:r>
            <a:r>
              <a:rPr dirty="0" err="1"/>
              <a:t>U_i</a:t>
            </a:r>
            <a:r>
              <a:rPr dirty="0"/>
              <a:t> + </a:t>
            </a:r>
            <a:r>
              <a:rPr dirty="0" err="1"/>
              <a:t>S_t</a:t>
            </a:r>
            <a:r>
              <a:rPr dirty="0"/>
              <a:t>, but the risk is carried by visual semantics rather than typography</a:t>
            </a:r>
            <a:r>
              <a:rPr lang="en-US" dirty="0"/>
              <a:t> (OCR) </a:t>
            </a:r>
            <a:r>
              <a:rPr dirty="0"/>
              <a:t>; it probes visual safety representation. </a:t>
            </a:r>
            <a:endParaRPr lang="en-US" dirty="0"/>
          </a:p>
          <a:p>
            <a:endParaRPr lang="en-US" dirty="0"/>
          </a:p>
          <a:p>
            <a:r>
              <a:rPr dirty="0"/>
              <a:t>Rows 2 and 3 are distinct mechanisms sharing one binary safety combination. </a:t>
            </a:r>
            <a:endParaRPr lang="en-US" dirty="0"/>
          </a:p>
          <a:p>
            <a:endParaRPr lang="en-US" dirty="0"/>
          </a:p>
          <a:p>
            <a:r>
              <a:rPr dirty="0"/>
              <a:t>(4) Individually safe image and text that form an unsafe joint interpretation are </a:t>
            </a:r>
            <a:r>
              <a:rPr dirty="0" err="1"/>
              <a:t>S_i</a:t>
            </a:r>
            <a:r>
              <a:rPr dirty="0"/>
              <a:t> + </a:t>
            </a:r>
            <a:r>
              <a:rPr dirty="0" err="1"/>
              <a:t>S_t</a:t>
            </a:r>
            <a:r>
              <a:rPr dirty="0"/>
              <a:t> -&gt; U and probe composition and grounding.</a:t>
            </a:r>
          </a:p>
          <a:p>
            <a:endParaRPr dirty="0"/>
          </a:p>
          <a:p>
            <a:r>
              <a:rPr dirty="0"/>
              <a:t>These four rows are selected input pathways, not all </a:t>
            </a:r>
            <a:r>
              <a:rPr dirty="0" err="1"/>
              <a:t>HoliSafe</a:t>
            </a:r>
            <a:r>
              <a:rPr dirty="0"/>
              <a:t> risk states. </a:t>
            </a:r>
            <a:r>
              <a:rPr dirty="0" err="1"/>
              <a:t>HoliSafe</a:t>
            </a:r>
            <a:r>
              <a:rPr dirty="0"/>
              <a:t> additionally includes </a:t>
            </a:r>
            <a:r>
              <a:rPr dirty="0" err="1"/>
              <a:t>U_i</a:t>
            </a:r>
            <a:r>
              <a:rPr dirty="0"/>
              <a:t> + </a:t>
            </a:r>
            <a:r>
              <a:rPr dirty="0" err="1"/>
              <a:t>U_t</a:t>
            </a:r>
            <a:r>
              <a:rPr dirty="0"/>
              <a:t> and the benign control </a:t>
            </a:r>
            <a:r>
              <a:rPr dirty="0" err="1"/>
              <a:t>S_i</a:t>
            </a:r>
            <a:r>
              <a:rPr dirty="0"/>
              <a:t> + </a:t>
            </a:r>
            <a:r>
              <a:rPr dirty="0" err="1"/>
              <a:t>S_t</a:t>
            </a:r>
            <a:r>
              <a:rPr dirty="0"/>
              <a:t> -&gt; S. The practical proposal is to report results by pathway and retain safe near-neighbors, rather than treating every refusal as a success. [8]</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this as the map for the ten papers. </a:t>
            </a:r>
            <a:endParaRPr lang="en-US" dirty="0"/>
          </a:p>
          <a:p>
            <a:endParaRPr lang="en-US" dirty="0"/>
          </a:p>
          <a:p>
            <a:r>
              <a:rPr dirty="0"/>
              <a:t>The first group creates attacks or evaluates risk coverage; </a:t>
            </a:r>
            <a:endParaRPr lang="en-US" dirty="0"/>
          </a:p>
          <a:p>
            <a:endParaRPr lang="en-US" dirty="0"/>
          </a:p>
          <a:p>
            <a:r>
              <a:rPr dirty="0"/>
              <a:t>the middle group supplies training data and preference methods;</a:t>
            </a:r>
            <a:endParaRPr lang="en-US" dirty="0"/>
          </a:p>
          <a:p>
            <a:r>
              <a:rPr dirty="0"/>
              <a:t> </a:t>
            </a:r>
            <a:endParaRPr lang="en-US" dirty="0"/>
          </a:p>
          <a:p>
            <a:r>
              <a:rPr dirty="0"/>
              <a:t>the last group studies adversarial training, a visual guard, a visual prompt, and reward-based safety/helpfulness arbitration. </a:t>
            </a:r>
            <a:endParaRPr lang="en-US" dirty="0"/>
          </a:p>
          <a:p>
            <a:endParaRPr lang="en-US" dirty="0"/>
          </a:p>
          <a:p>
            <a:r>
              <a:rPr dirty="0"/>
              <a:t>These roles overlap, but they are not interchangeable. </a:t>
            </a:r>
            <a:endParaRPr lang="en-US" dirty="0"/>
          </a:p>
          <a:p>
            <a:endParaRPr lang="en-US" dirty="0"/>
          </a:p>
          <a:p>
            <a:r>
              <a:rPr lang="en-US" dirty="0"/>
              <a:t>=&gt; Dataset, Benchmark, Attack, Alignment</a:t>
            </a:r>
          </a:p>
          <a:p>
            <a:endParaRPr lang="en-US" dirty="0"/>
          </a:p>
          <a:p>
            <a:r>
              <a:rPr lang="en-US" b="1" dirty="0"/>
              <a:t>A dataset is the examples; *</a:t>
            </a:r>
            <a:r>
              <a:rPr lang="en-US" dirty="0"/>
              <a:t>not an optimizer</a:t>
            </a:r>
            <a:endParaRPr lang="en-US" b="1" dirty="0"/>
          </a:p>
          <a:p>
            <a:r>
              <a:rPr lang="en-US" b="1" dirty="0"/>
              <a:t>a benchmark is the defined evaluation task and measurement; *</a:t>
            </a:r>
            <a:r>
              <a:rPr lang="en-US" dirty="0"/>
              <a:t>not an attack algorithm</a:t>
            </a:r>
            <a:endParaRPr lang="en-US" b="1" dirty="0"/>
          </a:p>
          <a:p>
            <a:r>
              <a:rPr lang="en-US" b="1" dirty="0"/>
              <a:t>an attack is a way to construct challenging inputs; *</a:t>
            </a:r>
            <a:r>
              <a:rPr lang="en-US" dirty="0"/>
              <a:t>not an alignment method</a:t>
            </a:r>
            <a:endParaRPr lang="en-US" b="1" dirty="0"/>
          </a:p>
          <a:p>
            <a:r>
              <a:rPr lang="en-US" b="1" dirty="0"/>
              <a:t>and an alignment method is an intervention intended to change model behavior.</a:t>
            </a:r>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FD86D-9868-14E4-3674-60D85F904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0D5DC-38E8-14AC-ACA2-CABF3902F01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720CDEA-1D9F-6BE0-4EF7-E809DB5701C3}"/>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This table is a map of what each paper contributes to our study, not a ranking of the papers. The roles overlap, so a paper can contribute a dataset and a method, or an evaluation resource and a defense.</a:t>
            </a:r>
            <a:endParaRPr lang="en-US" dirty="0"/>
          </a:p>
          <a:p>
            <a:endParaRPr lang="en-US" dirty="0"/>
          </a:p>
          <a:p>
            <a:r>
              <a:rPr lang="en-US" b="1" dirty="0" err="1"/>
              <a:t>FigStep</a:t>
            </a:r>
            <a:r>
              <a:rPr lang="en-US" b="1" dirty="0"/>
              <a:t>, HADES, and </a:t>
            </a:r>
            <a:r>
              <a:rPr lang="en-US" b="1" dirty="0" err="1"/>
              <a:t>PolyJailbreak</a:t>
            </a:r>
            <a:r>
              <a:rPr lang="en-US" b="1" dirty="0"/>
              <a:t> are attacks to run; </a:t>
            </a:r>
          </a:p>
          <a:p>
            <a:r>
              <a:rPr lang="en-US" b="1" dirty="0" err="1"/>
              <a:t>VLSBench</a:t>
            </a:r>
            <a:r>
              <a:rPr lang="en-US" b="1" dirty="0"/>
              <a:t>, USB, SIUO, and JailBreakV-28K are evaluation resources; </a:t>
            </a:r>
          </a:p>
          <a:p>
            <a:r>
              <a:rPr lang="en-US" b="1" dirty="0" err="1"/>
              <a:t>VLGuard</a:t>
            </a:r>
            <a:r>
              <a:rPr lang="en-US" b="1" dirty="0"/>
              <a:t> and SPA-VL are chiefly training-data resources; </a:t>
            </a:r>
          </a:p>
          <a:p>
            <a:r>
              <a:rPr lang="en-US" b="1" dirty="0"/>
              <a:t>and ADPO, Safe-VLM, DAVSP, and Pragma-VL are alignment or defense methods.</a:t>
            </a:r>
            <a:r>
              <a:rPr lang="en-US" dirty="0"/>
              <a:t> </a:t>
            </a:r>
          </a:p>
          <a:p>
            <a:r>
              <a:rPr lang="en-US" dirty="0"/>
              <a:t>Some—especially </a:t>
            </a:r>
            <a:r>
              <a:rPr lang="en-US" dirty="0" err="1"/>
              <a:t>HoliSafe</a:t>
            </a:r>
            <a:r>
              <a:rPr lang="en-US" dirty="0"/>
              <a:t> and </a:t>
            </a:r>
            <a:r>
              <a:rPr lang="en-US" dirty="0" err="1"/>
              <a:t>VLGuard</a:t>
            </a:r>
            <a:r>
              <a:rPr lang="en-US" dirty="0"/>
              <a:t>—serve more than one role.</a:t>
            </a:r>
          </a:p>
          <a:p>
            <a:endParaRPr lang="en-US" dirty="0"/>
          </a:p>
          <a:p>
            <a:r>
              <a:rPr lang="en-US" dirty="0"/>
              <a:t>*speaker-note script you can use instead of reading the table row by row:</a:t>
            </a:r>
          </a:p>
          <a:p>
            <a:r>
              <a:rPr lang="en-US" b="1" dirty="0"/>
              <a:t>First are the attacks.</a:t>
            </a:r>
            <a:r>
              <a:rPr lang="en-US" dirty="0"/>
              <a:t> </a:t>
            </a:r>
          </a:p>
          <a:p>
            <a:r>
              <a:rPr lang="en-US" dirty="0" err="1"/>
              <a:t>FigStep</a:t>
            </a:r>
            <a:r>
              <a:rPr lang="en-US" dirty="0"/>
              <a:t> tests whether harmful instructions hidden as text in an image can bypass safety behavior. </a:t>
            </a:r>
          </a:p>
          <a:p>
            <a:r>
              <a:rPr lang="en-US" dirty="0"/>
              <a:t>HADES extends that idea with semantically related images, and its strongest gradient-based stage requires white-box access. </a:t>
            </a:r>
          </a:p>
          <a:p>
            <a:r>
              <a:rPr lang="en-US" dirty="0" err="1"/>
              <a:t>PolyJailbreak</a:t>
            </a:r>
            <a:r>
              <a:rPr lang="en-US" dirty="0"/>
              <a:t> is different: it adaptively refines attacks against a black-box model. </a:t>
            </a:r>
          </a:p>
          <a:p>
            <a:endParaRPr lang="en-US" dirty="0"/>
          </a:p>
          <a:p>
            <a:r>
              <a:rPr lang="en-US" dirty="0"/>
              <a:t>JailBreakV-28K is mainly a large collection of jailbreak test cases, including transfer from text-only attacks; it is not one attack algorithm.</a:t>
            </a:r>
          </a:p>
          <a:p>
            <a:endParaRPr lang="en-US" b="1" dirty="0"/>
          </a:p>
          <a:p>
            <a:r>
              <a:rPr lang="en-US" b="1" dirty="0"/>
              <a:t>Next are the evaluation resources.</a:t>
            </a:r>
            <a:r>
              <a:rPr lang="en-US" dirty="0"/>
              <a:t> </a:t>
            </a:r>
          </a:p>
          <a:p>
            <a:r>
              <a:rPr lang="en-US" dirty="0" err="1"/>
              <a:t>VLSBench</a:t>
            </a:r>
            <a:r>
              <a:rPr lang="en-US" dirty="0"/>
              <a:t> tests whether a model is genuinely using visual evidence or whether the text alone gives away the unsafe intent. </a:t>
            </a:r>
          </a:p>
          <a:p>
            <a:r>
              <a:rPr lang="en-US" dirty="0"/>
              <a:t>USB gives broader coverage across risk categories and image/text safety combinations. </a:t>
            </a:r>
          </a:p>
          <a:p>
            <a:r>
              <a:rPr lang="en-US" dirty="0"/>
              <a:t>SIUO focuses on compositional cases where the image and text may look safe separately, but their combination can lead to an unsafe result. </a:t>
            </a:r>
          </a:p>
          <a:p>
            <a:endParaRPr lang="en-US" dirty="0"/>
          </a:p>
          <a:p>
            <a:r>
              <a:rPr lang="en-US" dirty="0"/>
              <a:t>These resources answer different evaluation questions, so their scores should not be combined as though they were one common leaderboard.</a:t>
            </a:r>
          </a:p>
          <a:p>
            <a:endParaRPr lang="en-US" b="1" dirty="0"/>
          </a:p>
          <a:p>
            <a:r>
              <a:rPr lang="en-US" b="1" dirty="0"/>
              <a:t>For training data, </a:t>
            </a:r>
            <a:r>
              <a:rPr lang="en-US" b="1" dirty="0" err="1"/>
              <a:t>VLGuard</a:t>
            </a:r>
            <a:r>
              <a:rPr lang="en-US" b="1" dirty="0"/>
              <a:t> and SPA-VL play different roles.</a:t>
            </a:r>
            <a:r>
              <a:rPr lang="en-US" dirty="0"/>
              <a:t> </a:t>
            </a:r>
          </a:p>
          <a:p>
            <a:r>
              <a:rPr lang="en-US" dirty="0" err="1"/>
              <a:t>VLGuard</a:t>
            </a:r>
            <a:r>
              <a:rPr lang="en-US" dirty="0"/>
              <a:t> provides multimodal safety examples for supervised fine-tuning and is also used as an evaluation resource in its paper. </a:t>
            </a:r>
          </a:p>
          <a:p>
            <a:r>
              <a:rPr lang="en-US" dirty="0"/>
              <a:t>SPA-VL provides preference pairs: a preferred safe response and a rejected response. </a:t>
            </a:r>
          </a:p>
          <a:p>
            <a:r>
              <a:rPr lang="en-US" dirty="0"/>
              <a:t>Those pairs can be used to train preference-alignment methods such as DPO. </a:t>
            </a:r>
          </a:p>
          <a:p>
            <a:r>
              <a:rPr lang="en-US" dirty="0"/>
              <a:t>We would need to keep any training examples separate from the locked evaluation set to avoid contamination.</a:t>
            </a:r>
          </a:p>
          <a:p>
            <a:endParaRPr lang="en-US" b="1" dirty="0"/>
          </a:p>
          <a:p>
            <a:r>
              <a:rPr lang="en-US" b="1" dirty="0" err="1"/>
              <a:t>HoliSafe</a:t>
            </a:r>
            <a:r>
              <a:rPr lang="en-US" b="1" dirty="0"/>
              <a:t> is especially important because it has multiple roles.</a:t>
            </a:r>
            <a:r>
              <a:rPr lang="en-US" dirty="0"/>
              <a:t> </a:t>
            </a:r>
          </a:p>
          <a:p>
            <a:r>
              <a:rPr lang="en-US" dirty="0"/>
              <a:t>It provides image/text safety examples, </a:t>
            </a:r>
          </a:p>
          <a:p>
            <a:r>
              <a:rPr lang="en-US" dirty="0"/>
              <a:t>a benchmark that covers five image-and-text risk conditions, </a:t>
            </a:r>
          </a:p>
          <a:p>
            <a:r>
              <a:rPr lang="en-US" dirty="0"/>
              <a:t>and the Safe-VLM visual guard method. </a:t>
            </a:r>
          </a:p>
          <a:p>
            <a:r>
              <a:rPr lang="en-US" dirty="0"/>
              <a:t>We use its five-condition framing to think about evaluation coverage; that does not mean we are proposing to reproduce every part of Safe-VLM or to claim that our study covers every possible visual safety risk.</a:t>
            </a:r>
          </a:p>
          <a:p>
            <a:endParaRPr lang="en-US" b="1" dirty="0"/>
          </a:p>
          <a:p>
            <a:endParaRPr lang="en-US" b="1" dirty="0"/>
          </a:p>
          <a:p>
            <a:r>
              <a:rPr lang="en-US" b="1" dirty="0"/>
              <a:t>Finally, the method papers show possible alignment interventions.</a:t>
            </a:r>
            <a:r>
              <a:rPr lang="en-US" dirty="0"/>
              <a:t> </a:t>
            </a:r>
          </a:p>
          <a:p>
            <a:r>
              <a:rPr lang="en-US" dirty="0"/>
              <a:t>ADPO is adversary-aware preference alignment; </a:t>
            </a:r>
          </a:p>
          <a:p>
            <a:r>
              <a:rPr lang="en-US" dirty="0"/>
              <a:t>DAVSP is a visual-side prompt and activation intervention; </a:t>
            </a:r>
          </a:p>
          <a:p>
            <a:r>
              <a:rPr lang="en-US" dirty="0"/>
              <a:t>Pragma-VL focuses on balancing safety with helpfulness. </a:t>
            </a:r>
          </a:p>
          <a:p>
            <a:r>
              <a:rPr lang="en-US" dirty="0"/>
              <a:t>Safe-VLM, from </a:t>
            </a:r>
            <a:r>
              <a:rPr lang="en-US" dirty="0" err="1"/>
              <a:t>HoliSafe</a:t>
            </a:r>
            <a:r>
              <a:rPr lang="en-US" dirty="0"/>
              <a:t>, adds a visual guard. They are candidate methods to learn from or compare against—not components we must all combine.</a:t>
            </a:r>
          </a:p>
          <a:p>
            <a:endParaRPr lang="en-US" b="1" dirty="0"/>
          </a:p>
          <a:p>
            <a:r>
              <a:rPr lang="en-US" b="1" dirty="0"/>
              <a:t>The connection to our project is the division of labor:</a:t>
            </a:r>
            <a:r>
              <a:rPr lang="en-US" dirty="0"/>
              <a:t> training data supplies examples, alignment methods change model behavior, attacks stress-test that behavior, and benchmarks measure performance. Our proposal is to choose a feasible subset and evaluate it under a common, controlled protocol; it does not claim that all these papers have already been reproduced or combined.</a:t>
            </a:r>
          </a:p>
          <a:p>
            <a:endParaRPr lang="en-US" dirty="0"/>
          </a:p>
          <a:p>
            <a:r>
              <a:rPr lang="en-US" b="1" dirty="0"/>
              <a:t>A dataset is the examples; </a:t>
            </a:r>
          </a:p>
          <a:p>
            <a:r>
              <a:rPr lang="en-US" b="1" dirty="0"/>
              <a:t>a benchmark is the defined evaluation task and measurement; </a:t>
            </a:r>
          </a:p>
          <a:p>
            <a:r>
              <a:rPr lang="en-US" b="1" dirty="0"/>
              <a:t>an attack is a way to construct challenging inputs; </a:t>
            </a:r>
          </a:p>
          <a:p>
            <a:r>
              <a:rPr lang="en-US" b="1" dirty="0"/>
              <a:t>and an alignment method is an intervention intended to change model behavior.”</a:t>
            </a:r>
            <a:endParaRPr lang="en-US" dirty="0"/>
          </a:p>
          <a:p>
            <a:endParaRPr lang="en-US" dirty="0"/>
          </a:p>
        </p:txBody>
      </p:sp>
      <p:sp>
        <p:nvSpPr>
          <p:cNvPr id="4" name="Slide Number Placeholder 3">
            <a:extLst>
              <a:ext uri="{FF2B5EF4-FFF2-40B4-BE49-F238E27FC236}">
                <a16:creationId xmlns:a16="http://schemas.microsoft.com/office/drawing/2014/main" id="{D2D01B4F-FB9E-E9FC-DCA3-94312409F3B6}"/>
              </a:ext>
            </a:extLst>
          </p:cNvPr>
          <p:cNvSpPr>
            <a:spLocks noGrp="1"/>
          </p:cNvSpPr>
          <p:nvPr>
            <p:ph type="sldNum" sz="quarter" idx="5"/>
          </p:nvPr>
        </p:nvSpPr>
        <p:spPr/>
      </p:sp>
    </p:spTree>
    <p:extLst>
      <p:ext uri="{BB962C8B-B14F-4D97-AF65-F5344CB8AC3E}">
        <p14:creationId xmlns:p14="http://schemas.microsoft.com/office/powerpoint/2010/main" val="1156617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PAPER 1 — FIGSTEP [1]</a:t>
            </a:r>
          </a:p>
          <a:p>
            <a:r>
              <a:rPr lang="en-US" dirty="0"/>
              <a:t>*</a:t>
            </a:r>
            <a:r>
              <a:rPr dirty="0"/>
              <a:t>Walk Figure 2 left to right: </a:t>
            </a:r>
            <a:r>
              <a:rPr lang="en-US" dirty="0"/>
              <a:t> Explain </a:t>
            </a:r>
            <a:r>
              <a:rPr lang="en-US" dirty="0" err="1"/>
              <a:t>FigStep</a:t>
            </a:r>
            <a:r>
              <a:rPr lang="en-US" dirty="0"/>
              <a:t> as= paraphrase a harmful request, render it as text in an image, pair it with a neutral/inciting text prompt, and test whether the VLM follows the image-carried instruction. </a:t>
            </a:r>
          </a:p>
          <a:p>
            <a:endParaRPr lang="en-US" dirty="0"/>
          </a:p>
          <a:p>
            <a:r>
              <a:rPr dirty="0"/>
              <a:t>begin with a prohibited request, </a:t>
            </a:r>
            <a:endParaRPr lang="en-US" dirty="0"/>
          </a:p>
          <a:p>
            <a:r>
              <a:rPr dirty="0"/>
              <a:t>paraphrase it as a list-like instruction, </a:t>
            </a:r>
            <a:endParaRPr lang="en-US" dirty="0"/>
          </a:p>
          <a:p>
            <a:r>
              <a:rPr dirty="0"/>
              <a:t>render that instruction as text inside an image, </a:t>
            </a:r>
            <a:endParaRPr lang="en-US" dirty="0"/>
          </a:p>
          <a:p>
            <a:r>
              <a:rPr dirty="0"/>
              <a:t>and pair the image with an innocuous/inciting text prompt. </a:t>
            </a:r>
            <a:endParaRPr lang="en-US" dirty="0"/>
          </a:p>
          <a:p>
            <a:r>
              <a:rPr dirty="0"/>
              <a:t>The attack tests whether visual text can bypass safeguards learned mainly from text prompts. </a:t>
            </a:r>
            <a:endParaRPr lang="en-US" dirty="0"/>
          </a:p>
          <a:p>
            <a:endParaRPr lang="en-US" dirty="0"/>
          </a:p>
          <a:p>
            <a:endParaRPr lang="en-US" dirty="0"/>
          </a:p>
          <a:p>
            <a:r>
              <a:rPr lang="en-US" dirty="0"/>
              <a:t>*</a:t>
            </a:r>
            <a:r>
              <a:rPr dirty="0"/>
              <a:t>In Table 1, the last two rows give the six-model means: </a:t>
            </a:r>
            <a:endParaRPr lang="en-US" dirty="0"/>
          </a:p>
          <a:p>
            <a:r>
              <a:rPr lang="en-US" dirty="0"/>
              <a:t>PPL is </a:t>
            </a:r>
            <a:r>
              <a:rPr lang="en-US" i="1" dirty="0"/>
              <a:t>perplexity</a:t>
            </a:r>
            <a:r>
              <a:rPr lang="en-US" dirty="0"/>
              <a:t>, a language-model measure related to how predictable or fluent generated text is. In this table, average PPL goes from 19.26 for the vanilla-text condition to 7.73 for </a:t>
            </a:r>
            <a:r>
              <a:rPr lang="en-US" dirty="0" err="1"/>
              <a:t>FigStep</a:t>
            </a:r>
            <a:r>
              <a:rPr lang="en-US" dirty="0"/>
              <a:t>. </a:t>
            </a:r>
          </a:p>
          <a:p>
            <a:endParaRPr lang="en-US" dirty="0"/>
          </a:p>
          <a:p>
            <a:r>
              <a:rPr lang="en-US" dirty="0"/>
              <a:t>It is </a:t>
            </a:r>
            <a:r>
              <a:rPr lang="en-US" b="1" dirty="0"/>
              <a:t>not a safety score</a:t>
            </a:r>
            <a:r>
              <a:rPr lang="en-US" dirty="0"/>
              <a:t>; the central safety result is ASR: 44.80% vanilla versus 82.50% </a:t>
            </a:r>
            <a:r>
              <a:rPr lang="en-US" dirty="0" err="1"/>
              <a:t>FigStep</a:t>
            </a:r>
            <a:r>
              <a:rPr lang="en-US" dirty="0"/>
              <a:t>. </a:t>
            </a:r>
          </a:p>
          <a:p>
            <a:r>
              <a:rPr lang="en-US" dirty="0"/>
              <a:t>Higher ASR means more attacks succeeded, so it is worse for safety. </a:t>
            </a:r>
          </a:p>
          <a:p>
            <a:endParaRPr lang="en-US" dirty="0"/>
          </a:p>
          <a:p>
            <a:r>
              <a:rPr lang="en-US" dirty="0"/>
              <a:t>Explain </a:t>
            </a:r>
            <a:r>
              <a:rPr lang="en-US" dirty="0" err="1"/>
              <a:t>FigStep</a:t>
            </a:r>
            <a:r>
              <a:rPr lang="en-US" dirty="0"/>
              <a:t> as: paraphrase a harmful request, render it as text in an image, pair it with a neutral/inciting text prompt, and test whether the VLM follows the image-carried instruction. </a:t>
            </a:r>
          </a:p>
          <a:p>
            <a:endParaRPr lang="en-US" dirty="0"/>
          </a:p>
          <a:p>
            <a:endParaRPr dirty="0"/>
          </a:p>
          <a:p>
            <a:r>
              <a:rPr dirty="0"/>
              <a:t>WHAT IT MEANS FOR US</a:t>
            </a:r>
          </a:p>
          <a:p>
            <a:r>
              <a:rPr dirty="0"/>
              <a:t>Use as a fixed visual-text/OCR attack, alongside matched text-only requests, benign OCR requests, held-out render styles, and image-removal controls. This is an older paper-specific result, not a current-model prediction.</a:t>
            </a:r>
          </a:p>
          <a:p>
            <a:endParaRPr dirty="0"/>
          </a:p>
          <a:p>
            <a:r>
              <a:rPr dirty="0"/>
              <a:t>PAPER AUDIT — THREE QUESTIONS</a:t>
            </a:r>
          </a:p>
          <a:p>
            <a:r>
              <a:rPr dirty="0"/>
              <a:t>Q1. Why can image-carried instructions bypass text-only alignment, and what test is used?</a:t>
            </a:r>
          </a:p>
          <a:p>
            <a:r>
              <a:rPr dirty="0"/>
              <a:t>A. The unsafe instruction reaches the model through its visual pathway. </a:t>
            </a:r>
            <a:r>
              <a:rPr dirty="0" err="1"/>
              <a:t>SafeBench</a:t>
            </a:r>
            <a:r>
              <a:rPr dirty="0"/>
              <a:t> has 500 reviewed questions; </a:t>
            </a:r>
            <a:r>
              <a:rPr dirty="0" err="1"/>
              <a:t>SafeBench</a:t>
            </a:r>
            <a:r>
              <a:rPr dirty="0"/>
              <a:t>-Tiny has 50. Each question is tried five times, with any success counted.</a:t>
            </a:r>
          </a:p>
          <a:p>
            <a:r>
              <a:rPr dirty="0"/>
              <a:t>Q2. What is the threat model and the three construction stages?</a:t>
            </a:r>
          </a:p>
          <a:p>
            <a:r>
              <a:rPr dirty="0"/>
              <a:t>A. Black-box, one-turn access without weights or gradients: paraphrase as a list; render as image typography; add benign/inciting text.</a:t>
            </a:r>
          </a:p>
          <a:p>
            <a:r>
              <a:rPr dirty="0"/>
              <a:t>Q3. What does 82.50% versus 44.80% establish, and what not?</a:t>
            </a:r>
          </a:p>
          <a:p>
            <a:r>
              <a:rPr dirty="0"/>
              <a:t>A. It shows a vulnerability under </a:t>
            </a:r>
            <a:r>
              <a:rPr dirty="0" err="1"/>
              <a:t>FigStep’s</a:t>
            </a:r>
            <a:r>
              <a:rPr dirty="0"/>
              <a:t> own six-model setup. It does not establish a current-model rate, isolate OCR as the sole cause without controls, or compare against adaptive attacks.</a:t>
            </a:r>
            <a:endParaRPr lang="en-US" dirty="0"/>
          </a:p>
          <a:p>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5 </a:t>
            </a:r>
            <a:r>
              <a:rPr lang="en-US" sz="1200" b="0" i="0" u="none" strike="noStrike" kern="1200" dirty="0" err="1">
                <a:solidFill>
                  <a:schemeClr val="tx1"/>
                </a:solidFill>
                <a:effectLst/>
                <a:latin typeface="+mn-lt"/>
                <a:ea typeface="+mn-ea"/>
                <a:cs typeface="+mn-cs"/>
              </a:rPr>
              <a:t>FigStep</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Limitation: The 82.50% ASR is from a specific model set and fixed typography attack; it is not a rate for current VLMs or every visual attack.</a:t>
            </a:r>
          </a:p>
          <a:p>
            <a:pPr rtl="0" eaLnBrk="1" fontAlgn="ctr" latinLnBrk="0" hangingPunct="1"/>
            <a:r>
              <a:rPr lang="en-US" sz="1200" b="0" i="0" u="none" strike="noStrike" kern="1200" dirty="0">
                <a:solidFill>
                  <a:schemeClr val="tx1"/>
                </a:solidFill>
                <a:effectLst/>
                <a:latin typeface="+mn-lt"/>
                <a:ea typeface="+mn-ea"/>
                <a:cs typeface="+mn-cs"/>
              </a:rPr>
              <a:t>Proposed? Yes. The notes say that and propose matched text-only, benign OCR, held-out renderings, and image-removal controls.</a:t>
            </a:r>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A81D4-66AB-9213-0967-2D889FFE05D1}"/>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E34FCAD-8733-1538-3AFB-377350226C0F}"/>
              </a:ext>
            </a:extLst>
          </p:cNvPr>
          <p:cNvSpPr>
            <a:spLocks noGrp="1"/>
          </p:cNvSpPr>
          <p:nvPr>
            <p:ph type="body" sz="quarter" idx="3"/>
          </p:nvPr>
        </p:nvSpPr>
        <p:spPr/>
        <p:txBody>
          <a:bodyPr/>
          <a:lstStyle/>
          <a:p>
            <a:r>
              <a:rPr dirty="0"/>
              <a:t>PAPER 4 — POLYJAILBREAK [4]</a:t>
            </a:r>
          </a:p>
          <a:p>
            <a:r>
              <a:rPr lang="en-US" dirty="0"/>
              <a:t>*</a:t>
            </a:r>
            <a:r>
              <a:rPr dirty="0"/>
              <a:t>Start at the top of Figure 6: </a:t>
            </a:r>
            <a:endParaRPr lang="en-US" dirty="0"/>
          </a:p>
          <a:p>
            <a:r>
              <a:rPr dirty="0"/>
              <a:t> </a:t>
            </a:r>
            <a:endParaRPr lang="en-US" dirty="0"/>
          </a:p>
          <a:p>
            <a:r>
              <a:rPr lang="en-US" dirty="0"/>
              <a:t>the attacker profiles the black-box target, </a:t>
            </a:r>
          </a:p>
          <a:p>
            <a:r>
              <a:rPr lang="en-US" dirty="0"/>
              <a:t>proposes combinations of text/visual/persuasion strategies, </a:t>
            </a:r>
          </a:p>
          <a:p>
            <a:r>
              <a:rPr lang="en-US" dirty="0"/>
              <a:t>submits an image-text prompt, </a:t>
            </a:r>
          </a:p>
          <a:p>
            <a:r>
              <a:rPr lang="en-US" dirty="0"/>
              <a:t>evaluates the response, </a:t>
            </a:r>
          </a:p>
          <a:p>
            <a:r>
              <a:rPr lang="en-US" dirty="0"/>
              <a:t>uses feedback to revise the attack, </a:t>
            </a:r>
          </a:p>
          <a:p>
            <a:r>
              <a:rPr lang="en-US" dirty="0"/>
              <a:t>and repeats until success or its step limit.</a:t>
            </a:r>
          </a:p>
          <a:p>
            <a:r>
              <a:rPr lang="en-US" dirty="0"/>
              <a:t> That is what makes it adaptive, unlike </a:t>
            </a:r>
            <a:r>
              <a:rPr lang="en-US" dirty="0" err="1"/>
              <a:t>FigStep’s</a:t>
            </a:r>
            <a:r>
              <a:rPr lang="en-US" dirty="0"/>
              <a:t> fixed recipe. </a:t>
            </a:r>
          </a:p>
          <a:p>
            <a:endParaRPr lang="en-US" dirty="0"/>
          </a:p>
          <a:p>
            <a:r>
              <a:rPr dirty="0"/>
              <a:t>The planner combines textual manipulation, visual manipulation, and persuasion strategies;</a:t>
            </a:r>
            <a:endParaRPr lang="en-US" dirty="0"/>
          </a:p>
          <a:p>
            <a:r>
              <a:rPr dirty="0"/>
              <a:t> image tools can transform or regenerate an image. </a:t>
            </a:r>
            <a:endParaRPr lang="en-US" dirty="0"/>
          </a:p>
          <a:p>
            <a:r>
              <a:rPr dirty="0"/>
              <a:t>The target's response is assessed, and feedback updates the attack policy until success or the step cap.</a:t>
            </a:r>
            <a:endParaRPr lang="en-US" dirty="0"/>
          </a:p>
          <a:p>
            <a:endParaRPr lang="en-US" dirty="0"/>
          </a:p>
          <a:p>
            <a:endParaRPr dirty="0"/>
          </a:p>
          <a:p>
            <a:r>
              <a:rPr dirty="0"/>
              <a:t>Table VI reports mean ASR 83.34% and harmfulness score 3.976/5 over eight targets. ASR asks whether the attack succeeded; the 0–5 score asks about the harmfulness of the response. They are different outcomes. </a:t>
            </a:r>
            <a:endParaRPr lang="en-US" dirty="0"/>
          </a:p>
          <a:p>
            <a:r>
              <a:rPr lang="en-US" dirty="0"/>
              <a:t>-----------------------------------------</a:t>
            </a:r>
          </a:p>
          <a:p>
            <a:endParaRPr lang="en-US" dirty="0"/>
          </a:p>
          <a:p>
            <a:r>
              <a:rPr lang="en-US" dirty="0"/>
              <a:t>it uses a multi-agent attack framework with a customized </a:t>
            </a:r>
            <a:r>
              <a:rPr lang="en-US" b="1" dirty="0"/>
              <a:t>Soft Actor-Critic (SAC)</a:t>
            </a:r>
            <a:r>
              <a:rPr lang="en-US" dirty="0"/>
              <a:t> algorithm to adaptively choose and refine text-and-image strategies against a black-box target. </a:t>
            </a:r>
          </a:p>
          <a:p>
            <a:endParaRPr lang="en-US" dirty="0"/>
          </a:p>
          <a:p>
            <a:r>
              <a:rPr lang="en-US" dirty="0"/>
              <a:t>The RL policy belongs to the </a:t>
            </a:r>
            <a:r>
              <a:rPr lang="en-US" b="1" dirty="0"/>
              <a:t>attacker</a:t>
            </a:r>
            <a:r>
              <a:rPr lang="en-US" dirty="0"/>
              <a:t>, not the target VLM: the target model is queried, not fine-tuned. </a:t>
            </a:r>
            <a:r>
              <a:rPr lang="en-US" dirty="0">
                <a:hlinkClick r:id="rId3"/>
              </a:rPr>
              <a:t>PolyJailbreak, §V</a:t>
            </a:r>
            <a:endParaRPr lang="en-US" dirty="0"/>
          </a:p>
          <a:p>
            <a:r>
              <a:rPr lang="en-US" dirty="0"/>
              <a:t>Here’s the figure’s workflow, in order:</a:t>
            </a:r>
          </a:p>
          <a:p>
            <a:pPr lvl="0"/>
            <a:r>
              <a:rPr lang="en-US" b="1" dirty="0"/>
              <a:t>Discover the target’s behavior.</a:t>
            </a:r>
            <a:r>
              <a:rPr lang="en-US" dirty="0"/>
              <a:t> The framework probes the model directly and gathers available information about its refusal patterns, vision filtering, and safety policies. It combines those into a target profile to guide the attack.</a:t>
            </a:r>
          </a:p>
          <a:p>
            <a:pPr lvl="0"/>
            <a:endParaRPr lang="en-US" dirty="0"/>
          </a:p>
          <a:p>
            <a:pPr lvl="0"/>
            <a:r>
              <a:rPr lang="en-US" dirty="0"/>
              <a:t>ATTACK INITIALIZATION</a:t>
            </a:r>
          </a:p>
          <a:p>
            <a:pPr lvl="0"/>
            <a:r>
              <a:rPr lang="en-US" b="1" dirty="0"/>
              <a:t>Choose strategy primitives.</a:t>
            </a:r>
            <a:r>
              <a:rPr lang="en-US" dirty="0"/>
              <a:t> An attack agent selects from three libraries: textual manipulation, visual manipulation, and persuasion/prompt amplification. The paper calls these reusable strategies </a:t>
            </a:r>
            <a:r>
              <a:rPr lang="en-US" b="1" dirty="0"/>
              <a:t>Atomic Strategy Primitives (ASPs)</a:t>
            </a:r>
            <a:r>
              <a:rPr lang="en-US" dirty="0"/>
              <a:t>.</a:t>
            </a:r>
          </a:p>
          <a:p>
            <a:pPr lvl="0"/>
            <a:endParaRPr lang="en-US" dirty="0"/>
          </a:p>
          <a:p>
            <a:pPr lvl="0"/>
            <a:r>
              <a:rPr lang="en-US" dirty="0"/>
              <a:t>ATTACK CONSTRUCTION</a:t>
            </a:r>
          </a:p>
          <a:p>
            <a:pPr lvl="0"/>
            <a:r>
              <a:rPr lang="en-US" b="1" dirty="0"/>
              <a:t>Construct a paired input.</a:t>
            </a:r>
            <a:r>
              <a:rPr lang="en-US" dirty="0"/>
              <a:t> The attack agent builds the text prompt. For the image, the framework either generates an image using a diffusion model or transforms an existing image. It combines them into the current image-text input.</a:t>
            </a:r>
          </a:p>
          <a:p>
            <a:pPr lvl="0"/>
            <a:r>
              <a:rPr lang="en-US" dirty="0"/>
              <a:t>&lt;</a:t>
            </a:r>
            <a:r>
              <a:rPr lang="en-US" dirty="0" err="1"/>
              <a:t>x_test</a:t>
            </a:r>
            <a:r>
              <a:rPr lang="en-US" dirty="0"/>
              <a:t>, </a:t>
            </a:r>
            <a:r>
              <a:rPr lang="en-US" dirty="0" err="1"/>
              <a:t>x_image</a:t>
            </a:r>
            <a:r>
              <a:rPr lang="en-US" dirty="0"/>
              <a:t>&gt;</a:t>
            </a:r>
          </a:p>
          <a:p>
            <a:pPr lvl="0"/>
            <a:endParaRPr lang="en-US" dirty="0"/>
          </a:p>
          <a:p>
            <a:pPr lvl="0"/>
            <a:r>
              <a:rPr lang="en-US" b="1" dirty="0"/>
              <a:t>Query and judge.</a:t>
            </a:r>
            <a:r>
              <a:rPr lang="en-US" dirty="0"/>
              <a:t> </a:t>
            </a:r>
          </a:p>
          <a:p>
            <a:pPr lvl="0"/>
            <a:r>
              <a:rPr lang="en-US" dirty="0"/>
              <a:t>Interaction &amp; Judgement. At step t, the adversarial input </a:t>
            </a:r>
            <a:r>
              <a:rPr lang="en-US" dirty="0" err="1"/>
              <a:t>Ig_t</a:t>
            </a:r>
            <a:r>
              <a:rPr lang="en-US" dirty="0"/>
              <a:t> is fed into the target model M, producing a response </a:t>
            </a:r>
            <a:r>
              <a:rPr lang="en-US" dirty="0" err="1"/>
              <a:t>yt</a:t>
            </a:r>
            <a:r>
              <a:rPr lang="en-US" dirty="0"/>
              <a:t>. </a:t>
            </a:r>
          </a:p>
          <a:p>
            <a:pPr lvl="0"/>
            <a:r>
              <a:rPr lang="en-US" dirty="0"/>
              <a:t>The judge model MJ then evaluates the tuple ⟨g, It g , </a:t>
            </a:r>
            <a:r>
              <a:rPr lang="en-US" dirty="0" err="1"/>
              <a:t>yt</a:t>
            </a:r>
            <a:r>
              <a:rPr lang="en-US" dirty="0"/>
              <a:t>⟩, and returns a hard label ℓt ∈ {SUCCESS, FAIL} together with a soft harmfulness score </a:t>
            </a:r>
            <a:r>
              <a:rPr lang="en-US" dirty="0" err="1"/>
              <a:t>ht</a:t>
            </a:r>
            <a:r>
              <a:rPr lang="en-US" dirty="0"/>
              <a:t> for reward computation.</a:t>
            </a:r>
          </a:p>
          <a:p>
            <a:pPr lvl="0"/>
            <a:endParaRPr lang="en-US" b="1" dirty="0"/>
          </a:p>
          <a:p>
            <a:pPr lvl="0"/>
            <a:r>
              <a:rPr lang="en-US" b="1" dirty="0"/>
              <a:t>Calculate reward and update the attack policy.</a:t>
            </a:r>
            <a:r>
              <a:rPr lang="en-US" dirty="0"/>
              <a:t> The reward combines safety feedback about the result, semantic similarity to a reference answer, and diversity of the generated text/image. The system stores each state, action, reward, and next state in a replay buffer. Once there is enough experience, SAC updates the </a:t>
            </a:r>
            <a:r>
              <a:rPr lang="en-US" b="1" dirty="0"/>
              <a:t>actor</a:t>
            </a:r>
            <a:r>
              <a:rPr lang="en-US" dirty="0"/>
              <a:t> and </a:t>
            </a:r>
            <a:r>
              <a:rPr lang="en-US" b="1" dirty="0"/>
              <a:t>critics</a:t>
            </a:r>
            <a:r>
              <a:rPr lang="en-US" dirty="0"/>
              <a:t>.</a:t>
            </a:r>
          </a:p>
          <a:p>
            <a:pPr lvl="0"/>
            <a:endParaRPr lang="en-US" dirty="0"/>
          </a:p>
          <a:p>
            <a:pPr lvl="0"/>
            <a:r>
              <a:rPr lang="en-US" b="1" dirty="0"/>
              <a:t>Try the next strategy.</a:t>
            </a:r>
            <a:r>
              <a:rPr lang="en-US" dirty="0"/>
              <a:t> The actor samples another combination of strategies and decides whether to refine, mutate, or reboot the text approach. The loop repeats until the judge says success or the step limit is reached. The paper sets that limit to </a:t>
            </a:r>
            <a:r>
              <a:rPr lang="en-US" b="1" dirty="0"/>
              <a:t>15 optimization steps per goal</a:t>
            </a:r>
            <a:r>
              <a:rPr lang="en-US" dirty="0"/>
              <a:t>; that is not necessarily a cap of 15 total API or auxiliary-model calls.</a:t>
            </a:r>
          </a:p>
          <a:p>
            <a:endParaRPr lang="en-US" dirty="0"/>
          </a:p>
          <a:p>
            <a:r>
              <a:rPr lang="en-US" dirty="0"/>
              <a:t>So the actor is learning: </a:t>
            </a:r>
            <a:r>
              <a:rPr lang="en-US" b="1" dirty="0"/>
              <a:t>“Given what we’ve tried and how the target responded, which attack strategy should we try next?”</a:t>
            </a:r>
            <a:r>
              <a:rPr lang="en-US" dirty="0"/>
              <a:t> The critics estimate which actions are likely to earn higher future reward. The judging agent supplies feedback; the actor and critics use that feedback to improve the attack policy.</a:t>
            </a:r>
          </a:p>
          <a:p>
            <a:endParaRPr lang="en-US" dirty="0"/>
          </a:p>
          <a:p>
            <a:endParaRPr lang="en-US" dirty="0"/>
          </a:p>
          <a:p>
            <a:r>
              <a:rPr lang="en-US" dirty="0"/>
              <a:t>*</a:t>
            </a:r>
          </a:p>
          <a:p>
            <a:r>
              <a:rPr lang="en-US" dirty="0"/>
              <a:t>’’’</a:t>
            </a:r>
          </a:p>
          <a:p>
            <a:r>
              <a:rPr lang="en-US" dirty="0"/>
              <a:t>For your presentation, make these distinctions explicit:</a:t>
            </a:r>
          </a:p>
          <a:p>
            <a:pPr lvl="0"/>
            <a:r>
              <a:rPr lang="en-US" b="1" dirty="0"/>
              <a:t>It is RL-based</a:t>
            </a:r>
            <a:r>
              <a:rPr lang="en-US" dirty="0"/>
              <a:t>, not merely an agent trying random prompts.</a:t>
            </a:r>
          </a:p>
          <a:p>
            <a:pPr lvl="0"/>
            <a:r>
              <a:rPr lang="en-US" b="1" dirty="0"/>
              <a:t>The attacker’s policy is updated; the target model is not.</a:t>
            </a:r>
            <a:endParaRPr lang="en-US" dirty="0"/>
          </a:p>
          <a:p>
            <a:pPr lvl="0"/>
            <a:r>
              <a:rPr lang="en-US" b="1" dirty="0"/>
              <a:t>The judge and target are different roles.</a:t>
            </a:r>
            <a:r>
              <a:rPr lang="en-US" dirty="0"/>
              <a:t> The paper also uses separate components for attack generation and image generation.</a:t>
            </a:r>
          </a:p>
          <a:p>
            <a:pPr lvl="0"/>
            <a:r>
              <a:rPr lang="en-US" b="1" dirty="0"/>
              <a:t>The loop is adaptive:</a:t>
            </a:r>
            <a:r>
              <a:rPr lang="en-US" dirty="0"/>
              <a:t> target feedback changes later attack choices. That is the key difference from </a:t>
            </a:r>
            <a:r>
              <a:rPr lang="en-US" dirty="0" err="1"/>
              <a:t>FigStep’s</a:t>
            </a:r>
            <a:r>
              <a:rPr lang="en-US" dirty="0"/>
              <a:t> fixed transformation.</a:t>
            </a:r>
          </a:p>
          <a:p>
            <a:pPr lvl="0"/>
            <a:r>
              <a:rPr lang="en-US" dirty="0"/>
              <a:t>The paper reports </a:t>
            </a:r>
            <a:r>
              <a:rPr lang="en-US" b="1" dirty="0"/>
              <a:t>83.34% mean ASR</a:t>
            </a:r>
            <a:r>
              <a:rPr lang="en-US" dirty="0"/>
              <a:t> and </a:t>
            </a:r>
            <a:r>
              <a:rPr lang="en-US" b="1" dirty="0"/>
              <a:t>3.976/5 mean harmfulness score</a:t>
            </a:r>
            <a:r>
              <a:rPr lang="en-US" dirty="0"/>
              <a:t> across its eight target models. ASR measures how often attacks succeed; HS measures the severity of judged responses. They are separate outcomes.</a:t>
            </a:r>
          </a:p>
          <a:p>
            <a:r>
              <a:rPr lang="en-US" dirty="0"/>
              <a:t>A good way to present the slide is to trace </a:t>
            </a:r>
            <a:r>
              <a:rPr lang="en-US" b="1" dirty="0"/>
              <a:t>profile → choose strategies → construct image-text input → query target → judge → reward/update → try again</a:t>
            </a:r>
            <a:r>
              <a:rPr lang="en-US" dirty="0"/>
              <a:t>. That covers the complete method without making you narrate every small icon. </a:t>
            </a:r>
          </a:p>
          <a:p>
            <a:r>
              <a:rPr lang="en-US" dirty="0"/>
              <a:t>’’’</a:t>
            </a:r>
          </a:p>
          <a:p>
            <a:r>
              <a:rPr lang="en-US" dirty="0"/>
              <a:t>*</a:t>
            </a:r>
          </a:p>
          <a:p>
            <a:endParaRPr lang="en-US" dirty="0"/>
          </a:p>
          <a:p>
            <a:endParaRPr lang="en-US" dirty="0"/>
          </a:p>
          <a:p>
            <a:endParaRPr dirty="0"/>
          </a:p>
          <a:p>
            <a:r>
              <a:rPr dirty="0"/>
              <a:t>PAPER AUDIT — THREE QUESTIONS</a:t>
            </a:r>
          </a:p>
          <a:p>
            <a:r>
              <a:rPr dirty="0"/>
              <a:t>Q1. How does this adaptive loop differ from </a:t>
            </a:r>
            <a:r>
              <a:rPr dirty="0" err="1"/>
              <a:t>FigStep</a:t>
            </a:r>
            <a:r>
              <a:rPr dirty="0"/>
              <a:t>?</a:t>
            </a:r>
          </a:p>
          <a:p>
            <a:r>
              <a:rPr dirty="0"/>
              <a:t>A. It profiles a target, selects/combines strategy primitives, receives feedback, and iteratively changes the cross-modal attack; </a:t>
            </a:r>
            <a:r>
              <a:rPr dirty="0" err="1"/>
              <a:t>FigStep</a:t>
            </a:r>
            <a:r>
              <a:rPr dirty="0"/>
              <a:t> follows a fixed recipe.</a:t>
            </a:r>
          </a:p>
          <a:p>
            <a:r>
              <a:rPr dirty="0"/>
              <a:t>Q2. Which targets and budget does the paper report?</a:t>
            </a:r>
          </a:p>
          <a:p>
            <a:r>
              <a:rPr dirty="0"/>
              <a:t>A. Eight targets: GPT-4o, GPT-4.1, Gemini-2.5-Flash 0520, Claude-3.7-Sonnet 20250219, and four open VLMs. The 15-step cap is optimization steps, not total system calls.</a:t>
            </a:r>
          </a:p>
          <a:p>
            <a:r>
              <a:rPr dirty="0"/>
              <a:t>Q3. How do we interpret the table?</a:t>
            </a:r>
          </a:p>
          <a:p>
            <a:r>
              <a:rPr dirty="0"/>
              <a:t>A. ASR is attack success; harmfulness score is severity. Keep both separate and do not rank this paper directly against </a:t>
            </a:r>
            <a:r>
              <a:rPr dirty="0" err="1"/>
              <a:t>FigStep’s</a:t>
            </a:r>
            <a:r>
              <a:rPr dirty="0"/>
              <a:t> different testbed.</a:t>
            </a:r>
            <a:endParaRPr lang="en-US" dirty="0"/>
          </a:p>
          <a:p>
            <a:endParaRPr lang="en-US" dirty="0"/>
          </a:p>
          <a:p>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6 </a:t>
            </a:r>
            <a:r>
              <a:rPr lang="en-US" sz="1200" b="0" i="0" u="none" strike="noStrike" kern="1200" dirty="0" err="1">
                <a:solidFill>
                  <a:schemeClr val="tx1"/>
                </a:solidFill>
                <a:effectLst/>
                <a:latin typeface="+mn-lt"/>
                <a:ea typeface="+mn-ea"/>
                <a:cs typeface="+mn-cs"/>
              </a:rPr>
              <a:t>PolyJailbreak</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Limitation: Its high ASR comes from an adaptive attack with auxiliary agents and image-generation tools; 15 optimization steps are not the full API-call cost.</a:t>
            </a:r>
          </a:p>
          <a:p>
            <a:pPr rtl="0" eaLnBrk="1" fontAlgn="ctr" latinLnBrk="0" hangingPunct="1"/>
            <a:r>
              <a:rPr lang="en-US" sz="1200" b="0" i="0" u="none" strike="noStrike" kern="1200" dirty="0">
                <a:solidFill>
                  <a:schemeClr val="tx1"/>
                </a:solidFill>
                <a:effectLst/>
                <a:latin typeface="+mn-lt"/>
                <a:ea typeface="+mn-ea"/>
                <a:cs typeface="+mn-cs"/>
              </a:rPr>
              <a:t>Proposed? Yes. The plan calls for matched budgets and reporting target, judge, attacker, and image-generation costs separately.</a:t>
            </a:r>
          </a:p>
          <a:p>
            <a:endParaRPr dirty="0"/>
          </a:p>
        </p:txBody>
      </p:sp>
    </p:spTree>
    <p:extLst>
      <p:ext uri="{BB962C8B-B14F-4D97-AF65-F5344CB8AC3E}">
        <p14:creationId xmlns:p14="http://schemas.microsoft.com/office/powerpoint/2010/main" val="3266681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lang="en-US" dirty="0"/>
              <a:t>PAPER 11 — HADES [11]</a:t>
            </a:r>
          </a:p>
          <a:p>
            <a:endParaRPr lang="en-US" dirty="0"/>
          </a:p>
          <a:p>
            <a:r>
              <a:rPr lang="en-US" dirty="0"/>
              <a:t>PAPER CONTRIBUTION AND METHOD</a:t>
            </a:r>
            <a:br>
              <a:rPr lang="en-US" dirty="0"/>
            </a:br>
            <a:r>
              <a:rPr lang="en-US" dirty="0"/>
              <a:t>HADES is an attack method, not just a dataset. </a:t>
            </a:r>
          </a:p>
          <a:p>
            <a:r>
              <a:rPr lang="en-US" dirty="0"/>
              <a:t>It tests whether crafted images can hide or amplify harmful intent and exploit weaknesses in an MLLM’s safety alignment.</a:t>
            </a:r>
          </a:p>
          <a:p>
            <a:r>
              <a:rPr lang="en-US" dirty="0"/>
              <a:t>Access matters: </a:t>
            </a:r>
            <a:r>
              <a:rPr lang="en-US" b="1" dirty="0"/>
              <a:t>+</a:t>
            </a:r>
            <a:r>
              <a:rPr lang="en-US" b="1" dirty="0" err="1"/>
              <a:t>Opt</a:t>
            </a:r>
            <a:r>
              <a:rPr lang="en-US" dirty="0"/>
              <a:t> uses semantically optimized generated images and is the black-box-compatible stage. </a:t>
            </a:r>
            <a:r>
              <a:rPr lang="en-US" b="1" dirty="0"/>
              <a:t>+Adv</a:t>
            </a:r>
            <a:r>
              <a:rPr lang="en-US" dirty="0"/>
              <a:t> optimizes an image using gradients and requires white-box access to the target model.</a:t>
            </a:r>
          </a:p>
          <a:p>
            <a:endParaRPr lang="en-US" b="1" dirty="0"/>
          </a:p>
          <a:p>
            <a:r>
              <a:rPr lang="en-US" b="1" dirty="0"/>
              <a:t>Figure to Walk Through — Main-Paper Figure 2</a:t>
            </a:r>
          </a:p>
          <a:p>
            <a:r>
              <a:rPr lang="en-US" dirty="0"/>
              <a:t>The slide shows </a:t>
            </a:r>
            <a:r>
              <a:rPr lang="en-US" b="1" dirty="0"/>
              <a:t>Figure 2</a:t>
            </a:r>
            <a:r>
              <a:rPr lang="en-US" dirty="0"/>
              <a:t>, the attack workflow. </a:t>
            </a:r>
          </a:p>
          <a:p>
            <a:r>
              <a:rPr lang="en-US" dirty="0"/>
              <a:t>*Walk left to right through its </a:t>
            </a:r>
            <a:r>
              <a:rPr lang="en-US" u="sng" dirty="0"/>
              <a:t>three stages</a:t>
            </a:r>
            <a:r>
              <a:rPr lang="en-US" dirty="0"/>
              <a:t>.</a:t>
            </a:r>
          </a:p>
          <a:p>
            <a:pPr lvl="0"/>
            <a:r>
              <a:rPr lang="en-US" b="1" dirty="0"/>
              <a:t>Hide harmfulness in the image:</a:t>
            </a:r>
            <a:r>
              <a:rPr lang="en-US" dirty="0"/>
              <a:t> Move the harmful keyword into image typography and replace it in the text prompt with a text-to-image pointer (T2I), such as “the object in the image.” The model must recover the request from the image text.</a:t>
            </a:r>
          </a:p>
          <a:p>
            <a:pPr lvl="0"/>
            <a:r>
              <a:rPr lang="en-US" b="1" dirty="0"/>
              <a:t>Amplify image toxicity with +</a:t>
            </a:r>
            <a:r>
              <a:rPr lang="en-US" b="1" dirty="0" err="1"/>
              <a:t>Opt</a:t>
            </a:r>
            <a:r>
              <a:rPr lang="en-US" b="1" dirty="0"/>
              <a:t>:</a:t>
            </a:r>
            <a:r>
              <a:rPr lang="en-US" dirty="0"/>
              <a:t> Add a semantically related generated image, with its content optimized through iterative prompt refinement. This is the black-box-compatible image-optimization stage.</a:t>
            </a:r>
          </a:p>
          <a:p>
            <a:pPr lvl="0"/>
            <a:r>
              <a:rPr lang="en-US" b="1" dirty="0"/>
              <a:t>Amplify image toxicity with +Adv:</a:t>
            </a:r>
            <a:r>
              <a:rPr lang="en-US" dirty="0"/>
              <a:t> Add a gradient-optimized adversarial image. This requires access to gradients of the target model and is a white-box condition.</a:t>
            </a:r>
          </a:p>
          <a:p>
            <a:endParaRPr lang="en-US" b="1" dirty="0"/>
          </a:p>
          <a:p>
            <a:r>
              <a:rPr lang="en-US" b="1" dirty="0"/>
              <a:t>Main-Paper Table 2 — Attack-Stage Results</a:t>
            </a:r>
          </a:p>
          <a:p>
            <a:r>
              <a:rPr lang="en-US" dirty="0"/>
              <a:t>Table 2 reports attack success rate (ASR) across Animal, Financial, Privacy, Self-Harm, and Violence, plus an average. Higher ASR means the attack succeeded more often.</a:t>
            </a:r>
          </a:p>
          <a:p>
            <a:r>
              <a:rPr lang="en-US" dirty="0"/>
              <a:t>For </a:t>
            </a:r>
            <a:r>
              <a:rPr lang="en-US" b="1" dirty="0"/>
              <a:t>LLaVA-1.5</a:t>
            </a:r>
            <a:r>
              <a:rPr lang="en-US" dirty="0"/>
              <a:t>, average ASR is </a:t>
            </a:r>
            <a:r>
              <a:rPr lang="en-US" b="1" dirty="0"/>
              <a:t>65.60%</a:t>
            </a:r>
            <a:r>
              <a:rPr lang="en-US" dirty="0"/>
              <a:t> for </a:t>
            </a:r>
            <a:r>
              <a:rPr lang="en-US" dirty="0" err="1"/>
              <a:t>Typ</a:t>
            </a:r>
            <a:r>
              <a:rPr lang="en-US" dirty="0"/>
              <a:t> image, </a:t>
            </a:r>
            <a:r>
              <a:rPr lang="en-US" b="1" dirty="0"/>
              <a:t>58.13%</a:t>
            </a:r>
            <a:r>
              <a:rPr lang="en-US" dirty="0"/>
              <a:t> for the +T2I (TEXT TO IMAGE) pointer condition, </a:t>
            </a:r>
            <a:r>
              <a:rPr lang="en-US" b="1" dirty="0"/>
              <a:t>78.53%</a:t>
            </a:r>
            <a:r>
              <a:rPr lang="en-US" dirty="0"/>
              <a:t> for +</a:t>
            </a:r>
            <a:r>
              <a:rPr lang="en-US" dirty="0" err="1"/>
              <a:t>Opt</a:t>
            </a:r>
            <a:r>
              <a:rPr lang="en-US" dirty="0"/>
              <a:t> image, and </a:t>
            </a:r>
            <a:r>
              <a:rPr lang="en-US" b="1" dirty="0"/>
              <a:t>90.26%</a:t>
            </a:r>
            <a:r>
              <a:rPr lang="en-US" dirty="0"/>
              <a:t> for +Adv image.</a:t>
            </a:r>
          </a:p>
          <a:p>
            <a:r>
              <a:rPr lang="en-US" dirty="0"/>
              <a:t>Do not describe the pointer as a separate model or as the optimized-image stage. In this condition, HADES removes the harmful keyword from the text prompt and uses a reference such as “the object in the image.” The pointer stage does not improve every model: it lowers LLaVA-1.5 ASR from 65.60% to 58.13%.</a:t>
            </a:r>
          </a:p>
          <a:p>
            <a:r>
              <a:rPr lang="en-US" dirty="0"/>
              <a:t>For </a:t>
            </a:r>
            <a:r>
              <a:rPr lang="en-US" b="1" dirty="0"/>
              <a:t>Gemini Pro Vision</a:t>
            </a:r>
            <a:r>
              <a:rPr lang="en-US" dirty="0"/>
              <a:t>, </a:t>
            </a:r>
            <a:r>
              <a:rPr lang="en-US" dirty="0" err="1"/>
              <a:t>Typ</a:t>
            </a:r>
            <a:r>
              <a:rPr lang="en-US" dirty="0"/>
              <a:t> image is </a:t>
            </a:r>
            <a:r>
              <a:rPr lang="en-US" b="1" dirty="0"/>
              <a:t>34.40%</a:t>
            </a:r>
            <a:r>
              <a:rPr lang="en-US" dirty="0"/>
              <a:t>, +T2I pointer is </a:t>
            </a:r>
            <a:r>
              <a:rPr lang="en-US" b="1" dirty="0"/>
              <a:t>51.33%</a:t>
            </a:r>
            <a:r>
              <a:rPr lang="en-US" dirty="0"/>
              <a:t>, and +</a:t>
            </a:r>
            <a:r>
              <a:rPr lang="en-US" dirty="0" err="1"/>
              <a:t>Opt</a:t>
            </a:r>
            <a:r>
              <a:rPr lang="en-US" dirty="0"/>
              <a:t> is </a:t>
            </a:r>
            <a:r>
              <a:rPr lang="en-US" b="1" dirty="0"/>
              <a:t>71.60%</a:t>
            </a:r>
            <a:r>
              <a:rPr lang="en-US" dirty="0"/>
              <a:t>. </a:t>
            </a:r>
          </a:p>
          <a:p>
            <a:endParaRPr lang="en-US" dirty="0"/>
          </a:p>
          <a:p>
            <a:r>
              <a:rPr lang="en-US" dirty="0"/>
              <a:t>The paper does not report +Adv for Gemini because its parameters are unavailable. Keep model and access conditions attached to each result.</a:t>
            </a:r>
          </a:p>
          <a:p>
            <a:endParaRPr lang="en-US" b="1" dirty="0"/>
          </a:p>
          <a:p>
            <a:r>
              <a:rPr lang="en-US" b="1" dirty="0"/>
              <a:t>Supplementary Results — Distinct Experiments</a:t>
            </a:r>
          </a:p>
          <a:p>
            <a:r>
              <a:rPr lang="en-US" b="1" dirty="0"/>
              <a:t>Supplementary Table 2</a:t>
            </a:r>
            <a:r>
              <a:rPr lang="en-US" dirty="0"/>
              <a:t> compares Adversarial, Compositional, and HADES by risk category on LLaVA-1.5. HADES reports </a:t>
            </a:r>
            <a:r>
              <a:rPr lang="en-US" b="1" dirty="0"/>
              <a:t>83.33%</a:t>
            </a:r>
            <a:r>
              <a:rPr lang="en-US" dirty="0"/>
              <a:t> for Animal, </a:t>
            </a:r>
            <a:r>
              <a:rPr lang="en-US" b="1" dirty="0"/>
              <a:t>89.33%</a:t>
            </a:r>
            <a:r>
              <a:rPr lang="en-US" dirty="0"/>
              <a:t> for Financial, </a:t>
            </a:r>
            <a:r>
              <a:rPr lang="en-US" b="1" dirty="0"/>
              <a:t>94.67%</a:t>
            </a:r>
            <a:r>
              <a:rPr lang="en-US" dirty="0"/>
              <a:t> for Privacy, </a:t>
            </a:r>
            <a:r>
              <a:rPr lang="en-US" b="1" dirty="0"/>
              <a:t>89.33%</a:t>
            </a:r>
            <a:r>
              <a:rPr lang="en-US" dirty="0"/>
              <a:t> for Self-Harm, and </a:t>
            </a:r>
            <a:r>
              <a:rPr lang="en-US" b="1" dirty="0"/>
              <a:t>94.67%</a:t>
            </a:r>
            <a:r>
              <a:rPr lang="en-US" dirty="0"/>
              <a:t> for Violence. This supports a category-wise comparison with those two attack baselines; it does not show the </a:t>
            </a:r>
            <a:r>
              <a:rPr lang="en-US" dirty="0" err="1"/>
              <a:t>Typ</a:t>
            </a:r>
            <a:r>
              <a:rPr lang="en-US" dirty="0"/>
              <a:t> / +T2I / +</a:t>
            </a:r>
            <a:r>
              <a:rPr lang="en-US" dirty="0" err="1"/>
              <a:t>Opt</a:t>
            </a:r>
            <a:r>
              <a:rPr lang="en-US" dirty="0"/>
              <a:t> / +Adv progression.</a:t>
            </a:r>
          </a:p>
          <a:p>
            <a:r>
              <a:rPr lang="en-US" b="1" dirty="0"/>
              <a:t>What It Means for Our Project</a:t>
            </a:r>
          </a:p>
          <a:p>
            <a:r>
              <a:rPr lang="en-US" dirty="0"/>
              <a:t>HADES motivates a semantic-image stress condition beyond text rendered as typography. </a:t>
            </a:r>
          </a:p>
          <a:p>
            <a:r>
              <a:rPr lang="en-US" dirty="0"/>
              <a:t>Include +</a:t>
            </a:r>
            <a:r>
              <a:rPr lang="en-US" dirty="0" err="1"/>
              <a:t>Opt</a:t>
            </a:r>
            <a:r>
              <a:rPr lang="en-US" dirty="0"/>
              <a:t> only if its artifacts and generation procedure can be reproduced. </a:t>
            </a:r>
          </a:p>
          <a:p>
            <a:r>
              <a:rPr lang="en-US" dirty="0"/>
              <a:t>Keep +Adv as a separately labeled, optional white-box extension. </a:t>
            </a:r>
          </a:p>
          <a:p>
            <a:r>
              <a:rPr lang="en-US" dirty="0"/>
              <a:t>Pair harmful cases with safe near-neighbors and report results by risk category. These published results are not predictions for our target model.</a:t>
            </a:r>
          </a:p>
          <a:p>
            <a:endParaRPr lang="en-US" b="1" dirty="0"/>
          </a:p>
          <a:p>
            <a:r>
              <a:rPr lang="en-US" b="1" dirty="0"/>
              <a:t>Paper Audit — Three Questions</a:t>
            </a:r>
          </a:p>
          <a:p>
            <a:r>
              <a:rPr lang="en-US" b="1" dirty="0"/>
              <a:t>=&gt;Q1. What is HADES, and how does it differ from </a:t>
            </a:r>
            <a:r>
              <a:rPr lang="en-US" b="1" dirty="0" err="1"/>
              <a:t>FigStep</a:t>
            </a:r>
            <a:r>
              <a:rPr lang="en-US" b="1" dirty="0"/>
              <a:t>?</a:t>
            </a:r>
            <a:br>
              <a:rPr lang="en-US" dirty="0"/>
            </a:br>
            <a:r>
              <a:rPr lang="en-US" dirty="0" err="1"/>
              <a:t>FigStep</a:t>
            </a:r>
            <a:r>
              <a:rPr lang="en-US" dirty="0"/>
              <a:t> primarily renders a harmful instruction as text in an image. HADES adds semantically relevant generated imagery to hide or amplify intent, with an optional gradient-optimized image stage.</a:t>
            </a:r>
          </a:p>
          <a:p>
            <a:endParaRPr lang="en-US" b="1" dirty="0"/>
          </a:p>
          <a:p>
            <a:r>
              <a:rPr lang="en-US" b="1" dirty="0"/>
              <a:t>Q2. What does main-paper Table 2 establish?</a:t>
            </a:r>
            <a:br>
              <a:rPr lang="en-US" dirty="0"/>
            </a:br>
            <a:r>
              <a:rPr lang="en-US" dirty="0"/>
              <a:t>It shows how ASR changes across HADES attack stages under the paper’s tested models and settings. The effect is not uniformly increasing at every stage: +T2I lowers LLaVA-1.5 ASR, while +</a:t>
            </a:r>
            <a:r>
              <a:rPr lang="en-US" dirty="0" err="1"/>
              <a:t>Opt</a:t>
            </a:r>
            <a:r>
              <a:rPr lang="en-US" dirty="0"/>
              <a:t> and +Adv raise it. It does not establish universal or cross-paper superiority.</a:t>
            </a:r>
          </a:p>
          <a:p>
            <a:r>
              <a:rPr lang="en-US" b="1" dirty="0"/>
              <a:t>Q3. Why must +</a:t>
            </a:r>
            <a:r>
              <a:rPr lang="en-US" b="1" dirty="0" err="1"/>
              <a:t>Opt</a:t>
            </a:r>
            <a:r>
              <a:rPr lang="en-US" b="1" dirty="0"/>
              <a:t> and +Adv be separated in our protocol?</a:t>
            </a:r>
            <a:br>
              <a:rPr lang="en-US" dirty="0"/>
            </a:br>
            <a:r>
              <a:rPr lang="en-US" dirty="0"/>
              <a:t>+</a:t>
            </a:r>
            <a:r>
              <a:rPr lang="en-US" dirty="0" err="1"/>
              <a:t>Opt</a:t>
            </a:r>
            <a:r>
              <a:rPr lang="en-US" dirty="0"/>
              <a:t> is black-box compatible; +Adv requires gradients or parameter access. They have different threat models and reproducibility constraints.</a:t>
            </a:r>
          </a:p>
          <a:p>
            <a:endParaRPr lang="en-US" b="1" dirty="0"/>
          </a:p>
          <a:p>
            <a:r>
              <a:rPr lang="en-US" b="1" dirty="0"/>
              <a:t>Limitation</a:t>
            </a:r>
          </a:p>
          <a:p>
            <a:r>
              <a:rPr lang="en-US" dirty="0"/>
              <a:t>The full attack’s white-box stage is unavailable for closed models, and the results cover a limited set of models and five scenarios. The CH-</a:t>
            </a:r>
            <a:r>
              <a:rPr lang="en-US" dirty="0" err="1"/>
              <a:t>LoRA</a:t>
            </a:r>
            <a:r>
              <a:rPr lang="en-US" dirty="0"/>
              <a:t> experiment uses a HADES-derived data split, so it does not by itself establish generalization to an independent external benchmark.</a:t>
            </a:r>
          </a:p>
          <a:p>
            <a:endParaRPr lang="en-US" b="1" dirty="0"/>
          </a:p>
          <a:p>
            <a:r>
              <a:rPr lang="en-US" b="1" dirty="0"/>
              <a:t>Transition</a:t>
            </a:r>
          </a:p>
          <a:p>
            <a:r>
              <a:rPr lang="en-US" dirty="0"/>
              <a:t>HADES gives us a semantic-image attack family and a supplementary example of alignment fine-tuning. Next, </a:t>
            </a:r>
            <a:r>
              <a:rPr lang="en-US" dirty="0" err="1"/>
              <a:t>JailBreakV</a:t>
            </a:r>
            <a:r>
              <a:rPr lang="en-US" dirty="0"/>
              <a:t> broadens the test from individual attack recipes to a large corpus that also asks whether text-only LLM jailbreaks transfer to multimodal systems.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PAPER 12 — JAILBREAKV-28K [12]</a:t>
            </a:r>
          </a:p>
          <a:p>
            <a:endParaRPr dirty="0"/>
          </a:p>
          <a:p>
            <a:r>
              <a:rPr dirty="0"/>
              <a:t>PAPER CONTRIBUTION AND DATA</a:t>
            </a:r>
          </a:p>
          <a:p>
            <a:r>
              <a:rPr dirty="0"/>
              <a:t>JailBreakV-28K is a benchmark/test corpus designed to assess MLLM robustness and the transferability of LLM jailbreaks. </a:t>
            </a:r>
            <a:endParaRPr lang="en-US" dirty="0"/>
          </a:p>
          <a:p>
            <a:r>
              <a:rPr dirty="0"/>
              <a:t>It is not one adaptive attack. </a:t>
            </a:r>
            <a:endParaRPr lang="en-US" dirty="0"/>
          </a:p>
          <a:p>
            <a:r>
              <a:rPr dirty="0"/>
              <a:t>The paper builds RedTeam-2K, with 2,000 harmful queries, then creates 20,000 text-based LLM-transfer cases and 8,000 image-based cases, for 28,000 text-image tests. </a:t>
            </a:r>
            <a:endParaRPr lang="en-US" dirty="0"/>
          </a:p>
          <a:p>
            <a:r>
              <a:rPr dirty="0"/>
              <a:t>It spans 16 safety policies and five attack methods: three LLM-transfer families (Template, Logic, Persuade) and two MLLM/image families (</a:t>
            </a:r>
            <a:r>
              <a:rPr dirty="0" err="1"/>
              <a:t>FigStep</a:t>
            </a:r>
            <a:r>
              <a:rPr dirty="0"/>
              <a:t> and Query-Relevant).</a:t>
            </a:r>
          </a:p>
          <a:p>
            <a:endParaRPr dirty="0"/>
          </a:p>
          <a:p>
            <a:r>
              <a:rPr dirty="0"/>
              <a:t>FIGURE TO WALK THROUGH</a:t>
            </a:r>
          </a:p>
          <a:p>
            <a:r>
              <a:rPr dirty="0"/>
              <a:t>Attach Figure 1. Read it as the benchmark construction map: </a:t>
            </a:r>
            <a:endParaRPr lang="en-US" dirty="0"/>
          </a:p>
          <a:p>
            <a:r>
              <a:rPr dirty="0"/>
              <a:t>harmful source queries feed text jailbreak generation and image-based attack construction; the resulting branches are combined into the JailBreakV-28K test corpus. </a:t>
            </a:r>
            <a:endParaRPr lang="en-US" dirty="0"/>
          </a:p>
          <a:p>
            <a:endParaRPr lang="en-US" dirty="0"/>
          </a:p>
          <a:p>
            <a:r>
              <a:rPr dirty="0"/>
              <a:t>The figure explains dataset composition, not a defense architecture.</a:t>
            </a:r>
          </a:p>
          <a:p>
            <a:endParaRPr dirty="0"/>
          </a:p>
          <a:p>
            <a:r>
              <a:rPr dirty="0"/>
              <a:t>TABLE AND RESULT</a:t>
            </a:r>
          </a:p>
          <a:p>
            <a:r>
              <a:rPr dirty="0"/>
              <a:t>Attach Table 2. Explain that rows are MLLM checkpoints and columns separate LLM-transfer conditions (with different image types) from image-based methods. The reported average ASR over the full benchmark is 44%; the paper reports 50.5% average ASR for LLM-transfer attacks across its ten evaluated MLLMs. </a:t>
            </a:r>
            <a:endParaRPr lang="en-US" dirty="0"/>
          </a:p>
          <a:p>
            <a:endParaRPr lang="en-US" dirty="0"/>
          </a:p>
          <a:p>
            <a:r>
              <a:rPr dirty="0"/>
              <a:t>Higher ASR means more jailbreaks succeeded. </a:t>
            </a:r>
            <a:endParaRPr lang="en-US" dirty="0"/>
          </a:p>
          <a:p>
            <a:r>
              <a:rPr dirty="0"/>
              <a:t>These values are specific to the paper’s checkpoints, prompts, judge, and aggregation.</a:t>
            </a:r>
          </a:p>
          <a:p>
            <a:endParaRPr dirty="0"/>
          </a:p>
          <a:p>
            <a:r>
              <a:rPr dirty="0"/>
              <a:t>The important finding is not merely the 44% aggregate: text-based jailbreak prompts can transfer to multimodal models, and the paper reports that the image input contributes minimally to ASR for its text-transfer attacks. Use that to motivate a text-only matched arm alongside visual attacks.</a:t>
            </a:r>
          </a:p>
          <a:p>
            <a:endParaRPr dirty="0"/>
          </a:p>
          <a:p>
            <a:r>
              <a:rPr dirty="0"/>
              <a:t>WHAT IT MEANS FOR OUR PROJECT</a:t>
            </a:r>
          </a:p>
          <a:p>
            <a:r>
              <a:rPr dirty="0" err="1"/>
              <a:t>JailBreakV</a:t>
            </a:r>
            <a:r>
              <a:rPr dirty="0"/>
              <a:t> can provide a held-out stress corpus spanning multiple attack families, but we should not train on it and then call it an independent test. </a:t>
            </a:r>
            <a:endParaRPr lang="en-US" dirty="0"/>
          </a:p>
          <a:p>
            <a:r>
              <a:rPr dirty="0"/>
              <a:t>Deduplicate source intents and near-duplicates against every training source; declare subset selection and license/access constraints. </a:t>
            </a:r>
            <a:endParaRPr lang="en-US" dirty="0"/>
          </a:p>
          <a:p>
            <a:r>
              <a:rPr dirty="0"/>
              <a:t>Report transfer and image-based subsets separately, not only the overall average.</a:t>
            </a:r>
          </a:p>
          <a:p>
            <a:endParaRPr dirty="0"/>
          </a:p>
          <a:p>
            <a:r>
              <a:rPr dirty="0"/>
              <a:t>PAPER AUDIT — THREE QUESTIONS</a:t>
            </a:r>
          </a:p>
          <a:p>
            <a:r>
              <a:rPr dirty="0"/>
              <a:t>Q1. What does “transfer” mean in this paper?</a:t>
            </a:r>
          </a:p>
          <a:p>
            <a:r>
              <a:rPr dirty="0"/>
              <a:t>A. A jailbreak prompt originally developed against a text-only LLM is paired with image conditions and tested on an MLLM, probing whether its language backbone remains vulnerable.</a:t>
            </a:r>
          </a:p>
          <a:p>
            <a:r>
              <a:rPr dirty="0"/>
              <a:t>Q2. Is JailBreakV-28K itself an attack algorithm?</a:t>
            </a:r>
          </a:p>
          <a:p>
            <a:r>
              <a:rPr dirty="0"/>
              <a:t>A. No. It is a corpus of cases from several attack methods. A particular case is fixed; the benchmark aggregates many such cases and families.</a:t>
            </a:r>
          </a:p>
          <a:p>
            <a:r>
              <a:rPr dirty="0"/>
              <a:t>Q3. What does its 44% result establish, and what does it not establish?</a:t>
            </a:r>
          </a:p>
          <a:p>
            <a:r>
              <a:rPr dirty="0"/>
              <a:t>A. It shows substantial vulnerability for the evaluated ten open MLLMs under this benchmark and scoring setup. It is not a universal VLM safety rate, nor directly comparable with ASR from another paper’s dataset or judge.</a:t>
            </a:r>
          </a:p>
          <a:p>
            <a:endParaRPr dirty="0"/>
          </a:p>
          <a:p>
            <a:r>
              <a:rPr dirty="0"/>
              <a:t>LIMITATION</a:t>
            </a:r>
          </a:p>
          <a:p>
            <a:r>
              <a:rPr dirty="0"/>
              <a:t>The benchmark’s generated/curated queries and model set are a snapshot; an aggregate can conceal category and attack-family differences. Potential overlap with other safety datasets makes intent-level deduplication essential before using it as a locked evaluation slice.</a:t>
            </a:r>
          </a:p>
          <a:p>
            <a:endParaRPr dirty="0"/>
          </a:p>
          <a:p>
            <a:r>
              <a:rPr dirty="0"/>
              <a:t>TRANSITION</a:t>
            </a:r>
          </a:p>
          <a:p>
            <a:r>
              <a:rPr dirty="0" err="1"/>
              <a:t>JailBreakV</a:t>
            </a:r>
            <a:r>
              <a:rPr dirty="0"/>
              <a:t> broadens the attack corpus, but many of its cases still present explicit malicious intent. Next, SIUO tests the subtler compositional case where the image and text can each look safe in isolation.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PAPER 2 — VLSBENCH [2]</a:t>
            </a:r>
          </a:p>
          <a:p>
            <a:r>
              <a:rPr dirty="0"/>
              <a:t>Walk through Figure 1 by comparing the red and green results. </a:t>
            </a:r>
            <a:endParaRPr lang="en-US" dirty="0"/>
          </a:p>
          <a:p>
            <a:r>
              <a:rPr dirty="0"/>
              <a:t>Red bars are evaluation on a prior-style benchmark with visual safety-information leakage (VSIL): text itself gives away the risk, so text alignment can appear as effective as multimodal alignment. </a:t>
            </a:r>
            <a:endParaRPr lang="en-US" dirty="0"/>
          </a:p>
          <a:p>
            <a:r>
              <a:rPr dirty="0"/>
              <a:t>Green bars are </a:t>
            </a:r>
            <a:r>
              <a:rPr dirty="0" err="1"/>
              <a:t>VLSBench’s</a:t>
            </a:r>
            <a:r>
              <a:rPr dirty="0"/>
              <a:t> leakless cases; the multimodal alignment rows score higher than the text-only rows on the shown </a:t>
            </a:r>
            <a:r>
              <a:rPr dirty="0" err="1"/>
              <a:t>LLaVA</a:t>
            </a:r>
            <a:r>
              <a:rPr dirty="0"/>
              <a:t> model. </a:t>
            </a:r>
            <a:endParaRPr lang="en-US" dirty="0"/>
          </a:p>
          <a:p>
            <a:endParaRPr lang="en-US" dirty="0"/>
          </a:p>
          <a:p>
            <a:r>
              <a:rPr dirty="0"/>
              <a:t>The image examples illustrate why the visual context matters. The extra statistics table is Figure 4: it breaks 2,241 samples into six categories and 19 subcategories; it is dataset composition, not a model result.</a:t>
            </a:r>
          </a:p>
          <a:p>
            <a:endParaRPr lang="en-US" dirty="0"/>
          </a:p>
          <a:p>
            <a:endParaRPr dirty="0"/>
          </a:p>
          <a:p>
            <a:r>
              <a:rPr lang="en-US" dirty="0"/>
              <a:t>*</a:t>
            </a:r>
            <a:r>
              <a:rPr dirty="0"/>
              <a:t>Table 4 gives the exact comparison for LLaVA-1.5-7B. </a:t>
            </a:r>
            <a:endParaRPr lang="en-US" dirty="0"/>
          </a:p>
          <a:p>
            <a:r>
              <a:rPr lang="en-US" dirty="0"/>
              <a:t>- Refusal” means a direct refusal; </a:t>
            </a:r>
          </a:p>
          <a:p>
            <a:r>
              <a:rPr lang="en-US" dirty="0"/>
              <a:t>- Warning” means the response recognizes the risk and gives an appropriate warning or safe response; </a:t>
            </a:r>
          </a:p>
          <a:p>
            <a:r>
              <a:rPr lang="en-US" dirty="0"/>
              <a:t>- Total” is the sum of safe-with-refusal and safe-with-warning judgments. So the total is a </a:t>
            </a:r>
            <a:r>
              <a:rPr lang="en-US" i="1" dirty="0"/>
              <a:t>safety rate</a:t>
            </a:r>
            <a:r>
              <a:rPr lang="en-US" dirty="0"/>
              <a:t>, not an ASR.</a:t>
            </a:r>
          </a:p>
          <a:p>
            <a:endParaRPr lang="en-US" dirty="0"/>
          </a:p>
          <a:p>
            <a:r>
              <a:rPr dirty="0"/>
              <a:t>Total safety is refusal plus warning: multimodal SFT 21.26%, multimodal DPO 27.01%, textual SFT 13.99%, textual DPO 13.99%. </a:t>
            </a:r>
            <a:endParaRPr lang="en-US" dirty="0"/>
          </a:p>
          <a:p>
            <a:r>
              <a:rPr dirty="0"/>
              <a:t>These are safety rates, not ASRs; a warning counts under the paper's rubric.</a:t>
            </a:r>
          </a:p>
          <a:p>
            <a:endParaRPr lang="en-US" dirty="0"/>
          </a:p>
          <a:p>
            <a:r>
              <a:rPr lang="en-US" dirty="0"/>
              <a:t>The values differ because the rows are </a:t>
            </a:r>
            <a:r>
              <a:rPr lang="en-US" b="1" dirty="0"/>
              <a:t>different alignment methods or training modalities applied to the same base model</a:t>
            </a:r>
            <a:r>
              <a:rPr lang="en-US" dirty="0"/>
              <a:t>. </a:t>
            </a:r>
          </a:p>
          <a:p>
            <a:r>
              <a:rPr lang="en-US" dirty="0"/>
              <a:t>For example, MM-DPO gets a higher total than Textual-DPO mostly because its warning rate is higher. </a:t>
            </a:r>
          </a:p>
          <a:p>
            <a:r>
              <a:rPr lang="en-US" dirty="0"/>
              <a:t>The point is not that “refusal alone wins”; </a:t>
            </a:r>
            <a:r>
              <a:rPr lang="en-US" dirty="0" err="1"/>
              <a:t>VLSBench</a:t>
            </a:r>
            <a:r>
              <a:rPr lang="en-US" dirty="0"/>
              <a:t> counts safe warnings too. Its paper defines total safety as refusal plus warning</a:t>
            </a:r>
          </a:p>
          <a:p>
            <a:endParaRPr lang="en-US" dirty="0"/>
          </a:p>
          <a:p>
            <a:endParaRPr lang="en-US" dirty="0"/>
          </a:p>
          <a:p>
            <a:endParaRPr dirty="0"/>
          </a:p>
          <a:p>
            <a:r>
              <a:rPr dirty="0"/>
              <a:t>WHAT IT MEANS FOR US</a:t>
            </a:r>
          </a:p>
          <a:p>
            <a:r>
              <a:rPr dirty="0"/>
              <a:t>Separate original-image, removed/masked-image, and valid decoy controls. </a:t>
            </a:r>
            <a:endParaRPr lang="en-US" dirty="0"/>
          </a:p>
          <a:p>
            <a:r>
              <a:rPr dirty="0"/>
              <a:t>Image ablation tests </a:t>
            </a:r>
            <a:r>
              <a:rPr lang="en-US" dirty="0"/>
              <a:t>[Whether behavior changes when visual evidence is removed or altered; it is an attribution control, not proof by itself] </a:t>
            </a:r>
            <a:r>
              <a:rPr dirty="0"/>
              <a:t>dependence, but is not alone proof of causality.</a:t>
            </a:r>
          </a:p>
          <a:p>
            <a:endParaRPr dirty="0"/>
          </a:p>
          <a:p>
            <a:r>
              <a:rPr dirty="0"/>
              <a:t>PAPER AUDIT — THREE QUESTIONS</a:t>
            </a:r>
          </a:p>
          <a:p>
            <a:r>
              <a:rPr dirty="0"/>
              <a:t>Q1. What is VSIL and why does it invalidate some tests?</a:t>
            </a:r>
          </a:p>
          <a:p>
            <a:r>
              <a:rPr dirty="0"/>
              <a:t>A. The text prompt discloses the unsafe intent, so the model may refuse without using the image.</a:t>
            </a:r>
          </a:p>
          <a:p>
            <a:r>
              <a:rPr dirty="0"/>
              <a:t>Q2. What does image ablation test?</a:t>
            </a:r>
          </a:p>
          <a:p>
            <a:r>
              <a:rPr dirty="0"/>
              <a:t>A. Whether behavior changes when visual evidence is removed or altered; it is an attribution control, not proof by itself.</a:t>
            </a:r>
          </a:p>
          <a:p>
            <a:r>
              <a:rPr dirty="0"/>
              <a:t>Q3. Why are 21.26% and 27.01% not ASR?</a:t>
            </a:r>
          </a:p>
          <a:p>
            <a:r>
              <a:rPr dirty="0"/>
              <a:t>A. They are total safety rates (refusal plus warning) for MM-SFT and MM-DPO. They cannot be interpreted as attack-success or refusal-only rates.</a:t>
            </a:r>
            <a:endParaRPr lang="en-US" dirty="0"/>
          </a:p>
          <a:p>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7 </a:t>
            </a:r>
            <a:r>
              <a:rPr lang="en-US" sz="1200" b="0" i="0" u="none" strike="noStrike" kern="1200" dirty="0" err="1">
                <a:solidFill>
                  <a:schemeClr val="tx1"/>
                </a:solidFill>
                <a:effectLst/>
                <a:latin typeface="+mn-lt"/>
                <a:ea typeface="+mn-ea"/>
                <a:cs typeface="+mn-cs"/>
              </a:rPr>
              <a:t>VLSBench</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Limitation: its safety rate is specific to its benchmark and judging rubric; it is not ASR, and image ablation alone does not prove the image caused the change.</a:t>
            </a:r>
          </a:p>
          <a:p>
            <a:pPr rtl="0" eaLnBrk="1" fontAlgn="ctr" latinLnBrk="0" hangingPunct="1"/>
            <a:r>
              <a:rPr lang="en-US" sz="1200" b="0" i="0" u="none" strike="noStrike" kern="1200" dirty="0">
                <a:solidFill>
                  <a:schemeClr val="tx1"/>
                </a:solidFill>
                <a:effectLst/>
                <a:latin typeface="+mn-lt"/>
                <a:ea typeface="+mn-ea"/>
                <a:cs typeface="+mn-cs"/>
              </a:rPr>
              <a:t>Proposed? Yes. The plan separates metrics and uses original, removed, masked, and decoy-image controls.</a:t>
            </a:r>
          </a:p>
          <a:p>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B625B-710B-B69E-F853-5E43D6478F42}"/>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AAA6E7F4-18E1-1234-2D9C-38BFC52FC031}"/>
              </a:ext>
            </a:extLst>
          </p:cNvPr>
          <p:cNvSpPr>
            <a:spLocks noGrp="1"/>
          </p:cNvSpPr>
          <p:nvPr>
            <p:ph type="body" sz="quarter" idx="3"/>
          </p:nvPr>
        </p:nvSpPr>
        <p:spPr/>
        <p:txBody>
          <a:bodyPr/>
          <a:lstStyle/>
          <a:p>
            <a:r>
              <a:rPr dirty="0"/>
              <a:t>PAPER 3 — USB [3]</a:t>
            </a:r>
          </a:p>
          <a:p>
            <a:r>
              <a:rPr dirty="0"/>
              <a:t>Figure 3 is a workflow, not a neural-network architecture: </a:t>
            </a:r>
            <a:endParaRPr lang="en-US" dirty="0"/>
          </a:p>
          <a:p>
            <a:r>
              <a:rPr dirty="0"/>
              <a:t>collect existing safety datasets, </a:t>
            </a:r>
            <a:endParaRPr lang="en-US" dirty="0"/>
          </a:p>
          <a:p>
            <a:r>
              <a:rPr dirty="0"/>
              <a:t>analyze gaps, </a:t>
            </a:r>
            <a:endParaRPr lang="en-US" dirty="0"/>
          </a:p>
          <a:p>
            <a:r>
              <a:rPr dirty="0"/>
              <a:t>synthesize risk scenarios and image/text examples, </a:t>
            </a:r>
            <a:endParaRPr lang="en-US" dirty="0"/>
          </a:p>
          <a:p>
            <a:r>
              <a:rPr dirty="0"/>
              <a:t>curate/deduplicate them, then evaluate models.</a:t>
            </a:r>
            <a:endParaRPr lang="en-US" dirty="0"/>
          </a:p>
          <a:p>
            <a:endParaRPr lang="en-US" dirty="0"/>
          </a:p>
          <a:p>
            <a:r>
              <a:rPr dirty="0"/>
              <a:t> The right panel summarizes 61 risk categories, four image/text states, 244 intersections, and dataset sizes. </a:t>
            </a:r>
            <a:endParaRPr lang="en-US" dirty="0"/>
          </a:p>
          <a:p>
            <a:endParaRPr lang="en-US" dirty="0"/>
          </a:p>
          <a:p>
            <a:r>
              <a:rPr dirty="0"/>
              <a:t>Table 2 is the model outcome table. </a:t>
            </a:r>
            <a:endParaRPr lang="en-US" dirty="0"/>
          </a:p>
          <a:p>
            <a:r>
              <a:rPr dirty="0"/>
              <a:t>Read across the Claude-Sonnet4 row: overall harmful-input Safety Rate (SR) is 91.16%; </a:t>
            </a:r>
            <a:endParaRPr lang="en-US" dirty="0"/>
          </a:p>
          <a:p>
            <a:r>
              <a:rPr dirty="0"/>
              <a:t>Refusal Rate (RR) on harmless inputs is 18.30% ± 0.7</a:t>
            </a:r>
            <a:r>
              <a:rPr lang="en-US" dirty="0"/>
              <a:t>5</a:t>
            </a:r>
            <a:r>
              <a:rPr dirty="0"/>
              <a:t>. </a:t>
            </a:r>
            <a:endParaRPr lang="en-US" dirty="0"/>
          </a:p>
          <a:p>
            <a:endParaRPr lang="en-US" dirty="0"/>
          </a:p>
          <a:p>
            <a:r>
              <a:rPr dirty="0"/>
              <a:t>Higher SR is better; lower benign-input RR is better. </a:t>
            </a:r>
            <a:r>
              <a:rPr lang="en-US" dirty="0"/>
              <a:t>*</a:t>
            </a:r>
            <a:r>
              <a:rPr dirty="0"/>
              <a:t>Do not simply say “lower refusal is better.”</a:t>
            </a:r>
          </a:p>
          <a:p>
            <a:endParaRPr dirty="0"/>
          </a:p>
          <a:p>
            <a:r>
              <a:rPr dirty="0"/>
              <a:t>The four state abbreviations: RIRT = risky image/risky text; RIST = risky image/safe text; SIRT = safe image/risky text; SIST = safe image/safe text. </a:t>
            </a:r>
            <a:endParaRPr lang="en-US" dirty="0"/>
          </a:p>
          <a:p>
            <a:r>
              <a:rPr dirty="0"/>
              <a:t>The table subdivides results by national, public, and ethical safety.</a:t>
            </a:r>
          </a:p>
          <a:p>
            <a:endParaRPr dirty="0"/>
          </a:p>
          <a:p>
            <a:r>
              <a:rPr dirty="0"/>
              <a:t>PAPER AUDIT — THREE QUESTIONS</a:t>
            </a:r>
          </a:p>
          <a:p>
            <a:r>
              <a:rPr dirty="0"/>
              <a:t>Q1. How does USB structure coverage, and what is dataset difficulty versus a model result?</a:t>
            </a:r>
          </a:p>
          <a:p>
            <a:r>
              <a:rPr dirty="0"/>
              <a:t>A. It crosses 61 risks with four modality states. Table 1 concerns benchmark/dataset difficulty; Table 2 reports model outcomes.</a:t>
            </a:r>
          </a:p>
          <a:p>
            <a:r>
              <a:rPr dirty="0"/>
              <a:t>Q2. What are SR and RR, and where is RR measured?</a:t>
            </a:r>
          </a:p>
          <a:p>
            <a:r>
              <a:rPr dirty="0"/>
              <a:t>A. SR is safe responses on harmful inputs; RR is refusals on harmless inputs, i.e. benign over-refusal.</a:t>
            </a:r>
          </a:p>
          <a:p>
            <a:r>
              <a:rPr dirty="0"/>
              <a:t>Q3. Why isn't low RR enough?</a:t>
            </a:r>
          </a:p>
          <a:p>
            <a:r>
              <a:rPr dirty="0"/>
              <a:t>A. A model could answer benign questions while still complying with harmful requests. Read RR with SR, by modality/risk stratum.</a:t>
            </a:r>
            <a:endParaRPr lang="en-US" dirty="0"/>
          </a:p>
          <a:p>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8 USB</a:t>
            </a:r>
          </a:p>
          <a:p>
            <a:pPr rtl="0" eaLnBrk="1" fontAlgn="ctr" latinLnBrk="0" hangingPunct="1"/>
            <a:r>
              <a:rPr lang="en-US" dirty="0"/>
              <a:t>Limitation: USB’s overall score can hide weaker results in particular risk categories or image/text combinations. </a:t>
            </a:r>
          </a:p>
          <a:p>
            <a:pPr rtl="0" eaLnBrk="1" fontAlgn="ctr" latinLnBrk="0" hangingPunct="1"/>
            <a:r>
              <a:rPr lang="en-US" dirty="0"/>
              <a:t>Safety Rate (SR) measures behavior on harmful inputs; </a:t>
            </a:r>
          </a:p>
          <a:p>
            <a:pPr rtl="0" eaLnBrk="1" fontAlgn="ctr" latinLnBrk="0" hangingPunct="1"/>
            <a:r>
              <a:rPr lang="en-US" dirty="0"/>
              <a:t>Refusal Rate (RR) measures over-refusal on benign probes. </a:t>
            </a:r>
          </a:p>
          <a:p>
            <a:pPr rtl="0" eaLnBrk="1" fontAlgn="ctr" latinLnBrk="0" hangingPunct="1"/>
            <a:r>
              <a:rPr lang="en-US" dirty="0"/>
              <a:t>Interpret and report them separately, broken down by risk and modality.</a:t>
            </a:r>
            <a:endParaRPr lang="en-US" sz="1200" b="0" i="0" u="none" strike="noStrike" kern="1200" dirty="0">
              <a:solidFill>
                <a:schemeClr val="tx1"/>
              </a:solidFill>
              <a:effectLst/>
              <a:latin typeface="+mn-lt"/>
              <a:ea typeface="+mn-ea"/>
              <a:cs typeface="+mn-cs"/>
            </a:endParaRPr>
          </a:p>
          <a:p>
            <a:pPr rtl="0" eaLnBrk="1" fontAlgn="ctr" latinLnBrk="0" hangingPunct="1"/>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Proposed? Partly. The notes explain SR/RR and recommend per-risk, per-modality reporting. I’d make the “aggregate scores can hide weak strata” limitation explicit when presenting.</a:t>
            </a:r>
          </a:p>
          <a:p>
            <a:endParaRPr dirty="0"/>
          </a:p>
        </p:txBody>
      </p:sp>
    </p:spTree>
    <p:extLst>
      <p:ext uri="{BB962C8B-B14F-4D97-AF65-F5344CB8AC3E}">
        <p14:creationId xmlns:p14="http://schemas.microsoft.com/office/powerpoint/2010/main" val="1302927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PAPER 13 — SIUO [13]</a:t>
            </a:r>
          </a:p>
          <a:p>
            <a:endParaRPr dirty="0"/>
          </a:p>
          <a:p>
            <a:r>
              <a:rPr dirty="0"/>
              <a:t>PAPER CONTRIBUTION AND BENCHMARK</a:t>
            </a:r>
          </a:p>
          <a:p>
            <a:r>
              <a:rPr dirty="0"/>
              <a:t>SIUO means “Safe Inputs but Unsafe Output.” It evaluates a cross-modal composition problem: image and text can each appear acceptable when considered alone, while their combined meaning implies unsafe intent or a harmful outcome. The published paper describes nine critical safety domains. This is a benchmark/evaluation contribution, not an attack method and not an alignment algorithm.</a:t>
            </a:r>
          </a:p>
          <a:p>
            <a:endParaRPr dirty="0"/>
          </a:p>
          <a:p>
            <a:r>
              <a:rPr dirty="0"/>
              <a:t>FIGURES TO WALK THROUGH</a:t>
            </a:r>
          </a:p>
          <a:p>
            <a:r>
              <a:rPr dirty="0"/>
              <a:t>Attach Figure 1 as the intuitive example: explain why the image and text may each look safe in isolation, then how their joint interpretation creates risk. This makes the benchmark’s key distinction concrete.</a:t>
            </a:r>
          </a:p>
          <a:p>
            <a:endParaRPr dirty="0"/>
          </a:p>
          <a:p>
            <a:r>
              <a:rPr dirty="0"/>
              <a:t>Attach Figure 2 for results. It shows safe-response rates across evaluated LVLMs and safety domains. First identify the metric and direction from the figure caption; then compare models within the same domain. Do not call the y-axis ASR. If converting a safe-response rate to an unsafe-response rate, state that it is the complement only when the paper’s definitions make that conversion valid.</a:t>
            </a:r>
          </a:p>
          <a:p>
            <a:endParaRPr dirty="0"/>
          </a:p>
          <a:p>
            <a:r>
              <a:rPr dirty="0"/>
              <a:t>Figure 4 is an optional source visual if you want to explain construction rather than results: it depicts AI-assisted curation, a text-only safety check, and human review. For this presentation, Figures 1 and 2 are the better pair because they show the phenomenon and the empirical finding. Figure 5 can be consulted for domain/subcategory coverage if an audience asks about taxonomy detail.</a:t>
            </a:r>
          </a:p>
          <a:p>
            <a:endParaRPr dirty="0"/>
          </a:p>
          <a:p>
            <a:r>
              <a:rPr dirty="0"/>
              <a:t>EVALUATION + RESULT</a:t>
            </a:r>
          </a:p>
          <a:p>
            <a:r>
              <a:rPr dirty="0"/>
              <a:t>The paper evaluates both open- and closed-source LVLMs and reports substantial vulnerability on SIUO. The central result to communicate is that conventional explicit harmful prompts do not cover this failure mode: models must interpret the joint image-text context. Keep the reported safe-response metric and any human/automatic judging details attached to the exact paper version and figure.</a:t>
            </a:r>
          </a:p>
          <a:p>
            <a:endParaRPr dirty="0"/>
          </a:p>
          <a:p>
            <a:r>
              <a:rPr dirty="0"/>
              <a:t>WHAT IT MEANS FOR OUR PROJECT</a:t>
            </a:r>
          </a:p>
          <a:p>
            <a:r>
              <a:rPr dirty="0"/>
              <a:t>Include SIUO as a locked compositional-risk test stratum, not as a generated attack procedure. Add matched safe near-neighbors and evaluate image-only, text-only, and joint input where the item supports those controls. This lets us test whether unsafe behavior is specifically triggered by cross-modal composition rather than one obviously harmful modality. Deduplicate test intents and examples against training data.</a:t>
            </a:r>
          </a:p>
          <a:p>
            <a:endParaRPr dirty="0"/>
          </a:p>
          <a:p>
            <a:r>
              <a:rPr dirty="0"/>
              <a:t>PAPER AUDIT — THREE QUESTIONS</a:t>
            </a:r>
          </a:p>
          <a:p>
            <a:r>
              <a:rPr dirty="0"/>
              <a:t>Q1. What is the defining SIUO condition?</a:t>
            </a:r>
          </a:p>
          <a:p>
            <a:r>
              <a:rPr dirty="0"/>
              <a:t>A. Each modality can be safe-looking independently, yet the combined image-text meaning can lead to unsafe output.</a:t>
            </a:r>
          </a:p>
          <a:p>
            <a:r>
              <a:rPr dirty="0"/>
              <a:t>Q2. Is SIUO an adversarial attack suite?</a:t>
            </a:r>
          </a:p>
          <a:p>
            <a:r>
              <a:rPr dirty="0"/>
              <a:t>A. No. It is a benchmark of cross-modal safety cases. We use it to test model behavior; it does not adaptively construct attacks against a target.</a:t>
            </a:r>
          </a:p>
          <a:p>
            <a:r>
              <a:rPr dirty="0"/>
              <a:t>Q3. How does SIUO complement </a:t>
            </a:r>
            <a:r>
              <a:rPr dirty="0" err="1"/>
              <a:t>FigStep</a:t>
            </a:r>
            <a:r>
              <a:rPr dirty="0"/>
              <a:t> and HADES?</a:t>
            </a:r>
          </a:p>
          <a:p>
            <a:r>
              <a:rPr dirty="0"/>
              <a:t>A. </a:t>
            </a:r>
            <a:r>
              <a:rPr dirty="0" err="1"/>
              <a:t>FigStep</a:t>
            </a:r>
            <a:r>
              <a:rPr dirty="0"/>
              <a:t> makes harmful text visually legible, and HADES uses crafted semantic imagery to amplify a harmful request. SIUO probes latent unsafe meaning arising from the combination of inputs, including cases without an overt harmful instruction.</a:t>
            </a:r>
          </a:p>
          <a:p>
            <a:endParaRPr dirty="0"/>
          </a:p>
          <a:p>
            <a:r>
              <a:rPr dirty="0"/>
              <a:t>LIMITATION</a:t>
            </a:r>
          </a:p>
          <a:p>
            <a:r>
              <a:rPr dirty="0"/>
              <a:t>SIUO covers a finite set of domains and curated examples; it does not establish safety across all implicit harms, cultures, modalities, or real-world contexts. Safe-response rates are rubric- and judge-dependent, so preserve the source metric and report matched benign controls.</a:t>
            </a:r>
          </a:p>
          <a:p>
            <a:endParaRPr dirty="0"/>
          </a:p>
          <a:p>
            <a:r>
              <a:rPr dirty="0"/>
              <a:t>TRANSITION</a:t>
            </a:r>
          </a:p>
          <a:p>
            <a:r>
              <a:rPr dirty="0"/>
              <a:t>Together, the attack papers give us fixed visual, semantic-image, and corpus-based stress tests; SIUO adds compositional evaluation. We can now move from what the literature tests to how existing papers train or align the model, beginning with </a:t>
            </a:r>
            <a:r>
              <a:rPr dirty="0" err="1"/>
              <a:t>VLGuard</a:t>
            </a:r>
            <a:r>
              <a:rPr dirty="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PAPER 5 — </a:t>
            </a:r>
            <a:r>
              <a:rPr dirty="0" err="1"/>
              <a:t>VLGuard</a:t>
            </a:r>
            <a:r>
              <a:rPr dirty="0"/>
              <a:t> [5]</a:t>
            </a:r>
            <a:br>
              <a:rPr lang="en-US" dirty="0"/>
            </a:br>
            <a:r>
              <a:rPr lang="en-US" dirty="0"/>
              <a:t>This paper highlight the something like the elasticity issue –</a:t>
            </a:r>
            <a:r>
              <a:rPr lang="en-US" i="1" dirty="0"/>
              <a:t>a tendency to revert toward pretrained distributions during fine-tuning because the massive pretraining corpus exerts stronger influence than smaller alignment datasets.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=&gt; Forgetting safety alignment </a:t>
            </a:r>
            <a:endParaRPr lang="en-US" dirty="0"/>
          </a:p>
          <a:p>
            <a:endParaRPr lang="en-US" dirty="0"/>
          </a:p>
          <a:p>
            <a:r>
              <a:rPr dirty="0"/>
              <a:t>Figure 3 is a scatter plot of helpfulness and harmfulness across tuning variants. </a:t>
            </a:r>
            <a:endParaRPr lang="en-US" dirty="0"/>
          </a:p>
          <a:p>
            <a:r>
              <a:rPr lang="en-US" dirty="0"/>
              <a:t>*</a:t>
            </a:r>
            <a:r>
              <a:rPr dirty="0"/>
              <a:t>Read the axes carefully: </a:t>
            </a:r>
            <a:endParaRPr lang="en-US" dirty="0"/>
          </a:p>
          <a:p>
            <a:r>
              <a:rPr dirty="0"/>
              <a:t>helpfulness increases upward; </a:t>
            </a:r>
            <a:endParaRPr lang="en-US" dirty="0"/>
          </a:p>
          <a:p>
            <a:r>
              <a:rPr dirty="0"/>
              <a:t>harmfulness decreases to the right. </a:t>
            </a:r>
            <a:endParaRPr lang="en-US" dirty="0"/>
          </a:p>
          <a:p>
            <a:r>
              <a:rPr dirty="0"/>
              <a:t>A desirable result moves up and right. </a:t>
            </a:r>
            <a:endParaRPr lang="en-US" dirty="0"/>
          </a:p>
          <a:p>
            <a:endParaRPr lang="en-US" dirty="0"/>
          </a:p>
          <a:p>
            <a:r>
              <a:rPr dirty="0"/>
              <a:t>Different markers/colors identify vanilla, post-hoc, </a:t>
            </a:r>
            <a:r>
              <a:rPr dirty="0" err="1"/>
              <a:t>LoRA</a:t>
            </a:r>
            <a:r>
              <a:rPr dirty="0"/>
              <a:t>, and mixed tuning. It visualizes why safety and utility must be considered together.</a:t>
            </a:r>
            <a:endParaRPr lang="en-US" dirty="0"/>
          </a:p>
          <a:p>
            <a:endParaRPr dirty="0"/>
          </a:p>
          <a:p>
            <a:r>
              <a:rPr lang="en-US" dirty="0"/>
              <a:t>*</a:t>
            </a:r>
            <a:r>
              <a:rPr dirty="0"/>
              <a:t>Now read the attached Table 2 by its column headers. </a:t>
            </a:r>
            <a:endParaRPr lang="en-US" dirty="0"/>
          </a:p>
          <a:p>
            <a:r>
              <a:rPr dirty="0"/>
              <a:t>Important correction from the actual crop: for LLaVA-v1.5-7B, baseline </a:t>
            </a:r>
            <a:r>
              <a:rPr dirty="0" err="1"/>
              <a:t>FigStep</a:t>
            </a:r>
            <a:r>
              <a:rPr dirty="0"/>
              <a:t> ASR is 90.40% </a:t>
            </a:r>
            <a:endParaRPr lang="en-US" dirty="0"/>
          </a:p>
          <a:p>
            <a:r>
              <a:rPr dirty="0"/>
              <a:t>post-hoc and mixed rows show 0.00% in the </a:t>
            </a:r>
            <a:r>
              <a:rPr dirty="0" err="1"/>
              <a:t>FigStep</a:t>
            </a:r>
            <a:r>
              <a:rPr dirty="0"/>
              <a:t> column. </a:t>
            </a:r>
            <a:endParaRPr lang="en-US" dirty="0"/>
          </a:p>
          <a:p>
            <a:r>
              <a:rPr dirty="0"/>
              <a:t>The 72.62% entry is in the baseline </a:t>
            </a:r>
            <a:r>
              <a:rPr dirty="0" err="1"/>
              <a:t>VLGuard</a:t>
            </a:r>
            <a:r>
              <a:rPr dirty="0"/>
              <a:t> “Unsafe” column. </a:t>
            </a:r>
            <a:endParaRPr lang="en-US" dirty="0"/>
          </a:p>
          <a:p>
            <a:endParaRPr lang="en-US" dirty="0"/>
          </a:p>
          <a:p>
            <a:r>
              <a:rPr lang="en-US" dirty="0" err="1"/>
              <a:t>AdvBench</a:t>
            </a:r>
            <a:r>
              <a:rPr lang="en-US" dirty="0"/>
              <a:t> is a </a:t>
            </a:r>
            <a:r>
              <a:rPr lang="en-US" b="1" dirty="0"/>
              <a:t>text-based harmful-behavior test set</a:t>
            </a:r>
            <a:r>
              <a:rPr lang="en-US" dirty="0"/>
              <a:t> used to see whether a model complies with harmful prompts; it is not itself a visual attack. </a:t>
            </a:r>
          </a:p>
          <a:p>
            <a:r>
              <a:rPr lang="en-US" dirty="0" err="1"/>
              <a:t>Figstep</a:t>
            </a:r>
            <a:r>
              <a:rPr lang="en-US" dirty="0"/>
              <a:t> appears again because </a:t>
            </a:r>
            <a:r>
              <a:rPr lang="en-US" dirty="0" err="1"/>
              <a:t>VLGuard</a:t>
            </a:r>
            <a:r>
              <a:rPr lang="en-US" dirty="0"/>
              <a:t> evaluates whether its safety fine-tuning resists a visual-text jailbreak; </a:t>
            </a:r>
          </a:p>
          <a:p>
            <a:r>
              <a:rPr lang="en-US" dirty="0"/>
              <a:t>* (</a:t>
            </a:r>
            <a:r>
              <a:rPr lang="en-US" dirty="0" err="1"/>
              <a:t>VLGuard</a:t>
            </a:r>
            <a:r>
              <a:rPr lang="en-US" dirty="0"/>
              <a:t>) briefly remind the audience that it embeds the harmful instruction in the image. The key interpretation is the trade-off: safety/attack columns should fall, while benign/helpfulness measures should not collapse. </a:t>
            </a:r>
          </a:p>
          <a:p>
            <a:endParaRPr lang="en-US" dirty="0"/>
          </a:p>
          <a:p>
            <a:endParaRPr lang="en-US" dirty="0"/>
          </a:p>
          <a:p>
            <a:r>
              <a:rPr lang="en-US" b="1" dirty="0" err="1"/>
              <a:t>XSTest</a:t>
            </a:r>
            <a:r>
              <a:rPr lang="en-US" b="1" dirty="0"/>
              <a:t> checks whether a model is over-cautious.</a:t>
            </a:r>
            <a:r>
              <a:rPr lang="en-US" dirty="0"/>
              <a:t> </a:t>
            </a:r>
          </a:p>
          <a:p>
            <a:r>
              <a:rPr lang="en-US" dirty="0"/>
              <a:t>It contains 250 safe prompts the model should answer and 200 unsafe contrast prompts it should refuse. For example, it tests whether a model mistakenly refuses a harmless request just because it contains words that can also appear in unsafe requests. It was originally developed for language models; </a:t>
            </a:r>
          </a:p>
          <a:p>
            <a:r>
              <a:rPr lang="en-US" dirty="0" err="1"/>
              <a:t>VLGuard</a:t>
            </a:r>
            <a:r>
              <a:rPr lang="en-US" dirty="0"/>
              <a:t> uses its safe and unsafe prompt sets to check both sides of the safety/helpfulness trade-off.</a:t>
            </a:r>
          </a:p>
          <a:p>
            <a:endParaRPr lang="en-US" dirty="0"/>
          </a:p>
          <a:p>
            <a:r>
              <a:rPr lang="en-US" dirty="0"/>
              <a:t>*Read each Table 2 column by its own definition; don’t summarize the whole table as one score.</a:t>
            </a:r>
          </a:p>
          <a:p>
            <a:endParaRPr lang="en-US" dirty="0"/>
          </a:p>
          <a:p>
            <a:r>
              <a:rPr dirty="0"/>
              <a:t>For example, post-hoc has 0.23% in that last column and mixed has 0.90%. </a:t>
            </a:r>
            <a:endParaRPr lang="en-US" dirty="0"/>
          </a:p>
          <a:p>
            <a:endParaRPr lang="en-US" dirty="0"/>
          </a:p>
          <a:p>
            <a:r>
              <a:rPr dirty="0" err="1"/>
              <a:t>XSTest</a:t>
            </a:r>
            <a:r>
              <a:rPr dirty="0"/>
              <a:t> Safe also changes (91.20% baseline to 80.80% post-hoc and 82.40% mixed), so do not claim no helpfulness trade-off. </a:t>
            </a:r>
            <a:endParaRPr lang="en-US" dirty="0"/>
          </a:p>
          <a:p>
            <a:endParaRPr lang="en-US" dirty="0"/>
          </a:p>
          <a:p>
            <a:r>
              <a:rPr lang="en-US" dirty="0"/>
              <a:t>*</a:t>
            </a:r>
            <a:r>
              <a:rPr dirty="0"/>
              <a:t>SFT means supervised fine-tuning: train on example prompts and target responses. Post-hoc adds safety tuning after the base VLM; mixed tuning combines safety data with ordinary helpfulness data.</a:t>
            </a:r>
          </a:p>
          <a:p>
            <a:endParaRPr lang="en-US" dirty="0"/>
          </a:p>
          <a:p>
            <a:r>
              <a:rPr lang="en-US" dirty="0"/>
              <a:t>---------------------</a:t>
            </a:r>
          </a:p>
          <a:p>
            <a:endParaRPr lang="en-US" dirty="0"/>
          </a:p>
          <a:p>
            <a:pPr lvl="0"/>
            <a:r>
              <a:rPr lang="en-US" b="1" dirty="0" err="1"/>
              <a:t>AdvBench</a:t>
            </a:r>
            <a:r>
              <a:rPr lang="en-US" b="1" dirty="0"/>
              <a:t>:</a:t>
            </a:r>
            <a:r>
              <a:rPr lang="en-US" dirty="0"/>
              <a:t> unsafe compliance on vanilla and suffix prompts; lower is better.</a:t>
            </a:r>
          </a:p>
          <a:p>
            <a:pPr lvl="0"/>
            <a:r>
              <a:rPr lang="en-US" b="1" dirty="0" err="1"/>
              <a:t>XSTest</a:t>
            </a:r>
            <a:r>
              <a:rPr lang="en-US" b="1" dirty="0"/>
              <a:t>:</a:t>
            </a:r>
            <a:r>
              <a:rPr lang="en-US" dirty="0"/>
              <a:t> unsafe prompts should be refused (lower unsafe rate is better); safe prompts should be answered (higher safe rate is better).</a:t>
            </a:r>
          </a:p>
          <a:p>
            <a:pPr lvl="0"/>
            <a:r>
              <a:rPr lang="en-US" b="1" dirty="0" err="1"/>
              <a:t>FigStep</a:t>
            </a:r>
            <a:r>
              <a:rPr lang="en-US" b="1" dirty="0"/>
              <a:t>:</a:t>
            </a:r>
            <a:r>
              <a:rPr lang="en-US" dirty="0"/>
              <a:t> success of a visual-typography jailbreak; lower is better.</a:t>
            </a:r>
          </a:p>
          <a:p>
            <a:pPr lvl="0"/>
            <a:r>
              <a:rPr lang="en-US" b="1" dirty="0" err="1"/>
              <a:t>VLGuard’s</a:t>
            </a:r>
            <a:r>
              <a:rPr lang="en-US" b="1" dirty="0"/>
              <a:t> own test set:</a:t>
            </a:r>
            <a:r>
              <a:rPr lang="en-US" dirty="0"/>
              <a:t> safe image/safe instruction cases measure helpfulness, while safe image/unsafe instruction and unsafe-image cases test harmful compliance.</a:t>
            </a:r>
          </a:p>
          <a:p>
            <a:endParaRPr lang="en-US" dirty="0"/>
          </a:p>
          <a:p>
            <a:endParaRPr lang="en-US" dirty="0"/>
          </a:p>
          <a:p>
            <a:endParaRPr lang="en-US" dirty="0"/>
          </a:p>
          <a:p>
            <a:endParaRPr lang="en-US" dirty="0"/>
          </a:p>
          <a:p>
            <a:endParaRPr lang="en-US" dirty="0"/>
          </a:p>
          <a:p>
            <a:endParaRPr lang="en-US" dirty="0"/>
          </a:p>
          <a:p>
            <a:endParaRPr dirty="0"/>
          </a:p>
          <a:p>
            <a:r>
              <a:rPr dirty="0"/>
              <a:t>PAPER AUDIT — THREE QUESTIONS</a:t>
            </a:r>
          </a:p>
          <a:p>
            <a:r>
              <a:rPr dirty="0"/>
              <a:t>Q1. What makes this a useful multimodal SFT baseline?</a:t>
            </a:r>
          </a:p>
          <a:p>
            <a:r>
              <a:rPr dirty="0"/>
              <a:t>A. It uses about 3,000 image/instruction/response pairs from 2,000 train images and tests 1,000 images in Safe-Safe, Safe-Unsafe, and Unsafe conditions.</a:t>
            </a:r>
          </a:p>
          <a:p>
            <a:r>
              <a:rPr dirty="0"/>
              <a:t>Q2. How do we read Table 2, and why isn't low harmful ASR sufficient?</a:t>
            </a:r>
          </a:p>
          <a:p>
            <a:r>
              <a:rPr dirty="0"/>
              <a:t>A. Harmful/attack columns should decrease; benign Safe/Safe-Safe indicators should remain high. Check each column separately, not only </a:t>
            </a:r>
            <a:r>
              <a:rPr dirty="0" err="1"/>
              <a:t>FigStep</a:t>
            </a:r>
            <a:r>
              <a:rPr dirty="0"/>
              <a:t>.</a:t>
            </a:r>
          </a:p>
          <a:p>
            <a:r>
              <a:rPr dirty="0"/>
              <a:t>Q3. What does helpfulness data contribute?</a:t>
            </a:r>
          </a:p>
          <a:p>
            <a:r>
              <a:rPr dirty="0"/>
              <a:t>A. It can limit exaggerated safety and protect benign answerability, but the table shows trade-offs remain and must be measured.</a:t>
            </a:r>
            <a:endParaRPr lang="en-US" dirty="0"/>
          </a:p>
          <a:p>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9 </a:t>
            </a:r>
            <a:r>
              <a:rPr lang="en-US" sz="1200" b="0" i="0" u="none" strike="noStrike" kern="1200" dirty="0" err="1">
                <a:solidFill>
                  <a:schemeClr val="tx1"/>
                </a:solidFill>
                <a:effectLst/>
                <a:latin typeface="+mn-lt"/>
                <a:ea typeface="+mn-ea"/>
                <a:cs typeface="+mn-cs"/>
              </a:rPr>
              <a:t>VLGuard</a:t>
            </a:r>
            <a:endParaRPr lang="en-US" sz="1200" b="0" i="0" u="none" strike="noStrike" kern="1200" dirty="0">
              <a:solidFill>
                <a:schemeClr val="tx1"/>
              </a:solidFill>
              <a:effectLst/>
              <a:latin typeface="+mn-lt"/>
              <a:ea typeface="+mn-ea"/>
              <a:cs typeface="+mn-cs"/>
            </a:endParaRPr>
          </a:p>
          <a:p>
            <a:pPr rtl="0" eaLnBrk="1" fontAlgn="ctr" latinLnBrk="0" hangingPunct="1"/>
            <a:r>
              <a:rPr lang="en-US" sz="1200" b="0" i="0" u="none" strike="noStrike" kern="1200" dirty="0">
                <a:solidFill>
                  <a:schemeClr val="tx1"/>
                </a:solidFill>
                <a:effectLst/>
                <a:latin typeface="+mn-lt"/>
                <a:ea typeface="+mn-ea"/>
                <a:cs typeface="+mn-cs"/>
              </a:rPr>
              <a:t>Limitation: Fine-tuning reduces unsafe responses, but it can also increase refusals on benign requests, and the result does not establish robustness to unseen attacks.</a:t>
            </a:r>
          </a:p>
          <a:p>
            <a:pPr rtl="0" eaLnBrk="1" fontAlgn="ctr" latinLnBrk="0" hangingPunct="1"/>
            <a:r>
              <a:rPr lang="en-US" sz="1200" b="0" i="0" u="none" strike="noStrike" kern="1200" dirty="0">
                <a:solidFill>
                  <a:schemeClr val="tx1"/>
                </a:solidFill>
                <a:effectLst/>
                <a:latin typeface="+mn-lt"/>
                <a:ea typeface="+mn-ea"/>
                <a:cs typeface="+mn-cs"/>
              </a:rPr>
              <a:t>Have we proposed it: Yes, in the proposed tests. The plan retains helpfulness examples, safe-neighbor cases, and a separately held-out attack family.</a:t>
            </a:r>
          </a:p>
          <a:p>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8C123-773D-221B-EF19-FA94851CFAF1}"/>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D7FF83F0-F8FA-CCFC-1A0F-5471A843F09A}"/>
              </a:ext>
            </a:extLst>
          </p:cNvPr>
          <p:cNvSpPr>
            <a:spLocks noGrp="1"/>
          </p:cNvSpPr>
          <p:nvPr>
            <p:ph type="body" sz="quarter" idx="3"/>
          </p:nvPr>
        </p:nvSpPr>
        <p:spPr/>
        <p:txBody>
          <a:bodyPr/>
          <a:lstStyle/>
          <a:p>
            <a:r>
              <a:rPr dirty="0"/>
              <a:t>PAPER 6 — SPA-VL [6]</a:t>
            </a:r>
          </a:p>
          <a:p>
            <a:r>
              <a:rPr lang="en-US" dirty="0"/>
              <a:t>*</a:t>
            </a:r>
            <a:r>
              <a:rPr dirty="0"/>
              <a:t>Follow Figure 1 from left to right. </a:t>
            </a:r>
            <a:endParaRPr lang="en-US" dirty="0"/>
          </a:p>
          <a:p>
            <a:endParaRPr lang="en-US" dirty="0"/>
          </a:p>
          <a:p>
            <a:r>
              <a:rPr dirty="0"/>
              <a:t>First collect/filter images and expand safety categories; </a:t>
            </a:r>
            <a:endParaRPr lang="en-US" dirty="0"/>
          </a:p>
          <a:p>
            <a:r>
              <a:rPr dirty="0"/>
              <a:t>then create easy questions, hard questions, and hard statements; </a:t>
            </a:r>
            <a:endParaRPr lang="en-US" dirty="0"/>
          </a:p>
          <a:p>
            <a:r>
              <a:rPr dirty="0"/>
              <a:t>next sample candidate answers and label a preferred (“chosen”) and dispreferred (“rejected”) response. </a:t>
            </a:r>
            <a:endParaRPr lang="en-US" dirty="0"/>
          </a:p>
          <a:p>
            <a:endParaRPr lang="en-US" dirty="0"/>
          </a:p>
          <a:p>
            <a:r>
              <a:rPr dirty="0"/>
              <a:t>A preference record is (question, image, chosen answer, rejected answer). The pictured examples illustrate the record types, not the whole training set.</a:t>
            </a:r>
          </a:p>
          <a:p>
            <a:endParaRPr lang="en-US" dirty="0"/>
          </a:p>
          <a:p>
            <a:r>
              <a:rPr lang="en-US" dirty="0"/>
              <a:t>We use DPO and PPO for optimization-</a:t>
            </a:r>
            <a:endParaRPr dirty="0"/>
          </a:p>
          <a:p>
            <a:r>
              <a:rPr dirty="0"/>
              <a:t>DPO means Direct Preference Optimization. </a:t>
            </a:r>
            <a:endParaRPr lang="en-US" dirty="0"/>
          </a:p>
          <a:p>
            <a:r>
              <a:rPr dirty="0"/>
              <a:t>It trains the model to prefer chosen over rejected answers relative to a reference model, without a separately trained reward model in basic DPO. </a:t>
            </a:r>
            <a:endParaRPr lang="en-US" dirty="0"/>
          </a:p>
          <a:p>
            <a:endParaRPr lang="en-US" dirty="0"/>
          </a:p>
          <a:p>
            <a:r>
              <a:rPr dirty="0"/>
              <a:t>PPO means Proximal Policy Optimization; it is a policy-optimization algorithm that uses a reward signal/model. </a:t>
            </a:r>
            <a:endParaRPr lang="en-US" dirty="0"/>
          </a:p>
          <a:p>
            <a:r>
              <a:rPr dirty="0"/>
              <a:t>Neither is a dataset. </a:t>
            </a:r>
            <a:endParaRPr lang="en-US" dirty="0"/>
          </a:p>
          <a:p>
            <a:endParaRPr lang="en-US" dirty="0"/>
          </a:p>
          <a:p>
            <a:r>
              <a:rPr dirty="0"/>
              <a:t>In Table 2, </a:t>
            </a:r>
            <a:endParaRPr lang="en-US" dirty="0"/>
          </a:p>
          <a:p>
            <a:r>
              <a:rPr lang="en-US" dirty="0"/>
              <a:t>*</a:t>
            </a:r>
            <a:r>
              <a:rPr dirty="0"/>
              <a:t>read MM-</a:t>
            </a:r>
            <a:r>
              <a:rPr dirty="0" err="1"/>
              <a:t>SafetyBench</a:t>
            </a:r>
            <a:r>
              <a:rPr dirty="0"/>
              <a:t> </a:t>
            </a:r>
            <a:endParaRPr lang="en-US" dirty="0"/>
          </a:p>
          <a:p>
            <a:r>
              <a:rPr dirty="0"/>
              <a:t>text-only/SD/typo/combined/average, </a:t>
            </a:r>
            <a:endParaRPr lang="en-US" dirty="0"/>
          </a:p>
          <a:p>
            <a:r>
              <a:rPr dirty="0" err="1"/>
              <a:t>AdvBench</a:t>
            </a:r>
            <a:r>
              <a:rPr dirty="0"/>
              <a:t> vanilla/suffix, and </a:t>
            </a:r>
            <a:r>
              <a:rPr dirty="0" err="1"/>
              <a:t>HarmEval</a:t>
            </a:r>
            <a:r>
              <a:rPr dirty="0"/>
              <a:t> USR as separate columns. </a:t>
            </a:r>
            <a:endParaRPr lang="en-US" dirty="0"/>
          </a:p>
          <a:p>
            <a:endParaRPr lang="en-US" dirty="0"/>
          </a:p>
          <a:p>
            <a:endParaRPr lang="en-US" dirty="0"/>
          </a:p>
          <a:p>
            <a:r>
              <a:rPr lang="en-US" dirty="0"/>
              <a:t>=&gt; MM-</a:t>
            </a:r>
            <a:r>
              <a:rPr lang="en-US" dirty="0" err="1"/>
              <a:t>SafetyBench</a:t>
            </a:r>
            <a:r>
              <a:rPr lang="en-US" dirty="0"/>
              <a:t> tests harmful image-text prompts in different image conditions: </a:t>
            </a:r>
          </a:p>
          <a:p>
            <a:r>
              <a:rPr lang="en-US" sz="1200" kern="1200" dirty="0">
                <a:solidFill>
                  <a:schemeClr val="tx1"/>
                </a:solidFill>
                <a:latin typeface="+mn-lt"/>
                <a:ea typeface="+mn-ea"/>
                <a:cs typeface="+mn-cs"/>
              </a:rPr>
              <a:t>SD</a:t>
            </a:r>
            <a:r>
              <a:rPr lang="en-US" dirty="0"/>
              <a:t> means Stable-Diffusion-generated risk imagery, </a:t>
            </a:r>
          </a:p>
          <a:p>
            <a:r>
              <a:rPr lang="en-US" sz="1200" kern="1200" dirty="0">
                <a:solidFill>
                  <a:schemeClr val="tx1"/>
                </a:solidFill>
                <a:latin typeface="+mn-lt"/>
                <a:ea typeface="+mn-ea"/>
                <a:cs typeface="+mn-cs"/>
              </a:rPr>
              <a:t>Typo</a:t>
            </a:r>
            <a:r>
              <a:rPr lang="en-US" dirty="0"/>
              <a:t> means harmful text rendered into an image, </a:t>
            </a:r>
          </a:p>
          <a:p>
            <a:r>
              <a:rPr lang="en-US" dirty="0"/>
              <a:t>and </a:t>
            </a:r>
            <a:r>
              <a:rPr lang="en-US" sz="1200" kern="1200" dirty="0" err="1">
                <a:solidFill>
                  <a:schemeClr val="tx1"/>
                </a:solidFill>
                <a:latin typeface="+mn-lt"/>
                <a:ea typeface="+mn-ea"/>
                <a:cs typeface="+mn-cs"/>
              </a:rPr>
              <a:t>SD+Typo</a:t>
            </a:r>
            <a:r>
              <a:rPr lang="en-US" dirty="0"/>
              <a:t> combines the generated scene with typographic text. </a:t>
            </a:r>
          </a:p>
          <a:p>
            <a:r>
              <a:rPr lang="en-US" sz="1200" kern="1200" dirty="0">
                <a:solidFill>
                  <a:schemeClr val="tx1"/>
                </a:solidFill>
                <a:latin typeface="+mn-lt"/>
                <a:ea typeface="+mn-ea"/>
                <a:cs typeface="+mn-cs"/>
              </a:rPr>
              <a:t>Avg</a:t>
            </a:r>
            <a:r>
              <a:rPr lang="en-US" dirty="0"/>
              <a:t> is the paper’s average across its listed MM-</a:t>
            </a:r>
            <a:r>
              <a:rPr lang="en-US" dirty="0" err="1"/>
              <a:t>SafetyBench</a:t>
            </a:r>
            <a:r>
              <a:rPr lang="en-US" dirty="0"/>
              <a:t> conditions. </a:t>
            </a:r>
          </a:p>
          <a:p>
            <a:endParaRPr lang="en-US" dirty="0"/>
          </a:p>
          <a:p>
            <a:r>
              <a:rPr lang="en-US" dirty="0" err="1"/>
              <a:t>AdvBench’s</a:t>
            </a:r>
            <a:r>
              <a:rPr lang="en-US" dirty="0"/>
              <a:t> </a:t>
            </a:r>
            <a:r>
              <a:rPr lang="en-US" sz="1200" kern="1200" dirty="0">
                <a:solidFill>
                  <a:schemeClr val="tx1"/>
                </a:solidFill>
                <a:latin typeface="+mn-lt"/>
                <a:ea typeface="+mn-ea"/>
                <a:cs typeface="+mn-cs"/>
              </a:rPr>
              <a:t>vanilla</a:t>
            </a:r>
            <a:r>
              <a:rPr lang="en-US" dirty="0"/>
              <a:t> and </a:t>
            </a:r>
            <a:r>
              <a:rPr lang="en-US" sz="1200" kern="1200" dirty="0">
                <a:solidFill>
                  <a:schemeClr val="tx1"/>
                </a:solidFill>
                <a:latin typeface="+mn-lt"/>
                <a:ea typeface="+mn-ea"/>
                <a:cs typeface="+mn-cs"/>
              </a:rPr>
              <a:t>suffix</a:t>
            </a:r>
            <a:r>
              <a:rPr lang="en-US" dirty="0"/>
              <a:t> columns are text-prompt conditions. </a:t>
            </a:r>
          </a:p>
          <a:p>
            <a:r>
              <a:rPr lang="en-US" b="1" dirty="0" err="1"/>
              <a:t>AdvBench</a:t>
            </a:r>
            <a:r>
              <a:rPr lang="en-US" dirty="0"/>
              <a:t> is a benchmark of harmful user requests used to test whether language models comply with unsafe instructions. </a:t>
            </a:r>
          </a:p>
          <a:p>
            <a:r>
              <a:rPr lang="en-US" dirty="0"/>
              <a:t>it is a </a:t>
            </a:r>
            <a:r>
              <a:rPr lang="en-US" b="1" dirty="0"/>
              <a:t>text-only safety test</a:t>
            </a:r>
            <a:r>
              <a:rPr lang="en-US" dirty="0"/>
              <a:t>: it does not, by itself, test image-based attacks.</a:t>
            </a:r>
          </a:p>
          <a:p>
            <a:endParaRPr lang="en-US" dirty="0"/>
          </a:p>
          <a:p>
            <a:r>
              <a:rPr lang="en-US" dirty="0" err="1"/>
              <a:t>HarmEval</a:t>
            </a:r>
            <a:r>
              <a:rPr lang="en-US" dirty="0"/>
              <a:t> </a:t>
            </a:r>
            <a:r>
              <a:rPr lang="en-US" sz="1200" kern="1200" dirty="0">
                <a:solidFill>
                  <a:schemeClr val="tx1"/>
                </a:solidFill>
                <a:latin typeface="+mn-lt"/>
                <a:ea typeface="+mn-ea"/>
                <a:cs typeface="+mn-cs"/>
              </a:rPr>
              <a:t>USR</a:t>
            </a:r>
            <a:r>
              <a:rPr lang="en-US" dirty="0"/>
              <a:t> means </a:t>
            </a:r>
            <a:r>
              <a:rPr lang="en-US" b="1" dirty="0" err="1"/>
              <a:t>UnSafe</a:t>
            </a:r>
            <a:r>
              <a:rPr lang="en-US" b="1" dirty="0"/>
              <a:t> Rate</a:t>
            </a:r>
            <a:r>
              <a:rPr lang="en-US" dirty="0"/>
              <a:t>: the share of responses judged unsafe.</a:t>
            </a:r>
          </a:p>
          <a:p>
            <a:r>
              <a:rPr lang="en-US" dirty="0"/>
              <a:t>These are harmful-response rates, so lower is better. </a:t>
            </a:r>
          </a:p>
          <a:p>
            <a:endParaRPr lang="en-US" dirty="0"/>
          </a:p>
          <a:p>
            <a:r>
              <a:rPr lang="en-US" dirty="0"/>
              <a:t>In the displayed SPA-VL-DPO row, the paper reports 0% text-only, 0.6% SD, 0.6% Typo, 1.19% </a:t>
            </a:r>
            <a:r>
              <a:rPr lang="en-US" dirty="0" err="1"/>
              <a:t>SD+Typo</a:t>
            </a:r>
            <a:r>
              <a:rPr lang="en-US" dirty="0"/>
              <a:t>, 0.6% average, 0%/0% for </a:t>
            </a:r>
            <a:r>
              <a:rPr lang="en-US" dirty="0" err="1"/>
              <a:t>AdvBench</a:t>
            </a:r>
            <a:r>
              <a:rPr lang="en-US" dirty="0"/>
              <a:t> vanilla/suffix, and 0% </a:t>
            </a:r>
            <a:r>
              <a:rPr lang="en-US" dirty="0" err="1"/>
              <a:t>HarmEval</a:t>
            </a:r>
            <a:r>
              <a:rPr lang="en-US" dirty="0"/>
              <a:t> USR. State that these are results under </a:t>
            </a:r>
            <a:r>
              <a:rPr lang="en-US" i="1" dirty="0"/>
              <a:t>that paper’s setup</a:t>
            </a:r>
            <a:r>
              <a:rPr lang="en-US" dirty="0"/>
              <a:t>, not proof of zero risk on all attacks.</a:t>
            </a:r>
          </a:p>
          <a:p>
            <a:endParaRPr lang="en-US" dirty="0"/>
          </a:p>
          <a:p>
            <a:endParaRPr dirty="0"/>
          </a:p>
          <a:p>
            <a:r>
              <a:rPr dirty="0"/>
              <a:t>PAPER AUDIT — THREE QUESTIONS</a:t>
            </a:r>
          </a:p>
          <a:p>
            <a:r>
              <a:rPr dirty="0"/>
              <a:t>Q1. What are chosen and rejected in a preference record?</a:t>
            </a:r>
          </a:p>
          <a:p>
            <a:r>
              <a:rPr dirty="0"/>
              <a:t>A. They are two responses to the same image/question, labeled preferred and less preferred; the record includes both responses.</a:t>
            </a:r>
          </a:p>
          <a:p>
            <a:r>
              <a:rPr dirty="0"/>
              <a:t>Q2. How do DPO and PPO differ, and what does Table 2 show?</a:t>
            </a:r>
          </a:p>
          <a:p>
            <a:r>
              <a:rPr dirty="0"/>
              <a:t>A. DPO directly optimizes pairwise preferences relative to a reference; PPO uses reward-guided policy updates. Table 2 evaluates distinct benchmarks/metrics; do not collapse them.</a:t>
            </a:r>
          </a:p>
          <a:p>
            <a:r>
              <a:rPr dirty="0"/>
              <a:t>Q3. What is the category-count discrepancy?</a:t>
            </a:r>
          </a:p>
          <a:p>
            <a:r>
              <a:rPr dirty="0"/>
              <a:t>A. Abstract: 13 categories; §3.1: 15 secondary categories; both state 53 lower-level categories. Report both source statements.</a:t>
            </a:r>
            <a:endParaRPr lang="en-US" dirty="0"/>
          </a:p>
          <a:p>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10 SPA-VL</a:t>
            </a:r>
          </a:p>
          <a:p>
            <a:pPr rtl="0" eaLnBrk="1" fontAlgn="ctr" latinLnBrk="0" hangingPunct="1"/>
            <a:r>
              <a:rPr lang="en-US" sz="1200" b="0" i="0" u="none" strike="noStrike" kern="1200" dirty="0">
                <a:solidFill>
                  <a:schemeClr val="tx1"/>
                </a:solidFill>
                <a:effectLst/>
                <a:latin typeface="+mn-lt"/>
                <a:ea typeface="+mn-ea"/>
                <a:cs typeface="+mn-cs"/>
              </a:rPr>
              <a:t>Limitation: Its reported gains are on the paper’s tested benchmarks; they do not demonstrate transfer to a held-out adaptive attack.</a:t>
            </a:r>
          </a:p>
          <a:p>
            <a:pPr rtl="0" eaLnBrk="1" fontAlgn="ctr" latinLnBrk="0" hangingPunct="1"/>
            <a:r>
              <a:rPr lang="en-US" sz="1200" b="0" i="0" u="none" strike="noStrike" kern="1200" dirty="0">
                <a:solidFill>
                  <a:schemeClr val="tx1"/>
                </a:solidFill>
                <a:effectLst/>
                <a:latin typeface="+mn-lt"/>
                <a:ea typeface="+mn-ea"/>
                <a:cs typeface="+mn-cs"/>
              </a:rPr>
              <a:t>Addressed? Yes. The notes explicitly say this and propose auditing overlap and reserving a held-out attack family.</a:t>
            </a:r>
          </a:p>
          <a:p>
            <a:endParaRPr dirty="0"/>
          </a:p>
        </p:txBody>
      </p:sp>
    </p:spTree>
    <p:extLst>
      <p:ext uri="{BB962C8B-B14F-4D97-AF65-F5344CB8AC3E}">
        <p14:creationId xmlns:p14="http://schemas.microsoft.com/office/powerpoint/2010/main" val="1085396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PAPER 7 — ADPO [7]</a:t>
            </a:r>
          </a:p>
          <a:p>
            <a:r>
              <a:rPr dirty="0"/>
              <a:t>The acronym is ADPO (Adversary-Aware Direct Preference Optimization)</a:t>
            </a:r>
            <a:endParaRPr lang="en-US" dirty="0"/>
          </a:p>
          <a:p>
            <a:r>
              <a:rPr dirty="0"/>
              <a:t>DPO is Direct Preference Optimization</a:t>
            </a:r>
            <a:endParaRPr lang="en-US" dirty="0"/>
          </a:p>
          <a:p>
            <a:endParaRPr lang="en-US" dirty="0"/>
          </a:p>
          <a:p>
            <a:r>
              <a:rPr lang="en-US" dirty="0"/>
              <a:t>*</a:t>
            </a:r>
            <a:r>
              <a:rPr dirty="0"/>
              <a:t>Walk Figure 2 in two stages. </a:t>
            </a:r>
            <a:endParaRPr lang="en-US" dirty="0"/>
          </a:p>
          <a:p>
            <a:r>
              <a:rPr dirty="0"/>
              <a:t>Top: AR-DPO </a:t>
            </a:r>
            <a:r>
              <a:rPr dirty="0" err="1"/>
              <a:t>adversarially</a:t>
            </a:r>
            <a:r>
              <a:rPr dirty="0"/>
              <a:t> trains the reference model using a worst-case image-space or latent-space perturbation, while retaining safety and utility objectives. Bottom: AT-DPO applies an adversary-aware preference loss to chosen safe and rejected unsafe responses under the perturbation. ADPO combines the adversarial reference and adversary-aware loss. The paper's variants isolate these components.</a:t>
            </a:r>
          </a:p>
          <a:p>
            <a:endParaRPr dirty="0"/>
          </a:p>
          <a:p>
            <a:r>
              <a:rPr dirty="0"/>
              <a:t>In Table 1, lower safety ASR is better; the right-hand utility columns are different capability metrics, not one scale. For LLaVA-1.5-7B, the ADPO row gives 5.0/0.5/0.0/0.0/0.2 across </a:t>
            </a:r>
            <a:r>
              <a:rPr dirty="0" err="1"/>
              <a:t>VisualAdv</a:t>
            </a:r>
            <a:r>
              <a:rPr dirty="0"/>
              <a:t>, </a:t>
            </a:r>
            <a:r>
              <a:rPr dirty="0" err="1"/>
              <a:t>MMPGDBlank</a:t>
            </a:r>
            <a:r>
              <a:rPr dirty="0"/>
              <a:t>, </a:t>
            </a:r>
            <a:r>
              <a:rPr dirty="0" err="1"/>
              <a:t>MultiTrust</a:t>
            </a:r>
            <a:r>
              <a:rPr dirty="0"/>
              <a:t> typographic, multimodal, and </a:t>
            </a:r>
            <a:r>
              <a:rPr dirty="0" err="1"/>
              <a:t>crossmodal</a:t>
            </a:r>
            <a:r>
              <a:rPr dirty="0"/>
              <a:t> attacks, versus base 64.5/84.0/22.2/55.1/42.0. Utility shifts: e.g., MM-Vet 24.2 versus base 29.9, </a:t>
            </a:r>
            <a:r>
              <a:rPr dirty="0" err="1"/>
              <a:t>OCRBench</a:t>
            </a:r>
            <a:r>
              <a:rPr dirty="0"/>
              <a:t> 184 versus 202. This is tested-attack robustness with costs/trade-offs, not universal robustness.</a:t>
            </a:r>
            <a:endParaRPr lang="en-US" dirty="0"/>
          </a:p>
          <a:p>
            <a:r>
              <a:rPr lang="en-US" dirty="0"/>
              <a:t>-----------------</a:t>
            </a:r>
          </a:p>
          <a:p>
            <a:endParaRPr lang="en-US" dirty="0"/>
          </a:p>
          <a:p>
            <a:r>
              <a:rPr lang="en-US" dirty="0"/>
              <a:t>The formula’s story is: </a:t>
            </a:r>
          </a:p>
          <a:p>
            <a:r>
              <a:rPr lang="en-US" dirty="0"/>
              <a:t>find an image or latent perturbation, </a:t>
            </a:r>
            <a:r>
              <a:rPr lang="en-US" sz="1200" kern="1200" dirty="0" err="1">
                <a:solidFill>
                  <a:schemeClr val="tx1"/>
                </a:solidFill>
                <a:latin typeface="+mn-lt"/>
                <a:ea typeface="+mn-ea"/>
                <a:cs typeface="+mn-cs"/>
              </a:rPr>
              <a:t>δ</a:t>
            </a:r>
            <a:r>
              <a:rPr lang="en-US" sz="1200" kern="1200" dirty="0">
                <a:solidFill>
                  <a:schemeClr val="tx1"/>
                </a:solidFill>
                <a:latin typeface="+mn-lt"/>
                <a:ea typeface="+mn-ea"/>
                <a:cs typeface="+mn-cs"/>
              </a:rPr>
              <a:t>*</a:t>
            </a:r>
            <a:r>
              <a:rPr lang="en-US" dirty="0"/>
              <a:t>, that makes the harmful/rejected response more likely;</a:t>
            </a:r>
          </a:p>
          <a:p>
            <a:r>
              <a:rPr lang="en-US" dirty="0"/>
              <a:t> then train the model to favor the preferred safe response under that difficult input while preserving utility on clean inputs. </a:t>
            </a:r>
          </a:p>
          <a:p>
            <a:r>
              <a:rPr lang="en-US" sz="1200" kern="1200" dirty="0" err="1">
                <a:solidFill>
                  <a:schemeClr val="tx1"/>
                </a:solidFill>
                <a:latin typeface="+mn-lt"/>
                <a:ea typeface="+mn-ea"/>
                <a:cs typeface="+mn-cs"/>
              </a:rPr>
              <a:t>xI</a:t>
            </a:r>
            <a:r>
              <a:rPr lang="en-US" dirty="0"/>
              <a:t> is the image, </a:t>
            </a:r>
          </a:p>
          <a:p>
            <a:r>
              <a:rPr lang="en-US" sz="1200" kern="1200" dirty="0" err="1">
                <a:solidFill>
                  <a:schemeClr val="tx1"/>
                </a:solidFill>
                <a:latin typeface="+mn-lt"/>
                <a:ea typeface="+mn-ea"/>
                <a:cs typeface="+mn-cs"/>
              </a:rPr>
              <a:t>xT</a:t>
            </a:r>
            <a:r>
              <a:rPr lang="en-US" dirty="0"/>
              <a:t> the text, </a:t>
            </a:r>
          </a:p>
          <a:p>
            <a:r>
              <a:rPr lang="en-US" sz="1200" kern="1200" dirty="0" err="1">
                <a:solidFill>
                  <a:schemeClr val="tx1"/>
                </a:solidFill>
                <a:latin typeface="+mn-lt"/>
                <a:ea typeface="+mn-ea"/>
                <a:cs typeface="+mn-cs"/>
              </a:rPr>
              <a:t>Yp</a:t>
            </a:r>
            <a:r>
              <a:rPr lang="en-US" dirty="0"/>
              <a:t> the preferred response, </a:t>
            </a:r>
          </a:p>
          <a:p>
            <a:r>
              <a:rPr lang="en-US" dirty="0"/>
              <a:t>and </a:t>
            </a:r>
            <a:r>
              <a:rPr lang="en-US" sz="1200" kern="1200" dirty="0">
                <a:solidFill>
                  <a:schemeClr val="tx1"/>
                </a:solidFill>
                <a:latin typeface="+mn-lt"/>
                <a:ea typeface="+mn-ea"/>
                <a:cs typeface="+mn-cs"/>
              </a:rPr>
              <a:t>Yr</a:t>
            </a:r>
            <a:r>
              <a:rPr lang="en-US" dirty="0"/>
              <a:t> the rejected response. </a:t>
            </a:r>
          </a:p>
          <a:p>
            <a:r>
              <a:rPr lang="en-US" sz="1200" kern="1200" dirty="0">
                <a:solidFill>
                  <a:schemeClr val="tx1"/>
                </a:solidFill>
                <a:latin typeface="+mn-lt"/>
                <a:ea typeface="+mn-ea"/>
                <a:cs typeface="+mn-cs"/>
              </a:rPr>
              <a:t>πref</a:t>
            </a:r>
            <a:r>
              <a:rPr lang="en-US" dirty="0"/>
              <a:t> is the reference model used for comparison; </a:t>
            </a:r>
          </a:p>
          <a:p>
            <a:r>
              <a:rPr lang="en-US" dirty="0"/>
              <a:t>the probability ratios compare the trained model’s preference for chosen versus rejected responses </a:t>
            </a:r>
          </a:p>
          <a:p>
            <a:r>
              <a:rPr lang="en-US" dirty="0"/>
              <a:t>against that reference. You don’t need to derive the loss live, but you should explain what it optimizes and why it includes both safety and utility.</a:t>
            </a:r>
          </a:p>
          <a:p>
            <a:endParaRPr lang="en-US" dirty="0"/>
          </a:p>
          <a:p>
            <a:r>
              <a:rPr lang="en-US" dirty="0"/>
              <a:t>Know these method labels:</a:t>
            </a:r>
          </a:p>
          <a:p>
            <a:pPr lvl="0"/>
            <a:r>
              <a:rPr lang="en-US" b="1" dirty="0"/>
              <a:t>AR-DPO</a:t>
            </a:r>
            <a:r>
              <a:rPr lang="en-US" dirty="0"/>
              <a:t>: </a:t>
            </a:r>
            <a:r>
              <a:rPr lang="en-US" dirty="0" err="1"/>
              <a:t>adversarially</a:t>
            </a:r>
            <a:r>
              <a:rPr lang="en-US" dirty="0"/>
              <a:t> trains the reference model.</a:t>
            </a:r>
          </a:p>
          <a:p>
            <a:pPr lvl="0"/>
            <a:r>
              <a:rPr lang="en-US" b="1" dirty="0"/>
              <a:t>AT-DPO</a:t>
            </a:r>
            <a:r>
              <a:rPr lang="en-US" dirty="0"/>
              <a:t>: applies an adversary-aware preference loss.</a:t>
            </a:r>
          </a:p>
          <a:p>
            <a:pPr lvl="0"/>
            <a:r>
              <a:rPr lang="en-US" b="1" dirty="0"/>
              <a:t>ADPO</a:t>
            </a:r>
            <a:r>
              <a:rPr lang="en-US" dirty="0"/>
              <a:t>: combines those two components.</a:t>
            </a:r>
          </a:p>
          <a:p>
            <a:pPr lvl="0"/>
            <a:r>
              <a:rPr lang="en-US" b="1" dirty="0"/>
              <a:t>AT</a:t>
            </a:r>
            <a:r>
              <a:rPr lang="en-US" dirty="0"/>
              <a:t> in the table is a separate adversarial-training baseline.</a:t>
            </a:r>
          </a:p>
          <a:p>
            <a:pPr lvl="0"/>
            <a:r>
              <a:rPr lang="en-US" b="1" dirty="0"/>
              <a:t>ESCO</a:t>
            </a:r>
            <a:r>
              <a:rPr lang="en-US" dirty="0"/>
              <a:t> is a separate training-free safety baseline; don’t confuse it with ADPO.</a:t>
            </a:r>
          </a:p>
          <a:p>
            <a:pPr lvl="0"/>
            <a:endParaRPr lang="en-US" b="1" dirty="0"/>
          </a:p>
          <a:p>
            <a:pPr lvl="0"/>
            <a:r>
              <a:rPr lang="en-US" b="1" dirty="0" err="1"/>
              <a:t>VisualAdv</a:t>
            </a:r>
            <a:r>
              <a:rPr lang="en-US" dirty="0"/>
              <a:t> is an optimization-based visual jailbreak. It adds a specially optimized adversarial pattern to an image so a VLM is more likely to produce an unsafe answer. “Universal” means the same learned pattern is intended to work across many harmful prompts, rather than creating a new attack image for every prompt. It is different from </a:t>
            </a:r>
            <a:r>
              <a:rPr lang="en-US" dirty="0" err="1"/>
              <a:t>FigStep</a:t>
            </a:r>
            <a:r>
              <a:rPr lang="en-US" dirty="0"/>
              <a:t>, which puts readable harmful text in the image.</a:t>
            </a:r>
            <a:endParaRPr lang="en-US" b="1" dirty="0"/>
          </a:p>
          <a:p>
            <a:pPr lvl="0"/>
            <a:r>
              <a:rPr lang="en-US" b="1" dirty="0" err="1"/>
              <a:t>MMPGDBlank</a:t>
            </a:r>
            <a:r>
              <a:rPr lang="en-US" dirty="0"/>
              <a:t> is an optimization-based, per-harmful-behavior image attack; the paper contrasts it with </a:t>
            </a:r>
            <a:r>
              <a:rPr lang="en-US" dirty="0" err="1"/>
              <a:t>VisualAdv’s</a:t>
            </a:r>
            <a:r>
              <a:rPr lang="en-US" dirty="0"/>
              <a:t> universal perturbation. Treat </a:t>
            </a:r>
            <a:r>
              <a:rPr lang="en-US" sz="1200" kern="1200" dirty="0" err="1">
                <a:solidFill>
                  <a:schemeClr val="tx1"/>
                </a:solidFill>
                <a:latin typeface="+mn-lt"/>
                <a:ea typeface="+mn-ea"/>
                <a:cs typeface="+mn-cs"/>
              </a:rPr>
              <a:t>MMPGDBlank</a:t>
            </a:r>
            <a:r>
              <a:rPr lang="en-US" dirty="0"/>
              <a:t> as the paper’s attack label rather than inventing an expansion for the acronym.</a:t>
            </a:r>
          </a:p>
          <a:p>
            <a:pPr lvl="0"/>
            <a:r>
              <a:rPr lang="en-US" b="1" dirty="0" err="1"/>
              <a:t>MultiTrust</a:t>
            </a:r>
            <a:r>
              <a:rPr lang="en-US" dirty="0"/>
              <a:t> supplies typographic, multimodal, and cross-modal jailbreak test subsets.</a:t>
            </a:r>
          </a:p>
          <a:p>
            <a:endParaRPr lang="en-US" dirty="0"/>
          </a:p>
          <a:p>
            <a:r>
              <a:rPr lang="en-US" dirty="0"/>
              <a:t>The remaining columns are mostly </a:t>
            </a:r>
            <a:r>
              <a:rPr lang="en-US" b="1" dirty="0"/>
              <a:t>utility checks</a:t>
            </a:r>
            <a:r>
              <a:rPr lang="en-US" dirty="0"/>
              <a:t>, not safety metrics: </a:t>
            </a:r>
          </a:p>
          <a:p>
            <a:pPr marL="171450" indent="-171450">
              <a:buFontTx/>
              <a:buChar char="-"/>
            </a:pPr>
            <a:r>
              <a:rPr lang="en-US" dirty="0" err="1"/>
              <a:t>MMStar</a:t>
            </a:r>
            <a:r>
              <a:rPr lang="en-US" dirty="0"/>
              <a:t> tests general multimodal understanding, </a:t>
            </a:r>
          </a:p>
          <a:p>
            <a:pPr marL="171450" indent="-171450">
              <a:buFontTx/>
              <a:buChar char="-"/>
            </a:pPr>
            <a:r>
              <a:rPr lang="en-US" dirty="0" err="1"/>
              <a:t>OCRBench</a:t>
            </a:r>
            <a:r>
              <a:rPr lang="en-US" dirty="0"/>
              <a:t> tests reading text in images, </a:t>
            </a:r>
          </a:p>
          <a:p>
            <a:pPr marL="171450" indent="-171450">
              <a:buFontTx/>
              <a:buChar char="-"/>
            </a:pPr>
            <a:r>
              <a:rPr lang="en-US" dirty="0"/>
              <a:t>and </a:t>
            </a:r>
            <a:r>
              <a:rPr lang="en-US" dirty="0" err="1"/>
              <a:t>MMBench</a:t>
            </a:r>
            <a:r>
              <a:rPr lang="en-US" dirty="0"/>
              <a:t>, </a:t>
            </a:r>
            <a:r>
              <a:rPr lang="en-US" dirty="0" err="1"/>
              <a:t>LLaVABench</a:t>
            </a:r>
            <a:r>
              <a:rPr lang="en-US" dirty="0"/>
              <a:t>, and MM-Vet evaluate broader visual question-answering/multimodal capabilities. </a:t>
            </a:r>
          </a:p>
          <a:p>
            <a:pPr marL="171450" indent="-171450">
              <a:buFontTx/>
              <a:buChar char="-"/>
            </a:pPr>
            <a:r>
              <a:rPr lang="en-US" dirty="0"/>
              <a:t>For those utility scores, higher is generally better; for attack ASR, lower is better. </a:t>
            </a:r>
            <a:br>
              <a:rPr lang="en-US" dirty="0"/>
            </a:br>
            <a:br>
              <a:rPr lang="en-US" dirty="0"/>
            </a:br>
            <a:r>
              <a:rPr lang="en-US" dirty="0"/>
              <a:t>*The ADPO result shown for LLaVA-1.5-7B is 5.0 / 0.5 / 0.0 / 0.0 / 0.2% ASR across the five attack columns; its utility results include </a:t>
            </a:r>
            <a:r>
              <a:rPr lang="en-US" dirty="0" err="1"/>
              <a:t>MMStar</a:t>
            </a:r>
            <a:r>
              <a:rPr lang="en-US" dirty="0"/>
              <a:t> 33.7, </a:t>
            </a:r>
            <a:r>
              <a:rPr lang="en-US" dirty="0" err="1"/>
              <a:t>OCRBench</a:t>
            </a:r>
            <a:r>
              <a:rPr lang="en-US" dirty="0"/>
              <a:t> 184, MM-Vet 24.2, and </a:t>
            </a:r>
            <a:r>
              <a:rPr lang="en-US" dirty="0" err="1"/>
              <a:t>LLaVABench</a:t>
            </a:r>
            <a:r>
              <a:rPr lang="en-US" dirty="0"/>
              <a:t> 48.2. Don’t combine them into a single “best” claim. </a:t>
            </a:r>
            <a:endParaRPr dirty="0"/>
          </a:p>
          <a:p>
            <a:endParaRPr lang="en-US" dirty="0"/>
          </a:p>
          <a:p>
            <a:endParaRPr lang="en-US" dirty="0"/>
          </a:p>
          <a:p>
            <a:endParaRPr lang="en-US" dirty="0"/>
          </a:p>
          <a:p>
            <a:r>
              <a:rPr lang="en-US" dirty="0"/>
              <a:t>---------------------</a:t>
            </a:r>
            <a:endParaRPr dirty="0"/>
          </a:p>
          <a:p>
            <a:r>
              <a:rPr dirty="0"/>
              <a:t>PAPER AUDIT — THREE QUESTIONS</a:t>
            </a:r>
          </a:p>
          <a:p>
            <a:r>
              <a:rPr dirty="0"/>
              <a:t>Q1. How do AR-DPO, AT-DPO, and ADPO differ?</a:t>
            </a:r>
          </a:p>
          <a:p>
            <a:r>
              <a:rPr dirty="0"/>
              <a:t>A. AR-DPO </a:t>
            </a:r>
            <a:r>
              <a:rPr dirty="0" err="1"/>
              <a:t>adversarially</a:t>
            </a:r>
            <a:r>
              <a:rPr dirty="0"/>
              <a:t> trains the reference; AT-DPO uses the adversary-aware loss with an ordinary reference; ADPO combines both.</a:t>
            </a:r>
          </a:p>
          <a:p>
            <a:r>
              <a:rPr dirty="0"/>
              <a:t>Q2. What do the safety results say about utility?</a:t>
            </a:r>
          </a:p>
          <a:p>
            <a:r>
              <a:rPr dirty="0"/>
              <a:t>A. ASR falls on listed attacks, but utility metrics can decline; cite named metrics and rows rather than saying utility is unchanged.</a:t>
            </a:r>
          </a:p>
          <a:p>
            <a:r>
              <a:rPr dirty="0"/>
              <a:t>Q3. What is established about robustness/cost?</a:t>
            </a:r>
          </a:p>
          <a:p>
            <a:r>
              <a:rPr dirty="0"/>
              <a:t>A. The paper supports gains on its tested attacks and reports training time; it does not prove free or held-out universal robustness. Count training compute and test independent attacks.</a:t>
            </a:r>
            <a:endParaRPr lang="en-US" dirty="0"/>
          </a:p>
          <a:p>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11 ADPO</a:t>
            </a:r>
          </a:p>
          <a:p>
            <a:pPr rtl="0" eaLnBrk="1" fontAlgn="ctr" latinLnBrk="0" hangingPunct="1"/>
            <a:r>
              <a:rPr lang="en-US" sz="1200" b="0" i="0" u="none" strike="noStrike" kern="1200" dirty="0">
                <a:solidFill>
                  <a:schemeClr val="tx1"/>
                </a:solidFill>
                <a:effectLst/>
                <a:latin typeface="+mn-lt"/>
                <a:ea typeface="+mn-ea"/>
                <a:cs typeface="+mn-cs"/>
              </a:rPr>
              <a:t>Limitation: Lower ASR is shown for the attacks tested, not universal robustness; some utility scores can decline and training has a cost.</a:t>
            </a:r>
          </a:p>
          <a:p>
            <a:pPr rtl="0" eaLnBrk="1" fontAlgn="ctr" latinLnBrk="0" hangingPunct="1"/>
            <a:r>
              <a:rPr lang="en-US" sz="1200" b="0" i="0" u="none" strike="noStrike" kern="1200" dirty="0">
                <a:solidFill>
                  <a:schemeClr val="tx1"/>
                </a:solidFill>
                <a:effectLst/>
                <a:latin typeface="+mn-lt"/>
                <a:ea typeface="+mn-ea"/>
                <a:cs typeface="+mn-cs"/>
              </a:rPr>
              <a:t>Proposed? Yes. The plan keeps independent attacks held out and measures utility and compute cost.</a:t>
            </a:r>
          </a:p>
          <a:p>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2AC05-C856-73D0-860B-3B14F592738D}"/>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0CC16156-48A6-82AC-86EC-7EC27B0DCA38}"/>
              </a:ext>
            </a:extLst>
          </p:cNvPr>
          <p:cNvSpPr>
            <a:spLocks noGrp="1"/>
          </p:cNvSpPr>
          <p:nvPr>
            <p:ph type="body" sz="quarter" idx="3"/>
          </p:nvPr>
        </p:nvSpPr>
        <p:spPr/>
        <p:txBody>
          <a:bodyPr/>
          <a:lstStyle/>
          <a:p>
            <a:r>
              <a:rPr dirty="0"/>
              <a:t>PAPER 8 — HOLISAFE / SAFE-VLM [8]</a:t>
            </a:r>
          </a:p>
          <a:p>
            <a:r>
              <a:rPr lang="en-US" dirty="0"/>
              <a:t>*</a:t>
            </a:r>
            <a:r>
              <a:rPr dirty="0"/>
              <a:t>Table 2 is the dataset taxonomy: </a:t>
            </a:r>
            <a:endParaRPr lang="en-US" dirty="0"/>
          </a:p>
          <a:p>
            <a:r>
              <a:rPr dirty="0"/>
              <a:t>seven top-level groups (illegal activity, violence, hate, self-harm, privacy, sexual content, specialized advice), with question/image counts; </a:t>
            </a:r>
            <a:endParaRPr lang="en-US" dirty="0"/>
          </a:p>
          <a:p>
            <a:r>
              <a:rPr dirty="0"/>
              <a:t>it describes coverage, not model performance. </a:t>
            </a:r>
            <a:endParaRPr lang="en-US" dirty="0"/>
          </a:p>
          <a:p>
            <a:endParaRPr lang="en-US" dirty="0"/>
          </a:p>
          <a:p>
            <a:r>
              <a:rPr dirty="0"/>
              <a:t>Figure 2 is the architecture: </a:t>
            </a:r>
            <a:endParaRPr lang="en-US" dirty="0"/>
          </a:p>
          <a:p>
            <a:r>
              <a:rPr dirty="0"/>
              <a:t>image tokens are pooled into a global visual representation and passed to a Visual Guard Module (VGM) to classify harmfulness, </a:t>
            </a:r>
            <a:endParaRPr lang="en-US" dirty="0"/>
          </a:p>
          <a:p>
            <a:r>
              <a:rPr dirty="0"/>
              <a:t>while the language model generates a response; </a:t>
            </a:r>
            <a:endParaRPr lang="en-US" dirty="0"/>
          </a:p>
          <a:p>
            <a:r>
              <a:rPr dirty="0"/>
              <a:t>safety classification is trained alongside generation. </a:t>
            </a:r>
            <a:endParaRPr lang="en-US" dirty="0"/>
          </a:p>
          <a:p>
            <a:endParaRPr lang="en-US" dirty="0"/>
          </a:p>
          <a:p>
            <a:r>
              <a:rPr lang="en-US" dirty="0"/>
              <a:t>*</a:t>
            </a:r>
            <a:r>
              <a:rPr dirty="0"/>
              <a:t>Table 3 is the benchmark result. </a:t>
            </a:r>
            <a:endParaRPr lang="en-US" dirty="0"/>
          </a:p>
          <a:p>
            <a:r>
              <a:rPr dirty="0"/>
              <a:t>It reports four unsafe-state ASRs, mean ASR (</a:t>
            </a:r>
            <a:r>
              <a:rPr dirty="0" err="1"/>
              <a:t>mASR</a:t>
            </a:r>
            <a:r>
              <a:rPr dirty="0"/>
              <a:t>), and refusal rate </a:t>
            </a:r>
            <a:r>
              <a:rPr lang="en-US" dirty="0"/>
              <a:t>(RR, low is better) </a:t>
            </a:r>
            <a:r>
              <a:rPr dirty="0"/>
              <a:t>on the benign safe-image/safe-text-to-safe-output control. </a:t>
            </a:r>
            <a:endParaRPr lang="en-US" dirty="0"/>
          </a:p>
          <a:p>
            <a:r>
              <a:rPr dirty="0"/>
              <a:t>For Safe-LLaVA-7B, </a:t>
            </a:r>
            <a:r>
              <a:rPr dirty="0" err="1"/>
              <a:t>mASR</a:t>
            </a:r>
            <a:r>
              <a:rPr dirty="0"/>
              <a:t>/RR is 8.8/1.3 under Claude-3.5-Sonnet; </a:t>
            </a:r>
            <a:r>
              <a:rPr dirty="0" err="1"/>
              <a:t>mASR</a:t>
            </a:r>
            <a:r>
              <a:rPr dirty="0"/>
              <a:t> is 15.3 under GPT-4o, 15.8 under Gemini-2.0, and 15.4 under string matching. Different judges produce different rates; identify judge and paper version.</a:t>
            </a:r>
          </a:p>
          <a:p>
            <a:endParaRPr lang="en-US" dirty="0"/>
          </a:p>
          <a:p>
            <a:r>
              <a:rPr lang="en-US" dirty="0"/>
              <a:t>The Visual Guard Module is a learned component in Safe-VLM: </a:t>
            </a:r>
          </a:p>
          <a:p>
            <a:r>
              <a:rPr lang="en-US" dirty="0"/>
              <a:t>it pools visual features and predicts image harmfulness while the model also generates a response. </a:t>
            </a:r>
          </a:p>
          <a:p>
            <a:r>
              <a:rPr lang="en-US" dirty="0"/>
              <a:t>It is part of the </a:t>
            </a:r>
            <a:r>
              <a:rPr lang="en-US" b="1" dirty="0"/>
              <a:t>model/method</a:t>
            </a:r>
            <a:r>
              <a:rPr lang="en-US" dirty="0"/>
              <a:t>. </a:t>
            </a:r>
          </a:p>
          <a:p>
            <a:r>
              <a:rPr lang="en-US" dirty="0"/>
              <a:t>The judge is an </a:t>
            </a:r>
            <a:r>
              <a:rPr lang="en-US" b="1" dirty="0"/>
              <a:t>evaluation tool</a:t>
            </a:r>
            <a:r>
              <a:rPr lang="en-US" dirty="0"/>
              <a:t> that labels a model’s response as safe or unsafe under a rubric. </a:t>
            </a:r>
          </a:p>
          <a:p>
            <a:r>
              <a:rPr lang="en-US" dirty="0"/>
              <a:t>The judge does not become the VGM, and the VGM is not simply an external evaluator that inspects both image and text. </a:t>
            </a:r>
          </a:p>
          <a:p>
            <a:endParaRPr lang="en-US" dirty="0"/>
          </a:p>
          <a:p>
            <a:r>
              <a:rPr lang="en-US" dirty="0"/>
              <a:t>-----------------------</a:t>
            </a:r>
            <a:endParaRPr dirty="0"/>
          </a:p>
          <a:p>
            <a:r>
              <a:rPr dirty="0"/>
              <a:t>PAPER AUDIT — THREE QUESTIONS</a:t>
            </a:r>
          </a:p>
          <a:p>
            <a:r>
              <a:rPr lang="en-US" dirty="0"/>
              <a:t>=&gt;</a:t>
            </a:r>
            <a:r>
              <a:rPr dirty="0"/>
              <a:t>Q1. What are the five image/text states?</a:t>
            </a:r>
          </a:p>
          <a:p>
            <a:r>
              <a:rPr dirty="0"/>
              <a:t>A. </a:t>
            </a:r>
            <a:endParaRPr lang="en-US" dirty="0"/>
          </a:p>
          <a:p>
            <a:r>
              <a:rPr dirty="0"/>
              <a:t>Unsafe </a:t>
            </a:r>
            <a:r>
              <a:rPr dirty="0" err="1"/>
              <a:t>image+unsafe</a:t>
            </a:r>
            <a:r>
              <a:rPr dirty="0"/>
              <a:t> text; </a:t>
            </a:r>
            <a:endParaRPr lang="en-US" dirty="0"/>
          </a:p>
          <a:p>
            <a:r>
              <a:rPr dirty="0"/>
              <a:t>unsafe </a:t>
            </a:r>
            <a:r>
              <a:rPr dirty="0" err="1"/>
              <a:t>image+safe</a:t>
            </a:r>
            <a:r>
              <a:rPr dirty="0"/>
              <a:t> text; </a:t>
            </a:r>
            <a:endParaRPr lang="en-US" dirty="0"/>
          </a:p>
          <a:p>
            <a:r>
              <a:rPr dirty="0"/>
              <a:t>safe </a:t>
            </a:r>
            <a:r>
              <a:rPr dirty="0" err="1"/>
              <a:t>image+unsafe</a:t>
            </a:r>
            <a:r>
              <a:rPr dirty="0"/>
              <a:t> text; </a:t>
            </a:r>
            <a:endParaRPr lang="en-US" dirty="0"/>
          </a:p>
          <a:p>
            <a:r>
              <a:rPr dirty="0"/>
              <a:t>safe </a:t>
            </a:r>
            <a:r>
              <a:rPr dirty="0" err="1"/>
              <a:t>image+safe</a:t>
            </a:r>
            <a:r>
              <a:rPr dirty="0"/>
              <a:t> text yielding unsafe output; </a:t>
            </a:r>
            <a:r>
              <a:rPr lang="en-US" dirty="0"/>
              <a:t>-----------the fourth is compositional risk</a:t>
            </a:r>
          </a:p>
          <a:p>
            <a:r>
              <a:rPr dirty="0"/>
              <a:t>and safe </a:t>
            </a:r>
            <a:r>
              <a:rPr dirty="0" err="1"/>
              <a:t>image+safe</a:t>
            </a:r>
            <a:r>
              <a:rPr dirty="0"/>
              <a:t> text yielding safe output. </a:t>
            </a:r>
            <a:r>
              <a:rPr lang="en-US" dirty="0"/>
              <a:t>---------</a:t>
            </a:r>
            <a:r>
              <a:rPr dirty="0"/>
              <a:t>the fifth is benign control.</a:t>
            </a:r>
          </a:p>
          <a:p>
            <a:r>
              <a:rPr lang="en-US" dirty="0"/>
              <a:t>=&gt;</a:t>
            </a:r>
            <a:r>
              <a:rPr dirty="0"/>
              <a:t>Q2. What does Safe-VLM add?</a:t>
            </a:r>
          </a:p>
          <a:p>
            <a:r>
              <a:rPr dirty="0"/>
              <a:t>A. A learnable safety token/head and VGM that predicts visual harmfulness while generation continues, trained with classification and next-token objectives.</a:t>
            </a:r>
          </a:p>
          <a:p>
            <a:r>
              <a:rPr dirty="0"/>
              <a:t>Q3. How should Table 3 be cited?</a:t>
            </a:r>
          </a:p>
          <a:p>
            <a:r>
              <a:rPr dirty="0"/>
              <a:t>A. Include model, judge, metric, and version. The 8.8/1.3 values are under Claude-3.5-Sonnet; do not substitute Table 7 ablation cells.</a:t>
            </a:r>
            <a:endParaRPr lang="en-US" dirty="0"/>
          </a:p>
          <a:p>
            <a:endParaRPr lang="en-US" dirty="0"/>
          </a:p>
          <a:p>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12 </a:t>
            </a:r>
            <a:r>
              <a:rPr lang="en-US" sz="1200" b="0" i="0" u="none" strike="noStrike" kern="1200" dirty="0" err="1">
                <a:solidFill>
                  <a:schemeClr val="tx1"/>
                </a:solidFill>
                <a:effectLst/>
                <a:latin typeface="+mn-lt"/>
                <a:ea typeface="+mn-ea"/>
                <a:cs typeface="+mn-cs"/>
              </a:rPr>
              <a:t>HoliSafe</a:t>
            </a:r>
            <a:r>
              <a:rPr lang="en-US" sz="1200" b="0" i="0" u="none" strike="noStrike" kern="1200" dirty="0">
                <a:solidFill>
                  <a:schemeClr val="tx1"/>
                </a:solidFill>
                <a:effectLst/>
                <a:latin typeface="+mn-lt"/>
                <a:ea typeface="+mn-ea"/>
                <a:cs typeface="+mn-cs"/>
              </a:rPr>
              <a:t> / VGM</a:t>
            </a:r>
          </a:p>
          <a:p>
            <a:pPr rtl="0" eaLnBrk="1" fontAlgn="ctr" latinLnBrk="0" hangingPunct="1"/>
            <a:r>
              <a:rPr lang="en-US" sz="1200" b="0" i="0" u="none" strike="noStrike" kern="1200" dirty="0">
                <a:solidFill>
                  <a:schemeClr val="tx1"/>
                </a:solidFill>
                <a:effectLst/>
                <a:latin typeface="+mn-lt"/>
                <a:ea typeface="+mn-ea"/>
                <a:cs typeface="+mn-cs"/>
              </a:rPr>
              <a:t>Limitation: Results depend on the evaluator and paper version, and the five-state benchmark is not every possible image risk or attack.</a:t>
            </a:r>
          </a:p>
          <a:p>
            <a:pPr rtl="0" eaLnBrk="1" fontAlgn="ctr" latinLnBrk="0" hangingPunct="1"/>
            <a:r>
              <a:rPr lang="en-US" sz="1200" b="0" i="0" u="none" strike="noStrike" kern="1200" dirty="0">
                <a:solidFill>
                  <a:schemeClr val="tx1"/>
                </a:solidFill>
                <a:effectLst/>
                <a:latin typeface="+mn-lt"/>
                <a:ea typeface="+mn-ea"/>
                <a:cs typeface="+mn-cs"/>
              </a:rPr>
              <a:t>Proposed? Mostly. The notes call for reporting judge/version and treat VGM as a comparator. Keep the “not exhaustive coverage” caveat explicit.</a:t>
            </a:r>
          </a:p>
          <a:p>
            <a:endParaRPr dirty="0"/>
          </a:p>
        </p:txBody>
      </p:sp>
    </p:spTree>
    <p:extLst>
      <p:ext uri="{BB962C8B-B14F-4D97-AF65-F5344CB8AC3E}">
        <p14:creationId xmlns:p14="http://schemas.microsoft.com/office/powerpoint/2010/main" val="228310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PAPER 9 — DAVSP [9]</a:t>
            </a:r>
            <a:endParaRPr lang="en-US" dirty="0"/>
          </a:p>
          <a:p>
            <a:r>
              <a:rPr lang="en-US" dirty="0"/>
              <a:t>For DAVSP, the base model stays frozen while a learned visual safety prompt/activation intervention is optimized and used at inference. </a:t>
            </a:r>
            <a:r>
              <a:rPr lang="en-US" sz="1200" kern="1200" dirty="0">
                <a:solidFill>
                  <a:schemeClr val="tx1"/>
                </a:solidFill>
                <a:latin typeface="+mn-lt"/>
                <a:ea typeface="+mn-ea"/>
                <a:cs typeface="+mn-cs"/>
              </a:rPr>
              <a:t>RSR</a:t>
            </a:r>
            <a:r>
              <a:rPr lang="en-US" dirty="0"/>
              <a:t> means </a:t>
            </a:r>
            <a:r>
              <a:rPr lang="en-US" b="1" dirty="0"/>
              <a:t>Resistance Success Rate</a:t>
            </a:r>
            <a:r>
              <a:rPr lang="en-US" dirty="0"/>
              <a:t>: higher means the defense resisted more tested attacks. It is not the same metric as ASR, so don’t compare the percentages as if one were exactly 100% minus the other. Explain the result only for DAVSP’s specific models and attack conditions.</a:t>
            </a:r>
            <a:endParaRPr dirty="0"/>
          </a:p>
          <a:p>
            <a:r>
              <a:rPr lang="en-US" dirty="0"/>
              <a:t>*</a:t>
            </a:r>
            <a:r>
              <a:rPr dirty="0"/>
              <a:t>Figure 2 has two conceptual halves. </a:t>
            </a:r>
            <a:endParaRPr lang="en-US" dirty="0"/>
          </a:p>
          <a:p>
            <a:r>
              <a:rPr dirty="0"/>
              <a:t>Left: the visual safety prompt is added around/with the image at inference. Right: the deep-alignment drawing is an abstract activation-space picture: harmful and benign examples are represented relative to a harmfulness direction and the method learns an alignment intervention. Do not interpret these arrows as pixel perturbations or claim that the base weights are fine-tuned; the backbone is frozen while the safety prompt/alignment component is optimized.</a:t>
            </a:r>
          </a:p>
          <a:p>
            <a:endParaRPr dirty="0"/>
          </a:p>
          <a:p>
            <a:r>
              <a:rPr lang="en-US" dirty="0"/>
              <a:t>*</a:t>
            </a:r>
            <a:r>
              <a:rPr dirty="0"/>
              <a:t>Table 2 reports </a:t>
            </a:r>
            <a:endParaRPr lang="en-US" dirty="0"/>
          </a:p>
          <a:p>
            <a:r>
              <a:rPr dirty="0"/>
              <a:t>RSR, </a:t>
            </a:r>
            <a:r>
              <a:rPr b="1" dirty="0"/>
              <a:t>Resistance Success Rate</a:t>
            </a:r>
            <a:r>
              <a:rPr dirty="0"/>
              <a:t>: higher means the defense successfully resists more malicious queries. </a:t>
            </a:r>
            <a:endParaRPr lang="en-US" dirty="0"/>
          </a:p>
          <a:p>
            <a:r>
              <a:rPr dirty="0"/>
              <a:t>It is not ASR, where lower is safer. </a:t>
            </a:r>
            <a:endParaRPr lang="en-US" dirty="0"/>
          </a:p>
          <a:p>
            <a:r>
              <a:rPr dirty="0"/>
              <a:t>Its columns include MM-</a:t>
            </a:r>
            <a:r>
              <a:rPr dirty="0" err="1"/>
              <a:t>SafetyBench</a:t>
            </a:r>
            <a:r>
              <a:rPr dirty="0"/>
              <a:t> SD+TYPO, SD, TYPO and </a:t>
            </a:r>
            <a:r>
              <a:rPr dirty="0" err="1"/>
              <a:t>FigStep</a:t>
            </a:r>
            <a:r>
              <a:rPr dirty="0"/>
              <a:t> out-of-distribution. </a:t>
            </a:r>
            <a:endParaRPr lang="en-US" dirty="0"/>
          </a:p>
          <a:p>
            <a:r>
              <a:rPr dirty="0"/>
              <a:t>DAVSP gives </a:t>
            </a:r>
            <a:r>
              <a:rPr dirty="0" err="1"/>
              <a:t>FigStep</a:t>
            </a:r>
            <a:r>
              <a:rPr dirty="0"/>
              <a:t> RSR 84.20% on LLaVA-1.5-13B and 99.20% on Qwen2-VL-7B-Instruct; </a:t>
            </a:r>
            <a:endParaRPr lang="en-US" dirty="0"/>
          </a:p>
          <a:p>
            <a:r>
              <a:rPr dirty="0"/>
              <a:t>SD+TYPO gives 98.72% and 99.12%. </a:t>
            </a:r>
            <a:endParaRPr lang="en-US" dirty="0"/>
          </a:p>
          <a:p>
            <a:r>
              <a:rPr dirty="0"/>
              <a:t>These are paper-specific conditions, not cross-paper rankings. </a:t>
            </a:r>
            <a:endParaRPr lang="en-US" dirty="0"/>
          </a:p>
          <a:p>
            <a:r>
              <a:rPr dirty="0"/>
              <a:t>In our design this is a separate optional visual-side comparator</a:t>
            </a:r>
            <a:r>
              <a:rPr lang="en-US" dirty="0"/>
              <a:t>, and to </a:t>
            </a:r>
            <a:r>
              <a:rPr dirty="0"/>
              <a:t>measure utility and inference cost.</a:t>
            </a:r>
          </a:p>
          <a:p>
            <a:endParaRPr lang="en-US" dirty="0"/>
          </a:p>
          <a:p>
            <a:endParaRPr lang="en-US" dirty="0"/>
          </a:p>
          <a:p>
            <a:r>
              <a:rPr lang="en-US" sz="1200" kern="1200" dirty="0">
                <a:solidFill>
                  <a:schemeClr val="tx1"/>
                </a:solidFill>
                <a:latin typeface="+mn-lt"/>
                <a:ea typeface="+mn-ea"/>
                <a:cs typeface="+mn-cs"/>
              </a:rPr>
              <a:t>SD</a:t>
            </a:r>
            <a:r>
              <a:rPr lang="en-US" dirty="0"/>
              <a:t> means Stable-Diffusion-generated risk imagery, </a:t>
            </a:r>
          </a:p>
          <a:p>
            <a:r>
              <a:rPr lang="en-US" sz="1200" kern="1200" dirty="0">
                <a:solidFill>
                  <a:schemeClr val="tx1"/>
                </a:solidFill>
                <a:latin typeface="+mn-lt"/>
                <a:ea typeface="+mn-ea"/>
                <a:cs typeface="+mn-cs"/>
              </a:rPr>
              <a:t>Typo</a:t>
            </a:r>
            <a:r>
              <a:rPr lang="en-US" dirty="0"/>
              <a:t> means harmful text rendered into an image, </a:t>
            </a:r>
          </a:p>
          <a:p>
            <a:r>
              <a:rPr lang="en-US" dirty="0"/>
              <a:t>and </a:t>
            </a:r>
            <a:r>
              <a:rPr lang="en-US" sz="1200" kern="1200" dirty="0" err="1">
                <a:solidFill>
                  <a:schemeClr val="tx1"/>
                </a:solidFill>
                <a:latin typeface="+mn-lt"/>
                <a:ea typeface="+mn-ea"/>
                <a:cs typeface="+mn-cs"/>
              </a:rPr>
              <a:t>SD+Typo</a:t>
            </a:r>
            <a:r>
              <a:rPr lang="en-US" dirty="0"/>
              <a:t> combines the generated scene with typographic text. </a:t>
            </a:r>
          </a:p>
          <a:p>
            <a:endParaRPr lang="en-US" dirty="0"/>
          </a:p>
          <a:p>
            <a:endParaRPr lang="en-US" dirty="0"/>
          </a:p>
          <a:p>
            <a:r>
              <a:rPr lang="en-US" dirty="0"/>
              <a:t>-----------------</a:t>
            </a:r>
            <a:endParaRPr dirty="0"/>
          </a:p>
          <a:p>
            <a:r>
              <a:rPr dirty="0"/>
              <a:t>PAPER AUDIT — THREE QUESTIONS</a:t>
            </a:r>
          </a:p>
          <a:p>
            <a:r>
              <a:rPr dirty="0"/>
              <a:t>Q1. What changes, and what remains frozen?</a:t>
            </a:r>
          </a:p>
          <a:p>
            <a:r>
              <a:rPr dirty="0"/>
              <a:t>A. The base LVLM is frozen; the visual prompt/activation alignment is optimized and applied with a textual safety prompt at inference.</a:t>
            </a:r>
          </a:p>
          <a:p>
            <a:r>
              <a:rPr dirty="0"/>
              <a:t>Q2. What are RSR and ASR?</a:t>
            </a:r>
          </a:p>
          <a:p>
            <a:r>
              <a:rPr dirty="0"/>
              <a:t>A. RSR is successful resistance (higher is better); ASR is successful attack (lower is better). Do not assume exact complements across protocols.</a:t>
            </a:r>
          </a:p>
          <a:p>
            <a:r>
              <a:rPr dirty="0"/>
              <a:t>Q3. What do the results establish?</a:t>
            </a:r>
          </a:p>
          <a:p>
            <a:r>
              <a:rPr dirty="0"/>
              <a:t>A. Strong resistance in DAVSP’s tested conditions, not universal transfer. Check capability, latency, processor/resolution, and attack variants.</a:t>
            </a:r>
            <a:endParaRPr lang="en-US" dirty="0"/>
          </a:p>
          <a:p>
            <a:endParaRPr lang="en-US" dirty="0"/>
          </a:p>
          <a:p>
            <a:endParaRPr lang="en-US" dirty="0"/>
          </a:p>
          <a:p>
            <a:endParaRPr lang="en-US" dirty="0"/>
          </a:p>
          <a:p>
            <a:pPr rtl="0" eaLnBrk="1" fontAlgn="ctr" latinLnBrk="0" hangingPunct="1"/>
            <a:r>
              <a:rPr lang="en-US" sz="1200" b="0" i="0" u="none" strike="noStrike" kern="1200" dirty="0">
                <a:solidFill>
                  <a:schemeClr val="tx1"/>
                </a:solidFill>
                <a:effectLst/>
                <a:latin typeface="+mn-lt"/>
                <a:ea typeface="+mn-ea"/>
                <a:cs typeface="+mn-cs"/>
              </a:rPr>
              <a:t>13 DAVSP</a:t>
            </a:r>
          </a:p>
          <a:p>
            <a:pPr rtl="0" eaLnBrk="1" fontAlgn="ctr" latinLnBrk="0" hangingPunct="1"/>
            <a:r>
              <a:rPr lang="en-US" sz="1200" b="0" i="0" u="none" strike="noStrike" kern="1200" dirty="0">
                <a:solidFill>
                  <a:schemeClr val="tx1"/>
                </a:solidFill>
                <a:effectLst/>
                <a:latin typeface="+mn-lt"/>
                <a:ea typeface="+mn-ea"/>
                <a:cs typeface="+mn-cs"/>
              </a:rPr>
              <a:t>Limitation: Its high RSR is specific to the tested models and attacks; RSR is not automatically the complement of ASR.</a:t>
            </a:r>
          </a:p>
          <a:p>
            <a:pPr rtl="0" eaLnBrk="1" fontAlgn="ctr" latinLnBrk="0" hangingPunct="1"/>
            <a:r>
              <a:rPr lang="en-US" sz="1200" b="0" i="0" u="none" strike="noStrike" kern="1200" dirty="0">
                <a:solidFill>
                  <a:schemeClr val="tx1"/>
                </a:solidFill>
                <a:effectLst/>
                <a:latin typeface="+mn-lt"/>
                <a:ea typeface="+mn-ea"/>
                <a:cs typeface="+mn-cs"/>
              </a:rPr>
              <a:t>Proposed? Yes. The notes call for capability, latency, and attack-variant checks and warn against direct cross-paper comparison.</a:t>
            </a:r>
          </a:p>
          <a:p>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B10D4-72D3-2FFB-4CF4-F5EDF6B7C368}"/>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6C04711C-F22F-90F7-8A4D-C673A2FE5358}"/>
              </a:ext>
            </a:extLst>
          </p:cNvPr>
          <p:cNvSpPr>
            <a:spLocks noGrp="1"/>
          </p:cNvSpPr>
          <p:nvPr>
            <p:ph type="body" sz="quarter" idx="3"/>
          </p:nvPr>
        </p:nvSpPr>
        <p:spPr/>
        <p:txBody>
          <a:bodyPr/>
          <a:lstStyle/>
          <a:p>
            <a:r>
              <a:rPr dirty="0"/>
              <a:t>PAPER 10 — PRAGMA-VL [10]</a:t>
            </a:r>
            <a:endParaRPr lang="en-US" dirty="0"/>
          </a:p>
          <a:p>
            <a:r>
              <a:rPr lang="en-US" dirty="0"/>
              <a:t>While internal safety alignment via Supervised Fine-Tuning (SFT) and Reinforcement Learning (RL) is a primary mitigation strategy, current methods often face a safety-utility tradeoff: </a:t>
            </a:r>
          </a:p>
          <a:p>
            <a:r>
              <a:rPr lang="en-US" dirty="0"/>
              <a:t>they either refuse benign queries out of excessive caution or overlook latent risks in cross-modal interactions. </a:t>
            </a:r>
          </a:p>
          <a:p>
            <a:r>
              <a:rPr lang="en-US" dirty="0"/>
              <a:t>To resolve this, we introduce Pragma-VL, an end-to-end alignment algorithm that enables MLLMs to pragmatically arbitrate between safety and helpfulness</a:t>
            </a:r>
          </a:p>
          <a:p>
            <a:endParaRPr dirty="0"/>
          </a:p>
          <a:p>
            <a:r>
              <a:rPr lang="en-US" dirty="0"/>
              <a:t>*</a:t>
            </a:r>
            <a:r>
              <a:rPr dirty="0"/>
              <a:t>Walk Figure 3 in two panels. </a:t>
            </a:r>
            <a:endParaRPr lang="en-US" dirty="0"/>
          </a:p>
          <a:p>
            <a:r>
              <a:rPr dirty="0"/>
              <a:t>Panel (a), MLLM cold-start, </a:t>
            </a:r>
            <a:endParaRPr lang="en-US" dirty="0"/>
          </a:p>
          <a:p>
            <a:r>
              <a:rPr dirty="0"/>
              <a:t>contrasts risk-aware visual pre-alignment (visual examples plus interleaved risk descriptions) with ordinary SFT cold-start, which may learn visual risk less effectively. </a:t>
            </a:r>
            <a:endParaRPr lang="en-US" dirty="0"/>
          </a:p>
          <a:p>
            <a:endParaRPr lang="en-US" dirty="0"/>
          </a:p>
          <a:p>
            <a:r>
              <a:rPr dirty="0"/>
              <a:t>Panel (b) is the reward design. </a:t>
            </a:r>
            <a:endParaRPr lang="en-US" dirty="0"/>
          </a:p>
          <a:p>
            <a:r>
              <a:rPr dirty="0"/>
              <a:t>Separate heads score helpfulness and safety; </a:t>
            </a:r>
            <a:endParaRPr lang="en-US" dirty="0"/>
          </a:p>
          <a:p>
            <a:r>
              <a:rPr dirty="0"/>
              <a:t>prompt/query context regulates how those scores are weighted. </a:t>
            </a:r>
            <a:endParaRPr lang="en-US" dirty="0"/>
          </a:p>
          <a:p>
            <a:endParaRPr lang="en-US" dirty="0"/>
          </a:p>
          <a:p>
            <a:r>
              <a:rPr dirty="0"/>
              <a:t>The sequential and parallel weighted-head variants are ways to combine signals; </a:t>
            </a:r>
            <a:endParaRPr lang="en-US" dirty="0"/>
          </a:p>
          <a:p>
            <a:r>
              <a:rPr dirty="0"/>
              <a:t>the single-score alternative is simpler but can be more vulnerable to reward hacking. The lower half shows reward-model training from labeled comparisons and preference/score objectives. The practical idea: the reward is not “refuse everything”; context controls the safety/helpfulness balance. Do not try to derive every equation from the cartoon.</a:t>
            </a:r>
          </a:p>
          <a:p>
            <a:endParaRPr dirty="0"/>
          </a:p>
          <a:p>
            <a:r>
              <a:rPr dirty="0"/>
              <a:t>Table 2 mixes metric families. </a:t>
            </a:r>
            <a:endParaRPr lang="en-US" dirty="0"/>
          </a:p>
          <a:p>
            <a:r>
              <a:rPr dirty="0"/>
              <a:t>Help/Harmless columns on </a:t>
            </a:r>
            <a:r>
              <a:rPr dirty="0" err="1"/>
              <a:t>BeaverTails</a:t>
            </a:r>
            <a:r>
              <a:rPr dirty="0"/>
              <a:t>-V and SPA-VL are win rates; </a:t>
            </a:r>
            <a:endParaRPr lang="en-US" dirty="0"/>
          </a:p>
          <a:p>
            <a:r>
              <a:rPr dirty="0"/>
              <a:t>MM-</a:t>
            </a:r>
            <a:r>
              <a:rPr dirty="0" err="1"/>
              <a:t>SafetyBench</a:t>
            </a:r>
            <a:r>
              <a:rPr dirty="0"/>
              <a:t> ASR is lower-is-better; </a:t>
            </a:r>
            <a:endParaRPr lang="en-US" dirty="0"/>
          </a:p>
          <a:p>
            <a:r>
              <a:rPr dirty="0"/>
              <a:t>SIUO/</a:t>
            </a:r>
            <a:r>
              <a:rPr dirty="0" err="1"/>
              <a:t>MSSBench</a:t>
            </a:r>
            <a:r>
              <a:rPr dirty="0"/>
              <a:t> Effective and Safety rates are higher-is-better and remain separate. </a:t>
            </a:r>
            <a:endParaRPr lang="en-US" dirty="0"/>
          </a:p>
          <a:p>
            <a:endParaRPr lang="en-US" dirty="0"/>
          </a:p>
          <a:p>
            <a:r>
              <a:rPr dirty="0"/>
              <a:t>For Qwen2.5-VL-7B, Pragma-VL reports 31.66% MM-</a:t>
            </a:r>
            <a:r>
              <a:rPr dirty="0" err="1"/>
              <a:t>SafetyBench</a:t>
            </a:r>
            <a:r>
              <a:rPr dirty="0"/>
              <a:t> ASR versus 48.75% base; </a:t>
            </a:r>
            <a:endParaRPr lang="en-US" dirty="0"/>
          </a:p>
          <a:p>
            <a:r>
              <a:rPr dirty="0"/>
              <a:t>SIUO effectiveness/safety 95.21/63.47 versus 92.17/38.78. Table 3, not Table 2, supports general capability claims. The method used substantial training compute (reported 16 A100 GPUs).</a:t>
            </a:r>
          </a:p>
          <a:p>
            <a:endParaRPr dirty="0"/>
          </a:p>
          <a:p>
            <a:r>
              <a:rPr dirty="0"/>
              <a:t>PAPER AUDIT — THREE QUESTIONS</a:t>
            </a:r>
          </a:p>
          <a:p>
            <a:r>
              <a:rPr dirty="0"/>
              <a:t>Q1. What are the two stages and context-dependent arbitration?</a:t>
            </a:r>
          </a:p>
          <a:p>
            <a:r>
              <a:rPr dirty="0"/>
              <a:t>A. Risk-aware visual cold-start first; then separate helpfulness/harmlessness rewards are weighted by the query context and used with GRPO to optimize the policy.</a:t>
            </a:r>
          </a:p>
          <a:p>
            <a:r>
              <a:rPr dirty="0"/>
              <a:t>Q2. How do we interpret Table 2?</a:t>
            </a:r>
          </a:p>
          <a:p>
            <a:r>
              <a:rPr dirty="0"/>
              <a:t>A. Win rates, ASR, effective rate, and safety rate have different definitions/directions; read each header independently.</a:t>
            </a:r>
          </a:p>
          <a:p>
            <a:r>
              <a:rPr dirty="0"/>
              <a:t>Q3. What do results establish and not establish?</a:t>
            </a:r>
          </a:p>
          <a:p>
            <a:r>
              <a:rPr dirty="0"/>
              <a:t>A. They show paper-specific outcomes, not a cross-paper leaderboard or universal capability gains. Data, reward construction, compute, and recipe fidelity constrain replication.</a:t>
            </a:r>
          </a:p>
        </p:txBody>
      </p:sp>
    </p:spTree>
    <p:extLst>
      <p:ext uri="{BB962C8B-B14F-4D97-AF65-F5344CB8AC3E}">
        <p14:creationId xmlns:p14="http://schemas.microsoft.com/office/powerpoint/2010/main" val="5014542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FLOW FROM THE PAPER REVIEW</a:t>
            </a:r>
          </a:p>
          <a:p>
            <a:r>
              <a:rPr dirty="0"/>
              <a:t>We have now examined the individual studies. This slide begins the synthesis: no single paper gives us this complete attack protocol. </a:t>
            </a:r>
            <a:endParaRPr lang="en-US" dirty="0"/>
          </a:p>
          <a:p>
            <a:r>
              <a:rPr dirty="0"/>
              <a:t>We combine representative procedures and test resources, keep their roles distinct, and state what is outside our first study.</a:t>
            </a:r>
          </a:p>
          <a:p>
            <a:endParaRPr dirty="0"/>
          </a:p>
          <a:p>
            <a:r>
              <a:rPr lang="en-US" dirty="0"/>
              <a:t>*</a:t>
            </a:r>
            <a:r>
              <a:rPr dirty="0"/>
              <a:t>HOW TO WALK THROUGH THE SLIDE</a:t>
            </a:r>
          </a:p>
          <a:p>
            <a:r>
              <a:rPr lang="en-US" dirty="0"/>
              <a:t>*</a:t>
            </a:r>
            <a:r>
              <a:rPr dirty="0"/>
              <a:t>Move down the rows. </a:t>
            </a:r>
            <a:endParaRPr lang="en-US" dirty="0"/>
          </a:p>
          <a:p>
            <a:r>
              <a:rPr dirty="0" err="1"/>
              <a:t>FigStep</a:t>
            </a:r>
            <a:r>
              <a:rPr dirty="0"/>
              <a:t> is a fixed black-box visual-text procedure: hold the unsafe intent fixed, render it into image typography, and compare it with the same intent in text. </a:t>
            </a:r>
            <a:endParaRPr lang="en-US" dirty="0"/>
          </a:p>
          <a:p>
            <a:r>
              <a:rPr dirty="0"/>
              <a:t>HADES broadens the visual attack family. Its typography, black-box optimized-image (+</a:t>
            </a:r>
            <a:r>
              <a:rPr dirty="0" err="1"/>
              <a:t>Opt</a:t>
            </a:r>
            <a:r>
              <a:rPr dirty="0"/>
              <a:t>), and gradient-based adversarial-image (+Adv) conditions have different access assumptions; never merge +Adv into a black-box result. SIUO and </a:t>
            </a:r>
            <a:r>
              <a:rPr dirty="0" err="1"/>
              <a:t>HoliSafe</a:t>
            </a:r>
            <a:r>
              <a:rPr dirty="0"/>
              <a:t> contribute compositional test cases, not attack algorithms. </a:t>
            </a:r>
            <a:r>
              <a:rPr dirty="0" err="1"/>
              <a:t>PolyJailbreak</a:t>
            </a:r>
            <a:r>
              <a:rPr dirty="0"/>
              <a:t> is adaptive: the attacker changes text/image strategies in response to target feedback. </a:t>
            </a:r>
            <a:endParaRPr lang="en-US" dirty="0"/>
          </a:p>
          <a:p>
            <a:r>
              <a:rPr dirty="0"/>
              <a:t>JailBreakV-28K is a collection of attack cases, not one method.</a:t>
            </a:r>
          </a:p>
          <a:p>
            <a:endParaRPr dirty="0"/>
          </a:p>
          <a:p>
            <a:r>
              <a:rPr dirty="0"/>
              <a:t>Our first protocol is representative, not exhaustive. Hidden/steganographic instructions, flowchart attacks, multilingual inputs, and multi-turn attacks are explicitly deferred until their threat models and budgets are specified.</a:t>
            </a:r>
          </a:p>
          <a:p>
            <a:endParaRPr dirty="0"/>
          </a:p>
          <a:p>
            <a:r>
              <a:rPr dirty="0"/>
              <a:t>QUESTIONS YOU MAY GET</a:t>
            </a:r>
          </a:p>
          <a:p>
            <a:r>
              <a:rPr dirty="0"/>
              <a:t>Q: Why not test every published attack?</a:t>
            </a:r>
          </a:p>
          <a:p>
            <a:r>
              <a:rPr dirty="0"/>
              <a:t>A: The first study needs a reproducible, interpretable suite. We choose distinct mechanisms and access tiers, lock the test, and list omitted families rather than implying exhaustive coverage.</a:t>
            </a:r>
          </a:p>
          <a:p>
            <a:r>
              <a:rPr dirty="0"/>
              <a:t>Q: Is HADES +</a:t>
            </a:r>
            <a:r>
              <a:rPr dirty="0" err="1"/>
              <a:t>Opt</a:t>
            </a:r>
            <a:r>
              <a:rPr dirty="0"/>
              <a:t> the same as +Adv?</a:t>
            </a:r>
          </a:p>
          <a:p>
            <a:r>
              <a:rPr dirty="0"/>
              <a:t>A: No. +</a:t>
            </a:r>
            <a:r>
              <a:rPr dirty="0" err="1"/>
              <a:t>Opt</a:t>
            </a:r>
            <a:r>
              <a:rPr dirty="0"/>
              <a:t> is the black-box optimized-image condition; +Adv uses gradients and is a separate white-box tier.</a:t>
            </a:r>
          </a:p>
          <a:p>
            <a:r>
              <a:rPr dirty="0"/>
              <a:t>Q: Is </a:t>
            </a:r>
            <a:r>
              <a:rPr dirty="0" err="1"/>
              <a:t>JailBreakV</a:t>
            </a:r>
            <a:r>
              <a:rPr dirty="0"/>
              <a:t> itself an attack?</a:t>
            </a:r>
          </a:p>
          <a:p>
            <a:r>
              <a:rPr dirty="0"/>
              <a:t>A: It is a benchmark collection of attack instances. We select and disclose a held-out slice; it is not one attack algorithm.</a:t>
            </a:r>
          </a:p>
          <a:p>
            <a:endParaRPr dirty="0"/>
          </a:p>
          <a:p>
            <a:r>
              <a:rPr dirty="0"/>
              <a:t>TRANSITION</a:t>
            </a:r>
          </a:p>
          <a:p>
            <a:r>
              <a:rPr dirty="0"/>
              <a:t>Now that the attack procedures and test resources are separated, the next slide identifies which sources train the model and which remain evaluation-only.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FLOW: RESOURCES BEFORE RESULTS</a:t>
            </a:r>
          </a:p>
          <a:p>
            <a:r>
              <a:rPr dirty="0"/>
              <a:t>This slide answers “what data goes where?” </a:t>
            </a:r>
            <a:endParaRPr lang="en-US" dirty="0"/>
          </a:p>
          <a:p>
            <a:endParaRPr lang="en-US" dirty="0"/>
          </a:p>
          <a:p>
            <a:r>
              <a:rPr lang="en-US" dirty="0"/>
              <a:t>*</a:t>
            </a:r>
            <a:r>
              <a:rPr dirty="0"/>
              <a:t>Read the first column as the resource, the second as its scale and unit, and the third as its role/caution. </a:t>
            </a:r>
            <a:endParaRPr lang="en-US" dirty="0"/>
          </a:p>
          <a:p>
            <a:r>
              <a:rPr dirty="0"/>
              <a:t>the raw counts </a:t>
            </a:r>
            <a:r>
              <a:rPr lang="en-US" dirty="0"/>
              <a:t>don’t </a:t>
            </a:r>
            <a:r>
              <a:rPr dirty="0"/>
              <a:t>measure the same thing: </a:t>
            </a:r>
            <a:r>
              <a:rPr dirty="0" err="1"/>
              <a:t>VLGuard</a:t>
            </a:r>
            <a:r>
              <a:rPr dirty="0"/>
              <a:t> counts images and instruction-response examples, SPA-VL counts preference records, and </a:t>
            </a:r>
            <a:r>
              <a:rPr dirty="0" err="1"/>
              <a:t>VLSBench</a:t>
            </a:r>
            <a:r>
              <a:rPr dirty="0"/>
              <a:t>/</a:t>
            </a:r>
            <a:r>
              <a:rPr dirty="0" err="1"/>
              <a:t>HoliSafe</a:t>
            </a:r>
            <a:r>
              <a:rPr dirty="0"/>
              <a:t>/USB count benchmark examples under their own definitions.</a:t>
            </a:r>
          </a:p>
          <a:p>
            <a:endParaRPr dirty="0"/>
          </a:p>
          <a:p>
            <a:r>
              <a:rPr dirty="0" err="1"/>
              <a:t>VLGuard</a:t>
            </a:r>
            <a:r>
              <a:rPr dirty="0"/>
              <a:t> is the supervised safety-tuning precedent. SPA-VL is preference data; DPO is the optimization method, not the dataset. </a:t>
            </a:r>
            <a:r>
              <a:rPr dirty="0" err="1"/>
              <a:t>HoliSafe</a:t>
            </a:r>
            <a:r>
              <a:rPr dirty="0"/>
              <a:t> offers training examples and a five-state evaluation framing. </a:t>
            </a:r>
            <a:r>
              <a:rPr dirty="0" err="1"/>
              <a:t>VLSBench</a:t>
            </a:r>
            <a:r>
              <a:rPr dirty="0"/>
              <a:t> is especially useful for leak-resistant image-safety evaluation. USB contributes broad risk and modality strata. </a:t>
            </a:r>
            <a:endParaRPr lang="en-US" dirty="0"/>
          </a:p>
          <a:p>
            <a:endParaRPr lang="en-US" dirty="0"/>
          </a:p>
          <a:p>
            <a:r>
              <a:rPr dirty="0" err="1"/>
              <a:t>SafeBench</a:t>
            </a:r>
            <a:r>
              <a:rPr dirty="0"/>
              <a:t>/</a:t>
            </a:r>
            <a:r>
              <a:rPr dirty="0" err="1"/>
              <a:t>FigStep</a:t>
            </a:r>
            <a:r>
              <a:rPr dirty="0"/>
              <a:t>, SIUO, and </a:t>
            </a:r>
            <a:r>
              <a:rPr dirty="0" err="1"/>
              <a:t>JailBreakV</a:t>
            </a:r>
            <a:r>
              <a:rPr dirty="0"/>
              <a:t> add other attack or compositional test cases; they are not interchangeable with these five resources.</a:t>
            </a:r>
          </a:p>
          <a:p>
            <a:endParaRPr dirty="0"/>
          </a:p>
          <a:p>
            <a:r>
              <a:rPr dirty="0"/>
              <a:t>The proposal’s rule is to track source, license, intended role, safe counterpart, and overlap. Split by source intent before paraphrasing, rendering text into images, synthesizing images, or applying attack transformations. Keep evaluation intents locked away from training and development.</a:t>
            </a:r>
          </a:p>
          <a:p>
            <a:endParaRPr dirty="0"/>
          </a:p>
          <a:p>
            <a:r>
              <a:rPr dirty="0"/>
              <a:t>QUESTIONS YOU MAY GET</a:t>
            </a:r>
          </a:p>
          <a:p>
            <a:r>
              <a:rPr dirty="0"/>
              <a:t>Q: Why not train on every dataset and evaluate on every dataset?</a:t>
            </a:r>
          </a:p>
          <a:p>
            <a:r>
              <a:rPr dirty="0"/>
              <a:t>A: That risks overlap and mixes datasets with different labels and purposes. We assign each resource a role, audit overlap, and reserve locked test intents.</a:t>
            </a:r>
          </a:p>
          <a:p>
            <a:r>
              <a:rPr dirty="0"/>
              <a:t>Q: Does the largest count mean the best resource?</a:t>
            </a:r>
          </a:p>
          <a:p>
            <a:r>
              <a:rPr dirty="0"/>
              <a:t>A: No. The counts refer to different units and the datasets answer different questions.</a:t>
            </a:r>
          </a:p>
          <a:p>
            <a:r>
              <a:rPr dirty="0"/>
              <a:t>Q: Is SPA-VL the same thing as DPO?</a:t>
            </a:r>
          </a:p>
          <a:p>
            <a:r>
              <a:rPr dirty="0"/>
              <a:t>A: No. SPA-VL supplies chosen/rejected preference records; DPO is one training objective that can use such records.</a:t>
            </a:r>
          </a:p>
          <a:p>
            <a:endParaRPr dirty="0"/>
          </a:p>
          <a:p>
            <a:r>
              <a:rPr dirty="0"/>
              <a:t>TRANSITION</a:t>
            </a:r>
          </a:p>
          <a:p>
            <a:r>
              <a:rPr dirty="0"/>
              <a:t>We have mapped the evidence and resources. Before proposing an experiment, we show why the headline numbers from these papers cannot be ranked as one leaderboard.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FLOW: EVIDENCE IS NOT A LEADERBOARD</a:t>
            </a:r>
          </a:p>
          <a:p>
            <a:r>
              <a:rPr lang="en-US" dirty="0"/>
              <a:t>*</a:t>
            </a:r>
            <a:r>
              <a:rPr dirty="0"/>
              <a:t>Use this slide to demonstrate how to read results without flattening them into a single ranking. Read the paper, model, dataset, judge, and metric together. The units and directions differ.</a:t>
            </a:r>
          </a:p>
          <a:p>
            <a:endParaRPr dirty="0"/>
          </a:p>
          <a:p>
            <a:r>
              <a:rPr dirty="0" err="1"/>
              <a:t>FigStep’s</a:t>
            </a:r>
            <a:r>
              <a:rPr dirty="0"/>
              <a:t> 82.50% versus 44.80% is mean ASR across six evaluated open VLMs; higher ASR means more successful attacks and is worse for safety. </a:t>
            </a:r>
            <a:endParaRPr lang="en-US" dirty="0"/>
          </a:p>
          <a:p>
            <a:r>
              <a:rPr dirty="0" err="1"/>
              <a:t>VLSBench’s</a:t>
            </a:r>
            <a:r>
              <a:rPr dirty="0"/>
              <a:t> 6.6% base, 21.26% MM-SFT, and 27.01% MM-DPO are safety rates under its refusal-plus-warning rubric; higher is safer under that rubric. </a:t>
            </a:r>
            <a:endParaRPr lang="en-US" dirty="0"/>
          </a:p>
          <a:p>
            <a:r>
              <a:rPr dirty="0"/>
              <a:t>ADPO’s 64.5%, 12.0%, and 5.0% are one LLaVA-1.5-7B attack column, </a:t>
            </a:r>
            <a:r>
              <a:rPr dirty="0" err="1"/>
              <a:t>VisualAdv</a:t>
            </a:r>
            <a:r>
              <a:rPr dirty="0"/>
              <a:t>, across base, DPO, and ADPO; they are not the overall method score. </a:t>
            </a:r>
            <a:endParaRPr lang="en-US" dirty="0"/>
          </a:p>
          <a:p>
            <a:r>
              <a:rPr dirty="0" err="1"/>
              <a:t>HoliSafe’s</a:t>
            </a:r>
            <a:r>
              <a:rPr dirty="0"/>
              <a:t> </a:t>
            </a:r>
            <a:r>
              <a:rPr dirty="0" err="1"/>
              <a:t>SafeLLaVA</a:t>
            </a:r>
            <a:r>
              <a:rPr dirty="0"/>
              <a:t> </a:t>
            </a:r>
            <a:r>
              <a:rPr dirty="0" err="1"/>
              <a:t>mASR</a:t>
            </a:r>
            <a:r>
              <a:rPr dirty="0"/>
              <a:t> changes with judge: 8.8% under Claude-3.5, 15.3% under GPT-4o, and 15.8% under Gemini; its 1.3% benign RR is a different metric and condition.</a:t>
            </a:r>
          </a:p>
          <a:p>
            <a:endParaRPr dirty="0"/>
          </a:p>
          <a:p>
            <a:r>
              <a:rPr dirty="0"/>
              <a:t>Say the limitation plainly: different checkpoints, test sets, judges, attack budgets, and definitions make cross-paper numerical ranking invalid. The snapshot motivates our controls; it does not predict our outcome.</a:t>
            </a:r>
          </a:p>
          <a:p>
            <a:endParaRPr dirty="0"/>
          </a:p>
          <a:p>
            <a:r>
              <a:rPr dirty="0"/>
              <a:t>QUESTIONS YOU MAY GET</a:t>
            </a:r>
          </a:p>
          <a:p>
            <a:r>
              <a:rPr dirty="0"/>
              <a:t>Q: Which method is best based on this slide?</a:t>
            </a:r>
          </a:p>
          <a:p>
            <a:r>
              <a:rPr dirty="0"/>
              <a:t>A: We cannot answer that by ranking across papers. We can compare only within a shared checkpoint, test protocol, judge, and metric.</a:t>
            </a:r>
          </a:p>
          <a:p>
            <a:r>
              <a:rPr dirty="0"/>
              <a:t>Q: Why does </a:t>
            </a:r>
            <a:r>
              <a:rPr dirty="0" err="1"/>
              <a:t>HoliSafe</a:t>
            </a:r>
            <a:r>
              <a:rPr dirty="0"/>
              <a:t> </a:t>
            </a:r>
            <a:r>
              <a:rPr dirty="0" err="1"/>
              <a:t>mASR</a:t>
            </a:r>
            <a:r>
              <a:rPr dirty="0"/>
              <a:t> vary by judge?</a:t>
            </a:r>
          </a:p>
          <a:p>
            <a:r>
              <a:rPr dirty="0"/>
              <a:t>A: The evaluators apply different models/rubrics to responses; report the judge and version with the number.</a:t>
            </a:r>
          </a:p>
          <a:p>
            <a:r>
              <a:rPr dirty="0"/>
              <a:t>Q: Does lower ASR always mean a better system?</a:t>
            </a:r>
          </a:p>
          <a:p>
            <a:r>
              <a:rPr dirty="0"/>
              <a:t>A: Not by itself. We also measure benign false refusal, answer quality, capability, grounding, and cost.</a:t>
            </a:r>
          </a:p>
          <a:p>
            <a:endParaRPr dirty="0"/>
          </a:p>
          <a:p>
            <a:r>
              <a:rPr dirty="0"/>
              <a:t>TRANSITION</a:t>
            </a:r>
          </a:p>
          <a:p>
            <a:r>
              <a:rPr dirty="0"/>
              <a:t>Since the evidence is not one leaderboard, the next question is what kinds of interventions these papers actually make.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FLOW: FROM EVIDENCE TO METHOD FAMILIES</a:t>
            </a:r>
          </a:p>
          <a:p>
            <a:r>
              <a:rPr lang="en-US" dirty="0"/>
              <a:t>*</a:t>
            </a:r>
            <a:r>
              <a:rPr dirty="0"/>
              <a:t>Explain the table row by row, </a:t>
            </a:r>
            <a:endParaRPr lang="en-US" dirty="0"/>
          </a:p>
          <a:p>
            <a:r>
              <a:rPr dirty="0"/>
              <a:t>emphasizing that these methods intervene at different points. </a:t>
            </a:r>
            <a:r>
              <a:rPr dirty="0" err="1"/>
              <a:t>VLGuard</a:t>
            </a:r>
            <a:r>
              <a:rPr dirty="0"/>
              <a:t> is supervised fine-tuning (SFT): train on input-to-target safe responses. </a:t>
            </a:r>
            <a:endParaRPr lang="en-US" dirty="0"/>
          </a:p>
          <a:p>
            <a:r>
              <a:rPr dirty="0"/>
              <a:t>SPA-VL supplies preference pairs; </a:t>
            </a:r>
            <a:endParaRPr lang="en-US" dirty="0"/>
          </a:p>
          <a:p>
            <a:r>
              <a:rPr dirty="0"/>
              <a:t>standard DPO (Direct Preference Optimization) optimizes chosen versus rejected responses relative to a reference policy. </a:t>
            </a:r>
            <a:endParaRPr lang="en-US" dirty="0"/>
          </a:p>
          <a:p>
            <a:endParaRPr lang="en-US" dirty="0"/>
          </a:p>
          <a:p>
            <a:r>
              <a:rPr dirty="0"/>
              <a:t>ADPO adds an adversary-aware design to preference alignment. </a:t>
            </a:r>
            <a:r>
              <a:rPr dirty="0" err="1"/>
              <a:t>HoliSafe’s</a:t>
            </a:r>
            <a:r>
              <a:rPr dirty="0"/>
              <a:t> VGM is an auxiliary visual safety classification component trained alongside generation. </a:t>
            </a:r>
            <a:endParaRPr lang="en-US" dirty="0"/>
          </a:p>
          <a:p>
            <a:r>
              <a:rPr dirty="0"/>
              <a:t>DAVSP optimizes a visual safety prompt/alignment component while keeping the base LVLM frozen. </a:t>
            </a:r>
            <a:endParaRPr lang="en-US" dirty="0"/>
          </a:p>
          <a:p>
            <a:r>
              <a:rPr dirty="0"/>
              <a:t>Pragma-VL uses context-aware reward arbitration and GRPO, Group Relative Policy Optimization, to balance safety and helpfulness based on context.</a:t>
            </a:r>
          </a:p>
          <a:p>
            <a:endParaRPr dirty="0"/>
          </a:p>
          <a:p>
            <a:r>
              <a:rPr dirty="0"/>
              <a:t>Do not present these as a single stack. </a:t>
            </a:r>
            <a:endParaRPr lang="en-US" dirty="0"/>
          </a:p>
          <a:p>
            <a:r>
              <a:rPr dirty="0"/>
              <a:t>They are distinct data resources, weight updates, architectural components, or prompt/reward interventions. </a:t>
            </a:r>
            <a:endParaRPr lang="en-US" dirty="0"/>
          </a:p>
          <a:p>
            <a:endParaRPr lang="en-US" dirty="0"/>
          </a:p>
          <a:p>
            <a:r>
              <a:rPr lang="en-US" dirty="0"/>
              <a:t>What I aim to do in the</a:t>
            </a:r>
            <a:r>
              <a:rPr dirty="0"/>
              <a:t> study </a:t>
            </a:r>
            <a:r>
              <a:rPr lang="en-US" dirty="0"/>
              <a:t>is </a:t>
            </a:r>
            <a:r>
              <a:rPr dirty="0"/>
              <a:t>compare feasible arms separately under a common base checkpoint and reports safety, benign answerability, grounding, capability, and cost.</a:t>
            </a:r>
          </a:p>
          <a:p>
            <a:endParaRPr dirty="0"/>
          </a:p>
          <a:p>
            <a:r>
              <a:rPr dirty="0"/>
              <a:t>QUESTIONS YOU MAY GET</a:t>
            </a:r>
          </a:p>
          <a:p>
            <a:r>
              <a:rPr dirty="0"/>
              <a:t>Q: What is the practical difference between SFT and DPO?</a:t>
            </a:r>
          </a:p>
          <a:p>
            <a:r>
              <a:rPr dirty="0"/>
              <a:t>A: SFT imitates target responses; DPO learns from preferred/rejected response pairs. They need different training data and are not the same baseline.</a:t>
            </a:r>
          </a:p>
          <a:p>
            <a:r>
              <a:rPr dirty="0"/>
              <a:t>Q: Are we combining VGM, DAVSP, ADPO, and Pragma-VL?</a:t>
            </a:r>
          </a:p>
          <a:p>
            <a:r>
              <a:rPr dirty="0"/>
              <a:t>A: No. The proposal selects separate arms and at most one additional comparator after checking reproducibility and compute.</a:t>
            </a:r>
          </a:p>
          <a:p>
            <a:r>
              <a:rPr dirty="0"/>
              <a:t>Q: What does GRPO mean here?</a:t>
            </a:r>
          </a:p>
          <a:p>
            <a:r>
              <a:rPr dirty="0"/>
              <a:t>A: Group Relative Policy Optimization. In this context it updates a policy using relative reward comparisons within groups; the paper’s exact reward design remains method-specific.</a:t>
            </a:r>
          </a:p>
          <a:p>
            <a:endParaRPr dirty="0"/>
          </a:p>
          <a:p>
            <a:r>
              <a:rPr dirty="0"/>
              <a:t>TRANSITION</a:t>
            </a:r>
          </a:p>
          <a:p>
            <a:r>
              <a:rPr dirty="0"/>
              <a:t>With the method families distinct, we can now define exactly which procedures are attacks, which resources are test sets, and which operations are controls.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FLOW: </a:t>
            </a:r>
            <a:r>
              <a:rPr u="sng" dirty="0"/>
              <a:t>CLASSIFY</a:t>
            </a:r>
            <a:r>
              <a:rPr dirty="0"/>
              <a:t> BEFORE COMPARING</a:t>
            </a:r>
          </a:p>
          <a:p>
            <a:r>
              <a:rPr lang="en-US" dirty="0"/>
              <a:t>*</a:t>
            </a:r>
            <a:r>
              <a:rPr dirty="0"/>
              <a:t>Start with the three table roles. </a:t>
            </a:r>
            <a:endParaRPr lang="en-US" dirty="0"/>
          </a:p>
          <a:p>
            <a:r>
              <a:rPr dirty="0" err="1"/>
              <a:t>FigStep</a:t>
            </a:r>
            <a:r>
              <a:rPr dirty="0"/>
              <a:t> and HADES are fixed attack procedures; </a:t>
            </a:r>
            <a:endParaRPr lang="en-US" dirty="0"/>
          </a:p>
          <a:p>
            <a:r>
              <a:rPr dirty="0" err="1"/>
              <a:t>PolyJailbreak</a:t>
            </a:r>
            <a:r>
              <a:rPr dirty="0"/>
              <a:t> is an adaptive black-box procedure.</a:t>
            </a:r>
            <a:endParaRPr lang="en-US" dirty="0"/>
          </a:p>
          <a:p>
            <a:r>
              <a:rPr dirty="0" err="1"/>
              <a:t>JailBreakV</a:t>
            </a:r>
            <a:r>
              <a:rPr dirty="0"/>
              <a:t> packages many attack cases. </a:t>
            </a:r>
            <a:endParaRPr lang="en-US" dirty="0"/>
          </a:p>
          <a:p>
            <a:r>
              <a:rPr dirty="0"/>
              <a:t>SIUO, </a:t>
            </a:r>
            <a:r>
              <a:rPr dirty="0" err="1"/>
              <a:t>VLSBench</a:t>
            </a:r>
            <a:r>
              <a:rPr dirty="0"/>
              <a:t>, and USB provide test structures or benchmark cases. </a:t>
            </a:r>
            <a:endParaRPr lang="en-US" dirty="0"/>
          </a:p>
          <a:p>
            <a:r>
              <a:rPr dirty="0"/>
              <a:t>Safe neighbors and image ablations are controls, not attacks.</a:t>
            </a:r>
          </a:p>
          <a:p>
            <a:endParaRPr dirty="0"/>
          </a:p>
          <a:p>
            <a:r>
              <a:rPr dirty="0"/>
              <a:t>The HADES access distinction matters: </a:t>
            </a:r>
            <a:endParaRPr lang="en-US" dirty="0"/>
          </a:p>
          <a:p>
            <a:r>
              <a:rPr dirty="0"/>
              <a:t>typography, black-box optimized images (+</a:t>
            </a:r>
            <a:r>
              <a:rPr dirty="0" err="1"/>
              <a:t>Opt</a:t>
            </a:r>
            <a:r>
              <a:rPr dirty="0"/>
              <a:t>), </a:t>
            </a:r>
            <a:endParaRPr lang="en-US" dirty="0"/>
          </a:p>
          <a:p>
            <a:r>
              <a:rPr dirty="0"/>
              <a:t>and gradient-based adversarial images (+Adv) answer different threat models. Keep white-box +Adv out of the black-box result table. </a:t>
            </a:r>
            <a:endParaRPr lang="en-US" dirty="0"/>
          </a:p>
          <a:p>
            <a:endParaRPr lang="en-US" dirty="0"/>
          </a:p>
          <a:p>
            <a:r>
              <a:rPr dirty="0"/>
              <a:t>SIUO probes safe-looking inputs whose joint interpretation can be unsafe; </a:t>
            </a:r>
            <a:r>
              <a:rPr lang="en-US" dirty="0"/>
              <a:t>[</a:t>
            </a:r>
            <a:r>
              <a:rPr lang="en-US" dirty="0" err="1"/>
              <a:t>S_t</a:t>
            </a:r>
            <a:r>
              <a:rPr lang="en-US" dirty="0"/>
              <a:t> + </a:t>
            </a:r>
            <a:r>
              <a:rPr lang="en-US" dirty="0" err="1"/>
              <a:t>S_i</a:t>
            </a:r>
            <a:r>
              <a:rPr lang="en-US" dirty="0"/>
              <a:t> -&gt; U] safe text and safe image return unsafe result</a:t>
            </a:r>
          </a:p>
          <a:p>
            <a:r>
              <a:rPr dirty="0" err="1"/>
              <a:t>VLSBench</a:t>
            </a:r>
            <a:r>
              <a:rPr dirty="0"/>
              <a:t> helps test whether the image matters; </a:t>
            </a:r>
            <a:endParaRPr lang="en-US" dirty="0"/>
          </a:p>
          <a:p>
            <a:r>
              <a:rPr dirty="0"/>
              <a:t>USB expands risk/modality coverage. </a:t>
            </a:r>
            <a:endParaRPr lang="en-US" dirty="0"/>
          </a:p>
          <a:p>
            <a:endParaRPr lang="en-US" dirty="0"/>
          </a:p>
          <a:p>
            <a:r>
              <a:rPr dirty="0"/>
              <a:t>None of these benchmarks is itself a model defense.</a:t>
            </a:r>
          </a:p>
          <a:p>
            <a:endParaRPr dirty="0"/>
          </a:p>
          <a:p>
            <a:r>
              <a:rPr dirty="0"/>
              <a:t>QUESTIONS YOU MAY GET</a:t>
            </a:r>
          </a:p>
          <a:p>
            <a:r>
              <a:rPr dirty="0"/>
              <a:t>Q: What makes something an attack rather than a benchmark?</a:t>
            </a:r>
          </a:p>
          <a:p>
            <a:r>
              <a:rPr dirty="0"/>
              <a:t>A: An attack is a procedure for constructing inputs. A benchmark is a set of cases and/or a scoring protocol used to evaluate behavior.</a:t>
            </a:r>
          </a:p>
          <a:p>
            <a:r>
              <a:rPr dirty="0"/>
              <a:t>Q: Why are image-removed and decoy-image runs included?</a:t>
            </a:r>
          </a:p>
          <a:p>
            <a:r>
              <a:rPr dirty="0"/>
              <a:t>A: They are attribution controls: they test whether the output changes when the visual evidence changes. They are not attacks and do not, alone, prove causality.</a:t>
            </a:r>
          </a:p>
          <a:p>
            <a:r>
              <a:rPr lang="en-US" dirty="0"/>
              <a:t>=&gt; </a:t>
            </a:r>
            <a:r>
              <a:rPr dirty="0"/>
              <a:t>Q: Why separate HADES +</a:t>
            </a:r>
            <a:r>
              <a:rPr dirty="0" err="1"/>
              <a:t>Opt</a:t>
            </a:r>
            <a:r>
              <a:rPr dirty="0"/>
              <a:t> from +Adv?</a:t>
            </a:r>
          </a:p>
          <a:p>
            <a:r>
              <a:rPr dirty="0"/>
              <a:t>A: Their attacker access differs. Pooling black-box and white-box results would misstate the threat model.</a:t>
            </a:r>
          </a:p>
          <a:p>
            <a:endParaRPr dirty="0"/>
          </a:p>
          <a:p>
            <a:r>
              <a:rPr dirty="0"/>
              <a:t>TRANSITION</a:t>
            </a:r>
          </a:p>
          <a:p>
            <a:r>
              <a:rPr dirty="0"/>
              <a:t>We now turn that taxonomy into a reproducible fixed-attack procedure, with matched controls and a locked test set.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PROPOSED PROCEDURE, NOT A PAPER RESULT</a:t>
            </a:r>
          </a:p>
          <a:p>
            <a:r>
              <a:rPr dirty="0"/>
              <a:t>This table operationalizes the fixed tier. </a:t>
            </a:r>
            <a:endParaRPr lang="en-US" dirty="0"/>
          </a:p>
          <a:p>
            <a:endParaRPr lang="en-US" dirty="0"/>
          </a:p>
          <a:p>
            <a:r>
              <a:rPr dirty="0"/>
              <a:t>First assign each source intent an ID, risk label, safe counterpart, provenance, and license. </a:t>
            </a:r>
            <a:endParaRPr lang="en-US" dirty="0"/>
          </a:p>
          <a:p>
            <a:r>
              <a:rPr dirty="0"/>
              <a:t>Split by intent before creating paraphrases, typography, synthetic images, or transformed variants. </a:t>
            </a:r>
            <a:endParaRPr lang="en-US" dirty="0"/>
          </a:p>
          <a:p>
            <a:r>
              <a:rPr dirty="0"/>
              <a:t>Reserve held-out render templates and a locked test manifest.</a:t>
            </a:r>
            <a:endParaRPr lang="en-US" dirty="0"/>
          </a:p>
          <a:p>
            <a:r>
              <a:rPr lang="en-US" dirty="0"/>
              <a:t>=&gt; Q: Why split before making image variants?</a:t>
            </a:r>
          </a:p>
          <a:p>
            <a:r>
              <a:rPr lang="en-US" dirty="0"/>
              <a:t>A: Otherwise near-identical intents or renderings could leak across train and test and inflate generalization.</a:t>
            </a:r>
          </a:p>
          <a:p>
            <a:endParaRPr lang="en-US" dirty="0"/>
          </a:p>
          <a:p>
            <a:r>
              <a:rPr dirty="0"/>
              <a:t>Then construct matched A0/A1/A2 conditions: </a:t>
            </a:r>
            <a:endParaRPr lang="en-US" dirty="0"/>
          </a:p>
          <a:p>
            <a:r>
              <a:rPr dirty="0"/>
              <a:t>A0 is the harmful intent in plain text; </a:t>
            </a:r>
            <a:endParaRPr lang="en-US" dirty="0"/>
          </a:p>
          <a:p>
            <a:r>
              <a:rPr dirty="0"/>
              <a:t>A1 is the fixed </a:t>
            </a:r>
            <a:r>
              <a:rPr dirty="0" err="1"/>
              <a:t>FigStep</a:t>
            </a:r>
            <a:r>
              <a:rPr dirty="0"/>
              <a:t>-style typography image paired with its defined accompanying text; </a:t>
            </a:r>
            <a:endParaRPr lang="en-US" dirty="0"/>
          </a:p>
          <a:p>
            <a:r>
              <a:rPr dirty="0"/>
              <a:t>A2 is HADES +</a:t>
            </a:r>
            <a:r>
              <a:rPr dirty="0" err="1"/>
              <a:t>Opt</a:t>
            </a:r>
            <a:r>
              <a:rPr dirty="0"/>
              <a:t> only if the original artifact and procedure can be reproduced and licensed. </a:t>
            </a:r>
            <a:endParaRPr lang="en-US" dirty="0"/>
          </a:p>
          <a:p>
            <a:r>
              <a:rPr dirty="0"/>
              <a:t>Never adapt these fixed attacks based on the target’s response. HADES +Adv is a separate optional white-box experiment.</a:t>
            </a:r>
          </a:p>
          <a:p>
            <a:endParaRPr dirty="0"/>
          </a:p>
          <a:p>
            <a:r>
              <a:rPr dirty="0"/>
              <a:t>For attribution, compare only the named input change: </a:t>
            </a:r>
            <a:endParaRPr lang="en-US" dirty="0"/>
          </a:p>
          <a:p>
            <a:r>
              <a:rPr dirty="0"/>
              <a:t>text-only, image-only when meaningful, original image, image removed, masked, or a valid decoy. </a:t>
            </a:r>
            <a:endParaRPr lang="en-US" dirty="0"/>
          </a:p>
          <a:p>
            <a:r>
              <a:rPr dirty="0"/>
              <a:t>Freeze checkpoint, processor, system prompt, decoding settings, token cap, and software version. </a:t>
            </a:r>
            <a:endParaRPr lang="en-US" dirty="0"/>
          </a:p>
          <a:p>
            <a:r>
              <a:rPr dirty="0"/>
              <a:t>The 256-token ceiling is our proposed design choice, not a source-paper setting. Record each query and retain the per-intent results.</a:t>
            </a:r>
          </a:p>
          <a:p>
            <a:endParaRPr dirty="0"/>
          </a:p>
          <a:p>
            <a:r>
              <a:rPr dirty="0"/>
              <a:t>Define success before testing: semantic harmful compliance that materially enables the prohibited intent, not mere keyword overlap. Use the same rubric and judge across arms, with human review of ambiguous cases. Report each attack family separately.</a:t>
            </a:r>
          </a:p>
          <a:p>
            <a:endParaRPr dirty="0"/>
          </a:p>
          <a:p>
            <a:r>
              <a:rPr dirty="0"/>
              <a:t>QUESTIONS YOU MAY GET</a:t>
            </a:r>
          </a:p>
          <a:p>
            <a:r>
              <a:rPr lang="en-US" dirty="0"/>
              <a:t>=&gt; </a:t>
            </a:r>
            <a:r>
              <a:rPr dirty="0"/>
              <a:t>Q: Why split before making image variants?</a:t>
            </a:r>
          </a:p>
          <a:p>
            <a:r>
              <a:rPr dirty="0"/>
              <a:t>A: Otherwise near-identical intents or renderings could leak across train and test and inflate generalization.</a:t>
            </a:r>
          </a:p>
          <a:p>
            <a:r>
              <a:rPr lang="en-US" dirty="0"/>
              <a:t>=&gt; </a:t>
            </a:r>
            <a:r>
              <a:rPr dirty="0"/>
              <a:t>Q: Why not let the fixed attack change after a refusal?</a:t>
            </a:r>
          </a:p>
          <a:p>
            <a:r>
              <a:rPr dirty="0"/>
              <a:t>A: That would turn it into an adaptive attack; the fixed tier measures a predetermined transformation.</a:t>
            </a:r>
          </a:p>
          <a:p>
            <a:r>
              <a:rPr dirty="0"/>
              <a:t>Q: Is the 256-token cap from </a:t>
            </a:r>
            <a:r>
              <a:rPr dirty="0" err="1"/>
              <a:t>FigStep</a:t>
            </a:r>
            <a:r>
              <a:rPr dirty="0"/>
              <a:t> or HADES?</a:t>
            </a:r>
          </a:p>
          <a:p>
            <a:r>
              <a:rPr dirty="0"/>
              <a:t>A: No. It is a proposed common operational limit for our experiment and must be frozen before the locked test.</a:t>
            </a:r>
          </a:p>
          <a:p>
            <a:endParaRPr dirty="0"/>
          </a:p>
          <a:p>
            <a:r>
              <a:rPr dirty="0"/>
              <a:t>TRANSITION</a:t>
            </a:r>
          </a:p>
          <a:p>
            <a:r>
              <a:rPr dirty="0"/>
              <a:t>A fixed suite measures known transformations. The next slide adds an adaptive attacker under an explicitly accounted query budget.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PROPOSED ADAPTIVE PROTOCOL</a:t>
            </a:r>
          </a:p>
          <a:p>
            <a:r>
              <a:rPr dirty="0" err="1"/>
              <a:t>PolyJailbreak</a:t>
            </a:r>
            <a:r>
              <a:rPr dirty="0"/>
              <a:t> is the adaptive attacker: its black-box strategy policy revises text/image tactics using target and judge feedback. </a:t>
            </a:r>
            <a:endParaRPr lang="en-US" dirty="0"/>
          </a:p>
          <a:p>
            <a:endParaRPr lang="en-US" dirty="0"/>
          </a:p>
          <a:p>
            <a:r>
              <a:rPr dirty="0"/>
              <a:t>ADPO is not an attack; it is a candidate adversarial-preference alignment condition that we may evaluate as a defended model. Keep those roles separate.</a:t>
            </a:r>
          </a:p>
          <a:p>
            <a:endParaRPr dirty="0"/>
          </a:p>
          <a:p>
            <a:r>
              <a:rPr dirty="0"/>
              <a:t>Our proposed budget is up to 20 target calls per intent and target: </a:t>
            </a:r>
            <a:endParaRPr lang="en-US" dirty="0"/>
          </a:p>
          <a:p>
            <a:r>
              <a:rPr dirty="0"/>
              <a:t>five discovery calls plus at most fifteen optimization calls. </a:t>
            </a:r>
            <a:endParaRPr lang="en-US" dirty="0"/>
          </a:p>
          <a:p>
            <a:endParaRPr lang="en-US" dirty="0"/>
          </a:p>
          <a:p>
            <a:r>
              <a:rPr dirty="0"/>
              <a:t>This is our protocol, not </a:t>
            </a:r>
            <a:r>
              <a:rPr dirty="0" err="1"/>
              <a:t>PolyJailbreak’s</a:t>
            </a:r>
            <a:r>
              <a:rPr dirty="0"/>
              <a:t> native budget. </a:t>
            </a:r>
            <a:endParaRPr lang="en-US" dirty="0"/>
          </a:p>
          <a:p>
            <a:r>
              <a:rPr dirty="0"/>
              <a:t>Its paper reports </a:t>
            </a:r>
            <a:r>
              <a:rPr dirty="0" err="1"/>
              <a:t>T_max</a:t>
            </a:r>
            <a:r>
              <a:rPr dirty="0"/>
              <a:t>=15 optimization steps; </a:t>
            </a:r>
            <a:endParaRPr lang="en-US" dirty="0"/>
          </a:p>
          <a:p>
            <a:r>
              <a:rPr dirty="0"/>
              <a:t>its discovery and auxiliary-agent/judge/image-generation calls are separate costs. </a:t>
            </a:r>
            <a:endParaRPr lang="en-US" dirty="0"/>
          </a:p>
          <a:p>
            <a:r>
              <a:rPr dirty="0"/>
              <a:t>Report the cumulative success curve versus target calls and also total auxiliary calls, tokens, time, and cost. </a:t>
            </a:r>
            <a:endParaRPr lang="en-US" dirty="0"/>
          </a:p>
          <a:p>
            <a:endParaRPr lang="en-US" dirty="0"/>
          </a:p>
          <a:p>
            <a:r>
              <a:rPr lang="en-US" dirty="0"/>
              <a:t>*</a:t>
            </a:r>
            <a:r>
              <a:rPr dirty="0"/>
              <a:t>Do not claim equal compute merely because the target-call cap matches.</a:t>
            </a:r>
          </a:p>
          <a:p>
            <a:endParaRPr dirty="0"/>
          </a:p>
          <a:p>
            <a:r>
              <a:rPr dirty="0"/>
              <a:t>Use a frozen target and judge, </a:t>
            </a:r>
            <a:endParaRPr lang="en-US" dirty="0"/>
          </a:p>
          <a:p>
            <a:r>
              <a:rPr dirty="0"/>
              <a:t>blind the judge to the model arm, </a:t>
            </a:r>
            <a:endParaRPr lang="en-US" dirty="0"/>
          </a:p>
          <a:p>
            <a:r>
              <a:rPr dirty="0"/>
              <a:t>and predefine a semantic success rubric. </a:t>
            </a:r>
            <a:endParaRPr lang="en-US" dirty="0"/>
          </a:p>
          <a:p>
            <a:endParaRPr lang="en-US" dirty="0"/>
          </a:p>
          <a:p>
            <a:r>
              <a:rPr dirty="0"/>
              <a:t>Stop the primary endpoint after first adjudicated success, but retain the trace and stop reason. Human-adjudicate a stratified sample of ambiguous/disagreement cases. Keep white-box attacks separate.</a:t>
            </a:r>
          </a:p>
          <a:p>
            <a:endParaRPr dirty="0"/>
          </a:p>
          <a:p>
            <a:r>
              <a:rPr dirty="0"/>
              <a:t>QUESTIONS YOU MAY GET</a:t>
            </a:r>
          </a:p>
          <a:p>
            <a:r>
              <a:rPr dirty="0"/>
              <a:t>Q: Why 20 calls if </a:t>
            </a:r>
            <a:r>
              <a:rPr dirty="0" err="1"/>
              <a:t>PolyJailbreak</a:t>
            </a:r>
            <a:r>
              <a:rPr dirty="0"/>
              <a:t> uses 15 steps?</a:t>
            </a:r>
          </a:p>
          <a:p>
            <a:r>
              <a:rPr dirty="0"/>
              <a:t>A: We allocate five discovery calls plus fifteen optimization calls. The extra five are our proposed allowance; we separately report the paper’s native setting.</a:t>
            </a:r>
          </a:p>
          <a:p>
            <a:r>
              <a:rPr dirty="0"/>
              <a:t>Q: Does the target model learn during the attack?</a:t>
            </a:r>
          </a:p>
          <a:p>
            <a:r>
              <a:rPr dirty="0"/>
              <a:t>A: No. The attacker policy is updated; the target is queried as a black box and remains frozen.</a:t>
            </a:r>
          </a:p>
          <a:p>
            <a:r>
              <a:rPr dirty="0"/>
              <a:t>Q: Does equal target-call count mean equal attack cost?</a:t>
            </a:r>
          </a:p>
          <a:p>
            <a:r>
              <a:rPr dirty="0"/>
              <a:t>A: No. Auxiliary agents, judges, image generation, tokens, latency, and cost must also be logged.</a:t>
            </a:r>
          </a:p>
          <a:p>
            <a:r>
              <a:rPr lang="en-US" dirty="0"/>
              <a:t>=&gt; </a:t>
            </a:r>
            <a:r>
              <a:rPr dirty="0"/>
              <a:t>Q: Why stop at first success?</a:t>
            </a:r>
          </a:p>
          <a:p>
            <a:r>
              <a:rPr dirty="0"/>
              <a:t>A: It defines a clear primary success endpoint. We preserve the trace and can also report success-versus-query curves.</a:t>
            </a:r>
          </a:p>
          <a:p>
            <a:endParaRPr dirty="0"/>
          </a:p>
          <a:p>
            <a:r>
              <a:rPr dirty="0"/>
              <a:t>TRANSITION</a:t>
            </a:r>
          </a:p>
          <a:p>
            <a:r>
              <a:rPr dirty="0"/>
              <a:t>We have now specified the test procedures. The next diagram places data, splits, model arms, evaluation, and reporting into one proposed end-to-end study.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END-TO-END DESIGN</a:t>
            </a:r>
          </a:p>
          <a:p>
            <a:r>
              <a:rPr dirty="0"/>
              <a:t>This is the central synthesis, not a pipeline already validated or reported by one prior paper. Walk left to right through five stages.</a:t>
            </a:r>
          </a:p>
          <a:p>
            <a:endParaRPr dirty="0"/>
          </a:p>
          <a:p>
            <a:r>
              <a:rPr dirty="0"/>
              <a:t>1. DATA + EVIDENCE: collect permitted, provenance-tracked safety examples, preference pairs, and benchmark resources. Explicitly separate training sources from locked evaluation sources.</a:t>
            </a:r>
          </a:p>
          <a:p>
            <a:r>
              <a:rPr dirty="0"/>
              <a:t>2. LABEL + SPLIT: annotate image risk, text risk, and joint risk; retain benign near-neighbors. Deduplicate both images and semantic intents across sources. Split by source intent before paraphrasing, typography rendering, image synthesis, or attack transformations.</a:t>
            </a:r>
          </a:p>
          <a:p>
            <a:r>
              <a:rPr dirty="0"/>
              <a:t>3. SEPARATE ALIGNMENT ARMS: B0 is the native checkpoint; B1 text-only safety SFT; B2 multimodal safety SFT; B3 standard DPO; B4 ADPO only if faithfully reproducible. B5 is at most one feasible recent comparator (</a:t>
            </a:r>
            <a:r>
              <a:rPr dirty="0" err="1"/>
              <a:t>HoliSafe</a:t>
            </a:r>
            <a:r>
              <a:rPr dirty="0"/>
              <a:t> VGM, DAVSP, or Pragma-VL). Do not stack methods. For B1/B2 comparisons, match intent, data volume, risk mix, helpfulness examples, training budget, and seed as closely as possible; B1 receives no image input.</a:t>
            </a:r>
          </a:p>
          <a:p>
            <a:r>
              <a:rPr dirty="0"/>
              <a:t>4. LOCKED EVALUATION: use fixed attacks, an adaptive tier, benchmark strata, safe neighbors, and image-removed/masked/decoy controls. Keep access tier and attack family separate. Freeze inference settings.</a:t>
            </a:r>
          </a:p>
          <a:p>
            <a:r>
              <a:rPr dirty="0"/>
              <a:t>5. SCORE + REPORT: report harmful compliance/ASR, benign false refusal, safe-answer quality, image grounding, VQA/OCR capability, and compute/cost. Pair by intent and report uncertainty and human audits.</a:t>
            </a:r>
          </a:p>
          <a:p>
            <a:endParaRPr dirty="0"/>
          </a:p>
          <a:p>
            <a:r>
              <a:rPr dirty="0"/>
              <a:t>Say the guardrails aloud: </a:t>
            </a:r>
            <a:endParaRPr lang="en-US" dirty="0"/>
          </a:p>
          <a:p>
            <a:r>
              <a:rPr dirty="0"/>
              <a:t>test intents never enter training; attacks are procedures, benchmarks are test resources, and ablations are controls. Preserve original metric definitions and report per family/stratum rather than inventing a pooled leaderboard.</a:t>
            </a:r>
          </a:p>
          <a:p>
            <a:endParaRPr dirty="0"/>
          </a:p>
          <a:p>
            <a:r>
              <a:rPr dirty="0"/>
              <a:t>QUESTIONS YOU MAY GET</a:t>
            </a:r>
          </a:p>
          <a:p>
            <a:r>
              <a:rPr dirty="0"/>
              <a:t>Q: Is this one combined method from the papers?</a:t>
            </a:r>
          </a:p>
          <a:p>
            <a:r>
              <a:rPr dirty="0"/>
              <a:t>A: No. It is a proposed experimental architecture that borrows separate components and compares them as independent arms.</a:t>
            </a:r>
          </a:p>
          <a:p>
            <a:endParaRPr lang="en-US" dirty="0"/>
          </a:p>
          <a:p>
            <a:r>
              <a:rPr lang="en-US" dirty="0"/>
              <a:t>=&gt;</a:t>
            </a:r>
            <a:r>
              <a:rPr dirty="0"/>
              <a:t>Q: How do we keep the text-only versus multimodal comparison meaningful?</a:t>
            </a:r>
          </a:p>
          <a:p>
            <a:r>
              <a:rPr dirty="0"/>
              <a:t>A: Match intents, sample volume, risk distribution, helpfulness mix, and training budget; remove the image modality in B1.</a:t>
            </a:r>
          </a:p>
          <a:p>
            <a:endParaRPr lang="en-US" dirty="0"/>
          </a:p>
          <a:p>
            <a:r>
              <a:rPr dirty="0"/>
              <a:t>Q: Why split before creating attacks and paraphrases?</a:t>
            </a:r>
          </a:p>
          <a:p>
            <a:r>
              <a:rPr dirty="0"/>
              <a:t>A: To prevent derivatives of a test intent from appearing in training or development data.</a:t>
            </a:r>
          </a:p>
          <a:p>
            <a:r>
              <a:rPr dirty="0"/>
              <a:t>Q: What is the primary outcome?</a:t>
            </a:r>
          </a:p>
          <a:p>
            <a:r>
              <a:rPr dirty="0"/>
              <a:t>A: Semantic harmful-compliance rate by attack family, interpreted alongside benign false refusal, answer quality, grounding, capability, and cost.</a:t>
            </a:r>
          </a:p>
          <a:p>
            <a:endParaRPr dirty="0"/>
          </a:p>
          <a:p>
            <a:r>
              <a:rPr dirty="0"/>
              <a:t>TRANSITION</a:t>
            </a:r>
          </a:p>
          <a:p>
            <a:r>
              <a:rPr dirty="0"/>
              <a:t>The diagram gives the flow. The next slide states the baseline ladder and the measurement contract needed to make each comparison fair.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BASELINE </a:t>
            </a:r>
            <a:r>
              <a:rPr lang="en-US" dirty="0"/>
              <a:t>for research</a:t>
            </a:r>
            <a:r>
              <a:rPr dirty="0"/>
              <a:t> AND OUTCOME CONTRACT</a:t>
            </a:r>
          </a:p>
          <a:p>
            <a:r>
              <a:rPr lang="en-US" dirty="0"/>
              <a:t>*</a:t>
            </a:r>
            <a:r>
              <a:rPr dirty="0"/>
              <a:t>Explain the left side as </a:t>
            </a:r>
            <a:r>
              <a:rPr u="sng" dirty="0"/>
              <a:t>controlled model conditions</a:t>
            </a:r>
            <a:r>
              <a:rPr lang="en-US" u="sng" dirty="0"/>
              <a:t> </a:t>
            </a:r>
            <a:r>
              <a:rPr dirty="0"/>
              <a:t>not a checklist to reproduce every paper. </a:t>
            </a:r>
            <a:endParaRPr lang="en-US" dirty="0"/>
          </a:p>
          <a:p>
            <a:r>
              <a:rPr dirty="0"/>
              <a:t>B0 is the untouched base checkpoint. </a:t>
            </a:r>
            <a:endParaRPr lang="en-US" dirty="0"/>
          </a:p>
          <a:p>
            <a:r>
              <a:rPr dirty="0"/>
              <a:t>B1 applies text-only safety SFT. </a:t>
            </a:r>
            <a:endParaRPr lang="en-US" dirty="0"/>
          </a:p>
          <a:p>
            <a:r>
              <a:rPr dirty="0"/>
              <a:t>B2 applies matched image-conditioned safety SFT. </a:t>
            </a:r>
            <a:endParaRPr lang="en-US" dirty="0"/>
          </a:p>
          <a:p>
            <a:r>
              <a:rPr dirty="0"/>
              <a:t>B3 uses standard DPO preferences without adversarial training. </a:t>
            </a:r>
            <a:endParaRPr lang="en-US" dirty="0"/>
          </a:p>
          <a:p>
            <a:r>
              <a:rPr dirty="0"/>
              <a:t>B4 is ADPO-style adversarial preference training only if its recipe and required attacks can be reproduced. </a:t>
            </a:r>
            <a:endParaRPr lang="en-US" dirty="0"/>
          </a:p>
          <a:p>
            <a:r>
              <a:rPr dirty="0"/>
              <a:t>B5 is one recent comparator selected after compatibility, license, artifacts, and compute checks.</a:t>
            </a:r>
          </a:p>
          <a:p>
            <a:endParaRPr dirty="0"/>
          </a:p>
          <a:p>
            <a:r>
              <a:rPr lang="en-US" dirty="0"/>
              <a:t>*</a:t>
            </a:r>
            <a:r>
              <a:rPr dirty="0"/>
              <a:t>The right side is a vector of outcomes: </a:t>
            </a:r>
            <a:endParaRPr lang="en-US" dirty="0"/>
          </a:p>
          <a:p>
            <a:r>
              <a:rPr dirty="0"/>
              <a:t>semantic harmful compliance/ASR; </a:t>
            </a:r>
            <a:endParaRPr lang="en-US" dirty="0"/>
          </a:p>
          <a:p>
            <a:r>
              <a:rPr dirty="0"/>
              <a:t>benign false refusal and safe-answer quality; </a:t>
            </a:r>
            <a:endParaRPr lang="en-US" dirty="0"/>
          </a:p>
          <a:p>
            <a:r>
              <a:rPr dirty="0"/>
              <a:t>image grounding from original versus removed/masked/decoy conditions; </a:t>
            </a:r>
            <a:endParaRPr lang="en-US" dirty="0"/>
          </a:p>
          <a:p>
            <a:r>
              <a:rPr dirty="0"/>
              <a:t>fixed VQA/OCR capability; and cost. </a:t>
            </a:r>
            <a:endParaRPr lang="en-US" dirty="0"/>
          </a:p>
          <a:p>
            <a:endParaRPr lang="en-US" dirty="0"/>
          </a:p>
          <a:p>
            <a:r>
              <a:rPr lang="en-US" dirty="0"/>
              <a:t>These are not </a:t>
            </a:r>
            <a:r>
              <a:rPr dirty="0"/>
              <a:t>one “safety score.” </a:t>
            </a:r>
            <a:endParaRPr lang="en-US" dirty="0"/>
          </a:p>
          <a:p>
            <a:r>
              <a:rPr dirty="0"/>
              <a:t>Use one pinned open-weight VLM family, repeated training seeds where feasible, matched data/source intents, and predeclared splits. </a:t>
            </a:r>
            <a:endParaRPr lang="en-US" dirty="0"/>
          </a:p>
          <a:p>
            <a:r>
              <a:rPr dirty="0"/>
              <a:t>Report uncertainty and failures as well as gains.</a:t>
            </a:r>
          </a:p>
          <a:p>
            <a:endParaRPr dirty="0"/>
          </a:p>
          <a:p>
            <a:r>
              <a:rPr dirty="0"/>
              <a:t>QUESTIONS YOU MAY GET</a:t>
            </a:r>
          </a:p>
          <a:p>
            <a:r>
              <a:rPr dirty="0"/>
              <a:t>Q: Why include both B1 and B2?</a:t>
            </a:r>
          </a:p>
          <a:p>
            <a:r>
              <a:rPr dirty="0"/>
              <a:t>A: They isolate whether image-conditioned safety data adds value over text-only safety tuning under matched conditions.</a:t>
            </a:r>
          </a:p>
          <a:p>
            <a:r>
              <a:rPr dirty="0"/>
              <a:t>Q: Why include standard DPO if SPA-VL is a dataset?</a:t>
            </a:r>
          </a:p>
          <a:p>
            <a:r>
              <a:rPr dirty="0"/>
              <a:t>A: SPA-VL supplies preference records; B3 is the training comparator that uses a standard DPO objective.</a:t>
            </a:r>
          </a:p>
          <a:p>
            <a:r>
              <a:rPr dirty="0"/>
              <a:t>Q: What if ADPO or the recent comparator cannot be reproduced?</a:t>
            </a:r>
          </a:p>
          <a:p>
            <a:r>
              <a:rPr dirty="0"/>
              <a:t>A: Document the failed feasibility check and exclude that arm; do not substitute an unverified implementation silently.</a:t>
            </a:r>
          </a:p>
          <a:p>
            <a:r>
              <a:rPr dirty="0"/>
              <a:t>Q: Why report several outcomes instead of one score?</a:t>
            </a:r>
          </a:p>
          <a:p>
            <a:r>
              <a:rPr dirty="0"/>
              <a:t>A: Lower harmful compliance can coexist with over-refusal, capability loss, weak image grounding, or high cost.</a:t>
            </a:r>
          </a:p>
          <a:p>
            <a:endParaRPr dirty="0"/>
          </a:p>
          <a:p>
            <a:r>
              <a:rPr dirty="0"/>
              <a:t>TRANSITION</a:t>
            </a:r>
          </a:p>
          <a:p>
            <a:r>
              <a:rPr dirty="0"/>
              <a:t>With the comparison rules defined, we can state the research questions as falsifiable hypotheses rather than conclusions from the literature.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HYPOTHESES, NOT FINDINGS</a:t>
            </a:r>
          </a:p>
          <a:p>
            <a:r>
              <a:rPr dirty="0"/>
              <a:t>The central gap is controlled transfer and attribution. </a:t>
            </a:r>
            <a:endParaRPr lang="en-US" dirty="0"/>
          </a:p>
          <a:p>
            <a:r>
              <a:rPr dirty="0"/>
              <a:t>H1 is a prediction: at matched data and training budgets, multimodal alignment will improve resistance to intent-held-out visual attacks relative to text-only safety tuning. </a:t>
            </a:r>
            <a:endParaRPr lang="en-US" dirty="0"/>
          </a:p>
          <a:p>
            <a:endParaRPr lang="en-US" dirty="0"/>
          </a:p>
          <a:p>
            <a:r>
              <a:rPr dirty="0"/>
              <a:t>H2 is now phrased as a transfer prediction: </a:t>
            </a:r>
            <a:endParaRPr lang="en-US" dirty="0"/>
          </a:p>
          <a:p>
            <a:r>
              <a:rPr dirty="0"/>
              <a:t>ADPO gains will be larger on attack families represented during training than on family-held-out tests. </a:t>
            </a:r>
            <a:endParaRPr lang="en-US" dirty="0"/>
          </a:p>
          <a:p>
            <a:r>
              <a:rPr dirty="0"/>
              <a:t>These are hypotheses to test; neither is established by the cited papers.</a:t>
            </a:r>
          </a:p>
          <a:p>
            <a:endParaRPr dirty="0"/>
          </a:p>
          <a:p>
            <a:r>
              <a:rPr lang="en-US" dirty="0"/>
              <a:t>*</a:t>
            </a:r>
            <a:r>
              <a:rPr dirty="0"/>
              <a:t>Then explain the </a:t>
            </a:r>
            <a:r>
              <a:rPr u="sng" dirty="0"/>
              <a:t>threats to validity</a:t>
            </a:r>
            <a:r>
              <a:rPr dirty="0"/>
              <a:t>. </a:t>
            </a:r>
            <a:endParaRPr lang="en-US" dirty="0"/>
          </a:p>
          <a:p>
            <a:pPr marL="171450" indent="-171450">
              <a:buFontTx/>
              <a:buChar char="-"/>
            </a:pPr>
            <a:r>
              <a:rPr dirty="0"/>
              <a:t>Visual leakage can let text reveal the harmful intent, so apparent visual safety may not depend on the image. </a:t>
            </a:r>
            <a:endParaRPr lang="en-US" dirty="0"/>
          </a:p>
          <a:p>
            <a:pPr marL="171450" indent="-171450">
              <a:buFontTx/>
              <a:buChar char="-"/>
            </a:pPr>
            <a:r>
              <a:rPr dirty="0"/>
              <a:t>ASR</a:t>
            </a:r>
            <a:r>
              <a:rPr lang="en-US" dirty="0"/>
              <a:t> (Attach success rate)</a:t>
            </a:r>
            <a:r>
              <a:rPr dirty="0"/>
              <a:t>, RSR</a:t>
            </a:r>
            <a:r>
              <a:rPr lang="en-US" dirty="0"/>
              <a:t> (refusal success rate)</a:t>
            </a:r>
            <a:r>
              <a:rPr dirty="0"/>
              <a:t>, </a:t>
            </a:r>
            <a:r>
              <a:rPr lang="en-US" dirty="0"/>
              <a:t>(RR)</a:t>
            </a:r>
            <a:r>
              <a:rPr dirty="0"/>
              <a:t>refusal rate, and </a:t>
            </a:r>
            <a:r>
              <a:rPr lang="en-US" dirty="0"/>
              <a:t>(SR)</a:t>
            </a:r>
            <a:r>
              <a:rPr dirty="0"/>
              <a:t>safety rate have different definitions and directions. </a:t>
            </a:r>
            <a:endParaRPr lang="en-US" dirty="0"/>
          </a:p>
          <a:p>
            <a:pPr marL="171450" indent="-171450">
              <a:buFontTx/>
              <a:buChar char="-"/>
            </a:pPr>
            <a:r>
              <a:rPr dirty="0"/>
              <a:t>Over-refusal or utility loss can create misleading safety gains. </a:t>
            </a:r>
            <a:endParaRPr lang="en-US" dirty="0"/>
          </a:p>
          <a:p>
            <a:pPr marL="171450" indent="-171450">
              <a:buFontTx/>
              <a:buChar char="-"/>
            </a:pPr>
            <a:r>
              <a:rPr dirty="0"/>
              <a:t>Duplicate intents/images can contaminate splits. </a:t>
            </a:r>
            <a:endParaRPr lang="en-US" dirty="0"/>
          </a:p>
          <a:p>
            <a:pPr marL="171450" indent="-171450">
              <a:buFontTx/>
              <a:buChar char="-"/>
            </a:pPr>
            <a:r>
              <a:rPr dirty="0"/>
              <a:t>Judges can disagree; </a:t>
            </a:r>
            <a:endParaRPr lang="en-US" dirty="0"/>
          </a:p>
          <a:p>
            <a:pPr marL="171450" indent="-171450">
              <a:buFontTx/>
              <a:buChar char="-"/>
            </a:pPr>
            <a:r>
              <a:rPr dirty="0"/>
              <a:t>adaptive budgets must be fair; checkpoints and APIs can drift.</a:t>
            </a:r>
          </a:p>
          <a:p>
            <a:endParaRPr dirty="0"/>
          </a:p>
          <a:p>
            <a:r>
              <a:rPr dirty="0"/>
              <a:t>Our mitigations are paired conditions, intent-level splits, pre-specified metric definitions, locked model/judge versions, confidence intervals, cost accounting, and human review. A negative result or no transfer would still answer the research question.</a:t>
            </a:r>
          </a:p>
          <a:p>
            <a:endParaRPr dirty="0"/>
          </a:p>
          <a:p>
            <a:r>
              <a:rPr dirty="0"/>
              <a:t>QUESTIONS YOU MAY GET</a:t>
            </a:r>
          </a:p>
          <a:p>
            <a:r>
              <a:rPr dirty="0"/>
              <a:t>Q: What result would disconfirm H1?</a:t>
            </a:r>
          </a:p>
          <a:p>
            <a:r>
              <a:rPr dirty="0"/>
              <a:t>A: Under matched budgets, if multimodal tuning does not improve held-out visual-attack resistance over text-only tuning, or the difference is within uncertainty, H1 is unsupported.</a:t>
            </a:r>
          </a:p>
          <a:p>
            <a:r>
              <a:rPr dirty="0"/>
              <a:t>Q: What result would disconfirm H2?</a:t>
            </a:r>
          </a:p>
          <a:p>
            <a:r>
              <a:rPr dirty="0"/>
              <a:t>A: If ADPO gains are comparable on seen and family-held-out attacks, the predicted transfer gap is unsupported.</a:t>
            </a:r>
          </a:p>
          <a:p>
            <a:r>
              <a:rPr dirty="0"/>
              <a:t>Q: Why emphasize the image ablation?</a:t>
            </a:r>
          </a:p>
          <a:p>
            <a:r>
              <a:rPr dirty="0"/>
              <a:t>A: It tests whether behavior depends on the visual evidence; without controls, text leakage can explain refusal.</a:t>
            </a:r>
          </a:p>
          <a:p>
            <a:r>
              <a:rPr dirty="0"/>
              <a:t>Q: Are the literature results proof of these hypotheses?</a:t>
            </a:r>
          </a:p>
          <a:p>
            <a:r>
              <a:rPr dirty="0"/>
              <a:t>A: No. They motivate the questions; our controlled experiment tests them.</a:t>
            </a:r>
          </a:p>
          <a:p>
            <a:endParaRPr dirty="0"/>
          </a:p>
          <a:p>
            <a:r>
              <a:rPr dirty="0"/>
              <a:t>TRANSITION</a:t>
            </a:r>
          </a:p>
          <a:p>
            <a:r>
              <a:rPr dirty="0"/>
              <a:t>The next slide converts these questions into a bounded sequence of decisions and deliverables.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BOUNDED STUDY PLAN</a:t>
            </a:r>
          </a:p>
          <a:p>
            <a:r>
              <a:rPr dirty="0"/>
              <a:t>This is a responsible proposal, not a claim that the pipeline or final leaderboard already exists. </a:t>
            </a:r>
            <a:endParaRPr lang="en-US" dirty="0"/>
          </a:p>
          <a:p>
            <a:r>
              <a:rPr dirty="0"/>
              <a:t>The five gates keep scope manageable.</a:t>
            </a:r>
          </a:p>
          <a:p>
            <a:endParaRPr dirty="0"/>
          </a:p>
          <a:p>
            <a:r>
              <a:rPr dirty="0"/>
              <a:t>First, complete the paper protocol audit and verify every quoted table/figure and metric. </a:t>
            </a:r>
            <a:endParaRPr lang="en-US" dirty="0"/>
          </a:p>
          <a:p>
            <a:endParaRPr lang="en-US" dirty="0"/>
          </a:p>
          <a:p>
            <a:r>
              <a:rPr dirty="0"/>
              <a:t>Second, select one open checkpoint and test access, licenses, attack artifacts, and computational feasibility; if a method cannot be reproduced, document why and exclude it. </a:t>
            </a:r>
            <a:endParaRPr lang="en-US" dirty="0"/>
          </a:p>
          <a:p>
            <a:endParaRPr lang="en-US" dirty="0"/>
          </a:p>
          <a:p>
            <a:r>
              <a:rPr dirty="0"/>
              <a:t>Third, freeze the intent split, attacks, judge/rubric, outcomes, and budget before training. </a:t>
            </a:r>
            <a:endParaRPr lang="en-US" dirty="0"/>
          </a:p>
          <a:p>
            <a:endParaRPr lang="en-US" dirty="0"/>
          </a:p>
          <a:p>
            <a:r>
              <a:rPr dirty="0"/>
              <a:t>Fourth, run the baseline ladder with repeated seeds where feasible and report per-family safety, utility, grounding, and uncertainty. </a:t>
            </a:r>
            <a:endParaRPr lang="en-US" dirty="0"/>
          </a:p>
          <a:p>
            <a:endParaRPr lang="en-US" dirty="0"/>
          </a:p>
          <a:p>
            <a:r>
              <a:rPr dirty="0"/>
              <a:t>Fifth, expand to the rest of the literature or harder tiers only after the first protocol is reproducible.</a:t>
            </a:r>
          </a:p>
          <a:p>
            <a:endParaRPr dirty="0"/>
          </a:p>
          <a:p>
            <a:r>
              <a:rPr dirty="0"/>
              <a:t>Do not omit null results, negative transfer, over-refusal, capability changes, or cost. </a:t>
            </a:r>
            <a:endParaRPr lang="en-US" dirty="0"/>
          </a:p>
          <a:p>
            <a:r>
              <a:rPr dirty="0"/>
              <a:t>Revise only on development data; do not tune against the locked test.</a:t>
            </a:r>
          </a:p>
          <a:p>
            <a:endParaRPr dirty="0"/>
          </a:p>
          <a:p>
            <a:r>
              <a:rPr dirty="0"/>
              <a:t>QUESTIONS YOU MAY GET</a:t>
            </a:r>
          </a:p>
          <a:p>
            <a:r>
              <a:rPr dirty="0"/>
              <a:t>Q: What is the presentation claiming we have completed?</a:t>
            </a:r>
          </a:p>
          <a:p>
            <a:r>
              <a:rPr dirty="0"/>
              <a:t>A: A literature-grounded research plan and a proposed protocol, not a trained system or final leaderboard.</a:t>
            </a:r>
          </a:p>
          <a:p>
            <a:r>
              <a:rPr dirty="0"/>
              <a:t>Q: What is the first go/no-go decision?</a:t>
            </a:r>
          </a:p>
          <a:p>
            <a:r>
              <a:rPr dirty="0"/>
              <a:t>A: Whether the selected checkpoint, datasets, licenses, and artifacts support a reproducible pilot.</a:t>
            </a:r>
          </a:p>
          <a:p>
            <a:r>
              <a:rPr dirty="0"/>
              <a:t>Q: Why defer the remaining attacks and papers?</a:t>
            </a:r>
          </a:p>
          <a:p>
            <a:r>
              <a:rPr dirty="0"/>
              <a:t>A: To make the first experiment interpretable and reproducible; extensions are not being declared irrelevant.</a:t>
            </a:r>
          </a:p>
          <a:p>
            <a:endParaRPr dirty="0"/>
          </a:p>
          <a:p>
            <a:r>
              <a:rPr dirty="0"/>
              <a:t>CLOSING TRANSITION</a:t>
            </a:r>
          </a:p>
          <a:p>
            <a:r>
              <a:rPr dirty="0"/>
              <a:t>The proposal is built from prior evidence but makes its own testable claims. The final two slides group the primary sources by their role so the audience can trace every component.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REFERENCES: ATTACKS AND EVALUATION</a:t>
            </a:r>
          </a:p>
          <a:p>
            <a:r>
              <a:rPr dirty="0"/>
              <a:t>Use this slide as a source map, not as spoken bibliography. [1]–[4] cover </a:t>
            </a:r>
            <a:r>
              <a:rPr dirty="0" err="1"/>
              <a:t>FigStep</a:t>
            </a:r>
            <a:r>
              <a:rPr dirty="0"/>
              <a:t>, </a:t>
            </a:r>
            <a:r>
              <a:rPr dirty="0" err="1"/>
              <a:t>VLSBench</a:t>
            </a:r>
            <a:r>
              <a:rPr dirty="0"/>
              <a:t>, USB, and </a:t>
            </a:r>
            <a:r>
              <a:rPr dirty="0" err="1"/>
              <a:t>PolyJailbreak</a:t>
            </a:r>
            <a:r>
              <a:rPr dirty="0"/>
              <a:t>. [11]–[13] cover HADES, </a:t>
            </a:r>
            <a:r>
              <a:rPr dirty="0" err="1"/>
              <a:t>JailBreakV</a:t>
            </a:r>
            <a:r>
              <a:rPr dirty="0"/>
              <a:t>, and SIUO. These sources support the attack procedures, benchmark coverage, and controls in the preceding section.</a:t>
            </a:r>
          </a:p>
          <a:p>
            <a:endParaRPr dirty="0"/>
          </a:p>
          <a:p>
            <a:r>
              <a:rPr dirty="0"/>
              <a:t>When a question concerns a specific result, cite the exact paper version, table/figure, target checkpoint, evaluator, and metric. </a:t>
            </a:r>
            <a:r>
              <a:rPr dirty="0" err="1"/>
              <a:t>PolyJailbreak’s</a:t>
            </a:r>
            <a:r>
              <a:rPr dirty="0"/>
              <a:t> 2026 journal record and its </a:t>
            </a:r>
            <a:r>
              <a:rPr dirty="0" err="1"/>
              <a:t>arXiv</a:t>
            </a:r>
            <a:r>
              <a:rPr dirty="0"/>
              <a:t> version may differ in bibliographic status; cite the journal record for the formal reference and identify the </a:t>
            </a:r>
            <a:r>
              <a:rPr dirty="0" err="1"/>
              <a:t>arXiv</a:t>
            </a:r>
            <a:r>
              <a:rPr dirty="0"/>
              <a:t> version when discussing procedural details verified there. Do not imply the attack suite or its benchmark cases came from a single paper.</a:t>
            </a:r>
          </a:p>
          <a:p>
            <a:endParaRPr dirty="0"/>
          </a:p>
          <a:p>
            <a:r>
              <a:rPr dirty="0"/>
              <a:t>QUESTIONS YOU MAY GET</a:t>
            </a:r>
          </a:p>
          <a:p>
            <a:r>
              <a:rPr dirty="0"/>
              <a:t>Q: Why are attack and evaluation papers grouped separately from alignment papers?</a:t>
            </a:r>
          </a:p>
          <a:p>
            <a:r>
              <a:rPr dirty="0"/>
              <a:t>A: They provide attack procedures, test cases, or measurement design rather than model-training interventions.</a:t>
            </a:r>
          </a:p>
          <a:p>
            <a:r>
              <a:rPr dirty="0"/>
              <a:t>Q: Which source supports the adaptive tier?</a:t>
            </a:r>
          </a:p>
          <a:p>
            <a:r>
              <a:rPr dirty="0"/>
              <a:t>A: </a:t>
            </a:r>
            <a:r>
              <a:rPr dirty="0" err="1"/>
              <a:t>PolyJailbreak</a:t>
            </a:r>
            <a:r>
              <a:rPr dirty="0"/>
              <a:t> [4]. HADES [11] supports visual attack conditions; </a:t>
            </a:r>
            <a:r>
              <a:rPr dirty="0" err="1"/>
              <a:t>JailBreakV</a:t>
            </a:r>
            <a:r>
              <a:rPr dirty="0"/>
              <a:t> [12] is a benchmark collection; SIUO [13] supports compositional evaluation.</a:t>
            </a:r>
          </a:p>
          <a:p>
            <a:r>
              <a:rPr dirty="0"/>
              <a:t>Q: Where can someone verify a quoted result?</a:t>
            </a:r>
          </a:p>
          <a:p>
            <a:r>
              <a:rPr dirty="0"/>
              <a:t>A: In the cited primary paper and exact table/figure, with model, judge, and version stated.</a:t>
            </a:r>
          </a:p>
          <a:p>
            <a:endParaRPr dirty="0"/>
          </a:p>
          <a:p>
            <a:r>
              <a:rPr dirty="0"/>
              <a:t>TRANSITION</a:t>
            </a:r>
          </a:p>
          <a:p>
            <a:r>
              <a:rPr dirty="0"/>
              <a:t>The final reference slide lists the alignment methods. Close by returning to the proposal: each paper contributes evidence or a comparator, but the controlled pipeline is our synthesis.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 ALIGNMENT METHODS AND CLOSE</a:t>
            </a:r>
          </a:p>
          <a:p>
            <a:r>
              <a:t>[5]–[10] support the intervention families: VLGuard safety SFT, SPA-VL preference data/DPO/PPO, ADPO adversarial preference training, HoliSafe and its VGM, DAVSP visual-prompt alignment, and Pragma-VL context-aware safety/helpfulness arbitration. Cite the published proceedings record where available and preserve the exact method name and version used in the experiment.</a:t>
            </a:r>
          </a:p>
          <a:p>
            <a:endParaRPr/>
          </a:p>
          <a:p>
            <a:r>
              <a:t>CLOSING SUMMARY</a:t>
            </a:r>
          </a:p>
          <a:p>
            <a:r>
              <a:t>The literature does not provide one ready-made end-to-end answer. It provides training data and methods, visual and cross-modal attack procedures, and benchmarks with different scoring rules. Our proposed contribution is to evaluate these choices under matched data budgets, held-out intents and attack families, explicit image-dependence controls, and separate safety/helpfulness/cost outcomes. We are proposing that protocol; we are not claiming its results in advance.</a:t>
            </a:r>
          </a:p>
          <a:p>
            <a:endParaRPr/>
          </a:p>
          <a:p>
            <a:r>
              <a:t>QUESTIONS YOU MAY GET</a:t>
            </a:r>
          </a:p>
          <a:p>
            <a:r>
              <a:t>Q: Which papers are training data, and which are methods?</a:t>
            </a:r>
          </a:p>
          <a:p>
            <a:r>
              <a:t>A: VLGuard and SPA-VL provide important training resources; SFT, DPO/PPO, ADPO, VGM, DAVSP, and Pragma-VL are distinct method families or interventions. A dataset is not an optimizer.</a:t>
            </a:r>
          </a:p>
          <a:p>
            <a:r>
              <a:t>Q: What is the research contribution if these methods already exist?</a:t>
            </a:r>
          </a:p>
          <a:p>
            <a:r>
              <a:t>A: The proposed contribution is a controlled, intent-held-out comparison of alignment arms under fixed and adaptive visual attacks, with modality attribution and utility measured together.</a:t>
            </a:r>
          </a:p>
          <a:p>
            <a:r>
              <a:t>Q: What is the key limitation of the proposal today?</a:t>
            </a:r>
          </a:p>
          <a:p>
            <a:r>
              <a:t>A: It remains a plan. Feasibility, data overlap, exact attack artifacts, judge reliability, and compute must be verified before claiming results.</a:t>
            </a:r>
          </a:p>
          <a:p>
            <a:endParaRPr/>
          </a:p>
          <a:p>
            <a:r>
              <a:t>FINAL LINE</a:t>
            </a:r>
          </a:p>
          <a:p>
            <a:r>
              <a:t>“Our aim is not to claim one method is safest from incomparable published numbers; it is to test which alignment choices transfer under a controlled multimodal safety evaluation.”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Not trying to design template to resist attack</a:t>
            </a:r>
          </a:p>
          <a:p>
            <a:r>
              <a:rPr lang="en-US" dirty="0"/>
              <a:t>No benchmarks</a:t>
            </a:r>
          </a:p>
          <a:p>
            <a:r>
              <a:rPr lang="en-US" dirty="0"/>
              <a:t>Look into the signal context (present and </a:t>
            </a:r>
          </a:p>
          <a:p>
            <a:endParaRPr lang="en-US" dirty="0"/>
          </a:p>
          <a:p>
            <a:r>
              <a:rPr lang="en-US" dirty="0"/>
              <a:t>Intentional context</a:t>
            </a:r>
          </a:p>
          <a:p>
            <a:r>
              <a:rPr lang="en-US" dirty="0"/>
              <a:t>Measures how model behaves</a:t>
            </a:r>
          </a:p>
          <a:p>
            <a:endParaRPr lang="en-US" dirty="0"/>
          </a:p>
          <a:p>
            <a:r>
              <a:rPr lang="en-US" dirty="0"/>
              <a:t>Look into conflicts</a:t>
            </a:r>
          </a:p>
          <a:p>
            <a:r>
              <a:rPr lang="en-US" dirty="0"/>
              <a:t>Not much training </a:t>
            </a:r>
          </a:p>
          <a:p>
            <a:r>
              <a:rPr lang="en-US" dirty="0"/>
              <a:t>Look </a:t>
            </a:r>
          </a:p>
          <a:p>
            <a:endParaRPr lang="en-US" dirty="0"/>
          </a:p>
          <a:p>
            <a:r>
              <a:rPr lang="en-US" dirty="0"/>
              <a:t>Post training </a:t>
            </a:r>
          </a:p>
          <a:p>
            <a:r>
              <a:rPr lang="en-US" dirty="0"/>
              <a:t>Test model alignment</a:t>
            </a:r>
          </a:p>
          <a:p>
            <a:r>
              <a:rPr lang="en-US" dirty="0"/>
              <a:t>Causal impact (change the info, inject bad injections and see how the model behaves)</a:t>
            </a:r>
          </a:p>
          <a:p>
            <a:endParaRPr lang="en-US" dirty="0"/>
          </a:p>
          <a:p>
            <a:endParaRPr lang="en-US" dirty="0"/>
          </a:p>
          <a:p>
            <a:endParaRPr lang="en-US" dirty="0"/>
          </a:p>
          <a:p>
            <a:r>
              <a:rPr lang="en-US" dirty="0"/>
              <a:t>CROSS MODEL SIGNAL CONFLICT </a:t>
            </a:r>
            <a:br>
              <a:rPr lang="en-US" dirty="0"/>
            </a:br>
            <a:r>
              <a:rPr lang="en-US" dirty="0"/>
              <a:t>WHAT HAS BEEN DONE, WHAT ELSE CAN BE DONE</a:t>
            </a:r>
          </a:p>
          <a:p>
            <a:endParaRPr lang="en-US" dirty="0"/>
          </a:p>
          <a:p>
            <a:r>
              <a:rPr lang="en-US" dirty="0"/>
              <a:t>Suggestion on the seminar</a:t>
            </a:r>
          </a:p>
        </p:txBody>
      </p:sp>
    </p:spTree>
    <p:extLst>
      <p:ext uri="{BB962C8B-B14F-4D97-AF65-F5344CB8AC3E}">
        <p14:creationId xmlns:p14="http://schemas.microsoft.com/office/powerpoint/2010/main" val="3359865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customXml" Target="../ink/ink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customXml" Target="../ink/ink6.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customXml" Target="../ink/ink7.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11.png"/><Relationship Id="rId18" Type="http://schemas.openxmlformats.org/officeDocument/2006/relationships/customXml" Target="../ink/ink15.xml"/><Relationship Id="rId3" Type="http://schemas.openxmlformats.org/officeDocument/2006/relationships/customXml" Target="../ink/ink8.xml"/><Relationship Id="rId21" Type="http://schemas.openxmlformats.org/officeDocument/2006/relationships/image" Target="../media/image16.jpeg"/><Relationship Id="rId7" Type="http://schemas.openxmlformats.org/officeDocument/2006/relationships/customXml" Target="../ink/ink10.xml"/><Relationship Id="rId12" Type="http://schemas.openxmlformats.org/officeDocument/2006/relationships/customXml" Target="../ink/ink12.xml"/><Relationship Id="rId17" Type="http://schemas.openxmlformats.org/officeDocument/2006/relationships/image" Target="../media/image13.png"/><Relationship Id="rId2" Type="http://schemas.openxmlformats.org/officeDocument/2006/relationships/notesSlide" Target="../notesSlides/notesSlide8.xml"/><Relationship Id="rId16" Type="http://schemas.openxmlformats.org/officeDocument/2006/relationships/customXml" Target="../ink/ink14.xml"/><Relationship Id="rId20"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10.jpeg"/><Relationship Id="rId5" Type="http://schemas.openxmlformats.org/officeDocument/2006/relationships/customXml" Target="../ink/ink9.xml"/><Relationship Id="rId15" Type="http://schemas.openxmlformats.org/officeDocument/2006/relationships/image" Target="../media/image12.png"/><Relationship Id="rId10" Type="http://schemas.openxmlformats.org/officeDocument/2006/relationships/image" Target="../media/image52.png"/><Relationship Id="rId19"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customXml" Target="../ink/ink11.xml"/><Relationship Id="rId14" Type="http://schemas.openxmlformats.org/officeDocument/2006/relationships/customXml" Target="../ink/ink13.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jpeg"/></Relationships>
</file>

<file path=ppt/slides/_rels/slide11.xml.rels><?xml version="1.0" encoding="UTF-8" standalone="yes"?>
<Relationships xmlns="http://schemas.openxmlformats.org/package/2006/relationships"><Relationship Id="rId13" Type="http://schemas.openxmlformats.org/officeDocument/2006/relationships/customXml" Target="../ink/ink20.xml"/><Relationship Id="rId18" Type="http://schemas.openxmlformats.org/officeDocument/2006/relationships/customXml" Target="../ink/ink23.xml"/><Relationship Id="rId26" Type="http://schemas.openxmlformats.org/officeDocument/2006/relationships/customXml" Target="../ink/ink27.xml"/><Relationship Id="rId39" Type="http://schemas.openxmlformats.org/officeDocument/2006/relationships/image" Target="../media/image28.png"/><Relationship Id="rId21" Type="http://schemas.openxmlformats.org/officeDocument/2006/relationships/image" Target="../media/image19.png"/><Relationship Id="rId34" Type="http://schemas.openxmlformats.org/officeDocument/2006/relationships/customXml" Target="../ink/ink31.xml"/><Relationship Id="rId7" Type="http://schemas.openxmlformats.org/officeDocument/2006/relationships/customXml" Target="../ink/ink17.xml"/><Relationship Id="rId12" Type="http://schemas.openxmlformats.org/officeDocument/2006/relationships/image" Target="../media/image15.png"/><Relationship Id="rId17" Type="http://schemas.openxmlformats.org/officeDocument/2006/relationships/customXml" Target="../ink/ink22.xml"/><Relationship Id="rId25" Type="http://schemas.openxmlformats.org/officeDocument/2006/relationships/image" Target="../media/image21.png"/><Relationship Id="rId33" Type="http://schemas.openxmlformats.org/officeDocument/2006/relationships/image" Target="../media/image25.png"/><Relationship Id="rId38" Type="http://schemas.openxmlformats.org/officeDocument/2006/relationships/customXml" Target="../ink/ink33.xml"/><Relationship Id="rId2" Type="http://schemas.openxmlformats.org/officeDocument/2006/relationships/notesSlide" Target="../notesSlides/notesSlide11.xml"/><Relationship Id="rId16" Type="http://schemas.openxmlformats.org/officeDocument/2006/relationships/image" Target="../media/image17.png"/><Relationship Id="rId20" Type="http://schemas.openxmlformats.org/officeDocument/2006/relationships/customXml" Target="../ink/ink24.xml"/><Relationship Id="rId29"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120.png"/><Relationship Id="rId11" Type="http://schemas.openxmlformats.org/officeDocument/2006/relationships/customXml" Target="../ink/ink19.xml"/><Relationship Id="rId24" Type="http://schemas.openxmlformats.org/officeDocument/2006/relationships/customXml" Target="../ink/ink26.xml"/><Relationship Id="rId32" Type="http://schemas.openxmlformats.org/officeDocument/2006/relationships/customXml" Target="../ink/ink30.xml"/><Relationship Id="rId37" Type="http://schemas.openxmlformats.org/officeDocument/2006/relationships/image" Target="../media/image27.png"/><Relationship Id="rId5" Type="http://schemas.openxmlformats.org/officeDocument/2006/relationships/customXml" Target="../ink/ink16.xml"/><Relationship Id="rId15" Type="http://schemas.openxmlformats.org/officeDocument/2006/relationships/customXml" Target="../ink/ink21.xml"/><Relationship Id="rId23" Type="http://schemas.openxmlformats.org/officeDocument/2006/relationships/image" Target="../media/image20.png"/><Relationship Id="rId28" Type="http://schemas.openxmlformats.org/officeDocument/2006/relationships/customXml" Target="../ink/ink28.xml"/><Relationship Id="rId36" Type="http://schemas.openxmlformats.org/officeDocument/2006/relationships/customXml" Target="../ink/ink32.xml"/><Relationship Id="rId10" Type="http://schemas.openxmlformats.org/officeDocument/2006/relationships/image" Target="../media/image140.png"/><Relationship Id="rId19" Type="http://schemas.openxmlformats.org/officeDocument/2006/relationships/image" Target="../media/image18.png"/><Relationship Id="rId31" Type="http://schemas.openxmlformats.org/officeDocument/2006/relationships/image" Target="../media/image24.png"/><Relationship Id="rId4" Type="http://schemas.openxmlformats.org/officeDocument/2006/relationships/image" Target="../media/image23.jpeg"/><Relationship Id="rId9" Type="http://schemas.openxmlformats.org/officeDocument/2006/relationships/customXml" Target="../ink/ink18.xml"/><Relationship Id="rId14" Type="http://schemas.openxmlformats.org/officeDocument/2006/relationships/image" Target="../media/image16.png"/><Relationship Id="rId22" Type="http://schemas.openxmlformats.org/officeDocument/2006/relationships/customXml" Target="../ink/ink25.xml"/><Relationship Id="rId27" Type="http://schemas.openxmlformats.org/officeDocument/2006/relationships/image" Target="../media/image22.png"/><Relationship Id="rId30" Type="http://schemas.openxmlformats.org/officeDocument/2006/relationships/customXml" Target="../ink/ink29.xml"/><Relationship Id="rId35" Type="http://schemas.openxmlformats.org/officeDocument/2006/relationships/image" Target="../media/image26.png"/><Relationship Id="rId8" Type="http://schemas.openxmlformats.org/officeDocument/2006/relationships/image" Target="../media/image130.png"/><Relationship Id="rId3" Type="http://schemas.openxmlformats.org/officeDocument/2006/relationships/image" Target="../media/image22.jpeg"/></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6.jpeg"/><Relationship Id="rId7" Type="http://schemas.openxmlformats.org/officeDocument/2006/relationships/customXml" Target="../ink/ink35.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customXml" Target="../ink/ink34.xml"/><Relationship Id="rId10" Type="http://schemas.openxmlformats.org/officeDocument/2006/relationships/image" Target="../media/image33.png"/><Relationship Id="rId4" Type="http://schemas.openxmlformats.org/officeDocument/2006/relationships/image" Target="../media/image27.jpeg"/><Relationship Id="rId9" Type="http://schemas.openxmlformats.org/officeDocument/2006/relationships/customXml" Target="../ink/ink36.xml"/></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8.jpeg"/><Relationship Id="rId7" Type="http://schemas.openxmlformats.org/officeDocument/2006/relationships/customXml" Target="../ink/ink38.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customXml" Target="../ink/ink37.xml"/><Relationship Id="rId10" Type="http://schemas.openxmlformats.org/officeDocument/2006/relationships/image" Target="../media/image38.png"/><Relationship Id="rId4" Type="http://schemas.openxmlformats.org/officeDocument/2006/relationships/image" Target="../media/image29.jpeg"/><Relationship Id="rId9" Type="http://schemas.openxmlformats.org/officeDocument/2006/relationships/customXml" Target="../ink/ink39.xml"/></Relationships>
</file>

<file path=ppt/slides/_rels/slide1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0.jpeg"/><Relationship Id="rId7" Type="http://schemas.openxmlformats.org/officeDocument/2006/relationships/customXml" Target="../ink/ink41.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customXml" Target="../ink/ink40.xml"/><Relationship Id="rId10" Type="http://schemas.openxmlformats.org/officeDocument/2006/relationships/image" Target="../media/image43.png"/><Relationship Id="rId4" Type="http://schemas.openxmlformats.org/officeDocument/2006/relationships/image" Target="../media/image31.jpeg"/><Relationship Id="rId9" Type="http://schemas.openxmlformats.org/officeDocument/2006/relationships/customXml" Target="../ink/ink42.xml"/></Relationships>
</file>

<file path=ppt/slides/_rels/slide16.xml.rels><?xml version="1.0" encoding="UTF-8" standalone="yes"?>
<Relationships xmlns="http://schemas.openxmlformats.org/package/2006/relationships"><Relationship Id="rId8" Type="http://schemas.openxmlformats.org/officeDocument/2006/relationships/customXml" Target="../ink/ink44.xml"/><Relationship Id="rId13" Type="http://schemas.openxmlformats.org/officeDocument/2006/relationships/image" Target="../media/image50.png"/><Relationship Id="rId3" Type="http://schemas.openxmlformats.org/officeDocument/2006/relationships/image" Target="../media/image32.jpeg"/><Relationship Id="rId7" Type="http://schemas.openxmlformats.org/officeDocument/2006/relationships/image" Target="../media/image47.png"/><Relationship Id="rId12" Type="http://schemas.openxmlformats.org/officeDocument/2006/relationships/customXml" Target="../ink/ink46.xm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customXml" Target="../ink/ink43.xml"/><Relationship Id="rId11" Type="http://schemas.openxmlformats.org/officeDocument/2006/relationships/image" Target="../media/image49.png"/><Relationship Id="rId5" Type="http://schemas.openxmlformats.org/officeDocument/2006/relationships/image" Target="../media/image34.jpeg"/><Relationship Id="rId15" Type="http://schemas.openxmlformats.org/officeDocument/2006/relationships/image" Target="../media/image51.png"/><Relationship Id="rId10" Type="http://schemas.openxmlformats.org/officeDocument/2006/relationships/customXml" Target="../ink/ink45.xml"/><Relationship Id="rId4" Type="http://schemas.openxmlformats.org/officeDocument/2006/relationships/image" Target="../media/image33.jpeg"/><Relationship Id="rId9" Type="http://schemas.openxmlformats.org/officeDocument/2006/relationships/image" Target="../media/image48.png"/><Relationship Id="rId14" Type="http://schemas.openxmlformats.org/officeDocument/2006/relationships/customXml" Target="../ink/ink47.xml"/></Relationships>
</file>

<file path=ppt/slides/_rels/slide17.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35.jpeg"/><Relationship Id="rId7" Type="http://schemas.openxmlformats.org/officeDocument/2006/relationships/customXml" Target="../ink/ink49.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customXml" Target="../ink/ink48.xml"/><Relationship Id="rId4" Type="http://schemas.openxmlformats.org/officeDocument/2006/relationships/image" Target="../media/image36.jpeg"/></Relationships>
</file>

<file path=ppt/slides/_rels/slide18.xml.rels><?xml version="1.0" encoding="UTF-8" standalone="yes"?>
<Relationships xmlns="http://schemas.openxmlformats.org/package/2006/relationships"><Relationship Id="rId8" Type="http://schemas.openxmlformats.org/officeDocument/2006/relationships/customXml" Target="../ink/ink51.xml"/><Relationship Id="rId13" Type="http://schemas.openxmlformats.org/officeDocument/2006/relationships/image" Target="../media/image62.png"/><Relationship Id="rId3" Type="http://schemas.openxmlformats.org/officeDocument/2006/relationships/image" Target="../media/image37.jpeg"/><Relationship Id="rId7" Type="http://schemas.openxmlformats.org/officeDocument/2006/relationships/image" Target="../media/image59.png"/><Relationship Id="rId12" Type="http://schemas.openxmlformats.org/officeDocument/2006/relationships/customXml" Target="../ink/ink53.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customXml" Target="../ink/ink50.xml"/><Relationship Id="rId11" Type="http://schemas.openxmlformats.org/officeDocument/2006/relationships/image" Target="../media/image61.png"/><Relationship Id="rId5" Type="http://schemas.openxmlformats.org/officeDocument/2006/relationships/image" Target="../media/image39.jpeg"/><Relationship Id="rId10" Type="http://schemas.openxmlformats.org/officeDocument/2006/relationships/customXml" Target="../ink/ink52.xml"/><Relationship Id="rId4" Type="http://schemas.openxmlformats.org/officeDocument/2006/relationships/image" Target="../media/image38.jpeg"/><Relationship Id="rId9" Type="http://schemas.openxmlformats.org/officeDocument/2006/relationships/image" Target="../media/image6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383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49808"/>
            <a:ext cx="4114800" cy="256032"/>
          </a:xfrm>
          <a:prstGeom prst="rect">
            <a:avLst/>
          </a:prstGeom>
          <a:noFill/>
        </p:spPr>
        <p:txBody>
          <a:bodyPr wrap="square" lIns="27432" tIns="18288" rIns="27432" bIns="18288" anchor="t">
            <a:spAutoFit/>
          </a:bodyPr>
          <a:lstStyle/>
          <a:p>
            <a:pPr algn="l"/>
            <a:r>
              <a:rPr sz="1100" b="1">
                <a:solidFill>
                  <a:srgbClr val="4B4B4B"/>
                </a:solidFill>
                <a:latin typeface="Aptos"/>
              </a:rPr>
              <a:t>LITERATURE REVIEW</a:t>
            </a:r>
          </a:p>
        </p:txBody>
      </p:sp>
      <p:sp>
        <p:nvSpPr>
          <p:cNvPr id="4" name="TextBox 3"/>
          <p:cNvSpPr txBox="1"/>
          <p:nvPr/>
        </p:nvSpPr>
        <p:spPr>
          <a:xfrm>
            <a:off x="777240" y="1188720"/>
            <a:ext cx="10607040" cy="1234440"/>
          </a:xfrm>
          <a:prstGeom prst="rect">
            <a:avLst/>
          </a:prstGeom>
          <a:noFill/>
        </p:spPr>
        <p:txBody>
          <a:bodyPr wrap="square" lIns="27432" tIns="18288" rIns="27432" bIns="18288" anchor="t">
            <a:spAutoFit/>
          </a:bodyPr>
          <a:lstStyle/>
          <a:p>
            <a:pPr algn="l"/>
            <a:r>
              <a:rPr sz="3200" b="1">
                <a:solidFill>
                  <a:srgbClr val="232323"/>
                </a:solidFill>
                <a:latin typeface="Aptos"/>
              </a:rPr>
              <a:t>Safety Alignment for
Vision-Language Models</a:t>
            </a:r>
          </a:p>
        </p:txBody>
      </p:sp>
      <p:sp>
        <p:nvSpPr>
          <p:cNvPr id="6" name="TextBox 5"/>
          <p:cNvSpPr txBox="1"/>
          <p:nvPr/>
        </p:nvSpPr>
        <p:spPr>
          <a:xfrm>
            <a:off x="822960" y="4892040"/>
            <a:ext cx="10424160" cy="236988"/>
          </a:xfrm>
          <a:prstGeom prst="rect">
            <a:avLst/>
          </a:prstGeom>
          <a:noFill/>
        </p:spPr>
        <p:txBody>
          <a:bodyPr wrap="square" lIns="27432" tIns="18288" rIns="27432" bIns="18288" anchor="t">
            <a:spAutoFit/>
          </a:bodyPr>
          <a:lstStyle/>
          <a:p>
            <a:pPr algn="l"/>
            <a:r>
              <a:rPr sz="1300" b="0" dirty="0">
                <a:solidFill>
                  <a:srgbClr val="696969"/>
                </a:solidFill>
                <a:latin typeface="Aptos"/>
              </a:rPr>
              <a:t>Focused preliminary review • broader literature audit </a:t>
            </a:r>
            <a:r>
              <a:rPr lang="en-US" sz="1300" b="0" dirty="0">
                <a:solidFill>
                  <a:srgbClr val="696969"/>
                </a:solidFill>
                <a:latin typeface="Aptos"/>
              </a:rPr>
              <a:t>ongoing</a:t>
            </a:r>
            <a:r>
              <a:rPr sz="1300" b="0" dirty="0">
                <a:solidFill>
                  <a:srgbClr val="696969"/>
                </a:solidFill>
                <a:latin typeface="Aptos"/>
              </a:rPr>
              <a:t> • </a:t>
            </a:r>
            <a:r>
              <a:rPr lang="en-US" sz="1300" b="0" dirty="0">
                <a:solidFill>
                  <a:srgbClr val="696969"/>
                </a:solidFill>
                <a:latin typeface="Aptos"/>
              </a:rPr>
              <a:t>1 October </a:t>
            </a:r>
            <a:r>
              <a:rPr sz="1300" b="0" dirty="0">
                <a:solidFill>
                  <a:srgbClr val="696969"/>
                </a:solidFill>
                <a:latin typeface="Aptos"/>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RESEARCH QUESTION</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The question: robust safety without blanket refusal</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Evidence base: [1]–[10]</a:t>
            </a:r>
          </a:p>
        </p:txBody>
      </p:sp>
      <p:sp>
        <p:nvSpPr>
          <p:cNvPr id="6" name="TextBox 5"/>
          <p:cNvSpPr txBox="1"/>
          <p:nvPr/>
        </p:nvSpPr>
        <p:spPr>
          <a:xfrm>
            <a:off x="11082528" y="6473952"/>
            <a:ext cx="438912" cy="201168"/>
          </a:xfrm>
          <a:prstGeom prst="rect">
            <a:avLst/>
          </a:prstGeom>
          <a:noFill/>
        </p:spPr>
        <p:txBody>
          <a:bodyPr wrap="square" lIns="27432" tIns="18288" rIns="27432" bIns="18288" anchor="t">
            <a:spAutoFit/>
          </a:bodyPr>
          <a:lstStyle/>
          <a:p>
            <a:pPr algn="r"/>
            <a:r>
              <a:rPr sz="900" b="0">
                <a:solidFill>
                  <a:srgbClr val="696969"/>
                </a:solidFill>
                <a:latin typeface="Aptos"/>
              </a:rPr>
              <a:t>02</a:t>
            </a:r>
          </a:p>
        </p:txBody>
      </p:sp>
      <p:sp>
        <p:nvSpPr>
          <p:cNvPr id="7" name="Rectangle 6"/>
          <p:cNvSpPr/>
          <p:nvPr/>
        </p:nvSpPr>
        <p:spPr>
          <a:xfrm>
            <a:off x="777240" y="1600200"/>
            <a:ext cx="3429000" cy="21488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600200"/>
            <a:ext cx="64008" cy="2148840"/>
          </a:xfrm>
          <a:prstGeom prst="rect">
            <a:avLst/>
          </a:prstGeom>
          <a:solidFill>
            <a:srgbClr val="4B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737360"/>
            <a:ext cx="3081528" cy="310896"/>
          </a:xfrm>
          <a:prstGeom prst="rect">
            <a:avLst/>
          </a:prstGeom>
          <a:noFill/>
        </p:spPr>
        <p:txBody>
          <a:bodyPr wrap="square" lIns="27432" tIns="18288" rIns="27432" bIns="18288" anchor="t">
            <a:spAutoFit/>
          </a:bodyPr>
          <a:lstStyle/>
          <a:p>
            <a:pPr algn="l"/>
            <a:r>
              <a:rPr sz="1500" b="1">
                <a:solidFill>
                  <a:srgbClr val="4B4B4B"/>
                </a:solidFill>
                <a:latin typeface="Aptos"/>
              </a:rPr>
              <a:t>HARM PREVENTION</a:t>
            </a:r>
          </a:p>
        </p:txBody>
      </p:sp>
      <p:sp>
        <p:nvSpPr>
          <p:cNvPr id="10" name="TextBox 9"/>
          <p:cNvSpPr txBox="1"/>
          <p:nvPr/>
        </p:nvSpPr>
        <p:spPr>
          <a:xfrm>
            <a:off x="960120" y="2130552"/>
            <a:ext cx="3081528" cy="1527048"/>
          </a:xfrm>
          <a:prstGeom prst="rect">
            <a:avLst/>
          </a:prstGeom>
          <a:noFill/>
        </p:spPr>
        <p:txBody>
          <a:bodyPr wrap="square" lIns="27432" tIns="18288" rIns="27432" bIns="18288" anchor="t">
            <a:spAutoFit/>
          </a:bodyPr>
          <a:lstStyle/>
          <a:p>
            <a:pPr algn="l"/>
            <a:r>
              <a:rPr sz="1700" b="0">
                <a:solidFill>
                  <a:srgbClr val="2D2D2D"/>
                </a:solidFill>
                <a:latin typeface="Aptos"/>
              </a:rPr>
              <a:t>Resist unsafe requests carried by text, image text, visual semantics, or their combination.</a:t>
            </a:r>
          </a:p>
        </p:txBody>
      </p:sp>
      <p:sp>
        <p:nvSpPr>
          <p:cNvPr id="11" name="Rectangle 10"/>
          <p:cNvSpPr/>
          <p:nvPr/>
        </p:nvSpPr>
        <p:spPr>
          <a:xfrm>
            <a:off x="4389120" y="1600200"/>
            <a:ext cx="3429000" cy="21488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00200"/>
            <a:ext cx="64008" cy="2148840"/>
          </a:xfrm>
          <a:prstGeom prst="rect">
            <a:avLst/>
          </a:prstGeom>
          <a:solidFill>
            <a:srgbClr val="4B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737360"/>
            <a:ext cx="3081528" cy="310896"/>
          </a:xfrm>
          <a:prstGeom prst="rect">
            <a:avLst/>
          </a:prstGeom>
          <a:noFill/>
        </p:spPr>
        <p:txBody>
          <a:bodyPr wrap="square" lIns="27432" tIns="18288" rIns="27432" bIns="18288" anchor="t">
            <a:spAutoFit/>
          </a:bodyPr>
          <a:lstStyle/>
          <a:p>
            <a:pPr algn="l"/>
            <a:r>
              <a:rPr sz="1500" b="1">
                <a:solidFill>
                  <a:srgbClr val="4B4B4B"/>
                </a:solidFill>
                <a:latin typeface="Aptos"/>
              </a:rPr>
              <a:t>BENIGN ANSWERABILITY</a:t>
            </a:r>
          </a:p>
        </p:txBody>
      </p:sp>
      <p:sp>
        <p:nvSpPr>
          <p:cNvPr id="14" name="TextBox 13"/>
          <p:cNvSpPr txBox="1"/>
          <p:nvPr/>
        </p:nvSpPr>
        <p:spPr>
          <a:xfrm>
            <a:off x="4572000" y="2130552"/>
            <a:ext cx="3081528" cy="1527048"/>
          </a:xfrm>
          <a:prstGeom prst="rect">
            <a:avLst/>
          </a:prstGeom>
          <a:noFill/>
        </p:spPr>
        <p:txBody>
          <a:bodyPr wrap="square" lIns="27432" tIns="18288" rIns="27432" bIns="18288" anchor="t">
            <a:spAutoFit/>
          </a:bodyPr>
          <a:lstStyle/>
          <a:p>
            <a:pPr algn="l"/>
            <a:r>
              <a:rPr sz="1700" b="0">
                <a:solidFill>
                  <a:srgbClr val="2D2D2D"/>
                </a:solidFill>
                <a:latin typeface="Aptos"/>
              </a:rPr>
              <a:t>Continue answering safe requests, including near-neighbors that resemble risky cases.</a:t>
            </a:r>
          </a:p>
        </p:txBody>
      </p:sp>
      <p:sp>
        <p:nvSpPr>
          <p:cNvPr id="15" name="Rectangle 14"/>
          <p:cNvSpPr/>
          <p:nvPr/>
        </p:nvSpPr>
        <p:spPr>
          <a:xfrm>
            <a:off x="8001000" y="1600200"/>
            <a:ext cx="3429000" cy="214884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01000" y="1600200"/>
            <a:ext cx="64008" cy="2148840"/>
          </a:xfrm>
          <a:prstGeom prst="rect">
            <a:avLst/>
          </a:prstGeom>
          <a:solidFill>
            <a:srgbClr val="4B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1737360"/>
            <a:ext cx="3081528" cy="310896"/>
          </a:xfrm>
          <a:prstGeom prst="rect">
            <a:avLst/>
          </a:prstGeom>
          <a:noFill/>
        </p:spPr>
        <p:txBody>
          <a:bodyPr wrap="square" lIns="27432" tIns="18288" rIns="27432" bIns="18288" anchor="t">
            <a:spAutoFit/>
          </a:bodyPr>
          <a:lstStyle/>
          <a:p>
            <a:pPr algn="l"/>
            <a:r>
              <a:rPr sz="1500" b="1">
                <a:solidFill>
                  <a:srgbClr val="4B4B4B"/>
                </a:solidFill>
                <a:latin typeface="Aptos"/>
              </a:rPr>
              <a:t>VISUAL GROUNDING</a:t>
            </a:r>
          </a:p>
        </p:txBody>
      </p:sp>
      <p:sp>
        <p:nvSpPr>
          <p:cNvPr id="18" name="TextBox 17"/>
          <p:cNvSpPr txBox="1"/>
          <p:nvPr/>
        </p:nvSpPr>
        <p:spPr>
          <a:xfrm>
            <a:off x="8183879" y="2130552"/>
            <a:ext cx="3081528" cy="1527048"/>
          </a:xfrm>
          <a:prstGeom prst="rect">
            <a:avLst/>
          </a:prstGeom>
          <a:noFill/>
        </p:spPr>
        <p:txBody>
          <a:bodyPr wrap="square" lIns="27432" tIns="18288" rIns="27432" bIns="18288" anchor="t">
            <a:spAutoFit/>
          </a:bodyPr>
          <a:lstStyle/>
          <a:p>
            <a:pPr algn="l"/>
            <a:r>
              <a:rPr sz="1700" b="0">
                <a:solidFill>
                  <a:srgbClr val="2D2D2D"/>
                </a:solidFill>
                <a:latin typeface="Aptos"/>
              </a:rPr>
              <a:t>Make the safety decision depend on relevant image evidence, not only leaked text cues.</a:t>
            </a:r>
          </a:p>
        </p:txBody>
      </p:sp>
      <p:sp>
        <p:nvSpPr>
          <p:cNvPr id="19" name="TextBox 18"/>
          <p:cNvSpPr txBox="1"/>
          <p:nvPr/>
        </p:nvSpPr>
        <p:spPr>
          <a:xfrm>
            <a:off x="932688" y="4251960"/>
            <a:ext cx="9966960" cy="320040"/>
          </a:xfrm>
          <a:prstGeom prst="rect">
            <a:avLst/>
          </a:prstGeom>
          <a:noFill/>
        </p:spPr>
        <p:txBody>
          <a:bodyPr wrap="square" lIns="27432" tIns="18288" rIns="27432" bIns="18288" anchor="t">
            <a:spAutoFit/>
          </a:bodyPr>
          <a:lstStyle/>
          <a:p>
            <a:pPr algn="l"/>
            <a:r>
              <a:rPr sz="1500" b="1">
                <a:solidFill>
                  <a:srgbClr val="4B4B4B"/>
                </a:solidFill>
                <a:latin typeface="Aptos"/>
              </a:rPr>
              <a:t>Research question</a:t>
            </a:r>
          </a:p>
        </p:txBody>
      </p:sp>
      <p:sp>
        <p:nvSpPr>
          <p:cNvPr id="20" name="TextBox 19"/>
          <p:cNvSpPr txBox="1"/>
          <p:nvPr/>
        </p:nvSpPr>
        <p:spPr>
          <a:xfrm>
            <a:off x="932688" y="4617720"/>
            <a:ext cx="10149840" cy="914400"/>
          </a:xfrm>
          <a:prstGeom prst="rect">
            <a:avLst/>
          </a:prstGeom>
          <a:noFill/>
        </p:spPr>
        <p:txBody>
          <a:bodyPr wrap="square" lIns="27432" tIns="18288" rIns="27432" bIns="18288" anchor="t">
            <a:spAutoFit/>
          </a:bodyPr>
          <a:lstStyle/>
          <a:p>
            <a:pPr algn="l"/>
            <a:r>
              <a:rPr sz="2200" b="1">
                <a:solidFill>
                  <a:srgbClr val="232323"/>
                </a:solidFill>
                <a:latin typeface="Aptos"/>
              </a:rPr>
              <a:t>For a fixed open-weight VLM and matched data budget, which alignment intervention improves held-out visual/cross-modal attack resistance while preserving safe answer quality and image grounding?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PROBLEM FRAMING</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Four input pathways create distinct failure modes</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FigStep [1]; HoliSafe [8]; VLSBench [2]</a:t>
            </a:r>
          </a:p>
        </p:txBody>
      </p:sp>
      <p:sp>
        <p:nvSpPr>
          <p:cNvPr id="6" name="TextBox 5"/>
          <p:cNvSpPr txBox="1"/>
          <p:nvPr/>
        </p:nvSpPr>
        <p:spPr>
          <a:xfrm>
            <a:off x="11082528" y="6473952"/>
            <a:ext cx="438912" cy="201168"/>
          </a:xfrm>
          <a:prstGeom prst="rect">
            <a:avLst/>
          </a:prstGeom>
          <a:noFill/>
        </p:spPr>
        <p:txBody>
          <a:bodyPr wrap="square" lIns="27432" tIns="18288" rIns="27432" bIns="18288" anchor="t">
            <a:spAutoFit/>
          </a:bodyPr>
          <a:lstStyle/>
          <a:p>
            <a:pPr algn="r"/>
            <a:r>
              <a:rPr sz="900" b="0">
                <a:solidFill>
                  <a:srgbClr val="696969"/>
                </a:solidFill>
                <a:latin typeface="Aptos"/>
              </a:rPr>
              <a:t>03</a:t>
            </a:r>
          </a:p>
        </p:txBody>
      </p:sp>
      <p:graphicFrame>
        <p:nvGraphicFramePr>
          <p:cNvPr id="7" name="Table 6"/>
          <p:cNvGraphicFramePr>
            <a:graphicFrameLocks noGrp="1"/>
          </p:cNvGraphicFramePr>
          <p:nvPr>
            <p:extLst>
              <p:ext uri="{D42A27DB-BD31-4B8C-83A1-F6EECF244321}">
                <p14:modId xmlns:p14="http://schemas.microsoft.com/office/powerpoint/2010/main" val="3278711583"/>
              </p:ext>
            </p:extLst>
          </p:nvPr>
        </p:nvGraphicFramePr>
        <p:xfrm>
          <a:off x="777240" y="1627632"/>
          <a:ext cx="10652760" cy="3611880"/>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722376">
                <a:tc>
                  <a:txBody>
                    <a:bodyPr/>
                    <a:lstStyle/>
                    <a:p>
                      <a:pPr>
                        <a:spcAft>
                          <a:spcPts val="0"/>
                        </a:spcAft>
                      </a:pPr>
                      <a:r>
                        <a:rPr sz="1400" b="1">
                          <a:solidFill>
                            <a:srgbClr val="2D2D2D"/>
                          </a:solidFill>
                          <a:latin typeface="Aptos"/>
                        </a:rPr>
                        <a:t>Carrier / composition</a:t>
                      </a:r>
                    </a:p>
                  </a:txBody>
                  <a:tcPr marL="73152" marR="54864" marT="36576" marB="27432" anchor="ctr">
                    <a:solidFill>
                      <a:srgbClr val="F2F2F2"/>
                    </a:solidFill>
                  </a:tcPr>
                </a:tc>
                <a:tc>
                  <a:txBody>
                    <a:bodyPr/>
                    <a:lstStyle/>
                    <a:p>
                      <a:pPr>
                        <a:spcAft>
                          <a:spcPts val="0"/>
                        </a:spcAft>
                      </a:pPr>
                      <a:r>
                        <a:rPr sz="1400" b="1">
                          <a:solidFill>
                            <a:srgbClr val="2D2D2D"/>
                          </a:solidFill>
                          <a:latin typeface="Aptos"/>
                        </a:rPr>
                        <a:t>Example test condition</a:t>
                      </a:r>
                    </a:p>
                  </a:txBody>
                  <a:tcPr marL="73152" marR="54864" marT="36576" marB="27432" anchor="ctr">
                    <a:solidFill>
                      <a:srgbClr val="F2F2F2"/>
                    </a:solidFill>
                  </a:tcPr>
                </a:tc>
                <a:tc>
                  <a:txBody>
                    <a:bodyPr/>
                    <a:lstStyle/>
                    <a:p>
                      <a:pPr>
                        <a:spcAft>
                          <a:spcPts val="0"/>
                        </a:spcAft>
                      </a:pPr>
                      <a:r>
                        <a:rPr sz="1400" b="1">
                          <a:solidFill>
                            <a:srgbClr val="2D2D2D"/>
                          </a:solidFill>
                          <a:latin typeface="Aptos"/>
                        </a:rPr>
                        <a:t>What it probes</a:t>
                      </a:r>
                    </a:p>
                  </a:txBody>
                  <a:tcPr marL="73152" marR="54864" marT="36576" marB="27432" anchor="ctr">
                    <a:solidFill>
                      <a:srgbClr val="F2F2F2"/>
                    </a:solidFill>
                  </a:tcPr>
                </a:tc>
                <a:extLst>
                  <a:ext uri="{0D108BD9-81ED-4DB2-BD59-A6C34878D82A}">
                    <a16:rowId xmlns:a16="http://schemas.microsoft.com/office/drawing/2014/main" val="10000"/>
                  </a:ext>
                </a:extLst>
              </a:tr>
              <a:tr h="722376">
                <a:tc>
                  <a:txBody>
                    <a:bodyPr/>
                    <a:lstStyle/>
                    <a:p>
                      <a:pPr>
                        <a:spcAft>
                          <a:spcPts val="0"/>
                        </a:spcAft>
                      </a:pPr>
                      <a:r>
                        <a:rPr sz="1500" b="1">
                          <a:solidFill>
                            <a:srgbClr val="2D2D2D"/>
                          </a:solidFill>
                          <a:latin typeface="Aptos"/>
                        </a:rPr>
                        <a:t>Text instruction</a:t>
                      </a:r>
                    </a:p>
                  </a:txBody>
                  <a:tcPr marL="73152" marR="54864" marT="36576" marB="27432" anchor="ctr">
                    <a:solidFill>
                      <a:srgbClr val="FFFFFF"/>
                    </a:solidFill>
                  </a:tcPr>
                </a:tc>
                <a:tc>
                  <a:txBody>
                    <a:bodyPr/>
                    <a:lstStyle/>
                    <a:p>
                      <a:pPr>
                        <a:spcAft>
                          <a:spcPts val="0"/>
                        </a:spcAft>
                      </a:pPr>
                      <a:r>
                        <a:rPr sz="1500" b="0" dirty="0">
                          <a:solidFill>
                            <a:srgbClr val="2D2D2D"/>
                          </a:solidFill>
                          <a:latin typeface="Aptos"/>
                        </a:rPr>
                        <a:t>Unsafe request in ordinary text</a:t>
                      </a:r>
                      <a:r>
                        <a:rPr lang="en-US" sz="1500" b="0" dirty="0">
                          <a:solidFill>
                            <a:srgbClr val="2D2D2D"/>
                          </a:solidFill>
                          <a:latin typeface="Aptos"/>
                        </a:rPr>
                        <a:t>  [</a:t>
                      </a:r>
                      <a:r>
                        <a:rPr lang="en-US" sz="1500" b="0" dirty="0" err="1">
                          <a:solidFill>
                            <a:srgbClr val="2D2D2D"/>
                          </a:solidFill>
                          <a:latin typeface="Aptos"/>
                        </a:rPr>
                        <a:t>S_i</a:t>
                      </a:r>
                      <a:r>
                        <a:rPr lang="en-US" sz="1500" b="0" dirty="0">
                          <a:solidFill>
                            <a:srgbClr val="2D2D2D"/>
                          </a:solidFill>
                          <a:latin typeface="Aptos"/>
                        </a:rPr>
                        <a:t> + </a:t>
                      </a:r>
                      <a:r>
                        <a:rPr lang="en-US" sz="1500" b="0" dirty="0" err="1">
                          <a:solidFill>
                            <a:srgbClr val="2D2D2D"/>
                          </a:solidFill>
                          <a:latin typeface="Aptos"/>
                        </a:rPr>
                        <a:t>U_t</a:t>
                      </a:r>
                      <a:r>
                        <a:rPr lang="en-US" sz="1500" b="0" dirty="0">
                          <a:solidFill>
                            <a:srgbClr val="2D2D2D"/>
                          </a:solidFill>
                          <a:latin typeface="Aptos"/>
                        </a:rPr>
                        <a:t>]</a:t>
                      </a:r>
                      <a:endParaRPr sz="1500" b="0" dirty="0">
                        <a:solidFill>
                          <a:srgbClr val="2D2D2D"/>
                        </a:solidFill>
                        <a:latin typeface="Aptos"/>
                      </a:endParaRPr>
                    </a:p>
                  </a:txBody>
                  <a:tcPr marL="73152" marR="54864" marT="36576" marB="27432" anchor="ctr">
                    <a:solidFill>
                      <a:srgbClr val="FFFFFF"/>
                    </a:solidFill>
                  </a:tcPr>
                </a:tc>
                <a:tc>
                  <a:txBody>
                    <a:bodyPr/>
                    <a:lstStyle/>
                    <a:p>
                      <a:pPr>
                        <a:spcAft>
                          <a:spcPts val="0"/>
                        </a:spcAft>
                      </a:pPr>
                      <a:r>
                        <a:rPr sz="1500" b="0">
                          <a:solidFill>
                            <a:srgbClr val="2D2D2D"/>
                          </a:solidFill>
                          <a:latin typeface="Aptos"/>
                        </a:rPr>
                        <a:t>Inherited language safety</a:t>
                      </a:r>
                    </a:p>
                  </a:txBody>
                  <a:tcPr marL="73152" marR="54864" marT="36576" marB="27432" anchor="ctr">
                    <a:solidFill>
                      <a:srgbClr val="FFFFFF"/>
                    </a:solidFill>
                  </a:tcPr>
                </a:tc>
                <a:extLst>
                  <a:ext uri="{0D108BD9-81ED-4DB2-BD59-A6C34878D82A}">
                    <a16:rowId xmlns:a16="http://schemas.microsoft.com/office/drawing/2014/main" val="10001"/>
                  </a:ext>
                </a:extLst>
              </a:tr>
              <a:tr h="722376">
                <a:tc>
                  <a:txBody>
                    <a:bodyPr/>
                    <a:lstStyle/>
                    <a:p>
                      <a:pPr>
                        <a:spcAft>
                          <a:spcPts val="0"/>
                        </a:spcAft>
                      </a:pPr>
                      <a:r>
                        <a:rPr sz="1500" b="1">
                          <a:solidFill>
                            <a:srgbClr val="2D2D2D"/>
                          </a:solidFill>
                          <a:latin typeface="Aptos"/>
                        </a:rPr>
                        <a:t>Text inside image</a:t>
                      </a:r>
                    </a:p>
                  </a:txBody>
                  <a:tcPr marL="73152" marR="54864" marT="36576" marB="27432" anchor="ctr">
                    <a:solidFill>
                      <a:srgbClr val="FFFFFF"/>
                    </a:solidFill>
                  </a:tcPr>
                </a:tc>
                <a:tc>
                  <a:txBody>
                    <a:bodyPr/>
                    <a:lstStyle/>
                    <a:p>
                      <a:pPr>
                        <a:spcAft>
                          <a:spcPts val="0"/>
                        </a:spcAft>
                      </a:pPr>
                      <a:r>
                        <a:rPr sz="1500" b="0" dirty="0">
                          <a:solidFill>
                            <a:srgbClr val="2D2D2D"/>
                          </a:solidFill>
                          <a:latin typeface="Aptos"/>
                        </a:rPr>
                        <a:t>Harmful instruction rendered as typography</a:t>
                      </a:r>
                      <a:r>
                        <a:rPr lang="en-US" sz="1500" b="0" dirty="0">
                          <a:solidFill>
                            <a:srgbClr val="2D2D2D"/>
                          </a:solidFill>
                          <a:latin typeface="Aptos"/>
                        </a:rPr>
                        <a:t> </a:t>
                      </a:r>
                    </a:p>
                    <a:p>
                      <a:pPr>
                        <a:spcAft>
                          <a:spcPts val="0"/>
                        </a:spcAft>
                      </a:pPr>
                      <a:r>
                        <a:rPr lang="en-US" sz="1500" b="0" dirty="0">
                          <a:solidFill>
                            <a:srgbClr val="2D2D2D"/>
                          </a:solidFill>
                          <a:latin typeface="Aptos"/>
                        </a:rPr>
                        <a:t>[</a:t>
                      </a:r>
                      <a:r>
                        <a:rPr lang="en-US" sz="1500" b="0" dirty="0" err="1">
                          <a:solidFill>
                            <a:srgbClr val="2D2D2D"/>
                          </a:solidFill>
                          <a:latin typeface="Aptos"/>
                        </a:rPr>
                        <a:t>U_i</a:t>
                      </a:r>
                      <a:r>
                        <a:rPr lang="en-US" sz="1500" b="0" dirty="0">
                          <a:solidFill>
                            <a:srgbClr val="2D2D2D"/>
                          </a:solidFill>
                          <a:latin typeface="Aptos"/>
                        </a:rPr>
                        <a:t> + </a:t>
                      </a:r>
                      <a:r>
                        <a:rPr lang="en-US" sz="1500" b="0" dirty="0" err="1">
                          <a:solidFill>
                            <a:srgbClr val="2D2D2D"/>
                          </a:solidFill>
                          <a:latin typeface="Aptos"/>
                        </a:rPr>
                        <a:t>S_t</a:t>
                      </a:r>
                      <a:r>
                        <a:rPr lang="en-US" sz="1500" b="0" dirty="0">
                          <a:solidFill>
                            <a:srgbClr val="2D2D2D"/>
                          </a:solidFill>
                          <a:latin typeface="Aptos"/>
                        </a:rPr>
                        <a:t>]</a:t>
                      </a:r>
                      <a:endParaRPr sz="1500" b="0" dirty="0">
                        <a:solidFill>
                          <a:srgbClr val="2D2D2D"/>
                        </a:solidFill>
                        <a:latin typeface="Aptos"/>
                      </a:endParaRPr>
                    </a:p>
                  </a:txBody>
                  <a:tcPr marL="73152" marR="54864" marT="36576" marB="27432" anchor="ctr">
                    <a:solidFill>
                      <a:srgbClr val="FFFFFF"/>
                    </a:solidFill>
                  </a:tcPr>
                </a:tc>
                <a:tc>
                  <a:txBody>
                    <a:bodyPr/>
                    <a:lstStyle/>
                    <a:p>
                      <a:pPr>
                        <a:spcAft>
                          <a:spcPts val="0"/>
                        </a:spcAft>
                      </a:pPr>
                      <a:r>
                        <a:rPr sz="1500" b="0">
                          <a:solidFill>
                            <a:srgbClr val="2D2D2D"/>
                          </a:solidFill>
                          <a:latin typeface="Aptos"/>
                        </a:rPr>
                        <a:t>OCR / visual-text pathway</a:t>
                      </a:r>
                    </a:p>
                  </a:txBody>
                  <a:tcPr marL="73152" marR="54864" marT="36576" marB="27432" anchor="ctr">
                    <a:solidFill>
                      <a:srgbClr val="FFFFFF"/>
                    </a:solidFill>
                  </a:tcPr>
                </a:tc>
                <a:extLst>
                  <a:ext uri="{0D108BD9-81ED-4DB2-BD59-A6C34878D82A}">
                    <a16:rowId xmlns:a16="http://schemas.microsoft.com/office/drawing/2014/main" val="10002"/>
                  </a:ext>
                </a:extLst>
              </a:tr>
              <a:tr h="722376">
                <a:tc>
                  <a:txBody>
                    <a:bodyPr/>
                    <a:lstStyle/>
                    <a:p>
                      <a:pPr>
                        <a:spcAft>
                          <a:spcPts val="0"/>
                        </a:spcAft>
                      </a:pPr>
                      <a:r>
                        <a:rPr sz="1500" b="1">
                          <a:solidFill>
                            <a:srgbClr val="2D2D2D"/>
                          </a:solidFill>
                          <a:latin typeface="Aptos"/>
                        </a:rPr>
                        <a:t>Visual semantics</a:t>
                      </a:r>
                    </a:p>
                  </a:txBody>
                  <a:tcPr marL="73152" marR="54864" marT="36576" marB="27432" anchor="ctr">
                    <a:solidFill>
                      <a:srgbClr val="FFFFFF"/>
                    </a:solidFill>
                  </a:tcPr>
                </a:tc>
                <a:tc>
                  <a:txBody>
                    <a:bodyPr/>
                    <a:lstStyle/>
                    <a:p>
                      <a:pPr>
                        <a:spcAft>
                          <a:spcPts val="0"/>
                        </a:spcAft>
                      </a:pPr>
                      <a:r>
                        <a:rPr sz="1500" b="0" dirty="0">
                          <a:solidFill>
                            <a:srgbClr val="2D2D2D"/>
                          </a:solidFill>
                          <a:latin typeface="Aptos"/>
                        </a:rPr>
                        <a:t>Image depicts a risky object, act, or context</a:t>
                      </a:r>
                      <a:r>
                        <a:rPr lang="en-US" sz="1500" b="0" dirty="0">
                          <a:solidFill>
                            <a:srgbClr val="2D2D2D"/>
                          </a:solidFill>
                          <a:latin typeface="Aptos"/>
                        </a:rPr>
                        <a:t>  [</a:t>
                      </a:r>
                      <a:r>
                        <a:rPr lang="en-US" sz="1500" b="0" dirty="0" err="1">
                          <a:solidFill>
                            <a:srgbClr val="2D2D2D"/>
                          </a:solidFill>
                          <a:latin typeface="Aptos"/>
                        </a:rPr>
                        <a:t>U_i</a:t>
                      </a:r>
                      <a:r>
                        <a:rPr lang="en-US" sz="1500" b="0" dirty="0">
                          <a:solidFill>
                            <a:srgbClr val="2D2D2D"/>
                          </a:solidFill>
                          <a:latin typeface="Aptos"/>
                        </a:rPr>
                        <a:t> + </a:t>
                      </a:r>
                      <a:r>
                        <a:rPr lang="en-US" sz="1500" b="0" dirty="0" err="1">
                          <a:solidFill>
                            <a:srgbClr val="2D2D2D"/>
                          </a:solidFill>
                          <a:latin typeface="Aptos"/>
                        </a:rPr>
                        <a:t>S_t</a:t>
                      </a:r>
                      <a:r>
                        <a:rPr lang="en-US" sz="1500" b="0" dirty="0">
                          <a:solidFill>
                            <a:srgbClr val="2D2D2D"/>
                          </a:solidFill>
                          <a:latin typeface="Aptos"/>
                        </a:rPr>
                        <a:t>]</a:t>
                      </a:r>
                      <a:endParaRPr sz="1500" b="0" dirty="0">
                        <a:solidFill>
                          <a:srgbClr val="2D2D2D"/>
                        </a:solidFill>
                        <a:latin typeface="Aptos"/>
                      </a:endParaRPr>
                    </a:p>
                  </a:txBody>
                  <a:tcPr marL="73152" marR="54864" marT="36576" marB="27432" anchor="ctr">
                    <a:solidFill>
                      <a:srgbClr val="FFFFFF"/>
                    </a:solidFill>
                  </a:tcPr>
                </a:tc>
                <a:tc>
                  <a:txBody>
                    <a:bodyPr/>
                    <a:lstStyle/>
                    <a:p>
                      <a:pPr>
                        <a:spcAft>
                          <a:spcPts val="0"/>
                        </a:spcAft>
                      </a:pPr>
                      <a:r>
                        <a:rPr sz="1500" b="0">
                          <a:solidFill>
                            <a:srgbClr val="2D2D2D"/>
                          </a:solidFill>
                          <a:latin typeface="Aptos"/>
                        </a:rPr>
                        <a:t>Visual safety representation</a:t>
                      </a:r>
                    </a:p>
                  </a:txBody>
                  <a:tcPr marL="73152" marR="54864" marT="36576" marB="27432" anchor="ctr">
                    <a:solidFill>
                      <a:srgbClr val="FFFFFF"/>
                    </a:solidFill>
                  </a:tcPr>
                </a:tc>
                <a:extLst>
                  <a:ext uri="{0D108BD9-81ED-4DB2-BD59-A6C34878D82A}">
                    <a16:rowId xmlns:a16="http://schemas.microsoft.com/office/drawing/2014/main" val="10003"/>
                  </a:ext>
                </a:extLst>
              </a:tr>
              <a:tr h="722376">
                <a:tc>
                  <a:txBody>
                    <a:bodyPr/>
                    <a:lstStyle/>
                    <a:p>
                      <a:pPr>
                        <a:spcAft>
                          <a:spcPts val="0"/>
                        </a:spcAft>
                      </a:pPr>
                      <a:r>
                        <a:rPr sz="1500" b="1">
                          <a:solidFill>
                            <a:srgbClr val="2D2D2D"/>
                          </a:solidFill>
                          <a:latin typeface="Aptos"/>
                        </a:rPr>
                        <a:t>Cross-modal composition</a:t>
                      </a:r>
                    </a:p>
                  </a:txBody>
                  <a:tcPr marL="73152" marR="54864" marT="36576" marB="27432" anchor="ctr">
                    <a:solidFill>
                      <a:srgbClr val="FFFFFF"/>
                    </a:solidFill>
                  </a:tcPr>
                </a:tc>
                <a:tc>
                  <a:txBody>
                    <a:bodyPr/>
                    <a:lstStyle/>
                    <a:p>
                      <a:pPr>
                        <a:spcAft>
                          <a:spcPts val="0"/>
                        </a:spcAft>
                      </a:pPr>
                      <a:r>
                        <a:rPr sz="1500" b="0" dirty="0">
                          <a:solidFill>
                            <a:srgbClr val="2D2D2D"/>
                          </a:solidFill>
                          <a:latin typeface="Aptos"/>
                        </a:rPr>
                        <a:t>Individually safe-looking image + text; unsafe joint intent</a:t>
                      </a:r>
                      <a:r>
                        <a:rPr lang="en-US" sz="1500" b="0" dirty="0">
                          <a:solidFill>
                            <a:srgbClr val="2D2D2D"/>
                          </a:solidFill>
                          <a:latin typeface="Aptos"/>
                        </a:rPr>
                        <a:t> [</a:t>
                      </a:r>
                      <a:r>
                        <a:rPr lang="en-US" sz="1500" b="0" dirty="0" err="1">
                          <a:solidFill>
                            <a:srgbClr val="2D2D2D"/>
                          </a:solidFill>
                          <a:latin typeface="Aptos"/>
                        </a:rPr>
                        <a:t>S_i</a:t>
                      </a:r>
                      <a:r>
                        <a:rPr lang="en-US" sz="1500" b="0" dirty="0">
                          <a:solidFill>
                            <a:srgbClr val="2D2D2D"/>
                          </a:solidFill>
                          <a:latin typeface="Aptos"/>
                        </a:rPr>
                        <a:t> + </a:t>
                      </a:r>
                      <a:r>
                        <a:rPr lang="en-US" sz="1500" b="0" dirty="0" err="1">
                          <a:solidFill>
                            <a:srgbClr val="2D2D2D"/>
                          </a:solidFill>
                          <a:latin typeface="Aptos"/>
                        </a:rPr>
                        <a:t>S_t</a:t>
                      </a:r>
                      <a:r>
                        <a:rPr lang="en-US" sz="1500" b="0" dirty="0">
                          <a:solidFill>
                            <a:srgbClr val="2D2D2D"/>
                          </a:solidFill>
                          <a:latin typeface="Aptos"/>
                        </a:rPr>
                        <a:t> -&gt; U]</a:t>
                      </a:r>
                      <a:endParaRPr sz="1500" b="0" dirty="0">
                        <a:solidFill>
                          <a:srgbClr val="2D2D2D"/>
                        </a:solidFill>
                        <a:latin typeface="Aptos"/>
                      </a:endParaRPr>
                    </a:p>
                  </a:txBody>
                  <a:tcPr marL="73152" marR="54864" marT="36576" marB="27432" anchor="ctr">
                    <a:solidFill>
                      <a:srgbClr val="FFFFFF"/>
                    </a:solidFill>
                  </a:tcPr>
                </a:tc>
                <a:tc>
                  <a:txBody>
                    <a:bodyPr/>
                    <a:lstStyle/>
                    <a:p>
                      <a:pPr>
                        <a:spcAft>
                          <a:spcPts val="0"/>
                        </a:spcAft>
                      </a:pPr>
                      <a:r>
                        <a:rPr sz="1500" b="0" dirty="0">
                          <a:solidFill>
                            <a:srgbClr val="2D2D2D"/>
                          </a:solidFill>
                          <a:latin typeface="Aptos"/>
                        </a:rPr>
                        <a:t>Joint interpretation and grounding</a:t>
                      </a:r>
                    </a:p>
                  </a:txBody>
                  <a:tcPr marL="73152" marR="54864" marT="36576" marB="27432" anchor="ctr">
                    <a:solidFill>
                      <a:srgbClr val="FFFFFF"/>
                    </a:solidFill>
                  </a:tcPr>
                </a:tc>
                <a:extLst>
                  <a:ext uri="{0D108BD9-81ED-4DB2-BD59-A6C34878D82A}">
                    <a16:rowId xmlns:a16="http://schemas.microsoft.com/office/drawing/2014/main" val="10004"/>
                  </a:ext>
                </a:extLst>
              </a:tr>
            </a:tbl>
          </a:graphicData>
        </a:graphic>
      </p:graphicFrame>
      <p:cxnSp>
        <p:nvCxnSpPr>
          <p:cNvPr id="8" name="Connector 7"/>
          <p:cNvCxnSpPr/>
          <p:nvPr/>
        </p:nvCxnSpPr>
        <p:spPr>
          <a:xfrm>
            <a:off x="3108960" y="1627632"/>
            <a:ext cx="0" cy="36118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60920" y="1627632"/>
            <a:ext cx="0" cy="36118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 y="2350008"/>
            <a:ext cx="106527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 y="3072384"/>
            <a:ext cx="106527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 y="3794760"/>
            <a:ext cx="106527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 y="4517136"/>
            <a:ext cx="106527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 y="1627632"/>
            <a:ext cx="106527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7240" y="5239512"/>
            <a:ext cx="106527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77240" y="1627632"/>
            <a:ext cx="0" cy="36118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430000" y="1627632"/>
            <a:ext cx="0" cy="36118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486400"/>
            <a:ext cx="10607040" cy="566928"/>
          </a:xfrm>
          <a:prstGeom prst="rect">
            <a:avLst/>
          </a:prstGeom>
          <a:noFill/>
        </p:spPr>
        <p:txBody>
          <a:bodyPr wrap="square" lIns="27432" tIns="18288" rIns="27432" bIns="18288" anchor="t">
            <a:spAutoFit/>
          </a:bodyPr>
          <a:lstStyle/>
          <a:p>
            <a:pPr algn="l"/>
            <a:r>
              <a:rPr sz="1700" b="1">
                <a:solidFill>
                  <a:srgbClr val="4B4B4B"/>
                </a:solidFill>
                <a:latin typeface="Aptos"/>
              </a:rPr>
              <a:t>Evaluate each pathway separately; a single pooled ASR can hide which modality is failing.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LITERATURE REVIEW</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Ten papers, four jobs in the proposed study</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[1] FigStep; [2] VLSBench; [3] USB; [4] PolyJailbreak; [5] VLGuard; [6] SPA-VL; [7] ADPO; [8] HoliSafe; [9] DAVSP; [10] Pragma-VL</a:t>
            </a:r>
          </a:p>
        </p:txBody>
      </p:sp>
      <p:sp>
        <p:nvSpPr>
          <p:cNvPr id="6" name="TextBox 5"/>
          <p:cNvSpPr txBox="1"/>
          <p:nvPr/>
        </p:nvSpPr>
        <p:spPr>
          <a:xfrm>
            <a:off x="11082528" y="6473952"/>
            <a:ext cx="438912" cy="201168"/>
          </a:xfrm>
          <a:prstGeom prst="rect">
            <a:avLst/>
          </a:prstGeom>
          <a:noFill/>
        </p:spPr>
        <p:txBody>
          <a:bodyPr wrap="square" lIns="27432" tIns="18288" rIns="27432" bIns="18288" anchor="t">
            <a:spAutoFit/>
          </a:bodyPr>
          <a:lstStyle/>
          <a:p>
            <a:pPr algn="r"/>
            <a:r>
              <a:rPr sz="900" b="0">
                <a:solidFill>
                  <a:srgbClr val="696969"/>
                </a:solidFill>
                <a:latin typeface="Aptos"/>
              </a:rPr>
              <a:t>04</a:t>
            </a:r>
          </a:p>
        </p:txBody>
      </p:sp>
      <p:graphicFrame>
        <p:nvGraphicFramePr>
          <p:cNvPr id="7" name="Table 6"/>
          <p:cNvGraphicFramePr>
            <a:graphicFrameLocks noGrp="1"/>
          </p:cNvGraphicFramePr>
          <p:nvPr/>
        </p:nvGraphicFramePr>
        <p:xfrm>
          <a:off x="731520" y="1508760"/>
          <a:ext cx="10789920" cy="43891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877824">
                <a:tc>
                  <a:txBody>
                    <a:bodyPr/>
                    <a:lstStyle/>
                    <a:p>
                      <a:pPr>
                        <a:spcAft>
                          <a:spcPts val="0"/>
                        </a:spcAft>
                      </a:pPr>
                      <a:r>
                        <a:rPr sz="1300" b="1">
                          <a:solidFill>
                            <a:srgbClr val="2D2D2D"/>
                          </a:solidFill>
                          <a:latin typeface="Aptos"/>
                        </a:rPr>
                        <a:t>Job</a:t>
                      </a:r>
                    </a:p>
                  </a:txBody>
                  <a:tcPr marL="73152" marR="54864" marT="36576" marB="27432" anchor="ctr">
                    <a:solidFill>
                      <a:srgbClr val="F2F2F2"/>
                    </a:solidFill>
                  </a:tcPr>
                </a:tc>
                <a:tc>
                  <a:txBody>
                    <a:bodyPr/>
                    <a:lstStyle/>
                    <a:p>
                      <a:pPr>
                        <a:spcAft>
                          <a:spcPts val="0"/>
                        </a:spcAft>
                      </a:pPr>
                      <a:r>
                        <a:rPr sz="1300" b="1">
                          <a:solidFill>
                            <a:srgbClr val="2D2D2D"/>
                          </a:solidFill>
                          <a:latin typeface="Aptos"/>
                        </a:rPr>
                        <a:t>Papers</a:t>
                      </a:r>
                    </a:p>
                  </a:txBody>
                  <a:tcPr marL="73152" marR="54864" marT="36576" marB="27432" anchor="ctr">
                    <a:solidFill>
                      <a:srgbClr val="F2F2F2"/>
                    </a:solidFill>
                  </a:tcPr>
                </a:tc>
                <a:tc>
                  <a:txBody>
                    <a:bodyPr/>
                    <a:lstStyle/>
                    <a:p>
                      <a:pPr>
                        <a:spcAft>
                          <a:spcPts val="0"/>
                        </a:spcAft>
                      </a:pPr>
                      <a:r>
                        <a:rPr sz="1300" b="1">
                          <a:solidFill>
                            <a:srgbClr val="2D2D2D"/>
                          </a:solidFill>
                          <a:latin typeface="Aptos"/>
                        </a:rPr>
                        <a:t>How we use them</a:t>
                      </a:r>
                    </a:p>
                  </a:txBody>
                  <a:tcPr marL="73152" marR="54864" marT="36576" marB="27432" anchor="ctr">
                    <a:solidFill>
                      <a:srgbClr val="F2F2F2"/>
                    </a:solidFill>
                  </a:tcPr>
                </a:tc>
                <a:extLst>
                  <a:ext uri="{0D108BD9-81ED-4DB2-BD59-A6C34878D82A}">
                    <a16:rowId xmlns:a16="http://schemas.microsoft.com/office/drawing/2014/main" val="10000"/>
                  </a:ext>
                </a:extLst>
              </a:tr>
              <a:tr h="877824">
                <a:tc>
                  <a:txBody>
                    <a:bodyPr/>
                    <a:lstStyle/>
                    <a:p>
                      <a:pPr>
                        <a:spcAft>
                          <a:spcPts val="0"/>
                        </a:spcAft>
                      </a:pPr>
                      <a:r>
                        <a:rPr sz="1400" b="1">
                          <a:solidFill>
                            <a:srgbClr val="2D2D2D"/>
                          </a:solidFill>
                          <a:latin typeface="Aptos"/>
                        </a:rPr>
                        <a:t>Attack construction</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FigStep; PolyJailbreak</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Fixed OCR test and separately budgeted adaptive black-box tier</a:t>
                      </a:r>
                    </a:p>
                  </a:txBody>
                  <a:tcPr marL="73152" marR="54864" marT="36576" marB="27432" anchor="ctr">
                    <a:solidFill>
                      <a:srgbClr val="FFFFFF"/>
                    </a:solidFill>
                  </a:tcPr>
                </a:tc>
                <a:extLst>
                  <a:ext uri="{0D108BD9-81ED-4DB2-BD59-A6C34878D82A}">
                    <a16:rowId xmlns:a16="http://schemas.microsoft.com/office/drawing/2014/main" val="10001"/>
                  </a:ext>
                </a:extLst>
              </a:tr>
              <a:tr h="877824">
                <a:tc>
                  <a:txBody>
                    <a:bodyPr/>
                    <a:lstStyle/>
                    <a:p>
                      <a:pPr>
                        <a:spcAft>
                          <a:spcPts val="0"/>
                        </a:spcAft>
                      </a:pPr>
                      <a:r>
                        <a:rPr sz="1400" b="1">
                          <a:solidFill>
                            <a:srgbClr val="2D2D2D"/>
                          </a:solidFill>
                          <a:latin typeface="Aptos"/>
                        </a:rPr>
                        <a:t>Benchmark validity / coverage</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VLSBench; USB</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Leakage controls, modality strata, over-refusal reporting</a:t>
                      </a:r>
                    </a:p>
                  </a:txBody>
                  <a:tcPr marL="73152" marR="54864" marT="36576" marB="27432" anchor="ctr">
                    <a:solidFill>
                      <a:srgbClr val="FFFFFF"/>
                    </a:solidFill>
                  </a:tcPr>
                </a:tc>
                <a:extLst>
                  <a:ext uri="{0D108BD9-81ED-4DB2-BD59-A6C34878D82A}">
                    <a16:rowId xmlns:a16="http://schemas.microsoft.com/office/drawing/2014/main" val="10002"/>
                  </a:ext>
                </a:extLst>
              </a:tr>
              <a:tr h="877824">
                <a:tc>
                  <a:txBody>
                    <a:bodyPr/>
                    <a:lstStyle/>
                    <a:p>
                      <a:pPr>
                        <a:spcAft>
                          <a:spcPts val="0"/>
                        </a:spcAft>
                      </a:pPr>
                      <a:r>
                        <a:rPr sz="1400" b="1">
                          <a:solidFill>
                            <a:srgbClr val="2D2D2D"/>
                          </a:solidFill>
                          <a:latin typeface="Aptos"/>
                        </a:rPr>
                        <a:t>Training / preference baselines</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VLGuard; SPA-VL; ADPO</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Safety SFT, standard preference tuning, adversarial preference tuning</a:t>
                      </a:r>
                    </a:p>
                  </a:txBody>
                  <a:tcPr marL="73152" marR="54864" marT="36576" marB="27432" anchor="ctr">
                    <a:solidFill>
                      <a:srgbClr val="FFFFFF"/>
                    </a:solidFill>
                  </a:tcPr>
                </a:tc>
                <a:extLst>
                  <a:ext uri="{0D108BD9-81ED-4DB2-BD59-A6C34878D82A}">
                    <a16:rowId xmlns:a16="http://schemas.microsoft.com/office/drawing/2014/main" val="10003"/>
                  </a:ext>
                </a:extLst>
              </a:tr>
              <a:tr h="877824">
                <a:tc>
                  <a:txBody>
                    <a:bodyPr/>
                    <a:lstStyle/>
                    <a:p>
                      <a:pPr>
                        <a:spcAft>
                          <a:spcPts val="0"/>
                        </a:spcAft>
                      </a:pPr>
                      <a:r>
                        <a:rPr sz="1400" b="1">
                          <a:solidFill>
                            <a:srgbClr val="2D2D2D"/>
                          </a:solidFill>
                          <a:latin typeface="Aptos"/>
                        </a:rPr>
                        <a:t>Recent alignment comparators</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HoliSafe; DAVSP; Pragma-VL</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Visual guard, safety prompt, safety-helpfulness arbitration</a:t>
                      </a:r>
                    </a:p>
                  </a:txBody>
                  <a:tcPr marL="73152" marR="54864" marT="36576" marB="27432" anchor="ctr">
                    <a:solidFill>
                      <a:srgbClr val="FFFFFF"/>
                    </a:solidFill>
                  </a:tcPr>
                </a:tc>
                <a:extLst>
                  <a:ext uri="{0D108BD9-81ED-4DB2-BD59-A6C34878D82A}">
                    <a16:rowId xmlns:a16="http://schemas.microsoft.com/office/drawing/2014/main" val="10004"/>
                  </a:ext>
                </a:extLst>
              </a:tr>
            </a:tbl>
          </a:graphicData>
        </a:graphic>
      </p:graphicFrame>
      <p:cxnSp>
        <p:nvCxnSpPr>
          <p:cNvPr id="8" name="Connector 7"/>
          <p:cNvCxnSpPr/>
          <p:nvPr/>
        </p:nvCxnSpPr>
        <p:spPr>
          <a:xfrm>
            <a:off x="2743200" y="1508760"/>
            <a:ext cx="0" cy="4389119"/>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577840" y="1508760"/>
            <a:ext cx="0" cy="4389119"/>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 y="2386584"/>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31520" y="3264408"/>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1520" y="4142231"/>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31520" y="5020055"/>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 y="1508760"/>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31520" y="5897879"/>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31520" y="1508760"/>
            <a:ext cx="0" cy="4389119"/>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21440" y="1508760"/>
            <a:ext cx="0" cy="4389119"/>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ECCFF79-B384-AD70-6246-DD445A0EC9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EB880E-B896-AABA-9E0B-505D0AEBCD2A}"/>
              </a:ext>
            </a:extLst>
          </p:cNvPr>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LITERATURE REVIEW</a:t>
            </a:r>
          </a:p>
        </p:txBody>
      </p:sp>
      <p:sp>
        <p:nvSpPr>
          <p:cNvPr id="3" name="TextBox 2">
            <a:extLst>
              <a:ext uri="{FF2B5EF4-FFF2-40B4-BE49-F238E27FC236}">
                <a16:creationId xmlns:a16="http://schemas.microsoft.com/office/drawing/2014/main" id="{A2CC4187-986F-F1F6-32BD-AA4FF6BA5068}"/>
              </a:ext>
            </a:extLst>
          </p:cNvPr>
          <p:cNvSpPr txBox="1"/>
          <p:nvPr/>
        </p:nvSpPr>
        <p:spPr>
          <a:xfrm>
            <a:off x="566928" y="566928"/>
            <a:ext cx="10972800" cy="421654"/>
          </a:xfrm>
          <a:prstGeom prst="rect">
            <a:avLst/>
          </a:prstGeom>
          <a:noFill/>
        </p:spPr>
        <p:txBody>
          <a:bodyPr wrap="square" lIns="27432" tIns="18288" rIns="27432" bIns="18288" anchor="t">
            <a:spAutoFit/>
          </a:bodyPr>
          <a:lstStyle/>
          <a:p>
            <a:pPr algn="l"/>
            <a:r>
              <a:rPr lang="en-US" sz="2500" b="1" dirty="0">
                <a:solidFill>
                  <a:srgbClr val="232323"/>
                </a:solidFill>
                <a:latin typeface="Aptos"/>
              </a:rPr>
              <a:t>Study sections</a:t>
            </a:r>
            <a:endParaRPr sz="2500" b="1" dirty="0">
              <a:solidFill>
                <a:srgbClr val="232323"/>
              </a:solidFill>
              <a:latin typeface="Aptos"/>
            </a:endParaRPr>
          </a:p>
        </p:txBody>
      </p:sp>
      <p:sp>
        <p:nvSpPr>
          <p:cNvPr id="4" name="Rectangle 3">
            <a:extLst>
              <a:ext uri="{FF2B5EF4-FFF2-40B4-BE49-F238E27FC236}">
                <a16:creationId xmlns:a16="http://schemas.microsoft.com/office/drawing/2014/main" id="{6800F93B-6A78-EC9B-47A5-52CE9E4C458B}"/>
              </a:ext>
            </a:extLst>
          </p:cNvPr>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14A3319-F66D-6AFD-53E3-99EAD2CB6157}"/>
              </a:ext>
            </a:extLst>
          </p:cNvPr>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[1] FigStep; [2] VLSBench; [3] USB; [4] PolyJailbreak; [5] VLGuard; [6] SPA-VL; [7] ADPO; [8] HoliSafe; [9] DAVSP; [10] Pragma-VL</a:t>
            </a:r>
          </a:p>
        </p:txBody>
      </p:sp>
      <p:sp>
        <p:nvSpPr>
          <p:cNvPr id="6" name="TextBox 5">
            <a:extLst>
              <a:ext uri="{FF2B5EF4-FFF2-40B4-BE49-F238E27FC236}">
                <a16:creationId xmlns:a16="http://schemas.microsoft.com/office/drawing/2014/main" id="{3AFA3FF9-ECE4-A4D0-95C4-6A1EDCD38549}"/>
              </a:ext>
            </a:extLst>
          </p:cNvPr>
          <p:cNvSpPr txBox="1"/>
          <p:nvPr/>
        </p:nvSpPr>
        <p:spPr>
          <a:xfrm>
            <a:off x="11082528" y="6473952"/>
            <a:ext cx="438912" cy="201168"/>
          </a:xfrm>
          <a:prstGeom prst="rect">
            <a:avLst/>
          </a:prstGeom>
          <a:noFill/>
        </p:spPr>
        <p:txBody>
          <a:bodyPr wrap="square" lIns="27432" tIns="18288" rIns="27432" bIns="18288" anchor="t">
            <a:spAutoFit/>
          </a:bodyPr>
          <a:lstStyle/>
          <a:p>
            <a:pPr algn="r"/>
            <a:r>
              <a:rPr sz="900" b="0">
                <a:solidFill>
                  <a:srgbClr val="696969"/>
                </a:solidFill>
                <a:latin typeface="Aptos"/>
              </a:rPr>
              <a:t>04</a:t>
            </a:r>
          </a:p>
        </p:txBody>
      </p:sp>
      <p:graphicFrame>
        <p:nvGraphicFramePr>
          <p:cNvPr id="18" name="Table 17">
            <a:extLst>
              <a:ext uri="{FF2B5EF4-FFF2-40B4-BE49-F238E27FC236}">
                <a16:creationId xmlns:a16="http://schemas.microsoft.com/office/drawing/2014/main" id="{D5F8BDF8-C428-D5F3-2E61-3B5033169017}"/>
              </a:ext>
            </a:extLst>
          </p:cNvPr>
          <p:cNvGraphicFramePr>
            <a:graphicFrameLocks noGrp="1"/>
          </p:cNvGraphicFramePr>
          <p:nvPr>
            <p:extLst>
              <p:ext uri="{D42A27DB-BD31-4B8C-83A1-F6EECF244321}">
                <p14:modId xmlns:p14="http://schemas.microsoft.com/office/powerpoint/2010/main" val="819793777"/>
              </p:ext>
            </p:extLst>
          </p:nvPr>
        </p:nvGraphicFramePr>
        <p:xfrm>
          <a:off x="544068" y="1643385"/>
          <a:ext cx="11018520" cy="5031735"/>
        </p:xfrm>
        <a:graphic>
          <a:graphicData uri="http://schemas.openxmlformats.org/drawingml/2006/table">
            <a:tbl>
              <a:tblPr>
                <a:tableStyleId>{5C22544A-7EE6-4342-B048-85BDC9FD1C3A}</a:tableStyleId>
              </a:tblPr>
              <a:tblGrid>
                <a:gridCol w="1056920">
                  <a:extLst>
                    <a:ext uri="{9D8B030D-6E8A-4147-A177-3AD203B41FA5}">
                      <a16:colId xmlns:a16="http://schemas.microsoft.com/office/drawing/2014/main" val="779645507"/>
                    </a:ext>
                  </a:extLst>
                </a:gridCol>
                <a:gridCol w="9961600">
                  <a:extLst>
                    <a:ext uri="{9D8B030D-6E8A-4147-A177-3AD203B41FA5}">
                      <a16:colId xmlns:a16="http://schemas.microsoft.com/office/drawing/2014/main" val="914686166"/>
                    </a:ext>
                  </a:extLst>
                </a:gridCol>
              </a:tblGrid>
              <a:tr h="119104">
                <a:tc>
                  <a:txBody>
                    <a:bodyPr/>
                    <a:lstStyle/>
                    <a:p>
                      <a:pPr>
                        <a:buNone/>
                      </a:pPr>
                      <a:r>
                        <a:rPr lang="en-US" sz="1400" b="1" dirty="0"/>
                        <a:t>Paper</a:t>
                      </a:r>
                    </a:p>
                  </a:txBody>
                  <a:tcPr marL="29776" marR="29776" marT="14888" marB="14888" anchor="ctr"/>
                </a:tc>
                <a:tc>
                  <a:txBody>
                    <a:bodyPr/>
                    <a:lstStyle/>
                    <a:p>
                      <a:pPr>
                        <a:buNone/>
                      </a:pPr>
                      <a:r>
                        <a:rPr lang="en-US" sz="1400" b="1" dirty="0"/>
                        <a:t>Main role in our pipeline</a:t>
                      </a:r>
                    </a:p>
                  </a:txBody>
                  <a:tcPr marL="29776" marR="29776" marT="14888" marB="14888" anchor="ctr"/>
                </a:tc>
                <a:extLst>
                  <a:ext uri="{0D108BD9-81ED-4DB2-BD59-A6C34878D82A}">
                    <a16:rowId xmlns:a16="http://schemas.microsoft.com/office/drawing/2014/main" val="1795293614"/>
                  </a:ext>
                </a:extLst>
              </a:tr>
              <a:tr h="208432">
                <a:tc>
                  <a:txBody>
                    <a:bodyPr/>
                    <a:lstStyle/>
                    <a:p>
                      <a:pPr>
                        <a:buNone/>
                      </a:pPr>
                      <a:r>
                        <a:rPr lang="en-US" sz="1400"/>
                        <a:t>FigStep</a:t>
                      </a:r>
                    </a:p>
                  </a:txBody>
                  <a:tcPr marL="29776" marR="29776" marT="14888" marB="14888" anchor="ctr"/>
                </a:tc>
                <a:tc>
                  <a:txBody>
                    <a:bodyPr/>
                    <a:lstStyle/>
                    <a:p>
                      <a:pPr>
                        <a:buNone/>
                      </a:pPr>
                      <a:r>
                        <a:rPr lang="en-US" sz="1400" dirty="0"/>
                        <a:t>Adversarial test method: renders harmful instructions as text in an image.</a:t>
                      </a:r>
                    </a:p>
                  </a:txBody>
                  <a:tcPr marL="29776" marR="29776" marT="14888" marB="14888" anchor="ctr"/>
                </a:tc>
                <a:extLst>
                  <a:ext uri="{0D108BD9-81ED-4DB2-BD59-A6C34878D82A}">
                    <a16:rowId xmlns:a16="http://schemas.microsoft.com/office/drawing/2014/main" val="1380799418"/>
                  </a:ext>
                </a:extLst>
              </a:tr>
              <a:tr h="387089">
                <a:tc>
                  <a:txBody>
                    <a:bodyPr/>
                    <a:lstStyle/>
                    <a:p>
                      <a:pPr>
                        <a:buNone/>
                      </a:pPr>
                      <a:r>
                        <a:rPr lang="en-US" sz="1400"/>
                        <a:t>HADES</a:t>
                      </a:r>
                    </a:p>
                  </a:txBody>
                  <a:tcPr marL="29776" marR="29776" marT="14888" marB="14888" anchor="ctr"/>
                </a:tc>
                <a:tc>
                  <a:txBody>
                    <a:bodyPr/>
                    <a:lstStyle/>
                    <a:p>
                      <a:pPr>
                        <a:buNone/>
                      </a:pPr>
                      <a:r>
                        <a:rPr lang="en-US" sz="1400" dirty="0"/>
                        <a:t>Adversarial test method: combines image typography with semantically related images; its gradient-based stage is white-box.</a:t>
                      </a:r>
                    </a:p>
                  </a:txBody>
                  <a:tcPr marL="29776" marR="29776" marT="14888" marB="14888" anchor="ctr"/>
                </a:tc>
                <a:extLst>
                  <a:ext uri="{0D108BD9-81ED-4DB2-BD59-A6C34878D82A}">
                    <a16:rowId xmlns:a16="http://schemas.microsoft.com/office/drawing/2014/main" val="462164272"/>
                  </a:ext>
                </a:extLst>
              </a:tr>
              <a:tr h="297761">
                <a:tc>
                  <a:txBody>
                    <a:bodyPr/>
                    <a:lstStyle/>
                    <a:p>
                      <a:pPr>
                        <a:buNone/>
                      </a:pPr>
                      <a:r>
                        <a:rPr lang="en-US" sz="1400"/>
                        <a:t>PolyJailbreak</a:t>
                      </a:r>
                    </a:p>
                  </a:txBody>
                  <a:tcPr marL="29776" marR="29776" marT="14888" marB="14888" anchor="ctr"/>
                </a:tc>
                <a:tc>
                  <a:txBody>
                    <a:bodyPr/>
                    <a:lstStyle/>
                    <a:p>
                      <a:pPr>
                        <a:buNone/>
                      </a:pPr>
                      <a:r>
                        <a:rPr lang="en-US" sz="1400" dirty="0"/>
                        <a:t>Adaptive adversarial test method: iteratively improves cross-modal attacks against a black-box model.</a:t>
                      </a:r>
                    </a:p>
                  </a:txBody>
                  <a:tcPr marL="29776" marR="29776" marT="14888" marB="14888" anchor="ctr"/>
                </a:tc>
                <a:extLst>
                  <a:ext uri="{0D108BD9-81ED-4DB2-BD59-A6C34878D82A}">
                    <a16:rowId xmlns:a16="http://schemas.microsoft.com/office/drawing/2014/main" val="2031141464"/>
                  </a:ext>
                </a:extLst>
              </a:tr>
              <a:tr h="387089">
                <a:tc>
                  <a:txBody>
                    <a:bodyPr/>
                    <a:lstStyle/>
                    <a:p>
                      <a:pPr>
                        <a:buNone/>
                      </a:pPr>
                      <a:r>
                        <a:rPr lang="en-US" sz="1400"/>
                        <a:t>JailBreakV-28K</a:t>
                      </a:r>
                    </a:p>
                  </a:txBody>
                  <a:tcPr marL="29776" marR="29776" marT="14888" marB="14888" anchor="ctr"/>
                </a:tc>
                <a:tc>
                  <a:txBody>
                    <a:bodyPr/>
                    <a:lstStyle/>
                    <a:p>
                      <a:pPr>
                        <a:buNone/>
                      </a:pPr>
                      <a:r>
                        <a:rPr lang="en-US" sz="1400" dirty="0"/>
                        <a:t>Test corpus/benchmark: a collection of jailbreak cases, including text-to-VLM transfer and image-based cases. It is not itself one attack algorithm.</a:t>
                      </a:r>
                    </a:p>
                  </a:txBody>
                  <a:tcPr marL="29776" marR="29776" marT="14888" marB="14888" anchor="ctr"/>
                </a:tc>
                <a:extLst>
                  <a:ext uri="{0D108BD9-81ED-4DB2-BD59-A6C34878D82A}">
                    <a16:rowId xmlns:a16="http://schemas.microsoft.com/office/drawing/2014/main" val="690661674"/>
                  </a:ext>
                </a:extLst>
              </a:tr>
              <a:tr h="297761">
                <a:tc>
                  <a:txBody>
                    <a:bodyPr/>
                    <a:lstStyle/>
                    <a:p>
                      <a:pPr>
                        <a:buNone/>
                      </a:pPr>
                      <a:r>
                        <a:rPr lang="en-US" sz="1400"/>
                        <a:t>VLSBench</a:t>
                      </a:r>
                    </a:p>
                  </a:txBody>
                  <a:tcPr marL="29776" marR="29776" marT="14888" marB="14888" anchor="ctr"/>
                </a:tc>
                <a:tc>
                  <a:txBody>
                    <a:bodyPr/>
                    <a:lstStyle/>
                    <a:p>
                      <a:pPr>
                        <a:buNone/>
                      </a:pPr>
                      <a:r>
                        <a:rPr lang="en-US" sz="1400"/>
                        <a:t>Safety benchmark: tests visual safety-information leakage and whether the model actually relies on image content.</a:t>
                      </a:r>
                    </a:p>
                  </a:txBody>
                  <a:tcPr marL="29776" marR="29776" marT="14888" marB="14888" anchor="ctr"/>
                </a:tc>
                <a:extLst>
                  <a:ext uri="{0D108BD9-81ED-4DB2-BD59-A6C34878D82A}">
                    <a16:rowId xmlns:a16="http://schemas.microsoft.com/office/drawing/2014/main" val="979108292"/>
                  </a:ext>
                </a:extLst>
              </a:tr>
              <a:tr h="297761">
                <a:tc>
                  <a:txBody>
                    <a:bodyPr/>
                    <a:lstStyle/>
                    <a:p>
                      <a:pPr>
                        <a:buNone/>
                      </a:pPr>
                      <a:r>
                        <a:rPr lang="en-US" sz="1400"/>
                        <a:t>USB</a:t>
                      </a:r>
                    </a:p>
                  </a:txBody>
                  <a:tcPr marL="29776" marR="29776" marT="14888" marB="14888" anchor="ctr"/>
                </a:tc>
                <a:tc>
                  <a:txBody>
                    <a:bodyPr/>
                    <a:lstStyle/>
                    <a:p>
                      <a:pPr>
                        <a:buNone/>
                      </a:pPr>
                      <a:r>
                        <a:rPr lang="en-US" sz="1400" dirty="0"/>
                        <a:t>Broad safety benchmark: evaluates many risk categories across image/text safety combinations.</a:t>
                      </a:r>
                    </a:p>
                  </a:txBody>
                  <a:tcPr marL="29776" marR="29776" marT="14888" marB="14888" anchor="ctr"/>
                </a:tc>
                <a:extLst>
                  <a:ext uri="{0D108BD9-81ED-4DB2-BD59-A6C34878D82A}">
                    <a16:rowId xmlns:a16="http://schemas.microsoft.com/office/drawing/2014/main" val="1407232011"/>
                  </a:ext>
                </a:extLst>
              </a:tr>
              <a:tr h="387089">
                <a:tc>
                  <a:txBody>
                    <a:bodyPr/>
                    <a:lstStyle/>
                    <a:p>
                      <a:pPr>
                        <a:buNone/>
                      </a:pPr>
                      <a:r>
                        <a:rPr lang="en-US" sz="1400"/>
                        <a:t>SIUO</a:t>
                      </a:r>
                    </a:p>
                  </a:txBody>
                  <a:tcPr marL="29776" marR="29776" marT="14888" marB="14888" anchor="ctr"/>
                </a:tc>
                <a:tc>
                  <a:txBody>
                    <a:bodyPr/>
                    <a:lstStyle/>
                    <a:p>
                      <a:pPr>
                        <a:buNone/>
                      </a:pPr>
                      <a:r>
                        <a:rPr lang="en-US" sz="1400"/>
                        <a:t>Compositional safety benchmark: tests individually safe-looking image/text inputs whose combination may produce unsafe intent or output.</a:t>
                      </a:r>
                    </a:p>
                  </a:txBody>
                  <a:tcPr marL="29776" marR="29776" marT="14888" marB="14888" anchor="ctr"/>
                </a:tc>
                <a:extLst>
                  <a:ext uri="{0D108BD9-81ED-4DB2-BD59-A6C34878D82A}">
                    <a16:rowId xmlns:a16="http://schemas.microsoft.com/office/drawing/2014/main" val="1270758167"/>
                  </a:ext>
                </a:extLst>
              </a:tr>
              <a:tr h="297761">
                <a:tc>
                  <a:txBody>
                    <a:bodyPr/>
                    <a:lstStyle/>
                    <a:p>
                      <a:pPr>
                        <a:buNone/>
                      </a:pPr>
                      <a:r>
                        <a:rPr lang="en-US" sz="1400"/>
                        <a:t>VLGuard</a:t>
                      </a:r>
                    </a:p>
                  </a:txBody>
                  <a:tcPr marL="29776" marR="29776" marT="14888" marB="14888" anchor="ctr"/>
                </a:tc>
                <a:tc>
                  <a:txBody>
                    <a:bodyPr/>
                    <a:lstStyle/>
                    <a:p>
                      <a:pPr>
                        <a:buNone/>
                      </a:pPr>
                      <a:r>
                        <a:rPr lang="en-US" sz="1400" dirty="0"/>
                        <a:t>Training dataset and SFT baseline: provides multimodal safety examples. Also includes evaluation cases.</a:t>
                      </a:r>
                    </a:p>
                  </a:txBody>
                  <a:tcPr marL="29776" marR="29776" marT="14888" marB="14888" anchor="ctr"/>
                </a:tc>
                <a:extLst>
                  <a:ext uri="{0D108BD9-81ED-4DB2-BD59-A6C34878D82A}">
                    <a16:rowId xmlns:a16="http://schemas.microsoft.com/office/drawing/2014/main" val="2772507588"/>
                  </a:ext>
                </a:extLst>
              </a:tr>
              <a:tr h="387089">
                <a:tc>
                  <a:txBody>
                    <a:bodyPr/>
                    <a:lstStyle/>
                    <a:p>
                      <a:pPr>
                        <a:buNone/>
                      </a:pPr>
                      <a:r>
                        <a:rPr lang="en-US" sz="1400"/>
                        <a:t>SPA-VL</a:t>
                      </a:r>
                    </a:p>
                  </a:txBody>
                  <a:tcPr marL="29776" marR="29776" marT="14888" marB="14888" anchor="ctr"/>
                </a:tc>
                <a:tc>
                  <a:txBody>
                    <a:bodyPr/>
                    <a:lstStyle/>
                    <a:p>
                      <a:pPr>
                        <a:buNone/>
                      </a:pPr>
                      <a:r>
                        <a:rPr lang="en-US" sz="1400" dirty="0"/>
                        <a:t>Preference dataset and alignment baseline: provides chosen/rejected response pairs used for preference alignment, including DPO comparisons.</a:t>
                      </a:r>
                    </a:p>
                  </a:txBody>
                  <a:tcPr marL="29776" marR="29776" marT="14888" marB="14888" anchor="ctr"/>
                </a:tc>
                <a:extLst>
                  <a:ext uri="{0D108BD9-81ED-4DB2-BD59-A6C34878D82A}">
                    <a16:rowId xmlns:a16="http://schemas.microsoft.com/office/drawing/2014/main" val="660621476"/>
                  </a:ext>
                </a:extLst>
              </a:tr>
              <a:tr h="387089">
                <a:tc>
                  <a:txBody>
                    <a:bodyPr/>
                    <a:lstStyle/>
                    <a:p>
                      <a:pPr>
                        <a:buNone/>
                      </a:pPr>
                      <a:r>
                        <a:rPr lang="en-US" sz="1400"/>
                        <a:t>HoliSafe</a:t>
                      </a:r>
                    </a:p>
                  </a:txBody>
                  <a:tcPr marL="29776" marR="29776" marT="14888" marB="14888" anchor="ctr"/>
                </a:tc>
                <a:tc>
                  <a:txBody>
                    <a:bodyPr/>
                    <a:lstStyle/>
                    <a:p>
                      <a:pPr>
                        <a:buNone/>
                      </a:pPr>
                      <a:r>
                        <a:rPr lang="en-US" sz="1400" dirty="0"/>
                        <a:t>Dataset, benchmark, and method: supplies image/text safety cases, a five-condition benchmark, and the Safe-VLM visual guard approach.</a:t>
                      </a:r>
                    </a:p>
                  </a:txBody>
                  <a:tcPr marL="29776" marR="29776" marT="14888" marB="14888" anchor="ctr"/>
                </a:tc>
                <a:extLst>
                  <a:ext uri="{0D108BD9-81ED-4DB2-BD59-A6C34878D82A}">
                    <a16:rowId xmlns:a16="http://schemas.microsoft.com/office/drawing/2014/main" val="77549729"/>
                  </a:ext>
                </a:extLst>
              </a:tr>
              <a:tr h="387089">
                <a:tc>
                  <a:txBody>
                    <a:bodyPr/>
                    <a:lstStyle/>
                    <a:p>
                      <a:pPr>
                        <a:buNone/>
                      </a:pPr>
                      <a:r>
                        <a:rPr lang="en-US" sz="1400"/>
                        <a:t>ADPO</a:t>
                      </a:r>
                    </a:p>
                  </a:txBody>
                  <a:tcPr marL="29776" marR="29776" marT="14888" marB="14888" anchor="ctr"/>
                </a:tc>
                <a:tc>
                  <a:txBody>
                    <a:bodyPr/>
                    <a:lstStyle/>
                    <a:p>
                      <a:pPr>
                        <a:buNone/>
                      </a:pPr>
                      <a:r>
                        <a:rPr lang="en-US" sz="1400" dirty="0"/>
                        <a:t>Alignment method: adversary-aware preference training. Relevant as a training-time comparison, not primarily as a benchmark or dataset.</a:t>
                      </a:r>
                    </a:p>
                  </a:txBody>
                  <a:tcPr marL="29776" marR="29776" marT="14888" marB="14888" anchor="ctr"/>
                </a:tc>
                <a:extLst>
                  <a:ext uri="{0D108BD9-81ED-4DB2-BD59-A6C34878D82A}">
                    <a16:rowId xmlns:a16="http://schemas.microsoft.com/office/drawing/2014/main" val="2334049082"/>
                  </a:ext>
                </a:extLst>
              </a:tr>
              <a:tr h="297761">
                <a:tc>
                  <a:txBody>
                    <a:bodyPr/>
                    <a:lstStyle/>
                    <a:p>
                      <a:pPr>
                        <a:buNone/>
                      </a:pPr>
                      <a:r>
                        <a:rPr lang="en-US" sz="1400"/>
                        <a:t>DAVSP</a:t>
                      </a:r>
                    </a:p>
                  </a:txBody>
                  <a:tcPr marL="29776" marR="29776" marT="14888" marB="14888" anchor="ctr"/>
                </a:tc>
                <a:tc>
                  <a:txBody>
                    <a:bodyPr/>
                    <a:lstStyle/>
                    <a:p>
                      <a:pPr>
                        <a:buNone/>
                      </a:pPr>
                      <a:r>
                        <a:rPr lang="en-US" sz="1400" dirty="0"/>
                        <a:t>Visual-side defense method: optimizes a visual safety prompt/activations. Useful as a separate intervention comparison.</a:t>
                      </a:r>
                    </a:p>
                  </a:txBody>
                  <a:tcPr marL="29776" marR="29776" marT="14888" marB="14888" anchor="ctr"/>
                </a:tc>
                <a:extLst>
                  <a:ext uri="{0D108BD9-81ED-4DB2-BD59-A6C34878D82A}">
                    <a16:rowId xmlns:a16="http://schemas.microsoft.com/office/drawing/2014/main" val="1555749081"/>
                  </a:ext>
                </a:extLst>
              </a:tr>
              <a:tr h="387089">
                <a:tc>
                  <a:txBody>
                    <a:bodyPr/>
                    <a:lstStyle/>
                    <a:p>
                      <a:pPr>
                        <a:buNone/>
                      </a:pPr>
                      <a:r>
                        <a:rPr lang="en-US" sz="1400"/>
                        <a:t>Pragma-VL</a:t>
                      </a:r>
                    </a:p>
                  </a:txBody>
                  <a:tcPr marL="29776" marR="29776" marT="14888" marB="14888" anchor="ctr"/>
                </a:tc>
                <a:tc>
                  <a:txBody>
                    <a:bodyPr/>
                    <a:lstStyle/>
                    <a:p>
                      <a:pPr>
                        <a:buNone/>
                      </a:pPr>
                      <a:r>
                        <a:rPr lang="en-US" sz="1400" dirty="0"/>
                        <a:t>Alignment framework: trains safety/helpfulness arbitration. A possible method comparison if resources are feasible.</a:t>
                      </a:r>
                    </a:p>
                  </a:txBody>
                  <a:tcPr marL="29776" marR="29776" marT="14888" marB="14888" anchor="ctr"/>
                </a:tc>
                <a:extLst>
                  <a:ext uri="{0D108BD9-81ED-4DB2-BD59-A6C34878D82A}">
                    <a16:rowId xmlns:a16="http://schemas.microsoft.com/office/drawing/2014/main" val="870824520"/>
                  </a:ext>
                </a:extLst>
              </a:tr>
            </a:tbl>
          </a:graphicData>
        </a:graphic>
      </p:graphicFrame>
      <mc:AlternateContent xmlns:mc="http://schemas.openxmlformats.org/markup-compatibility/2006">
        <mc:Choice xmlns:p14="http://schemas.microsoft.com/office/powerpoint/2010/main" Requires="p14">
          <p:contentPart p14:bwMode="auto" r:id="rId3">
            <p14:nvContentPartPr>
              <p14:cNvPr id="19" name="Ink 18">
                <a:extLst>
                  <a:ext uri="{FF2B5EF4-FFF2-40B4-BE49-F238E27FC236}">
                    <a16:creationId xmlns:a16="http://schemas.microsoft.com/office/drawing/2014/main" id="{0D9D57C0-3822-8E40-6D9A-AEF25FC97226}"/>
                  </a:ext>
                </a:extLst>
              </p14:cNvPr>
              <p14:cNvContentPartPr/>
              <p14:nvPr/>
            </p14:nvContentPartPr>
            <p14:xfrm>
              <a:off x="284114" y="2007012"/>
              <a:ext cx="231840" cy="660960"/>
            </p14:xfrm>
          </p:contentPart>
        </mc:Choice>
        <mc:Fallback>
          <p:pic>
            <p:nvPicPr>
              <p:cNvPr id="19" name="Ink 18">
                <a:extLst>
                  <a:ext uri="{FF2B5EF4-FFF2-40B4-BE49-F238E27FC236}">
                    <a16:creationId xmlns:a16="http://schemas.microsoft.com/office/drawing/2014/main" id="{0D9D57C0-3822-8E40-6D9A-AEF25FC97226}"/>
                  </a:ext>
                </a:extLst>
              </p:cNvPr>
              <p:cNvPicPr/>
              <p:nvPr/>
            </p:nvPicPr>
            <p:blipFill>
              <a:blip r:embed="rId4"/>
              <a:stretch>
                <a:fillRect/>
              </a:stretch>
            </p:blipFill>
            <p:spPr>
              <a:xfrm>
                <a:off x="277994" y="2000892"/>
                <a:ext cx="244080" cy="673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0" name="Ink 19">
                <a:extLst>
                  <a:ext uri="{FF2B5EF4-FFF2-40B4-BE49-F238E27FC236}">
                    <a16:creationId xmlns:a16="http://schemas.microsoft.com/office/drawing/2014/main" id="{26207D79-2E2E-D674-AC79-994BAFCBCB91}"/>
                  </a:ext>
                </a:extLst>
              </p14:cNvPr>
              <p14:cNvContentPartPr/>
              <p14:nvPr/>
            </p14:nvContentPartPr>
            <p14:xfrm>
              <a:off x="289154" y="2997012"/>
              <a:ext cx="244080" cy="1300680"/>
            </p14:xfrm>
          </p:contentPart>
        </mc:Choice>
        <mc:Fallback>
          <p:pic>
            <p:nvPicPr>
              <p:cNvPr id="20" name="Ink 19">
                <a:extLst>
                  <a:ext uri="{FF2B5EF4-FFF2-40B4-BE49-F238E27FC236}">
                    <a16:creationId xmlns:a16="http://schemas.microsoft.com/office/drawing/2014/main" id="{26207D79-2E2E-D674-AC79-994BAFCBCB91}"/>
                  </a:ext>
                </a:extLst>
              </p:cNvPr>
              <p:cNvPicPr/>
              <p:nvPr/>
            </p:nvPicPr>
            <p:blipFill>
              <a:blip r:embed="rId6"/>
              <a:stretch>
                <a:fillRect/>
              </a:stretch>
            </p:blipFill>
            <p:spPr>
              <a:xfrm>
                <a:off x="283034" y="2990892"/>
                <a:ext cx="256320" cy="1312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1" name="Ink 20">
                <a:extLst>
                  <a:ext uri="{FF2B5EF4-FFF2-40B4-BE49-F238E27FC236}">
                    <a16:creationId xmlns:a16="http://schemas.microsoft.com/office/drawing/2014/main" id="{B09E1B96-1AA1-3CE4-A777-D6D471EA192B}"/>
                  </a:ext>
                </a:extLst>
              </p14:cNvPr>
              <p14:cNvContentPartPr/>
              <p14:nvPr/>
            </p14:nvContentPartPr>
            <p14:xfrm>
              <a:off x="267554" y="4509372"/>
              <a:ext cx="252360" cy="343800"/>
            </p14:xfrm>
          </p:contentPart>
        </mc:Choice>
        <mc:Fallback>
          <p:pic>
            <p:nvPicPr>
              <p:cNvPr id="21" name="Ink 20">
                <a:extLst>
                  <a:ext uri="{FF2B5EF4-FFF2-40B4-BE49-F238E27FC236}">
                    <a16:creationId xmlns:a16="http://schemas.microsoft.com/office/drawing/2014/main" id="{B09E1B96-1AA1-3CE4-A777-D6D471EA192B}"/>
                  </a:ext>
                </a:extLst>
              </p:cNvPr>
              <p:cNvPicPr/>
              <p:nvPr/>
            </p:nvPicPr>
            <p:blipFill>
              <a:blip r:embed="rId8"/>
              <a:stretch>
                <a:fillRect/>
              </a:stretch>
            </p:blipFill>
            <p:spPr>
              <a:xfrm>
                <a:off x="261434" y="4503252"/>
                <a:ext cx="264600" cy="3560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2" name="Ink 21">
                <a:extLst>
                  <a:ext uri="{FF2B5EF4-FFF2-40B4-BE49-F238E27FC236}">
                    <a16:creationId xmlns:a16="http://schemas.microsoft.com/office/drawing/2014/main" id="{4E43ED92-9ACF-C1D0-A0A9-F7DD6AFF671C}"/>
                  </a:ext>
                </a:extLst>
              </p14:cNvPr>
              <p14:cNvContentPartPr/>
              <p14:nvPr/>
            </p14:nvContentPartPr>
            <p14:xfrm>
              <a:off x="207434" y="5295252"/>
              <a:ext cx="228960" cy="1223280"/>
            </p14:xfrm>
          </p:contentPart>
        </mc:Choice>
        <mc:Fallback>
          <p:pic>
            <p:nvPicPr>
              <p:cNvPr id="22" name="Ink 21">
                <a:extLst>
                  <a:ext uri="{FF2B5EF4-FFF2-40B4-BE49-F238E27FC236}">
                    <a16:creationId xmlns:a16="http://schemas.microsoft.com/office/drawing/2014/main" id="{4E43ED92-9ACF-C1D0-A0A9-F7DD6AFF671C}"/>
                  </a:ext>
                </a:extLst>
              </p:cNvPr>
              <p:cNvPicPr/>
              <p:nvPr/>
            </p:nvPicPr>
            <p:blipFill>
              <a:blip r:embed="rId10"/>
              <a:stretch>
                <a:fillRect/>
              </a:stretch>
            </p:blipFill>
            <p:spPr>
              <a:xfrm>
                <a:off x="201314" y="5289132"/>
                <a:ext cx="241200" cy="12355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3" name="Ink 22">
                <a:extLst>
                  <a:ext uri="{FF2B5EF4-FFF2-40B4-BE49-F238E27FC236}">
                    <a16:creationId xmlns:a16="http://schemas.microsoft.com/office/drawing/2014/main" id="{ABB59D37-D845-CF0D-D484-DA537766A3DF}"/>
                  </a:ext>
                </a:extLst>
              </p14:cNvPr>
              <p14:cNvContentPartPr/>
              <p14:nvPr/>
            </p14:nvContentPartPr>
            <p14:xfrm>
              <a:off x="-2466646" y="2964612"/>
              <a:ext cx="360" cy="360"/>
            </p14:xfrm>
          </p:contentPart>
        </mc:Choice>
        <mc:Fallback>
          <p:pic>
            <p:nvPicPr>
              <p:cNvPr id="23" name="Ink 22">
                <a:extLst>
                  <a:ext uri="{FF2B5EF4-FFF2-40B4-BE49-F238E27FC236}">
                    <a16:creationId xmlns:a16="http://schemas.microsoft.com/office/drawing/2014/main" id="{ABB59D37-D845-CF0D-D484-DA537766A3DF}"/>
                  </a:ext>
                </a:extLst>
              </p:cNvPr>
              <p:cNvPicPr/>
              <p:nvPr/>
            </p:nvPicPr>
            <p:blipFill>
              <a:blip r:embed="rId12"/>
              <a:stretch>
                <a:fillRect/>
              </a:stretch>
            </p:blipFill>
            <p:spPr>
              <a:xfrm>
                <a:off x="-2472766" y="2958492"/>
                <a:ext cx="12600" cy="12600"/>
              </a:xfrm>
              <a:prstGeom prst="rect">
                <a:avLst/>
              </a:prstGeom>
            </p:spPr>
          </p:pic>
        </mc:Fallback>
      </mc:AlternateContent>
    </p:spTree>
    <p:extLst>
      <p:ext uri="{BB962C8B-B14F-4D97-AF65-F5344CB8AC3E}">
        <p14:creationId xmlns:p14="http://schemas.microsoft.com/office/powerpoint/2010/main" val="528628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Attacks: from fixed visual prompts to adaptive search</a:t>
            </a:r>
          </a:p>
        </p:txBody>
      </p:sp>
      <p:sp>
        <p:nvSpPr>
          <p:cNvPr id="4" name="TextBox 3"/>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[1] </a:t>
            </a:r>
            <a:r>
              <a:rPr sz="1000" b="0" dirty="0" err="1">
                <a:solidFill>
                  <a:srgbClr val="4B4B4B"/>
                </a:solidFill>
                <a:latin typeface="Aptos"/>
              </a:rPr>
              <a:t>FigStep</a:t>
            </a:r>
            <a:r>
              <a:rPr sz="1000" b="0" dirty="0">
                <a:solidFill>
                  <a:srgbClr val="4B4B4B"/>
                </a:solidFill>
                <a:latin typeface="Aptos"/>
              </a:rPr>
              <a:t>, Table 1 / Fig. 2</a:t>
            </a:r>
          </a:p>
        </p:txBody>
      </p:sp>
      <p:cxnSp>
        <p:nvCxnSpPr>
          <p:cNvPr id="5" name="Connector 4"/>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05</a:t>
            </a:r>
          </a:p>
        </p:txBody>
      </p:sp>
      <p:sp>
        <p:nvSpPr>
          <p:cNvPr id="8" name="TextBox 7"/>
          <p:cNvSpPr txBox="1"/>
          <p:nvPr/>
        </p:nvSpPr>
        <p:spPr>
          <a:xfrm>
            <a:off x="603504" y="1572768"/>
            <a:ext cx="5230368" cy="438912"/>
          </a:xfrm>
          <a:prstGeom prst="rect">
            <a:avLst/>
          </a:prstGeom>
          <a:noFill/>
        </p:spPr>
        <p:txBody>
          <a:bodyPr wrap="square" lIns="32004" tIns="22860" rIns="32004" bIns="18288" anchor="t">
            <a:spAutoFit/>
          </a:bodyPr>
          <a:lstStyle/>
          <a:p>
            <a:pPr algn="l"/>
            <a:r>
              <a:rPr sz="1500" b="1">
                <a:solidFill>
                  <a:srgbClr val="191919"/>
                </a:solidFill>
                <a:latin typeface="Aptos"/>
              </a:rPr>
              <a:t>FigStep | fixed typographic jailbreak [1]</a:t>
            </a:r>
          </a:p>
        </p:txBody>
      </p:sp>
      <p:cxnSp>
        <p:nvCxnSpPr>
          <p:cNvPr id="9" name="Connector 8"/>
          <p:cNvCxnSpPr/>
          <p:nvPr/>
        </p:nvCxnSpPr>
        <p:spPr>
          <a:xfrm>
            <a:off x="603504"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3504" y="2121408"/>
            <a:ext cx="5230368" cy="2669962"/>
          </a:xfrm>
          <a:prstGeom prst="rect">
            <a:avLst/>
          </a:prstGeom>
          <a:noFill/>
        </p:spPr>
        <p:txBody>
          <a:bodyPr wrap="square" lIns="32004" tIns="22860" rIns="32004" bIns="18288" anchor="t">
            <a:spAutoFit/>
          </a:bodyPr>
          <a:lstStyle/>
          <a:p>
            <a:pPr algn="l"/>
            <a:r>
              <a:rPr sz="1220" b="0" dirty="0">
                <a:solidFill>
                  <a:srgbClr val="191919"/>
                </a:solidFill>
                <a:latin typeface="Aptos"/>
              </a:rPr>
              <a:t>CONTRIBUTION
Black-box attack: paraphrase a prohibited request, render it as numbered text in an image, then pair it with neutral incitement. </a:t>
            </a:r>
            <a:r>
              <a:rPr sz="1220" b="0" dirty="0" err="1">
                <a:solidFill>
                  <a:srgbClr val="191919"/>
                </a:solidFill>
                <a:latin typeface="Aptos"/>
              </a:rPr>
              <a:t>SafeBench</a:t>
            </a:r>
            <a:r>
              <a:rPr sz="1220" b="0" dirty="0">
                <a:solidFill>
                  <a:srgbClr val="191919"/>
                </a:solidFill>
                <a:latin typeface="Aptos"/>
              </a:rPr>
              <a:t>: 500 reviewed questions; </a:t>
            </a:r>
            <a:r>
              <a:rPr sz="1220" b="0" dirty="0" err="1">
                <a:solidFill>
                  <a:srgbClr val="191919"/>
                </a:solidFill>
                <a:latin typeface="Aptos"/>
              </a:rPr>
              <a:t>SafeBench</a:t>
            </a:r>
            <a:r>
              <a:rPr sz="1220" b="0" dirty="0">
                <a:solidFill>
                  <a:srgbClr val="191919"/>
                </a:solidFill>
                <a:latin typeface="Aptos"/>
              </a:rPr>
              <a:t>-Tiny: 50.
EVALUATION + RESULT
Six open VLMs; manual safety assessment. Table 1 reports mean ASR 82.50% for </a:t>
            </a:r>
            <a:r>
              <a:rPr sz="1220" b="0" dirty="0" err="1">
                <a:solidFill>
                  <a:srgbClr val="191919"/>
                </a:solidFill>
                <a:latin typeface="Aptos"/>
              </a:rPr>
              <a:t>FigStep</a:t>
            </a:r>
            <a:r>
              <a:rPr sz="1220" b="0" dirty="0">
                <a:solidFill>
                  <a:srgbClr val="191919"/>
                </a:solidFill>
                <a:latin typeface="Aptos"/>
              </a:rPr>
              <a:t> vs. 44.80% for the vanilla text query. Each item was tried five times</a:t>
            </a:r>
            <a:r>
              <a:rPr lang="en-US" sz="1220" b="0" dirty="0">
                <a:solidFill>
                  <a:srgbClr val="191919"/>
                </a:solidFill>
                <a:latin typeface="Aptos"/>
              </a:rPr>
              <a:t>,</a:t>
            </a:r>
            <a:r>
              <a:rPr sz="1220" b="0" dirty="0">
                <a:solidFill>
                  <a:srgbClr val="191919"/>
                </a:solidFill>
                <a:latin typeface="Aptos"/>
              </a:rPr>
              <a:t> any successful attempt counted.
PROJECT MAPPING
Fixed OCR/visual-text tier; add matched text-only prompts, benign OCR controls, held-out renderings, and image ablations. It is an attack benchmark, not an alignment method.</a:t>
            </a:r>
          </a:p>
        </p:txBody>
      </p:sp>
      <p:sp>
        <p:nvSpPr>
          <p:cNvPr id="11" name="TextBox 10"/>
          <p:cNvSpPr txBox="1"/>
          <p:nvPr/>
        </p:nvSpPr>
        <p:spPr>
          <a:xfrm>
            <a:off x="603504" y="5733288"/>
            <a:ext cx="5230368" cy="201168"/>
          </a:xfrm>
          <a:prstGeom prst="rect">
            <a:avLst/>
          </a:prstGeom>
          <a:noFill/>
        </p:spPr>
        <p:txBody>
          <a:bodyPr wrap="square" lIns="32004" tIns="22860" rIns="32004" bIns="18288" anchor="t">
            <a:spAutoFit/>
          </a:bodyPr>
          <a:lstStyle/>
          <a:p>
            <a:pPr algn="l"/>
            <a:r>
              <a:rPr sz="900" b="1">
                <a:solidFill>
                  <a:srgbClr val="4B4B4B"/>
                </a:solidFill>
                <a:latin typeface="Aptos"/>
              </a:rPr>
              <a:t>PIPELINE: FIXED ATTACK + TEXT/IMAGE ATTRIBUTION CONTROL</a:t>
            </a:r>
          </a:p>
        </p:txBody>
      </p:sp>
      <p:cxnSp>
        <p:nvCxnSpPr>
          <p:cNvPr id="12" name="Connector 11"/>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23BC8763-09D5-0EE8-C881-23C905E69919}"/>
              </a:ext>
            </a:extLst>
          </p:cNvPr>
          <p:cNvPicPr>
            <a:picLocks noChangeAspect="1"/>
          </p:cNvPicPr>
          <p:nvPr/>
        </p:nvPicPr>
        <p:blipFill>
          <a:blip r:embed="rId3"/>
          <a:stretch>
            <a:fillRect/>
          </a:stretch>
        </p:blipFill>
        <p:spPr>
          <a:xfrm>
            <a:off x="6217920" y="1463041"/>
            <a:ext cx="5733288" cy="2060228"/>
          </a:xfrm>
          <a:prstGeom prst="rect">
            <a:avLst/>
          </a:prstGeom>
        </p:spPr>
      </p:pic>
      <p:pic>
        <p:nvPicPr>
          <p:cNvPr id="14" name="Picture 13">
            <a:extLst>
              <a:ext uri="{FF2B5EF4-FFF2-40B4-BE49-F238E27FC236}">
                <a16:creationId xmlns:a16="http://schemas.microsoft.com/office/drawing/2014/main" id="{34CD99AA-BBB2-E52C-1A5B-D598100F4B65}"/>
              </a:ext>
            </a:extLst>
          </p:cNvPr>
          <p:cNvPicPr>
            <a:picLocks noChangeAspect="1"/>
          </p:cNvPicPr>
          <p:nvPr/>
        </p:nvPicPr>
        <p:blipFill>
          <a:blip r:embed="rId4"/>
          <a:stretch>
            <a:fillRect/>
          </a:stretch>
        </p:blipFill>
        <p:spPr>
          <a:xfrm>
            <a:off x="7658788" y="3632997"/>
            <a:ext cx="2801948" cy="3062129"/>
          </a:xfrm>
          <a:prstGeom prst="rect">
            <a:avLst/>
          </a:prstGeom>
        </p:spPr>
      </p:pic>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FEF330FC-5861-CF62-74A5-04245759262E}"/>
                  </a:ext>
                </a:extLst>
              </p14:cNvPr>
              <p14:cNvContentPartPr/>
              <p14:nvPr/>
            </p14:nvContentPartPr>
            <p14:xfrm>
              <a:off x="10270648" y="6336180"/>
              <a:ext cx="153360" cy="242280"/>
            </p14:xfrm>
          </p:contentPart>
        </mc:Choice>
        <mc:Fallback xmlns="">
          <p:pic>
            <p:nvPicPr>
              <p:cNvPr id="13" name="Ink 12">
                <a:extLst>
                  <a:ext uri="{FF2B5EF4-FFF2-40B4-BE49-F238E27FC236}">
                    <a16:creationId xmlns:a16="http://schemas.microsoft.com/office/drawing/2014/main" id="{FEF330FC-5861-CF62-74A5-04245759262E}"/>
                  </a:ext>
                </a:extLst>
              </p:cNvPr>
              <p:cNvPicPr/>
              <p:nvPr/>
            </p:nvPicPr>
            <p:blipFill>
              <a:blip r:embed="rId6"/>
              <a:stretch>
                <a:fillRect/>
              </a:stretch>
            </p:blipFill>
            <p:spPr>
              <a:xfrm>
                <a:off x="10264528" y="6330060"/>
                <a:ext cx="165600" cy="25452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62FA1-006F-47CD-CDBF-79F957539E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4DC1BC-AC8A-46E4-5BFE-33E82D9FA3B5}"/>
              </a:ext>
            </a:extLst>
          </p:cNvPr>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a:extLst>
              <a:ext uri="{FF2B5EF4-FFF2-40B4-BE49-F238E27FC236}">
                <a16:creationId xmlns:a16="http://schemas.microsoft.com/office/drawing/2014/main" id="{75AAD399-70E9-F391-C58E-7B3AB24E0A5D}"/>
              </a:ext>
            </a:extLst>
          </p:cNvPr>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Attacks: from fixed visual prompts to adaptive search</a:t>
            </a:r>
          </a:p>
        </p:txBody>
      </p:sp>
      <p:sp>
        <p:nvSpPr>
          <p:cNvPr id="4" name="TextBox 3">
            <a:extLst>
              <a:ext uri="{FF2B5EF4-FFF2-40B4-BE49-F238E27FC236}">
                <a16:creationId xmlns:a16="http://schemas.microsoft.com/office/drawing/2014/main" id="{1A042DE6-944E-3BD0-BC29-B8E802A1B333}"/>
              </a:ext>
            </a:extLst>
          </p:cNvPr>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[4] </a:t>
            </a:r>
            <a:r>
              <a:rPr sz="1000" b="0" dirty="0" err="1">
                <a:solidFill>
                  <a:srgbClr val="4B4B4B"/>
                </a:solidFill>
                <a:latin typeface="Aptos"/>
              </a:rPr>
              <a:t>PolyJailbreak</a:t>
            </a:r>
            <a:r>
              <a:rPr sz="1000" b="0" dirty="0">
                <a:solidFill>
                  <a:srgbClr val="4B4B4B"/>
                </a:solidFill>
                <a:latin typeface="Aptos"/>
              </a:rPr>
              <a:t>, Table VI / Fig. 6</a:t>
            </a:r>
          </a:p>
        </p:txBody>
      </p:sp>
      <p:cxnSp>
        <p:nvCxnSpPr>
          <p:cNvPr id="5" name="Connector 4">
            <a:extLst>
              <a:ext uri="{FF2B5EF4-FFF2-40B4-BE49-F238E27FC236}">
                <a16:creationId xmlns:a16="http://schemas.microsoft.com/office/drawing/2014/main" id="{5933D872-C920-0ACC-095F-835346A861C3}"/>
              </a:ext>
            </a:extLst>
          </p:cNvPr>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E5173F1-D4C1-3D1E-69DC-A8C8BFB70DF8}"/>
              </a:ext>
            </a:extLst>
          </p:cNvPr>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a:extLst>
              <a:ext uri="{FF2B5EF4-FFF2-40B4-BE49-F238E27FC236}">
                <a16:creationId xmlns:a16="http://schemas.microsoft.com/office/drawing/2014/main" id="{355C6634-70CA-172C-EFD8-BC710D35E432}"/>
              </a:ext>
            </a:extLst>
          </p:cNvPr>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05</a:t>
            </a:r>
          </a:p>
        </p:txBody>
      </p:sp>
      <p:cxnSp>
        <p:nvCxnSpPr>
          <p:cNvPr id="12" name="Connector 11">
            <a:extLst>
              <a:ext uri="{FF2B5EF4-FFF2-40B4-BE49-F238E27FC236}">
                <a16:creationId xmlns:a16="http://schemas.microsoft.com/office/drawing/2014/main" id="{FD1EB66D-88E1-34DC-5FBD-F9814B0D7FA2}"/>
              </a:ext>
            </a:extLst>
          </p:cNvPr>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CC25BC4-4D73-67B6-A2A3-19C230582D6D}"/>
              </a:ext>
            </a:extLst>
          </p:cNvPr>
          <p:cNvSpPr txBox="1"/>
          <p:nvPr/>
        </p:nvSpPr>
        <p:spPr>
          <a:xfrm>
            <a:off x="6345936" y="1572768"/>
            <a:ext cx="5230368" cy="438912"/>
          </a:xfrm>
          <a:prstGeom prst="rect">
            <a:avLst/>
          </a:prstGeom>
          <a:noFill/>
        </p:spPr>
        <p:txBody>
          <a:bodyPr wrap="square" lIns="32004" tIns="22860" rIns="32004" bIns="18288" anchor="t">
            <a:spAutoFit/>
          </a:bodyPr>
          <a:lstStyle/>
          <a:p>
            <a:pPr algn="l"/>
            <a:r>
              <a:rPr sz="1500" b="1">
                <a:solidFill>
                  <a:srgbClr val="191919"/>
                </a:solidFill>
                <a:latin typeface="Aptos"/>
              </a:rPr>
              <a:t>PolyJailbreak | adaptive cross-modal attack [4]</a:t>
            </a:r>
          </a:p>
        </p:txBody>
      </p:sp>
      <p:cxnSp>
        <p:nvCxnSpPr>
          <p:cNvPr id="14" name="Connector 13">
            <a:extLst>
              <a:ext uri="{FF2B5EF4-FFF2-40B4-BE49-F238E27FC236}">
                <a16:creationId xmlns:a16="http://schemas.microsoft.com/office/drawing/2014/main" id="{D422283C-CBD8-205E-2F0E-895148ACAC5F}"/>
              </a:ext>
            </a:extLst>
          </p:cNvPr>
          <p:cNvCxnSpPr/>
          <p:nvPr/>
        </p:nvCxnSpPr>
        <p:spPr>
          <a:xfrm>
            <a:off x="6345936"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A5C7109-EFF7-28A5-7718-B6A65FD5C4BD}"/>
              </a:ext>
            </a:extLst>
          </p:cNvPr>
          <p:cNvSpPr txBox="1"/>
          <p:nvPr/>
        </p:nvSpPr>
        <p:spPr>
          <a:xfrm>
            <a:off x="6345936" y="2121408"/>
            <a:ext cx="5230368" cy="2482218"/>
          </a:xfrm>
          <a:prstGeom prst="rect">
            <a:avLst/>
          </a:prstGeom>
          <a:noFill/>
        </p:spPr>
        <p:txBody>
          <a:bodyPr wrap="square" lIns="32004" tIns="22860" rIns="32004" bIns="18288" anchor="t">
            <a:spAutoFit/>
          </a:bodyPr>
          <a:lstStyle/>
          <a:p>
            <a:pPr algn="l"/>
            <a:r>
              <a:rPr sz="1220" b="0" dirty="0">
                <a:solidFill>
                  <a:srgbClr val="191919"/>
                </a:solidFill>
                <a:latin typeface="Aptos"/>
              </a:rPr>
              <a:t>CONTRIBUTION
Black-box attacker composes cross-modal strategy primitives and iteratively adapts using target feedback. The paper evaluates eight open and closed MLLMs with up to 15 optimization steps.
EVALUATION + RESULT
Table VI reports 83.34% average ASR </a:t>
            </a:r>
            <a:r>
              <a:rPr lang="en-US" sz="1220" b="0" dirty="0">
                <a:solidFill>
                  <a:srgbClr val="191919"/>
                </a:solidFill>
                <a:latin typeface="Aptos"/>
              </a:rPr>
              <a:t>(Attack Success rate) </a:t>
            </a:r>
            <a:r>
              <a:rPr sz="1220" b="0" dirty="0">
                <a:solidFill>
                  <a:srgbClr val="191919"/>
                </a:solidFill>
                <a:latin typeface="Aptos"/>
              </a:rPr>
              <a:t>and 3.976/5 harmfulness score, judged with GPT-4o. These are separate outcomes; its optimization steps are not a universal total-call budget.
PROJECT MAPPING
Adaptive red-team tier; equalize target-call budgets, log auxiliary calls/cost, and plot success vs. queries. Keep separate from fixed-attack ASR.</a:t>
            </a:r>
          </a:p>
        </p:txBody>
      </p:sp>
      <p:sp>
        <p:nvSpPr>
          <p:cNvPr id="16" name="TextBox 15">
            <a:extLst>
              <a:ext uri="{FF2B5EF4-FFF2-40B4-BE49-F238E27FC236}">
                <a16:creationId xmlns:a16="http://schemas.microsoft.com/office/drawing/2014/main" id="{475EDFFD-5FCC-9E28-CF02-C62FB19129E8}"/>
              </a:ext>
            </a:extLst>
          </p:cNvPr>
          <p:cNvSpPr txBox="1"/>
          <p:nvPr/>
        </p:nvSpPr>
        <p:spPr>
          <a:xfrm>
            <a:off x="6345936" y="5733288"/>
            <a:ext cx="5230368" cy="201168"/>
          </a:xfrm>
          <a:prstGeom prst="rect">
            <a:avLst/>
          </a:prstGeom>
          <a:noFill/>
        </p:spPr>
        <p:txBody>
          <a:bodyPr wrap="square" lIns="32004" tIns="22860" rIns="32004" bIns="18288" anchor="t">
            <a:spAutoFit/>
          </a:bodyPr>
          <a:lstStyle/>
          <a:p>
            <a:pPr algn="l"/>
            <a:r>
              <a:rPr sz="900" b="1">
                <a:solidFill>
                  <a:srgbClr val="4B4B4B"/>
                </a:solidFill>
                <a:latin typeface="Aptos"/>
              </a:rPr>
              <a:t>PIPELINE: ADAPTIVE, SEPARATELY BUDGETED RED-TEAM TIER</a:t>
            </a:r>
          </a:p>
        </p:txBody>
      </p:sp>
      <p:pic>
        <p:nvPicPr>
          <p:cNvPr id="18" name="Picture 17">
            <a:extLst>
              <a:ext uri="{FF2B5EF4-FFF2-40B4-BE49-F238E27FC236}">
                <a16:creationId xmlns:a16="http://schemas.microsoft.com/office/drawing/2014/main" id="{3F6F063A-7BDF-7224-BDD7-AC3F9D913740}"/>
              </a:ext>
            </a:extLst>
          </p:cNvPr>
          <p:cNvPicPr>
            <a:picLocks noChangeAspect="1"/>
          </p:cNvPicPr>
          <p:nvPr/>
        </p:nvPicPr>
        <p:blipFill>
          <a:blip r:embed="rId3"/>
          <a:stretch>
            <a:fillRect/>
          </a:stretch>
        </p:blipFill>
        <p:spPr>
          <a:xfrm>
            <a:off x="325867" y="1447410"/>
            <a:ext cx="5707881" cy="2415151"/>
          </a:xfrm>
          <a:prstGeom prst="rect">
            <a:avLst/>
          </a:prstGeom>
        </p:spPr>
      </p:pic>
      <p:pic>
        <p:nvPicPr>
          <p:cNvPr id="20" name="Picture 19">
            <a:extLst>
              <a:ext uri="{FF2B5EF4-FFF2-40B4-BE49-F238E27FC236}">
                <a16:creationId xmlns:a16="http://schemas.microsoft.com/office/drawing/2014/main" id="{65337623-F99C-C9EA-CC5B-88740CB68F62}"/>
              </a:ext>
            </a:extLst>
          </p:cNvPr>
          <p:cNvPicPr>
            <a:picLocks noChangeAspect="1"/>
          </p:cNvPicPr>
          <p:nvPr/>
        </p:nvPicPr>
        <p:blipFill>
          <a:blip r:embed="rId4"/>
          <a:stretch>
            <a:fillRect/>
          </a:stretch>
        </p:blipFill>
        <p:spPr>
          <a:xfrm>
            <a:off x="557790" y="3949057"/>
            <a:ext cx="5428473" cy="2891803"/>
          </a:xfrm>
          <a:prstGeom prst="rect">
            <a:avLst/>
          </a:prstGeom>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C77B7DA0-AAA5-9AEE-9E86-F35A5216045B}"/>
                  </a:ext>
                </a:extLst>
              </p14:cNvPr>
              <p14:cNvContentPartPr/>
              <p14:nvPr/>
            </p14:nvContentPartPr>
            <p14:xfrm>
              <a:off x="5566168" y="3788820"/>
              <a:ext cx="420120" cy="24120"/>
            </p14:xfrm>
          </p:contentPart>
        </mc:Choice>
        <mc:Fallback xmlns="">
          <p:pic>
            <p:nvPicPr>
              <p:cNvPr id="8" name="Ink 7">
                <a:extLst>
                  <a:ext uri="{FF2B5EF4-FFF2-40B4-BE49-F238E27FC236}">
                    <a16:creationId xmlns:a16="http://schemas.microsoft.com/office/drawing/2014/main" id="{C77B7DA0-AAA5-9AEE-9E86-F35A5216045B}"/>
                  </a:ext>
                </a:extLst>
              </p:cNvPr>
              <p:cNvPicPr/>
              <p:nvPr/>
            </p:nvPicPr>
            <p:blipFill>
              <a:blip r:embed="rId6"/>
              <a:stretch>
                <a:fillRect/>
              </a:stretch>
            </p:blipFill>
            <p:spPr>
              <a:xfrm>
                <a:off x="5560048" y="3782700"/>
                <a:ext cx="432360" cy="36360"/>
              </a:xfrm>
              <a:prstGeom prst="rect">
                <a:avLst/>
              </a:prstGeom>
            </p:spPr>
          </p:pic>
        </mc:Fallback>
      </mc:AlternateContent>
      <p:sp>
        <p:nvSpPr>
          <p:cNvPr id="9" name="TextBox 8">
            <a:extLst>
              <a:ext uri="{FF2B5EF4-FFF2-40B4-BE49-F238E27FC236}">
                <a16:creationId xmlns:a16="http://schemas.microsoft.com/office/drawing/2014/main" id="{55478738-24BA-F725-DFF2-2ED7578198F8}"/>
              </a:ext>
            </a:extLst>
          </p:cNvPr>
          <p:cNvSpPr txBox="1"/>
          <p:nvPr/>
        </p:nvSpPr>
        <p:spPr>
          <a:xfrm>
            <a:off x="2161532" y="5431537"/>
            <a:ext cx="561110" cy="384048"/>
          </a:xfrm>
          <a:prstGeom prst="rect">
            <a:avLst/>
          </a:prstGeom>
          <a:noFill/>
        </p:spPr>
        <p:txBody>
          <a:bodyPr wrap="square" rtlCol="0">
            <a:spAutoFit/>
          </a:bodyPr>
          <a:lstStyle/>
          <a:p>
            <a:r>
              <a:rPr lang="en-US" sz="600" dirty="0"/>
              <a:t>Atomic Strategy Primitives</a:t>
            </a:r>
          </a:p>
        </p:txBody>
      </p:sp>
    </p:spTree>
    <p:extLst>
      <p:ext uri="{BB962C8B-B14F-4D97-AF65-F5344CB8AC3E}">
        <p14:creationId xmlns:p14="http://schemas.microsoft.com/office/powerpoint/2010/main" val="4154073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01168"/>
            <a:ext cx="5303520" cy="228600"/>
          </a:xfrm>
          <a:prstGeom prst="rect">
            <a:avLst/>
          </a:prstGeom>
          <a:noFill/>
        </p:spPr>
        <p:txBody>
          <a:bodyPr wrap="square" lIns="18288" tIns="18288" rIns="18288" bIns="18288" anchor="t">
            <a:spAutoFit/>
          </a:bodyPr>
          <a:lstStyle/>
          <a:p>
            <a:pPr algn="l">
              <a:spcBef>
                <a:spcPts val="0"/>
              </a:spcBef>
              <a:spcAft>
                <a:spcPts val="0"/>
              </a:spcAft>
            </a:pPr>
            <a:r>
              <a:rPr sz="1000" b="1">
                <a:solidFill>
                  <a:srgbClr val="4B4B4B"/>
                </a:solidFill>
                <a:latin typeface="Aptos"/>
              </a:rPr>
              <a:t>LITERATURE REVIEW | PAPER-BY-PAPER EVIDENCE</a:t>
            </a:r>
          </a:p>
        </p:txBody>
      </p:sp>
      <p:sp>
        <p:nvSpPr>
          <p:cNvPr id="3" name="TextBox 2"/>
          <p:cNvSpPr txBox="1"/>
          <p:nvPr/>
        </p:nvSpPr>
        <p:spPr>
          <a:xfrm>
            <a:off x="566928" y="484632"/>
            <a:ext cx="11064240" cy="512064"/>
          </a:xfrm>
          <a:prstGeom prst="rect">
            <a:avLst/>
          </a:prstGeom>
          <a:noFill/>
        </p:spPr>
        <p:txBody>
          <a:bodyPr wrap="square" lIns="18288" tIns="18288" rIns="18288" bIns="18288" anchor="t">
            <a:spAutoFit/>
          </a:bodyPr>
          <a:lstStyle/>
          <a:p>
            <a:pPr algn="l">
              <a:spcBef>
                <a:spcPts val="0"/>
              </a:spcBef>
              <a:spcAft>
                <a:spcPts val="0"/>
              </a:spcAft>
            </a:pPr>
            <a:r>
              <a:rPr sz="2400" b="1">
                <a:solidFill>
                  <a:srgbClr val="191919"/>
                </a:solidFill>
                <a:latin typeface="Aptos"/>
              </a:rPr>
              <a:t>Attacks: HADES hides and amplifies harmful intent</a:t>
            </a:r>
          </a:p>
        </p:txBody>
      </p:sp>
      <p:sp>
        <p:nvSpPr>
          <p:cNvPr id="4" name="TextBox 3"/>
          <p:cNvSpPr txBox="1"/>
          <p:nvPr/>
        </p:nvSpPr>
        <p:spPr>
          <a:xfrm>
            <a:off x="585216" y="1024128"/>
            <a:ext cx="10972800" cy="192024"/>
          </a:xfrm>
          <a:prstGeom prst="rect">
            <a:avLst/>
          </a:prstGeom>
          <a:noFill/>
        </p:spPr>
        <p:txBody>
          <a:bodyPr wrap="square" lIns="18288" tIns="18288" rIns="18288" bIns="18288" anchor="t">
            <a:spAutoFit/>
          </a:bodyPr>
          <a:lstStyle/>
          <a:p>
            <a:pPr algn="l">
              <a:spcBef>
                <a:spcPts val="0"/>
              </a:spcBef>
              <a:spcAft>
                <a:spcPts val="0"/>
              </a:spcAft>
            </a:pPr>
            <a:r>
              <a:rPr sz="1000" b="0" dirty="0">
                <a:solidFill>
                  <a:srgbClr val="4B4B4B"/>
                </a:solidFill>
                <a:latin typeface="Aptos"/>
              </a:rPr>
              <a:t>[11] HADES, Fig. </a:t>
            </a:r>
            <a:r>
              <a:rPr lang="en-US" sz="1000" b="0" dirty="0">
                <a:solidFill>
                  <a:srgbClr val="4B4B4B"/>
                </a:solidFill>
                <a:latin typeface="Aptos"/>
              </a:rPr>
              <a:t>2</a:t>
            </a:r>
            <a:r>
              <a:rPr sz="1000" b="0" dirty="0">
                <a:solidFill>
                  <a:srgbClr val="4B4B4B"/>
                </a:solidFill>
                <a:latin typeface="Aptos"/>
              </a:rPr>
              <a:t> / Table</a:t>
            </a:r>
            <a:r>
              <a:rPr lang="en-US" sz="1000" b="0" dirty="0">
                <a:solidFill>
                  <a:srgbClr val="4B4B4B"/>
                </a:solidFill>
                <a:latin typeface="Aptos"/>
              </a:rPr>
              <a:t>s</a:t>
            </a:r>
            <a:r>
              <a:rPr sz="1000" b="0" dirty="0">
                <a:solidFill>
                  <a:srgbClr val="4B4B4B"/>
                </a:solidFill>
                <a:latin typeface="Aptos"/>
              </a:rPr>
              <a:t> </a:t>
            </a:r>
            <a:r>
              <a:rPr lang="en-US" sz="1000" b="0" dirty="0">
                <a:solidFill>
                  <a:srgbClr val="4B4B4B"/>
                </a:solidFill>
                <a:latin typeface="Aptos"/>
              </a:rPr>
              <a:t>1,2</a:t>
            </a:r>
            <a:endParaRPr sz="1000" b="0" dirty="0">
              <a:solidFill>
                <a:srgbClr val="4B4B4B"/>
              </a:solidFill>
              <a:latin typeface="Aptos"/>
            </a:endParaRPr>
          </a:p>
        </p:txBody>
      </p:sp>
      <p:cxnSp>
        <p:nvCxnSpPr>
          <p:cNvPr id="5" name="Connector 4"/>
          <p:cNvCxnSpPr/>
          <p:nvPr/>
        </p:nvCxnSpPr>
        <p:spPr>
          <a:xfrm>
            <a:off x="566928" y="1353312"/>
            <a:ext cx="11064240" cy="0"/>
          </a:xfrm>
          <a:prstGeom prst="line">
            <a:avLst/>
          </a:prstGeom>
          <a:ln w="1016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3504" y="1572768"/>
            <a:ext cx="5230368" cy="438912"/>
          </a:xfrm>
          <a:prstGeom prst="rect">
            <a:avLst/>
          </a:prstGeom>
          <a:noFill/>
        </p:spPr>
        <p:txBody>
          <a:bodyPr wrap="square" lIns="18288" tIns="18288" rIns="18288" bIns="18288" anchor="t">
            <a:spAutoFit/>
          </a:bodyPr>
          <a:lstStyle/>
          <a:p>
            <a:pPr algn="l">
              <a:spcBef>
                <a:spcPts val="0"/>
              </a:spcBef>
              <a:spcAft>
                <a:spcPts val="0"/>
              </a:spcAft>
            </a:pPr>
            <a:r>
              <a:rPr sz="1500" b="1">
                <a:solidFill>
                  <a:srgbClr val="191919"/>
                </a:solidFill>
                <a:latin typeface="Aptos"/>
              </a:rPr>
              <a:t>HADES | semantic image-based jailbreak [11]</a:t>
            </a:r>
          </a:p>
        </p:txBody>
      </p:sp>
      <p:cxnSp>
        <p:nvCxnSpPr>
          <p:cNvPr id="7" name="Connector 6"/>
          <p:cNvCxnSpPr/>
          <p:nvPr/>
        </p:nvCxnSpPr>
        <p:spPr>
          <a:xfrm>
            <a:off x="603504" y="2048256"/>
            <a:ext cx="5230368" cy="0"/>
          </a:xfrm>
          <a:prstGeom prst="line">
            <a:avLst/>
          </a:prstGeom>
          <a:ln w="10160">
            <a:solidFill>
              <a:srgbClr val="19191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3504" y="2121408"/>
            <a:ext cx="5230368" cy="3419856"/>
          </a:xfrm>
          <a:prstGeom prst="rect">
            <a:avLst/>
          </a:prstGeom>
          <a:noFill/>
        </p:spPr>
        <p:txBody>
          <a:bodyPr wrap="square" lIns="18288" tIns="18288" rIns="18288" bIns="18288" anchor="t">
            <a:spAutoFit/>
          </a:bodyPr>
          <a:lstStyle/>
          <a:p>
            <a:pPr algn="l">
              <a:spcBef>
                <a:spcPts val="0"/>
              </a:spcBef>
              <a:spcAft>
                <a:spcPts val="0"/>
              </a:spcAft>
            </a:pPr>
            <a:r>
              <a:rPr sz="1140" b="0">
                <a:solidFill>
                  <a:srgbClr val="191919"/>
                </a:solidFill>
                <a:latin typeface="Aptos"/>
              </a:rPr>
              <a:t>CONTRIBUTION
HADES tests whether crafted images can conceal and amplify a harmful request. Its stages combine typography, a semantically optimized generated image (+Opt), and a gradient-optimized adversarial image (+Adv). The paper evaluates 750 harmful instructions across five scenarios.
EVALUATION + RESULT
Table 2 compares attack stages. For LLaVA-1.5, mean ASR rises from 65.60% with typography to 90.26% with full HADES (+Adv). Gemini Pro Vision reaches 71.60% with +Opt; the paper does not report its +Adv result because the model is closed-source.
PROJECT ROLE
Use +Opt as a reproducible black-box visual-semantic tier when artifacts are available. Keep +Adv separate as a white-box, model-access-dependent extension.</a:t>
            </a:r>
          </a:p>
        </p:txBody>
      </p:sp>
      <p:sp>
        <p:nvSpPr>
          <p:cNvPr id="9" name="TextBox 8"/>
          <p:cNvSpPr txBox="1"/>
          <p:nvPr/>
        </p:nvSpPr>
        <p:spPr>
          <a:xfrm>
            <a:off x="640080" y="6208775"/>
            <a:ext cx="5230368" cy="256032"/>
          </a:xfrm>
          <a:prstGeom prst="rect">
            <a:avLst/>
          </a:prstGeom>
          <a:noFill/>
        </p:spPr>
        <p:txBody>
          <a:bodyPr wrap="square" lIns="18288" tIns="18288" rIns="18288" bIns="18288" anchor="t">
            <a:spAutoFit/>
          </a:bodyPr>
          <a:lstStyle/>
          <a:p>
            <a:pPr algn="l">
              <a:spcBef>
                <a:spcPts val="0"/>
              </a:spcBef>
              <a:spcAft>
                <a:spcPts val="0"/>
              </a:spcAft>
            </a:pPr>
            <a:r>
              <a:rPr sz="960" b="1" dirty="0">
                <a:solidFill>
                  <a:srgbClr val="4B4B4B"/>
                </a:solidFill>
                <a:latin typeface="Aptos"/>
              </a:rPr>
              <a:t>PIPELINE: BLACK-BOX SEMANTIC IMAGE ATTACK + OPTIONAL WHITE-BOX TIER</a:t>
            </a:r>
          </a:p>
        </p:txBody>
      </p:sp>
      <p:cxnSp>
        <p:nvCxnSpPr>
          <p:cNvPr id="10" name="Connector 9"/>
          <p:cNvCxnSpPr/>
          <p:nvPr/>
        </p:nvCxnSpPr>
        <p:spPr>
          <a:xfrm>
            <a:off x="6089904" y="1572768"/>
            <a:ext cx="0" cy="4416552"/>
          </a:xfrm>
          <a:prstGeom prst="line">
            <a:avLst/>
          </a:prstGeom>
          <a:ln w="10160">
            <a:solidFill>
              <a:srgbClr val="19191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 y="6473952"/>
            <a:ext cx="10241280" cy="164592"/>
          </a:xfrm>
          <a:prstGeom prst="rect">
            <a:avLst/>
          </a:prstGeom>
          <a:noFill/>
        </p:spPr>
        <p:txBody>
          <a:bodyPr wrap="square" lIns="18288" tIns="18288" rIns="18288" bIns="18288" anchor="t">
            <a:spAutoFit/>
          </a:bodyPr>
          <a:lstStyle/>
          <a:p>
            <a:pPr algn="l">
              <a:spcBef>
                <a:spcPts val="0"/>
              </a:spcBef>
              <a:spcAft>
                <a:spcPts val="0"/>
              </a:spcAft>
            </a:pPr>
            <a:r>
              <a:rPr sz="900" b="0">
                <a:solidFill>
                  <a:srgbClr val="4B4B4B"/>
                </a:solidFill>
                <a:latin typeface="Aptos"/>
              </a:rPr>
              <a:t>VLM Safety Alignment | Focused literature review</a:t>
            </a:r>
          </a:p>
        </p:txBody>
      </p:sp>
      <p:sp>
        <p:nvSpPr>
          <p:cNvPr id="14" name="TextBox 13"/>
          <p:cNvSpPr txBox="1"/>
          <p:nvPr/>
        </p:nvSpPr>
        <p:spPr>
          <a:xfrm>
            <a:off x="11137392" y="6455664"/>
            <a:ext cx="457200" cy="182880"/>
          </a:xfrm>
          <a:prstGeom prst="rect">
            <a:avLst/>
          </a:prstGeom>
          <a:noFill/>
        </p:spPr>
        <p:txBody>
          <a:bodyPr wrap="square" lIns="18288" tIns="18288" rIns="18288" bIns="18288" anchor="t">
            <a:spAutoFit/>
          </a:bodyPr>
          <a:lstStyle/>
          <a:p>
            <a:pPr algn="r">
              <a:spcBef>
                <a:spcPts val="0"/>
              </a:spcBef>
              <a:spcAft>
                <a:spcPts val="0"/>
              </a:spcAft>
            </a:pPr>
            <a:r>
              <a:rPr sz="900" b="0">
                <a:solidFill>
                  <a:srgbClr val="4B4B4B"/>
                </a:solidFill>
                <a:latin typeface="Aptos"/>
              </a:rPr>
              <a:t>05</a:t>
            </a:r>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DA25CC8E-98AE-A2ED-8E31-0E38913E5442}"/>
                  </a:ext>
                </a:extLst>
              </p14:cNvPr>
              <p14:cNvContentPartPr/>
              <p14:nvPr/>
            </p14:nvContentPartPr>
            <p14:xfrm>
              <a:off x="10556345" y="6135218"/>
              <a:ext cx="112320" cy="360"/>
            </p14:xfrm>
          </p:contentPart>
        </mc:Choice>
        <mc:Fallback xmlns="">
          <p:pic>
            <p:nvPicPr>
              <p:cNvPr id="21" name="Ink 20">
                <a:extLst>
                  <a:ext uri="{FF2B5EF4-FFF2-40B4-BE49-F238E27FC236}">
                    <a16:creationId xmlns:a16="http://schemas.microsoft.com/office/drawing/2014/main" id="{DA25CC8E-98AE-A2ED-8E31-0E38913E5442}"/>
                  </a:ext>
                </a:extLst>
              </p:cNvPr>
              <p:cNvPicPr/>
              <p:nvPr/>
            </p:nvPicPr>
            <p:blipFill>
              <a:blip r:embed="rId4"/>
              <a:stretch>
                <a:fillRect/>
              </a:stretch>
            </p:blipFill>
            <p:spPr>
              <a:xfrm>
                <a:off x="10550225" y="6129098"/>
                <a:ext cx="1245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8B34E274-3BDD-27BD-AE9B-CB022F95F72F}"/>
                  </a:ext>
                </a:extLst>
              </p14:cNvPr>
              <p14:cNvContentPartPr/>
              <p14:nvPr/>
            </p14:nvContentPartPr>
            <p14:xfrm>
              <a:off x="10626905" y="6346178"/>
              <a:ext cx="100080" cy="2160"/>
            </p14:xfrm>
          </p:contentPart>
        </mc:Choice>
        <mc:Fallback xmlns="">
          <p:pic>
            <p:nvPicPr>
              <p:cNvPr id="22" name="Ink 21">
                <a:extLst>
                  <a:ext uri="{FF2B5EF4-FFF2-40B4-BE49-F238E27FC236}">
                    <a16:creationId xmlns:a16="http://schemas.microsoft.com/office/drawing/2014/main" id="{8B34E274-3BDD-27BD-AE9B-CB022F95F72F}"/>
                  </a:ext>
                </a:extLst>
              </p:cNvPr>
              <p:cNvPicPr/>
              <p:nvPr/>
            </p:nvPicPr>
            <p:blipFill>
              <a:blip r:embed="rId6"/>
              <a:stretch>
                <a:fillRect/>
              </a:stretch>
            </p:blipFill>
            <p:spPr>
              <a:xfrm>
                <a:off x="10620785" y="6340058"/>
                <a:ext cx="11232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86DEA15C-5AB6-8291-C699-D51C5FC8584D}"/>
                  </a:ext>
                </a:extLst>
              </p14:cNvPr>
              <p14:cNvContentPartPr/>
              <p14:nvPr/>
            </p14:nvContentPartPr>
            <p14:xfrm>
              <a:off x="8710625" y="6340418"/>
              <a:ext cx="109080" cy="360"/>
            </p14:xfrm>
          </p:contentPart>
        </mc:Choice>
        <mc:Fallback xmlns="">
          <p:pic>
            <p:nvPicPr>
              <p:cNvPr id="23" name="Ink 22">
                <a:extLst>
                  <a:ext uri="{FF2B5EF4-FFF2-40B4-BE49-F238E27FC236}">
                    <a16:creationId xmlns:a16="http://schemas.microsoft.com/office/drawing/2014/main" id="{86DEA15C-5AB6-8291-C699-D51C5FC8584D}"/>
                  </a:ext>
                </a:extLst>
              </p:cNvPr>
              <p:cNvPicPr/>
              <p:nvPr/>
            </p:nvPicPr>
            <p:blipFill>
              <a:blip r:embed="rId8"/>
              <a:stretch>
                <a:fillRect/>
              </a:stretch>
            </p:blipFill>
            <p:spPr>
              <a:xfrm>
                <a:off x="8704505" y="6334298"/>
                <a:ext cx="1213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4" name="Ink 23">
                <a:extLst>
                  <a:ext uri="{FF2B5EF4-FFF2-40B4-BE49-F238E27FC236}">
                    <a16:creationId xmlns:a16="http://schemas.microsoft.com/office/drawing/2014/main" id="{E650EBC6-C6E5-402E-200A-91466D250286}"/>
                  </a:ext>
                </a:extLst>
              </p14:cNvPr>
              <p14:cNvContentPartPr/>
              <p14:nvPr/>
            </p14:nvContentPartPr>
            <p14:xfrm>
              <a:off x="9589025" y="6327098"/>
              <a:ext cx="120600" cy="360"/>
            </p14:xfrm>
          </p:contentPart>
        </mc:Choice>
        <mc:Fallback xmlns="">
          <p:pic>
            <p:nvPicPr>
              <p:cNvPr id="24" name="Ink 23">
                <a:extLst>
                  <a:ext uri="{FF2B5EF4-FFF2-40B4-BE49-F238E27FC236}">
                    <a16:creationId xmlns:a16="http://schemas.microsoft.com/office/drawing/2014/main" id="{E650EBC6-C6E5-402E-200A-91466D250286}"/>
                  </a:ext>
                </a:extLst>
              </p:cNvPr>
              <p:cNvPicPr/>
              <p:nvPr/>
            </p:nvPicPr>
            <p:blipFill>
              <a:blip r:embed="rId10"/>
              <a:stretch>
                <a:fillRect/>
              </a:stretch>
            </p:blipFill>
            <p:spPr>
              <a:xfrm>
                <a:off x="9582905" y="6320978"/>
                <a:ext cx="132840" cy="12600"/>
              </a:xfrm>
              <a:prstGeom prst="rect">
                <a:avLst/>
              </a:prstGeom>
            </p:spPr>
          </p:pic>
        </mc:Fallback>
      </mc:AlternateContent>
      <p:pic>
        <p:nvPicPr>
          <p:cNvPr id="28" name="Picture 27">
            <a:extLst>
              <a:ext uri="{FF2B5EF4-FFF2-40B4-BE49-F238E27FC236}">
                <a16:creationId xmlns:a16="http://schemas.microsoft.com/office/drawing/2014/main" id="{46DE9F76-9D6E-64A5-7E1D-044A1937B914}"/>
              </a:ext>
            </a:extLst>
          </p:cNvPr>
          <p:cNvPicPr>
            <a:picLocks noChangeAspect="1"/>
          </p:cNvPicPr>
          <p:nvPr/>
        </p:nvPicPr>
        <p:blipFill>
          <a:blip r:embed="rId11"/>
          <a:stretch>
            <a:fillRect/>
          </a:stretch>
        </p:blipFill>
        <p:spPr>
          <a:xfrm>
            <a:off x="8721138" y="4183977"/>
            <a:ext cx="3407792" cy="2677049"/>
          </a:xfrm>
          <a:prstGeom prst="rect">
            <a:avLst/>
          </a:prstGeom>
        </p:spPr>
      </p:pic>
      <mc:AlternateContent xmlns:mc="http://schemas.openxmlformats.org/markup-compatibility/2006">
        <mc:Choice xmlns:p14="http://schemas.microsoft.com/office/powerpoint/2010/main" Requires="p14">
          <p:contentPart p14:bwMode="auto" r:id="rId12">
            <p14:nvContentPartPr>
              <p14:cNvPr id="29" name="Ink 28">
                <a:extLst>
                  <a:ext uri="{FF2B5EF4-FFF2-40B4-BE49-F238E27FC236}">
                    <a16:creationId xmlns:a16="http://schemas.microsoft.com/office/drawing/2014/main" id="{C8E993D1-5F43-D2E4-EB64-800D08DAA14E}"/>
                  </a:ext>
                </a:extLst>
              </p14:cNvPr>
              <p14:cNvContentPartPr/>
              <p14:nvPr/>
            </p14:nvContentPartPr>
            <p14:xfrm>
              <a:off x="11879987" y="4877328"/>
              <a:ext cx="167760" cy="15120"/>
            </p14:xfrm>
          </p:contentPart>
        </mc:Choice>
        <mc:Fallback>
          <p:pic>
            <p:nvPicPr>
              <p:cNvPr id="29" name="Ink 28">
                <a:extLst>
                  <a:ext uri="{FF2B5EF4-FFF2-40B4-BE49-F238E27FC236}">
                    <a16:creationId xmlns:a16="http://schemas.microsoft.com/office/drawing/2014/main" id="{C8E993D1-5F43-D2E4-EB64-800D08DAA14E}"/>
                  </a:ext>
                </a:extLst>
              </p:cNvPr>
              <p:cNvPicPr/>
              <p:nvPr/>
            </p:nvPicPr>
            <p:blipFill>
              <a:blip r:embed="rId13"/>
              <a:stretch>
                <a:fillRect/>
              </a:stretch>
            </p:blipFill>
            <p:spPr>
              <a:xfrm>
                <a:off x="11873867" y="4871350"/>
                <a:ext cx="180000" cy="27075"/>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0" name="Ink 29">
                <a:extLst>
                  <a:ext uri="{FF2B5EF4-FFF2-40B4-BE49-F238E27FC236}">
                    <a16:creationId xmlns:a16="http://schemas.microsoft.com/office/drawing/2014/main" id="{2027DEA7-A5FD-CB9D-D5E4-02EB7C0CE846}"/>
                  </a:ext>
                </a:extLst>
              </p14:cNvPr>
              <p14:cNvContentPartPr/>
              <p14:nvPr/>
            </p14:nvContentPartPr>
            <p14:xfrm>
              <a:off x="11578752" y="5004974"/>
              <a:ext cx="31680" cy="360"/>
            </p14:xfrm>
          </p:contentPart>
        </mc:Choice>
        <mc:Fallback>
          <p:pic>
            <p:nvPicPr>
              <p:cNvPr id="30" name="Ink 29">
                <a:extLst>
                  <a:ext uri="{FF2B5EF4-FFF2-40B4-BE49-F238E27FC236}">
                    <a16:creationId xmlns:a16="http://schemas.microsoft.com/office/drawing/2014/main" id="{2027DEA7-A5FD-CB9D-D5E4-02EB7C0CE846}"/>
                  </a:ext>
                </a:extLst>
              </p:cNvPr>
              <p:cNvPicPr/>
              <p:nvPr/>
            </p:nvPicPr>
            <p:blipFill>
              <a:blip r:embed="rId15"/>
              <a:stretch>
                <a:fillRect/>
              </a:stretch>
            </p:blipFill>
            <p:spPr>
              <a:xfrm>
                <a:off x="11572632" y="4998854"/>
                <a:ext cx="4392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1" name="Ink 30">
                <a:extLst>
                  <a:ext uri="{FF2B5EF4-FFF2-40B4-BE49-F238E27FC236}">
                    <a16:creationId xmlns:a16="http://schemas.microsoft.com/office/drawing/2014/main" id="{FD83C0B6-0B63-0471-71B4-EC8855016AB4}"/>
                  </a:ext>
                </a:extLst>
              </p14:cNvPr>
              <p14:cNvContentPartPr/>
              <p14:nvPr/>
            </p14:nvContentPartPr>
            <p14:xfrm>
              <a:off x="11571216" y="5106655"/>
              <a:ext cx="34560" cy="360"/>
            </p14:xfrm>
          </p:contentPart>
        </mc:Choice>
        <mc:Fallback>
          <p:pic>
            <p:nvPicPr>
              <p:cNvPr id="31" name="Ink 30">
                <a:extLst>
                  <a:ext uri="{FF2B5EF4-FFF2-40B4-BE49-F238E27FC236}">
                    <a16:creationId xmlns:a16="http://schemas.microsoft.com/office/drawing/2014/main" id="{FD83C0B6-0B63-0471-71B4-EC8855016AB4}"/>
                  </a:ext>
                </a:extLst>
              </p:cNvPr>
              <p:cNvPicPr/>
              <p:nvPr/>
            </p:nvPicPr>
            <p:blipFill>
              <a:blip r:embed="rId17"/>
              <a:stretch>
                <a:fillRect/>
              </a:stretch>
            </p:blipFill>
            <p:spPr>
              <a:xfrm>
                <a:off x="11565096" y="5100535"/>
                <a:ext cx="468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2" name="Ink 31">
                <a:extLst>
                  <a:ext uri="{FF2B5EF4-FFF2-40B4-BE49-F238E27FC236}">
                    <a16:creationId xmlns:a16="http://schemas.microsoft.com/office/drawing/2014/main" id="{76A3144C-0CE5-0814-671A-74D6620A4CDB}"/>
                  </a:ext>
                </a:extLst>
              </p14:cNvPr>
              <p14:cNvContentPartPr/>
              <p14:nvPr/>
            </p14:nvContentPartPr>
            <p14:xfrm>
              <a:off x="11588439" y="5182136"/>
              <a:ext cx="38880" cy="1080"/>
            </p14:xfrm>
          </p:contentPart>
        </mc:Choice>
        <mc:Fallback>
          <p:pic>
            <p:nvPicPr>
              <p:cNvPr id="32" name="Ink 31">
                <a:extLst>
                  <a:ext uri="{FF2B5EF4-FFF2-40B4-BE49-F238E27FC236}">
                    <a16:creationId xmlns:a16="http://schemas.microsoft.com/office/drawing/2014/main" id="{76A3144C-0CE5-0814-671A-74D6620A4CDB}"/>
                  </a:ext>
                </a:extLst>
              </p:cNvPr>
              <p:cNvPicPr/>
              <p:nvPr/>
            </p:nvPicPr>
            <p:blipFill>
              <a:blip r:embed="rId19"/>
              <a:stretch>
                <a:fillRect/>
              </a:stretch>
            </p:blipFill>
            <p:spPr>
              <a:xfrm>
                <a:off x="11582319" y="5177546"/>
                <a:ext cx="51120" cy="10260"/>
              </a:xfrm>
              <a:prstGeom prst="rect">
                <a:avLst/>
              </a:prstGeom>
            </p:spPr>
          </p:pic>
        </mc:Fallback>
      </mc:AlternateContent>
      <p:pic>
        <p:nvPicPr>
          <p:cNvPr id="12" name="Picture 11">
            <a:extLst>
              <a:ext uri="{FF2B5EF4-FFF2-40B4-BE49-F238E27FC236}">
                <a16:creationId xmlns:a16="http://schemas.microsoft.com/office/drawing/2014/main" id="{66A6AF56-9C6F-FE01-DC0C-ACA8C38F7613}"/>
              </a:ext>
            </a:extLst>
          </p:cNvPr>
          <p:cNvPicPr>
            <a:picLocks noChangeAspect="1"/>
          </p:cNvPicPr>
          <p:nvPr/>
        </p:nvPicPr>
        <p:blipFill>
          <a:blip r:embed="rId20"/>
          <a:stretch>
            <a:fillRect/>
          </a:stretch>
        </p:blipFill>
        <p:spPr>
          <a:xfrm>
            <a:off x="8001484" y="18172"/>
            <a:ext cx="3962383" cy="3525779"/>
          </a:xfrm>
          <a:prstGeom prst="rect">
            <a:avLst/>
          </a:prstGeom>
        </p:spPr>
      </p:pic>
      <p:pic>
        <p:nvPicPr>
          <p:cNvPr id="16" name="Picture 15">
            <a:extLst>
              <a:ext uri="{FF2B5EF4-FFF2-40B4-BE49-F238E27FC236}">
                <a16:creationId xmlns:a16="http://schemas.microsoft.com/office/drawing/2014/main" id="{BC140956-DA85-5321-76EC-6CBE6FC7EE97}"/>
              </a:ext>
            </a:extLst>
          </p:cNvPr>
          <p:cNvPicPr>
            <a:picLocks noChangeAspect="1"/>
          </p:cNvPicPr>
          <p:nvPr/>
        </p:nvPicPr>
        <p:blipFill>
          <a:blip r:embed="rId21"/>
          <a:stretch>
            <a:fillRect/>
          </a:stretch>
        </p:blipFill>
        <p:spPr>
          <a:xfrm>
            <a:off x="5795678" y="3916289"/>
            <a:ext cx="2935670" cy="29235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01168"/>
            <a:ext cx="5303520" cy="228600"/>
          </a:xfrm>
          <a:prstGeom prst="rect">
            <a:avLst/>
          </a:prstGeom>
          <a:noFill/>
        </p:spPr>
        <p:txBody>
          <a:bodyPr wrap="square" lIns="18288" tIns="18288" rIns="18288" bIns="18288" anchor="t">
            <a:spAutoFit/>
          </a:bodyPr>
          <a:lstStyle/>
          <a:p>
            <a:pPr algn="l">
              <a:spcBef>
                <a:spcPts val="0"/>
              </a:spcBef>
              <a:spcAft>
                <a:spcPts val="0"/>
              </a:spcAft>
            </a:pPr>
            <a:r>
              <a:rPr sz="1000" b="1">
                <a:solidFill>
                  <a:srgbClr val="4B4B4B"/>
                </a:solidFill>
                <a:latin typeface="Aptos"/>
              </a:rPr>
              <a:t>LITERATURE REVIEW | PAPER-BY-PAPER EVIDENCE</a:t>
            </a:r>
          </a:p>
        </p:txBody>
      </p:sp>
      <p:sp>
        <p:nvSpPr>
          <p:cNvPr id="3" name="TextBox 2"/>
          <p:cNvSpPr txBox="1"/>
          <p:nvPr/>
        </p:nvSpPr>
        <p:spPr>
          <a:xfrm>
            <a:off x="566928" y="484632"/>
            <a:ext cx="11064240" cy="512064"/>
          </a:xfrm>
          <a:prstGeom prst="rect">
            <a:avLst/>
          </a:prstGeom>
          <a:noFill/>
        </p:spPr>
        <p:txBody>
          <a:bodyPr wrap="square" lIns="18288" tIns="18288" rIns="18288" bIns="18288" anchor="t">
            <a:spAutoFit/>
          </a:bodyPr>
          <a:lstStyle/>
          <a:p>
            <a:pPr algn="l">
              <a:spcBef>
                <a:spcPts val="0"/>
              </a:spcBef>
              <a:spcAft>
                <a:spcPts val="0"/>
              </a:spcAft>
            </a:pPr>
            <a:r>
              <a:rPr sz="2400" b="1">
                <a:solidFill>
                  <a:srgbClr val="191919"/>
                </a:solidFill>
                <a:latin typeface="Aptos"/>
              </a:rPr>
              <a:t>Attacks: JailBreakV tests transfer and visual jailbreaks</a:t>
            </a:r>
          </a:p>
        </p:txBody>
      </p:sp>
      <p:sp>
        <p:nvSpPr>
          <p:cNvPr id="4" name="TextBox 3"/>
          <p:cNvSpPr txBox="1"/>
          <p:nvPr/>
        </p:nvSpPr>
        <p:spPr>
          <a:xfrm>
            <a:off x="585216" y="1024128"/>
            <a:ext cx="10972800" cy="192024"/>
          </a:xfrm>
          <a:prstGeom prst="rect">
            <a:avLst/>
          </a:prstGeom>
          <a:noFill/>
        </p:spPr>
        <p:txBody>
          <a:bodyPr wrap="square" lIns="18288" tIns="18288" rIns="18288" bIns="18288" anchor="t">
            <a:spAutoFit/>
          </a:bodyPr>
          <a:lstStyle/>
          <a:p>
            <a:pPr algn="l">
              <a:spcBef>
                <a:spcPts val="0"/>
              </a:spcBef>
              <a:spcAft>
                <a:spcPts val="0"/>
              </a:spcAft>
            </a:pPr>
            <a:r>
              <a:rPr sz="1000" b="0">
                <a:solidFill>
                  <a:srgbClr val="4B4B4B"/>
                </a:solidFill>
                <a:latin typeface="Aptos"/>
              </a:rPr>
              <a:t>[12] JailBreakV-28K, Fig. 1 / Table 2</a:t>
            </a:r>
          </a:p>
        </p:txBody>
      </p:sp>
      <p:cxnSp>
        <p:nvCxnSpPr>
          <p:cNvPr id="5" name="Connector 4"/>
          <p:cNvCxnSpPr/>
          <p:nvPr/>
        </p:nvCxnSpPr>
        <p:spPr>
          <a:xfrm>
            <a:off x="566928" y="1353312"/>
            <a:ext cx="11064240" cy="0"/>
          </a:xfrm>
          <a:prstGeom prst="line">
            <a:avLst/>
          </a:prstGeom>
          <a:ln w="1016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3504" y="1572768"/>
            <a:ext cx="5230368" cy="438912"/>
          </a:xfrm>
          <a:prstGeom prst="rect">
            <a:avLst/>
          </a:prstGeom>
          <a:noFill/>
        </p:spPr>
        <p:txBody>
          <a:bodyPr wrap="square" lIns="18288" tIns="18288" rIns="18288" bIns="18288" anchor="t">
            <a:spAutoFit/>
          </a:bodyPr>
          <a:lstStyle/>
          <a:p>
            <a:pPr algn="l">
              <a:spcBef>
                <a:spcPts val="0"/>
              </a:spcBef>
              <a:spcAft>
                <a:spcPts val="0"/>
              </a:spcAft>
            </a:pPr>
            <a:r>
              <a:rPr sz="1500" b="1">
                <a:solidFill>
                  <a:srgbClr val="191919"/>
                </a:solidFill>
                <a:latin typeface="Aptos"/>
              </a:rPr>
              <a:t>JailBreakV-28K | diverse jailbreak test corpus [12]</a:t>
            </a:r>
          </a:p>
        </p:txBody>
      </p:sp>
      <p:cxnSp>
        <p:nvCxnSpPr>
          <p:cNvPr id="7" name="Connector 6"/>
          <p:cNvCxnSpPr/>
          <p:nvPr/>
        </p:nvCxnSpPr>
        <p:spPr>
          <a:xfrm>
            <a:off x="603504" y="2048256"/>
            <a:ext cx="5230368" cy="0"/>
          </a:xfrm>
          <a:prstGeom prst="line">
            <a:avLst/>
          </a:prstGeom>
          <a:ln w="10160">
            <a:solidFill>
              <a:srgbClr val="19191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3504" y="2121408"/>
            <a:ext cx="5230368" cy="2142125"/>
          </a:xfrm>
          <a:prstGeom prst="rect">
            <a:avLst/>
          </a:prstGeom>
          <a:noFill/>
        </p:spPr>
        <p:txBody>
          <a:bodyPr wrap="square" lIns="18288" tIns="18288" rIns="18288" bIns="18288" anchor="t">
            <a:spAutoFit/>
          </a:bodyPr>
          <a:lstStyle/>
          <a:p>
            <a:pPr algn="l">
              <a:spcBef>
                <a:spcPts val="0"/>
              </a:spcBef>
              <a:spcAft>
                <a:spcPts val="0"/>
              </a:spcAft>
            </a:pPr>
            <a:r>
              <a:rPr sz="1140" b="0" dirty="0">
                <a:solidFill>
                  <a:srgbClr val="191919"/>
                </a:solidFill>
                <a:latin typeface="Aptos"/>
              </a:rPr>
              <a:t>CONTRIBUTION
</a:t>
            </a:r>
            <a:r>
              <a:rPr sz="1140" b="0" dirty="0" err="1">
                <a:solidFill>
                  <a:srgbClr val="191919"/>
                </a:solidFill>
                <a:latin typeface="Aptos"/>
              </a:rPr>
              <a:t>JailBreakV</a:t>
            </a:r>
            <a:r>
              <a:rPr sz="1140" b="0" dirty="0">
                <a:solidFill>
                  <a:srgbClr val="191919"/>
                </a:solidFill>
                <a:latin typeface="Aptos"/>
              </a:rPr>
              <a:t> asks whether jailbreaks developed for text-only LLMs transfer to MLLMs, alongside image-based attacks. The corpus contains 28,000 text-image test cases: 20,000 LLM-transfer cases and 8,000 image-based cases, built from 2,000 harmful source queries.
EVALUATION + RESULT
Table 2 reports ASR across ten open MLLMs and attack/image conditions. 
PROJECT ROLE
Use a disclosed, deduplicated, held-out slice as a broad stress corpus. </a:t>
            </a:r>
            <a:r>
              <a:rPr sz="1140" b="0" dirty="0" err="1">
                <a:solidFill>
                  <a:srgbClr val="191919"/>
                </a:solidFill>
                <a:latin typeface="Aptos"/>
              </a:rPr>
              <a:t>JailBreakV</a:t>
            </a:r>
            <a:r>
              <a:rPr sz="1140" b="0" dirty="0">
                <a:solidFill>
                  <a:srgbClr val="191919"/>
                </a:solidFill>
                <a:latin typeface="Aptos"/>
              </a:rPr>
              <a:t> is a collection of attack instances, not a single attack algorithm.</a:t>
            </a:r>
          </a:p>
        </p:txBody>
      </p:sp>
      <p:sp>
        <p:nvSpPr>
          <p:cNvPr id="9" name="TextBox 8"/>
          <p:cNvSpPr txBox="1"/>
          <p:nvPr/>
        </p:nvSpPr>
        <p:spPr>
          <a:xfrm>
            <a:off x="603504" y="5733288"/>
            <a:ext cx="5230368" cy="256032"/>
          </a:xfrm>
          <a:prstGeom prst="rect">
            <a:avLst/>
          </a:prstGeom>
          <a:noFill/>
        </p:spPr>
        <p:txBody>
          <a:bodyPr wrap="square" lIns="18288" tIns="18288" rIns="18288" bIns="18288" anchor="t">
            <a:spAutoFit/>
          </a:bodyPr>
          <a:lstStyle/>
          <a:p>
            <a:pPr algn="l">
              <a:spcBef>
                <a:spcPts val="0"/>
              </a:spcBef>
              <a:spcAft>
                <a:spcPts val="0"/>
              </a:spcAft>
            </a:pPr>
            <a:r>
              <a:rPr sz="960" b="1">
                <a:solidFill>
                  <a:srgbClr val="4B4B4B"/>
                </a:solidFill>
                <a:latin typeface="Aptos"/>
              </a:rPr>
              <a:t>PIPELINE: HELD-OUT ATTACK CORPUS + TEXT-TRANSFER STRESS TEST</a:t>
            </a:r>
          </a:p>
        </p:txBody>
      </p:sp>
      <p:cxnSp>
        <p:nvCxnSpPr>
          <p:cNvPr id="10" name="Connector 9"/>
          <p:cNvCxnSpPr/>
          <p:nvPr/>
        </p:nvCxnSpPr>
        <p:spPr>
          <a:xfrm>
            <a:off x="6089904" y="1572768"/>
            <a:ext cx="0" cy="4416552"/>
          </a:xfrm>
          <a:prstGeom prst="line">
            <a:avLst/>
          </a:prstGeom>
          <a:ln w="10160">
            <a:solidFill>
              <a:srgbClr val="19191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 y="6473952"/>
            <a:ext cx="10241280" cy="164592"/>
          </a:xfrm>
          <a:prstGeom prst="rect">
            <a:avLst/>
          </a:prstGeom>
          <a:noFill/>
        </p:spPr>
        <p:txBody>
          <a:bodyPr wrap="square" lIns="18288" tIns="18288" rIns="18288" bIns="18288" anchor="t">
            <a:spAutoFit/>
          </a:bodyPr>
          <a:lstStyle/>
          <a:p>
            <a:pPr algn="l">
              <a:spcBef>
                <a:spcPts val="0"/>
              </a:spcBef>
              <a:spcAft>
                <a:spcPts val="0"/>
              </a:spcAft>
            </a:pPr>
            <a:r>
              <a:rPr sz="900" b="0">
                <a:solidFill>
                  <a:srgbClr val="4B4B4B"/>
                </a:solidFill>
                <a:latin typeface="Aptos"/>
              </a:rPr>
              <a:t>VLM Safety Alignment | Focused literature review</a:t>
            </a:r>
          </a:p>
        </p:txBody>
      </p:sp>
      <p:sp>
        <p:nvSpPr>
          <p:cNvPr id="14" name="TextBox 13"/>
          <p:cNvSpPr txBox="1"/>
          <p:nvPr/>
        </p:nvSpPr>
        <p:spPr>
          <a:xfrm>
            <a:off x="11137392" y="6455664"/>
            <a:ext cx="457200" cy="182880"/>
          </a:xfrm>
          <a:prstGeom prst="rect">
            <a:avLst/>
          </a:prstGeom>
          <a:noFill/>
        </p:spPr>
        <p:txBody>
          <a:bodyPr wrap="square" lIns="18288" tIns="18288" rIns="18288" bIns="18288" anchor="t">
            <a:spAutoFit/>
          </a:bodyPr>
          <a:lstStyle/>
          <a:p>
            <a:pPr algn="r">
              <a:spcBef>
                <a:spcPts val="0"/>
              </a:spcBef>
              <a:spcAft>
                <a:spcPts val="0"/>
              </a:spcAft>
            </a:pPr>
            <a:r>
              <a:rPr sz="900" b="0">
                <a:solidFill>
                  <a:srgbClr val="4B4B4B"/>
                </a:solidFill>
                <a:latin typeface="Aptos"/>
              </a:rPr>
              <a:t>05</a:t>
            </a:r>
          </a:p>
        </p:txBody>
      </p:sp>
      <p:pic>
        <p:nvPicPr>
          <p:cNvPr id="16" name="Picture 15">
            <a:extLst>
              <a:ext uri="{FF2B5EF4-FFF2-40B4-BE49-F238E27FC236}">
                <a16:creationId xmlns:a16="http://schemas.microsoft.com/office/drawing/2014/main" id="{F23F2882-8BB3-5AFB-945A-A3A4F1635A4D}"/>
              </a:ext>
            </a:extLst>
          </p:cNvPr>
          <p:cNvPicPr>
            <a:picLocks noChangeAspect="1"/>
          </p:cNvPicPr>
          <p:nvPr/>
        </p:nvPicPr>
        <p:blipFill>
          <a:blip r:embed="rId3"/>
          <a:stretch>
            <a:fillRect/>
          </a:stretch>
        </p:blipFill>
        <p:spPr>
          <a:xfrm>
            <a:off x="6838341" y="1024128"/>
            <a:ext cx="4859563" cy="3025493"/>
          </a:xfrm>
          <a:prstGeom prst="rect">
            <a:avLst/>
          </a:prstGeom>
        </p:spPr>
      </p:pic>
      <p:pic>
        <p:nvPicPr>
          <p:cNvPr id="18" name="Picture 17">
            <a:extLst>
              <a:ext uri="{FF2B5EF4-FFF2-40B4-BE49-F238E27FC236}">
                <a16:creationId xmlns:a16="http://schemas.microsoft.com/office/drawing/2014/main" id="{47FA9040-CF9B-7A11-D294-D162A715246B}"/>
              </a:ext>
            </a:extLst>
          </p:cNvPr>
          <p:cNvPicPr>
            <a:picLocks noChangeAspect="1"/>
          </p:cNvPicPr>
          <p:nvPr/>
        </p:nvPicPr>
        <p:blipFill>
          <a:blip r:embed="rId4"/>
          <a:stretch>
            <a:fillRect/>
          </a:stretch>
        </p:blipFill>
        <p:spPr>
          <a:xfrm>
            <a:off x="6126344" y="4297191"/>
            <a:ext cx="5991060" cy="23874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Evaluation validity: visual leakage and broad risk coverage</a:t>
            </a:r>
          </a:p>
        </p:txBody>
      </p:sp>
      <p:sp>
        <p:nvSpPr>
          <p:cNvPr id="4" name="TextBox 3"/>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[2] </a:t>
            </a:r>
            <a:r>
              <a:rPr sz="1000" b="0" dirty="0" err="1">
                <a:solidFill>
                  <a:srgbClr val="4B4B4B"/>
                </a:solidFill>
                <a:latin typeface="Aptos"/>
              </a:rPr>
              <a:t>VLSBench</a:t>
            </a:r>
            <a:r>
              <a:rPr sz="1000" b="0" dirty="0">
                <a:solidFill>
                  <a:srgbClr val="4B4B4B"/>
                </a:solidFill>
                <a:latin typeface="Aptos"/>
              </a:rPr>
              <a:t>, Fig. 1 / Table 4 </a:t>
            </a:r>
          </a:p>
        </p:txBody>
      </p:sp>
      <p:cxnSp>
        <p:nvCxnSpPr>
          <p:cNvPr id="5" name="Connector 4"/>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06</a:t>
            </a:r>
          </a:p>
        </p:txBody>
      </p:sp>
      <p:sp>
        <p:nvSpPr>
          <p:cNvPr id="8" name="TextBox 7"/>
          <p:cNvSpPr txBox="1"/>
          <p:nvPr/>
        </p:nvSpPr>
        <p:spPr>
          <a:xfrm>
            <a:off x="603504" y="1572768"/>
            <a:ext cx="5230368" cy="438912"/>
          </a:xfrm>
          <a:prstGeom prst="rect">
            <a:avLst/>
          </a:prstGeom>
          <a:noFill/>
        </p:spPr>
        <p:txBody>
          <a:bodyPr wrap="square" lIns="32004" tIns="22860" rIns="32004" bIns="18288" anchor="t">
            <a:spAutoFit/>
          </a:bodyPr>
          <a:lstStyle/>
          <a:p>
            <a:pPr algn="l"/>
            <a:r>
              <a:rPr sz="1500" b="1">
                <a:solidFill>
                  <a:srgbClr val="191919"/>
                </a:solidFill>
                <a:latin typeface="Aptos"/>
              </a:rPr>
              <a:t>VLSBench | test whether the image matters [2]</a:t>
            </a:r>
          </a:p>
        </p:txBody>
      </p:sp>
      <p:cxnSp>
        <p:nvCxnSpPr>
          <p:cNvPr id="9" name="Connector 8"/>
          <p:cNvCxnSpPr/>
          <p:nvPr/>
        </p:nvCxnSpPr>
        <p:spPr>
          <a:xfrm>
            <a:off x="603504"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3504" y="2121408"/>
            <a:ext cx="5230368" cy="3456432"/>
          </a:xfrm>
          <a:prstGeom prst="rect">
            <a:avLst/>
          </a:prstGeom>
          <a:noFill/>
        </p:spPr>
        <p:txBody>
          <a:bodyPr wrap="square" lIns="32004" tIns="22860" rIns="32004" bIns="18288" anchor="t">
            <a:spAutoFit/>
          </a:bodyPr>
          <a:lstStyle/>
          <a:p>
            <a:pPr algn="l"/>
            <a:r>
              <a:rPr sz="1220" b="0">
                <a:solidFill>
                  <a:srgbClr val="191919"/>
                </a:solidFill>
                <a:latin typeface="Aptos"/>
              </a:rPr>
              <a:t>CONTRIBUTION
Diagnoses visual safety information leakage (VSIL): text can reveal the unsafe intent, letting a model pass without relying on the image. Dataset: 2,241 image-text pairs, 1,957 images, six categories, 19 subcategories.
EVALUATION + RESULT
Table 4 reports LLaVA-1.5-7B total safety (refusal + warning): multimodal SFT 21.26%, multimodal DPO 27.01%, text SFT 13.99%, text DPO 13.99%. This is not ASR.
PROJECT MAPPING
Use leakless cases and original/removed/masked/decoy image controls; score image dependence separately.</a:t>
            </a:r>
          </a:p>
        </p:txBody>
      </p:sp>
      <p:sp>
        <p:nvSpPr>
          <p:cNvPr id="11" name="TextBox 10"/>
          <p:cNvSpPr txBox="1"/>
          <p:nvPr/>
        </p:nvSpPr>
        <p:spPr>
          <a:xfrm>
            <a:off x="603504" y="5733288"/>
            <a:ext cx="5230368" cy="201168"/>
          </a:xfrm>
          <a:prstGeom prst="rect">
            <a:avLst/>
          </a:prstGeom>
          <a:noFill/>
        </p:spPr>
        <p:txBody>
          <a:bodyPr wrap="square" lIns="32004" tIns="22860" rIns="32004" bIns="18288" anchor="t">
            <a:spAutoFit/>
          </a:bodyPr>
          <a:lstStyle/>
          <a:p>
            <a:pPr algn="l"/>
            <a:r>
              <a:rPr sz="900" b="1">
                <a:solidFill>
                  <a:srgbClr val="4B4B4B"/>
                </a:solidFill>
                <a:latin typeface="Aptos"/>
              </a:rPr>
              <a:t>PIPELINE: LEAK-RESISTANT EVALUATION + CAUSAL IMAGE CONTROLS</a:t>
            </a:r>
          </a:p>
        </p:txBody>
      </p:sp>
      <p:cxnSp>
        <p:nvCxnSpPr>
          <p:cNvPr id="12" name="Connector 11"/>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70C6741B-C333-025F-C655-C31A132E2FAE}"/>
              </a:ext>
            </a:extLst>
          </p:cNvPr>
          <p:cNvPicPr>
            <a:picLocks noChangeAspect="1"/>
          </p:cNvPicPr>
          <p:nvPr/>
        </p:nvPicPr>
        <p:blipFill>
          <a:blip r:embed="rId3"/>
          <a:stretch>
            <a:fillRect/>
          </a:stretch>
        </p:blipFill>
        <p:spPr>
          <a:xfrm>
            <a:off x="7153840" y="896148"/>
            <a:ext cx="4605344" cy="2884896"/>
          </a:xfrm>
          <a:prstGeom prst="rect">
            <a:avLst/>
          </a:prstGeom>
        </p:spPr>
      </p:pic>
      <p:pic>
        <p:nvPicPr>
          <p:cNvPr id="20" name="Picture 19">
            <a:extLst>
              <a:ext uri="{FF2B5EF4-FFF2-40B4-BE49-F238E27FC236}">
                <a16:creationId xmlns:a16="http://schemas.microsoft.com/office/drawing/2014/main" id="{BC612B9B-803B-0BDF-2021-7AAF8DBAD5E0}"/>
              </a:ext>
            </a:extLst>
          </p:cNvPr>
          <p:cNvPicPr>
            <a:picLocks noChangeAspect="1"/>
          </p:cNvPicPr>
          <p:nvPr/>
        </p:nvPicPr>
        <p:blipFill>
          <a:blip r:embed="rId4"/>
          <a:stretch>
            <a:fillRect/>
          </a:stretch>
        </p:blipFill>
        <p:spPr>
          <a:xfrm>
            <a:off x="6166447" y="3848078"/>
            <a:ext cx="2766118" cy="2931459"/>
          </a:xfrm>
          <a:prstGeom prst="rect">
            <a:avLst/>
          </a:prstGeom>
        </p:spPr>
      </p:pic>
      <p:pic>
        <p:nvPicPr>
          <p:cNvPr id="22" name="Picture 21">
            <a:extLst>
              <a:ext uri="{FF2B5EF4-FFF2-40B4-BE49-F238E27FC236}">
                <a16:creationId xmlns:a16="http://schemas.microsoft.com/office/drawing/2014/main" id="{143C4B98-A5F1-A239-3AE5-11938F242850}"/>
              </a:ext>
            </a:extLst>
          </p:cNvPr>
          <p:cNvPicPr>
            <a:picLocks noChangeAspect="1"/>
          </p:cNvPicPr>
          <p:nvPr/>
        </p:nvPicPr>
        <p:blipFill>
          <a:blip r:embed="rId5"/>
          <a:stretch>
            <a:fillRect/>
          </a:stretch>
        </p:blipFill>
        <p:spPr>
          <a:xfrm>
            <a:off x="9009107" y="3781044"/>
            <a:ext cx="3117585" cy="30535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B1E98-B76F-8FFA-58CD-7FA43F65DE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DD7B4B-251B-CBED-E098-E9CFC8AFB2E1}"/>
              </a:ext>
            </a:extLst>
          </p:cNvPr>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a:extLst>
              <a:ext uri="{FF2B5EF4-FFF2-40B4-BE49-F238E27FC236}">
                <a16:creationId xmlns:a16="http://schemas.microsoft.com/office/drawing/2014/main" id="{CB14A137-6AC6-225F-D88B-D0B566AAB6AB}"/>
              </a:ext>
            </a:extLst>
          </p:cNvPr>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Evaluation validity: visual leakage and broad risk coverage</a:t>
            </a:r>
          </a:p>
        </p:txBody>
      </p:sp>
      <p:sp>
        <p:nvSpPr>
          <p:cNvPr id="4" name="TextBox 3">
            <a:extLst>
              <a:ext uri="{FF2B5EF4-FFF2-40B4-BE49-F238E27FC236}">
                <a16:creationId xmlns:a16="http://schemas.microsoft.com/office/drawing/2014/main" id="{9785846F-0EE2-3542-B221-4F009E04148D}"/>
              </a:ext>
            </a:extLst>
          </p:cNvPr>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[3] USB, Figs. 2–3 / Tables 1–3</a:t>
            </a:r>
          </a:p>
        </p:txBody>
      </p:sp>
      <p:cxnSp>
        <p:nvCxnSpPr>
          <p:cNvPr id="5" name="Connector 4">
            <a:extLst>
              <a:ext uri="{FF2B5EF4-FFF2-40B4-BE49-F238E27FC236}">
                <a16:creationId xmlns:a16="http://schemas.microsoft.com/office/drawing/2014/main" id="{829BCF2E-A707-AF5E-D529-AD2507D6830E}"/>
              </a:ext>
            </a:extLst>
          </p:cNvPr>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3DA6A25-E455-DE32-C025-83E47E1537F5}"/>
              </a:ext>
            </a:extLst>
          </p:cNvPr>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06</a:t>
            </a:r>
          </a:p>
        </p:txBody>
      </p:sp>
      <p:cxnSp>
        <p:nvCxnSpPr>
          <p:cNvPr id="12" name="Connector 11">
            <a:extLst>
              <a:ext uri="{FF2B5EF4-FFF2-40B4-BE49-F238E27FC236}">
                <a16:creationId xmlns:a16="http://schemas.microsoft.com/office/drawing/2014/main" id="{3E804823-26BF-BE51-2B62-4CAD6F265A33}"/>
              </a:ext>
            </a:extLst>
          </p:cNvPr>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508BBA9-4FED-0286-F82E-74D2CE534FE8}"/>
              </a:ext>
            </a:extLst>
          </p:cNvPr>
          <p:cNvSpPr txBox="1"/>
          <p:nvPr/>
        </p:nvSpPr>
        <p:spPr>
          <a:xfrm>
            <a:off x="6345936" y="1572768"/>
            <a:ext cx="5230368" cy="272382"/>
          </a:xfrm>
          <a:prstGeom prst="rect">
            <a:avLst/>
          </a:prstGeom>
          <a:noFill/>
        </p:spPr>
        <p:txBody>
          <a:bodyPr wrap="square" lIns="32004" tIns="22860" rIns="32004" bIns="18288" anchor="t">
            <a:spAutoFit/>
          </a:bodyPr>
          <a:lstStyle/>
          <a:p>
            <a:pPr algn="l"/>
            <a:r>
              <a:rPr sz="1500" b="1" dirty="0">
                <a:solidFill>
                  <a:srgbClr val="191919"/>
                </a:solidFill>
                <a:latin typeface="Aptos"/>
              </a:rPr>
              <a:t>USB | unified safety evaluation</a:t>
            </a:r>
            <a:r>
              <a:rPr lang="en-US" sz="1500" b="1" dirty="0">
                <a:solidFill>
                  <a:srgbClr val="191919"/>
                </a:solidFill>
                <a:latin typeface="Aptos"/>
              </a:rPr>
              <a:t> benchmark</a:t>
            </a:r>
            <a:r>
              <a:rPr sz="1500" b="1" dirty="0">
                <a:solidFill>
                  <a:srgbClr val="191919"/>
                </a:solidFill>
                <a:latin typeface="Aptos"/>
              </a:rPr>
              <a:t> [3]</a:t>
            </a:r>
          </a:p>
        </p:txBody>
      </p:sp>
      <p:cxnSp>
        <p:nvCxnSpPr>
          <p:cNvPr id="14" name="Connector 13">
            <a:extLst>
              <a:ext uri="{FF2B5EF4-FFF2-40B4-BE49-F238E27FC236}">
                <a16:creationId xmlns:a16="http://schemas.microsoft.com/office/drawing/2014/main" id="{161F6EC8-6500-1ADA-F935-DC9987E0A324}"/>
              </a:ext>
            </a:extLst>
          </p:cNvPr>
          <p:cNvCxnSpPr/>
          <p:nvPr/>
        </p:nvCxnSpPr>
        <p:spPr>
          <a:xfrm>
            <a:off x="6345936"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90A28F3-16F7-00EB-0D3D-ECFBBB63386B}"/>
              </a:ext>
            </a:extLst>
          </p:cNvPr>
          <p:cNvSpPr txBox="1"/>
          <p:nvPr/>
        </p:nvSpPr>
        <p:spPr>
          <a:xfrm>
            <a:off x="6345936" y="2121408"/>
            <a:ext cx="5230368" cy="2482218"/>
          </a:xfrm>
          <a:prstGeom prst="rect">
            <a:avLst/>
          </a:prstGeom>
          <a:noFill/>
        </p:spPr>
        <p:txBody>
          <a:bodyPr wrap="square" lIns="32004" tIns="22860" rIns="32004" bIns="18288" anchor="t">
            <a:spAutoFit/>
          </a:bodyPr>
          <a:lstStyle/>
          <a:p>
            <a:pPr algn="l"/>
            <a:r>
              <a:rPr sz="1220" b="0" dirty="0">
                <a:solidFill>
                  <a:srgbClr val="191919"/>
                </a:solidFill>
                <a:latin typeface="Aptos"/>
              </a:rPr>
              <a:t>CONTRIBUTION
Crosses 61 risk categories with four image/text risk states (244 intersections); USB-Base has 13,175 samples and USB-Hard 3,785. Evaluates 22 MLLMs with safety and refusal outcomes.
EVALUATION + RESULT
Table 2 reports Claude-Sonnet4 at SR 91.16% and RR 18.30% (table-reported RR variation </a:t>
            </a:r>
            <a:r>
              <a:rPr lang="en-US" sz="1220" b="0" dirty="0">
                <a:solidFill>
                  <a:srgbClr val="191919"/>
                </a:solidFill>
                <a:latin typeface="Aptos"/>
              </a:rPr>
              <a:t>+-</a:t>
            </a:r>
            <a:r>
              <a:rPr sz="1220" b="0" dirty="0">
                <a:solidFill>
                  <a:srgbClr val="191919"/>
                </a:solidFill>
                <a:latin typeface="Aptos"/>
              </a:rPr>
              <a:t>0.75). Preserve the paper's metric definitions and directions.
PROJECT MAPPING
Select relevant VLM image/text strata; report unsafe compliance and benign false refusal by cell, not one pooled score. USB is a benchmark, not an attack or training recipe.</a:t>
            </a:r>
          </a:p>
        </p:txBody>
      </p:sp>
      <p:sp>
        <p:nvSpPr>
          <p:cNvPr id="16" name="TextBox 15">
            <a:extLst>
              <a:ext uri="{FF2B5EF4-FFF2-40B4-BE49-F238E27FC236}">
                <a16:creationId xmlns:a16="http://schemas.microsoft.com/office/drawing/2014/main" id="{A20FEB67-19FC-DFE6-2B5E-A7A394FF4E9E}"/>
              </a:ext>
            </a:extLst>
          </p:cNvPr>
          <p:cNvSpPr txBox="1"/>
          <p:nvPr/>
        </p:nvSpPr>
        <p:spPr>
          <a:xfrm>
            <a:off x="6345936" y="5733288"/>
            <a:ext cx="5230368" cy="201168"/>
          </a:xfrm>
          <a:prstGeom prst="rect">
            <a:avLst/>
          </a:prstGeom>
          <a:noFill/>
        </p:spPr>
        <p:txBody>
          <a:bodyPr wrap="square" lIns="32004" tIns="22860" rIns="32004" bIns="18288" anchor="t">
            <a:spAutoFit/>
          </a:bodyPr>
          <a:lstStyle/>
          <a:p>
            <a:pPr algn="l"/>
            <a:r>
              <a:rPr sz="900" b="1">
                <a:solidFill>
                  <a:srgbClr val="4B4B4B"/>
                </a:solidFill>
                <a:latin typeface="Aptos"/>
              </a:rPr>
              <a:t>PIPELINE: BENCHMARK STRATA + SAFETY/OVER-REFUSAL REPORTING</a:t>
            </a:r>
          </a:p>
        </p:txBody>
      </p:sp>
      <p:pic>
        <p:nvPicPr>
          <p:cNvPr id="18" name="Picture 17">
            <a:extLst>
              <a:ext uri="{FF2B5EF4-FFF2-40B4-BE49-F238E27FC236}">
                <a16:creationId xmlns:a16="http://schemas.microsoft.com/office/drawing/2014/main" id="{A9F538F0-056C-D93D-C0B0-4B17899DEBE4}"/>
              </a:ext>
            </a:extLst>
          </p:cNvPr>
          <p:cNvPicPr>
            <a:picLocks noChangeAspect="1"/>
          </p:cNvPicPr>
          <p:nvPr/>
        </p:nvPicPr>
        <p:blipFill>
          <a:blip r:embed="rId3"/>
          <a:stretch>
            <a:fillRect/>
          </a:stretch>
        </p:blipFill>
        <p:spPr>
          <a:xfrm>
            <a:off x="892104" y="1378402"/>
            <a:ext cx="4761295" cy="2471215"/>
          </a:xfrm>
          <a:prstGeom prst="rect">
            <a:avLst/>
          </a:prstGeom>
        </p:spPr>
      </p:pic>
      <p:pic>
        <p:nvPicPr>
          <p:cNvPr id="20" name="Picture 19">
            <a:extLst>
              <a:ext uri="{FF2B5EF4-FFF2-40B4-BE49-F238E27FC236}">
                <a16:creationId xmlns:a16="http://schemas.microsoft.com/office/drawing/2014/main" id="{0B9F78CA-4466-AF1F-B14E-3B77F4C20B2A}"/>
              </a:ext>
            </a:extLst>
          </p:cNvPr>
          <p:cNvPicPr>
            <a:picLocks noChangeAspect="1"/>
          </p:cNvPicPr>
          <p:nvPr/>
        </p:nvPicPr>
        <p:blipFill>
          <a:blip r:embed="rId4"/>
          <a:stretch>
            <a:fillRect/>
          </a:stretch>
        </p:blipFill>
        <p:spPr>
          <a:xfrm>
            <a:off x="1143963" y="3840331"/>
            <a:ext cx="4149450" cy="2989388"/>
          </a:xfrm>
          <a:prstGeom prst="rect">
            <a:avLst/>
          </a:prstGeom>
        </p:spPr>
      </p:pic>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1D462F14-6EAE-9BB4-F6AA-5D295C57ABA5}"/>
                  </a:ext>
                </a:extLst>
              </p14:cNvPr>
              <p14:cNvContentPartPr/>
              <p14:nvPr/>
            </p14:nvContentPartPr>
            <p14:xfrm>
              <a:off x="3097289" y="6647697"/>
              <a:ext cx="90360" cy="5400"/>
            </p14:xfrm>
          </p:contentPart>
        </mc:Choice>
        <mc:Fallback xmlns="">
          <p:pic>
            <p:nvPicPr>
              <p:cNvPr id="6" name="Ink 5">
                <a:extLst>
                  <a:ext uri="{FF2B5EF4-FFF2-40B4-BE49-F238E27FC236}">
                    <a16:creationId xmlns:a16="http://schemas.microsoft.com/office/drawing/2014/main" id="{1D462F14-6EAE-9BB4-F6AA-5D295C57ABA5}"/>
                  </a:ext>
                </a:extLst>
              </p:cNvPr>
              <p:cNvPicPr/>
              <p:nvPr/>
            </p:nvPicPr>
            <p:blipFill>
              <a:blip r:embed="rId6"/>
              <a:stretch>
                <a:fillRect/>
              </a:stretch>
            </p:blipFill>
            <p:spPr>
              <a:xfrm>
                <a:off x="3091169" y="6641577"/>
                <a:ext cx="102600" cy="17640"/>
              </a:xfrm>
              <a:prstGeom prst="rect">
                <a:avLst/>
              </a:prstGeom>
            </p:spPr>
          </p:pic>
        </mc:Fallback>
      </mc:AlternateContent>
      <p:grpSp>
        <p:nvGrpSpPr>
          <p:cNvPr id="11" name="Group 10">
            <a:extLst>
              <a:ext uri="{FF2B5EF4-FFF2-40B4-BE49-F238E27FC236}">
                <a16:creationId xmlns:a16="http://schemas.microsoft.com/office/drawing/2014/main" id="{F18DF00E-2A31-5B5D-F382-858AFB3F8529}"/>
              </a:ext>
            </a:extLst>
          </p:cNvPr>
          <p:cNvGrpSpPr/>
          <p:nvPr/>
        </p:nvGrpSpPr>
        <p:grpSpPr>
          <a:xfrm>
            <a:off x="3266849" y="6651297"/>
            <a:ext cx="212400" cy="5400"/>
            <a:chOff x="3266849" y="6651297"/>
            <a:chExt cx="212400" cy="540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FFEF6B9E-3BEC-5021-85CC-F603A09A6E33}"/>
                    </a:ext>
                  </a:extLst>
                </p14:cNvPr>
                <p14:cNvContentPartPr/>
                <p14:nvPr/>
              </p14:nvContentPartPr>
              <p14:xfrm>
                <a:off x="3266849" y="6651297"/>
                <a:ext cx="58680" cy="360"/>
              </p14:xfrm>
            </p:contentPart>
          </mc:Choice>
          <mc:Fallback xmlns="">
            <p:pic>
              <p:nvPicPr>
                <p:cNvPr id="8" name="Ink 7">
                  <a:extLst>
                    <a:ext uri="{FF2B5EF4-FFF2-40B4-BE49-F238E27FC236}">
                      <a16:creationId xmlns:a16="http://schemas.microsoft.com/office/drawing/2014/main" id="{FFEF6B9E-3BEC-5021-85CC-F603A09A6E33}"/>
                    </a:ext>
                  </a:extLst>
                </p:cNvPr>
                <p:cNvPicPr/>
                <p:nvPr/>
              </p:nvPicPr>
              <p:blipFill>
                <a:blip r:embed="rId8"/>
                <a:stretch>
                  <a:fillRect/>
                </a:stretch>
              </p:blipFill>
              <p:spPr>
                <a:xfrm>
                  <a:off x="3260729" y="6645177"/>
                  <a:ext cx="70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4A130F89-51B8-6604-71D6-853774CB296B}"/>
                    </a:ext>
                  </a:extLst>
                </p14:cNvPr>
                <p14:cNvContentPartPr/>
                <p14:nvPr/>
              </p14:nvContentPartPr>
              <p14:xfrm>
                <a:off x="3436049" y="6656337"/>
                <a:ext cx="43200" cy="360"/>
              </p14:xfrm>
            </p:contentPart>
          </mc:Choice>
          <mc:Fallback xmlns="">
            <p:pic>
              <p:nvPicPr>
                <p:cNvPr id="9" name="Ink 8">
                  <a:extLst>
                    <a:ext uri="{FF2B5EF4-FFF2-40B4-BE49-F238E27FC236}">
                      <a16:creationId xmlns:a16="http://schemas.microsoft.com/office/drawing/2014/main" id="{4A130F89-51B8-6604-71D6-853774CB296B}"/>
                    </a:ext>
                  </a:extLst>
                </p:cNvPr>
                <p:cNvPicPr/>
                <p:nvPr/>
              </p:nvPicPr>
              <p:blipFill>
                <a:blip r:embed="rId10"/>
                <a:stretch>
                  <a:fillRect/>
                </a:stretch>
              </p:blipFill>
              <p:spPr>
                <a:xfrm>
                  <a:off x="3429929" y="6650217"/>
                  <a:ext cx="5544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2B5C643B-C2BC-8EF3-836A-E2681EE80AA2}"/>
                  </a:ext>
                </a:extLst>
              </p14:cNvPr>
              <p14:cNvContentPartPr/>
              <p14:nvPr/>
            </p14:nvContentPartPr>
            <p14:xfrm>
              <a:off x="3688409" y="6642297"/>
              <a:ext cx="64080" cy="2160"/>
            </p14:xfrm>
          </p:contentPart>
        </mc:Choice>
        <mc:Fallback xmlns="">
          <p:pic>
            <p:nvPicPr>
              <p:cNvPr id="17" name="Ink 16">
                <a:extLst>
                  <a:ext uri="{FF2B5EF4-FFF2-40B4-BE49-F238E27FC236}">
                    <a16:creationId xmlns:a16="http://schemas.microsoft.com/office/drawing/2014/main" id="{2B5C643B-C2BC-8EF3-836A-E2681EE80AA2}"/>
                  </a:ext>
                </a:extLst>
              </p:cNvPr>
              <p:cNvPicPr/>
              <p:nvPr/>
            </p:nvPicPr>
            <p:blipFill>
              <a:blip r:embed="rId12"/>
              <a:stretch>
                <a:fillRect/>
              </a:stretch>
            </p:blipFill>
            <p:spPr>
              <a:xfrm>
                <a:off x="3682289" y="6636177"/>
                <a:ext cx="7632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D6FD45C5-1475-ECA9-9E7A-EEE959FC83A4}"/>
                  </a:ext>
                </a:extLst>
              </p14:cNvPr>
              <p14:cNvContentPartPr/>
              <p14:nvPr/>
            </p14:nvContentPartPr>
            <p14:xfrm>
              <a:off x="1971535" y="4699167"/>
              <a:ext cx="37440" cy="360"/>
            </p14:xfrm>
          </p:contentPart>
        </mc:Choice>
        <mc:Fallback xmlns="">
          <p:pic>
            <p:nvPicPr>
              <p:cNvPr id="19" name="Ink 18">
                <a:extLst>
                  <a:ext uri="{FF2B5EF4-FFF2-40B4-BE49-F238E27FC236}">
                    <a16:creationId xmlns:a16="http://schemas.microsoft.com/office/drawing/2014/main" id="{D6FD45C5-1475-ECA9-9E7A-EEE959FC83A4}"/>
                  </a:ext>
                </a:extLst>
              </p:cNvPr>
              <p:cNvPicPr/>
              <p:nvPr/>
            </p:nvPicPr>
            <p:blipFill>
              <a:blip r:embed="rId14"/>
              <a:stretch>
                <a:fillRect/>
              </a:stretch>
            </p:blipFill>
            <p:spPr>
              <a:xfrm>
                <a:off x="1965415" y="4693047"/>
                <a:ext cx="496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Ink 20">
                <a:extLst>
                  <a:ext uri="{FF2B5EF4-FFF2-40B4-BE49-F238E27FC236}">
                    <a16:creationId xmlns:a16="http://schemas.microsoft.com/office/drawing/2014/main" id="{C4823D4B-97FA-630C-5761-2CC0A4C8D8F3}"/>
                  </a:ext>
                </a:extLst>
              </p14:cNvPr>
              <p14:cNvContentPartPr/>
              <p14:nvPr/>
            </p14:nvContentPartPr>
            <p14:xfrm>
              <a:off x="2212015" y="4699647"/>
              <a:ext cx="30960" cy="1800"/>
            </p14:xfrm>
          </p:contentPart>
        </mc:Choice>
        <mc:Fallback xmlns="">
          <p:pic>
            <p:nvPicPr>
              <p:cNvPr id="21" name="Ink 20">
                <a:extLst>
                  <a:ext uri="{FF2B5EF4-FFF2-40B4-BE49-F238E27FC236}">
                    <a16:creationId xmlns:a16="http://schemas.microsoft.com/office/drawing/2014/main" id="{C4823D4B-97FA-630C-5761-2CC0A4C8D8F3}"/>
                  </a:ext>
                </a:extLst>
              </p:cNvPr>
              <p:cNvPicPr/>
              <p:nvPr/>
            </p:nvPicPr>
            <p:blipFill>
              <a:blip r:embed="rId16"/>
              <a:stretch>
                <a:fillRect/>
              </a:stretch>
            </p:blipFill>
            <p:spPr>
              <a:xfrm>
                <a:off x="2205895" y="4693527"/>
                <a:ext cx="4320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 name="Ink 21">
                <a:extLst>
                  <a:ext uri="{FF2B5EF4-FFF2-40B4-BE49-F238E27FC236}">
                    <a16:creationId xmlns:a16="http://schemas.microsoft.com/office/drawing/2014/main" id="{E2BDD8EA-0CFF-1118-8113-D8ABEF78945D}"/>
                  </a:ext>
                </a:extLst>
              </p14:cNvPr>
              <p14:cNvContentPartPr/>
              <p14:nvPr/>
            </p14:nvContentPartPr>
            <p14:xfrm>
              <a:off x="2446015" y="4615407"/>
              <a:ext cx="59040" cy="360"/>
            </p14:xfrm>
          </p:contentPart>
        </mc:Choice>
        <mc:Fallback xmlns="">
          <p:pic>
            <p:nvPicPr>
              <p:cNvPr id="22" name="Ink 21">
                <a:extLst>
                  <a:ext uri="{FF2B5EF4-FFF2-40B4-BE49-F238E27FC236}">
                    <a16:creationId xmlns:a16="http://schemas.microsoft.com/office/drawing/2014/main" id="{E2BDD8EA-0CFF-1118-8113-D8ABEF78945D}"/>
                  </a:ext>
                </a:extLst>
              </p:cNvPr>
              <p:cNvPicPr/>
              <p:nvPr/>
            </p:nvPicPr>
            <p:blipFill>
              <a:blip r:embed="rId8"/>
              <a:stretch>
                <a:fillRect/>
              </a:stretch>
            </p:blipFill>
            <p:spPr>
              <a:xfrm>
                <a:off x="2439895" y="4609287"/>
                <a:ext cx="712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8C39EE4C-0918-C39B-F66F-C848D7634636}"/>
                  </a:ext>
                </a:extLst>
              </p14:cNvPr>
              <p14:cNvContentPartPr/>
              <p14:nvPr/>
            </p14:nvContentPartPr>
            <p14:xfrm>
              <a:off x="2675335" y="4619367"/>
              <a:ext cx="36000" cy="1800"/>
            </p14:xfrm>
          </p:contentPart>
        </mc:Choice>
        <mc:Fallback xmlns="">
          <p:pic>
            <p:nvPicPr>
              <p:cNvPr id="23" name="Ink 22">
                <a:extLst>
                  <a:ext uri="{FF2B5EF4-FFF2-40B4-BE49-F238E27FC236}">
                    <a16:creationId xmlns:a16="http://schemas.microsoft.com/office/drawing/2014/main" id="{8C39EE4C-0918-C39B-F66F-C848D7634636}"/>
                  </a:ext>
                </a:extLst>
              </p:cNvPr>
              <p:cNvPicPr/>
              <p:nvPr/>
            </p:nvPicPr>
            <p:blipFill>
              <a:blip r:embed="rId19"/>
              <a:stretch>
                <a:fillRect/>
              </a:stretch>
            </p:blipFill>
            <p:spPr>
              <a:xfrm>
                <a:off x="2669215" y="4613247"/>
                <a:ext cx="482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A15E7631-55A1-1CD5-1AF0-614B65AE8EE7}"/>
                  </a:ext>
                </a:extLst>
              </p14:cNvPr>
              <p14:cNvContentPartPr/>
              <p14:nvPr/>
            </p14:nvContentPartPr>
            <p14:xfrm>
              <a:off x="2902495" y="4691727"/>
              <a:ext cx="63360" cy="6840"/>
            </p14:xfrm>
          </p:contentPart>
        </mc:Choice>
        <mc:Fallback xmlns="">
          <p:pic>
            <p:nvPicPr>
              <p:cNvPr id="24" name="Ink 23">
                <a:extLst>
                  <a:ext uri="{FF2B5EF4-FFF2-40B4-BE49-F238E27FC236}">
                    <a16:creationId xmlns:a16="http://schemas.microsoft.com/office/drawing/2014/main" id="{A15E7631-55A1-1CD5-1AF0-614B65AE8EE7}"/>
                  </a:ext>
                </a:extLst>
              </p:cNvPr>
              <p:cNvPicPr/>
              <p:nvPr/>
            </p:nvPicPr>
            <p:blipFill>
              <a:blip r:embed="rId21"/>
              <a:stretch>
                <a:fillRect/>
              </a:stretch>
            </p:blipFill>
            <p:spPr>
              <a:xfrm>
                <a:off x="2896375" y="4685607"/>
                <a:ext cx="756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 name="Ink 24">
                <a:extLst>
                  <a:ext uri="{FF2B5EF4-FFF2-40B4-BE49-F238E27FC236}">
                    <a16:creationId xmlns:a16="http://schemas.microsoft.com/office/drawing/2014/main" id="{FC680766-A09E-F4EB-D134-C786C54A35CB}"/>
                  </a:ext>
                </a:extLst>
              </p14:cNvPr>
              <p14:cNvContentPartPr/>
              <p14:nvPr/>
            </p14:nvContentPartPr>
            <p14:xfrm>
              <a:off x="1083415" y="6016560"/>
              <a:ext cx="108000" cy="50760"/>
            </p14:xfrm>
          </p:contentPart>
        </mc:Choice>
        <mc:Fallback xmlns="">
          <p:pic>
            <p:nvPicPr>
              <p:cNvPr id="25" name="Ink 24">
                <a:extLst>
                  <a:ext uri="{FF2B5EF4-FFF2-40B4-BE49-F238E27FC236}">
                    <a16:creationId xmlns:a16="http://schemas.microsoft.com/office/drawing/2014/main" id="{FC680766-A09E-F4EB-D134-C786C54A35CB}"/>
                  </a:ext>
                </a:extLst>
              </p:cNvPr>
              <p:cNvPicPr/>
              <p:nvPr/>
            </p:nvPicPr>
            <p:blipFill>
              <a:blip r:embed="rId23"/>
              <a:stretch>
                <a:fillRect/>
              </a:stretch>
            </p:blipFill>
            <p:spPr>
              <a:xfrm>
                <a:off x="1077295" y="6010440"/>
                <a:ext cx="1202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6" name="Ink 25">
                <a:extLst>
                  <a:ext uri="{FF2B5EF4-FFF2-40B4-BE49-F238E27FC236}">
                    <a16:creationId xmlns:a16="http://schemas.microsoft.com/office/drawing/2014/main" id="{089D4679-2C96-6B97-82E1-6B5B4A58EA71}"/>
                  </a:ext>
                </a:extLst>
              </p14:cNvPr>
              <p14:cNvContentPartPr/>
              <p14:nvPr/>
            </p14:nvContentPartPr>
            <p14:xfrm>
              <a:off x="3124975" y="4698600"/>
              <a:ext cx="38160" cy="3240"/>
            </p14:xfrm>
          </p:contentPart>
        </mc:Choice>
        <mc:Fallback xmlns="">
          <p:pic>
            <p:nvPicPr>
              <p:cNvPr id="26" name="Ink 25">
                <a:extLst>
                  <a:ext uri="{FF2B5EF4-FFF2-40B4-BE49-F238E27FC236}">
                    <a16:creationId xmlns:a16="http://schemas.microsoft.com/office/drawing/2014/main" id="{089D4679-2C96-6B97-82E1-6B5B4A58EA71}"/>
                  </a:ext>
                </a:extLst>
              </p:cNvPr>
              <p:cNvPicPr/>
              <p:nvPr/>
            </p:nvPicPr>
            <p:blipFill>
              <a:blip r:embed="rId25"/>
              <a:stretch>
                <a:fillRect/>
              </a:stretch>
            </p:blipFill>
            <p:spPr>
              <a:xfrm>
                <a:off x="3118855" y="4692480"/>
                <a:ext cx="5040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D5C4099B-AEEE-46DF-8E90-49F037CA5A2A}"/>
                  </a:ext>
                </a:extLst>
              </p14:cNvPr>
              <p14:cNvContentPartPr/>
              <p14:nvPr/>
            </p14:nvContentPartPr>
            <p14:xfrm>
              <a:off x="3353575" y="4611480"/>
              <a:ext cx="49680" cy="5040"/>
            </p14:xfrm>
          </p:contentPart>
        </mc:Choice>
        <mc:Fallback xmlns="">
          <p:pic>
            <p:nvPicPr>
              <p:cNvPr id="27" name="Ink 26">
                <a:extLst>
                  <a:ext uri="{FF2B5EF4-FFF2-40B4-BE49-F238E27FC236}">
                    <a16:creationId xmlns:a16="http://schemas.microsoft.com/office/drawing/2014/main" id="{D5C4099B-AEEE-46DF-8E90-49F037CA5A2A}"/>
                  </a:ext>
                </a:extLst>
              </p:cNvPr>
              <p:cNvPicPr/>
              <p:nvPr/>
            </p:nvPicPr>
            <p:blipFill>
              <a:blip r:embed="rId27"/>
              <a:stretch>
                <a:fillRect/>
              </a:stretch>
            </p:blipFill>
            <p:spPr>
              <a:xfrm>
                <a:off x="3347455" y="4605360"/>
                <a:ext cx="6192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8" name="Ink 27">
                <a:extLst>
                  <a:ext uri="{FF2B5EF4-FFF2-40B4-BE49-F238E27FC236}">
                    <a16:creationId xmlns:a16="http://schemas.microsoft.com/office/drawing/2014/main" id="{A0831FF9-5266-6F48-11D4-370634A38E6D}"/>
                  </a:ext>
                </a:extLst>
              </p14:cNvPr>
              <p14:cNvContentPartPr/>
              <p14:nvPr/>
            </p14:nvContentPartPr>
            <p14:xfrm>
              <a:off x="3579655" y="4614720"/>
              <a:ext cx="40680" cy="3600"/>
            </p14:xfrm>
          </p:contentPart>
        </mc:Choice>
        <mc:Fallback xmlns="">
          <p:pic>
            <p:nvPicPr>
              <p:cNvPr id="28" name="Ink 27">
                <a:extLst>
                  <a:ext uri="{FF2B5EF4-FFF2-40B4-BE49-F238E27FC236}">
                    <a16:creationId xmlns:a16="http://schemas.microsoft.com/office/drawing/2014/main" id="{A0831FF9-5266-6F48-11D4-370634A38E6D}"/>
                  </a:ext>
                </a:extLst>
              </p:cNvPr>
              <p:cNvPicPr/>
              <p:nvPr/>
            </p:nvPicPr>
            <p:blipFill>
              <a:blip r:embed="rId29"/>
              <a:stretch>
                <a:fillRect/>
              </a:stretch>
            </p:blipFill>
            <p:spPr>
              <a:xfrm>
                <a:off x="3573535" y="4608600"/>
                <a:ext cx="5292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9" name="Ink 28">
                <a:extLst>
                  <a:ext uri="{FF2B5EF4-FFF2-40B4-BE49-F238E27FC236}">
                    <a16:creationId xmlns:a16="http://schemas.microsoft.com/office/drawing/2014/main" id="{92A88D20-77AD-693A-EEB6-67911E1254B0}"/>
                  </a:ext>
                </a:extLst>
              </p14:cNvPr>
              <p14:cNvContentPartPr/>
              <p14:nvPr/>
            </p14:nvContentPartPr>
            <p14:xfrm>
              <a:off x="3785935" y="5270640"/>
              <a:ext cx="54360" cy="4680"/>
            </p14:xfrm>
          </p:contentPart>
        </mc:Choice>
        <mc:Fallback xmlns="">
          <p:pic>
            <p:nvPicPr>
              <p:cNvPr id="29" name="Ink 28">
                <a:extLst>
                  <a:ext uri="{FF2B5EF4-FFF2-40B4-BE49-F238E27FC236}">
                    <a16:creationId xmlns:a16="http://schemas.microsoft.com/office/drawing/2014/main" id="{92A88D20-77AD-693A-EEB6-67911E1254B0}"/>
                  </a:ext>
                </a:extLst>
              </p:cNvPr>
              <p:cNvPicPr/>
              <p:nvPr/>
            </p:nvPicPr>
            <p:blipFill>
              <a:blip r:embed="rId31"/>
              <a:stretch>
                <a:fillRect/>
              </a:stretch>
            </p:blipFill>
            <p:spPr>
              <a:xfrm>
                <a:off x="3779815" y="5264520"/>
                <a:ext cx="666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84909BF8-BA90-1422-5F91-E89475B72CFB}"/>
                  </a:ext>
                </a:extLst>
              </p14:cNvPr>
              <p14:cNvContentPartPr/>
              <p14:nvPr/>
            </p14:nvContentPartPr>
            <p14:xfrm>
              <a:off x="4003375" y="4610400"/>
              <a:ext cx="51480" cy="10080"/>
            </p14:xfrm>
          </p:contentPart>
        </mc:Choice>
        <mc:Fallback xmlns="">
          <p:pic>
            <p:nvPicPr>
              <p:cNvPr id="30" name="Ink 29">
                <a:extLst>
                  <a:ext uri="{FF2B5EF4-FFF2-40B4-BE49-F238E27FC236}">
                    <a16:creationId xmlns:a16="http://schemas.microsoft.com/office/drawing/2014/main" id="{84909BF8-BA90-1422-5F91-E89475B72CFB}"/>
                  </a:ext>
                </a:extLst>
              </p:cNvPr>
              <p:cNvPicPr/>
              <p:nvPr/>
            </p:nvPicPr>
            <p:blipFill>
              <a:blip r:embed="rId33"/>
              <a:stretch>
                <a:fillRect/>
              </a:stretch>
            </p:blipFill>
            <p:spPr>
              <a:xfrm>
                <a:off x="3997255" y="4604280"/>
                <a:ext cx="637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1" name="Ink 30">
                <a:extLst>
                  <a:ext uri="{FF2B5EF4-FFF2-40B4-BE49-F238E27FC236}">
                    <a16:creationId xmlns:a16="http://schemas.microsoft.com/office/drawing/2014/main" id="{3B7CC1C6-EFC2-8293-F6B0-9509B815C04F}"/>
                  </a:ext>
                </a:extLst>
              </p14:cNvPr>
              <p14:cNvContentPartPr/>
              <p14:nvPr/>
            </p14:nvContentPartPr>
            <p14:xfrm>
              <a:off x="4230098" y="4618113"/>
              <a:ext cx="51480" cy="3240"/>
            </p14:xfrm>
          </p:contentPart>
        </mc:Choice>
        <mc:Fallback xmlns="">
          <p:pic>
            <p:nvPicPr>
              <p:cNvPr id="31" name="Ink 30">
                <a:extLst>
                  <a:ext uri="{FF2B5EF4-FFF2-40B4-BE49-F238E27FC236}">
                    <a16:creationId xmlns:a16="http://schemas.microsoft.com/office/drawing/2014/main" id="{3B7CC1C6-EFC2-8293-F6B0-9509B815C04F}"/>
                  </a:ext>
                </a:extLst>
              </p:cNvPr>
              <p:cNvPicPr/>
              <p:nvPr/>
            </p:nvPicPr>
            <p:blipFill>
              <a:blip r:embed="rId35"/>
              <a:stretch>
                <a:fillRect/>
              </a:stretch>
            </p:blipFill>
            <p:spPr>
              <a:xfrm>
                <a:off x="4223978" y="4611993"/>
                <a:ext cx="6372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2" name="Ink 31">
                <a:extLst>
                  <a:ext uri="{FF2B5EF4-FFF2-40B4-BE49-F238E27FC236}">
                    <a16:creationId xmlns:a16="http://schemas.microsoft.com/office/drawing/2014/main" id="{414C1BF0-CDDD-E581-A658-15236C76036E}"/>
                  </a:ext>
                </a:extLst>
              </p14:cNvPr>
              <p14:cNvContentPartPr/>
              <p14:nvPr/>
            </p14:nvContentPartPr>
            <p14:xfrm>
              <a:off x="4452000" y="4618658"/>
              <a:ext cx="73800" cy="360"/>
            </p14:xfrm>
          </p:contentPart>
        </mc:Choice>
        <mc:Fallback xmlns="">
          <p:pic>
            <p:nvPicPr>
              <p:cNvPr id="32" name="Ink 31">
                <a:extLst>
                  <a:ext uri="{FF2B5EF4-FFF2-40B4-BE49-F238E27FC236}">
                    <a16:creationId xmlns:a16="http://schemas.microsoft.com/office/drawing/2014/main" id="{414C1BF0-CDDD-E581-A658-15236C76036E}"/>
                  </a:ext>
                </a:extLst>
              </p:cNvPr>
              <p:cNvPicPr/>
              <p:nvPr/>
            </p:nvPicPr>
            <p:blipFill>
              <a:blip r:embed="rId37"/>
              <a:stretch>
                <a:fillRect/>
              </a:stretch>
            </p:blipFill>
            <p:spPr>
              <a:xfrm>
                <a:off x="4445880" y="4612538"/>
                <a:ext cx="86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3" name="Ink 32">
                <a:extLst>
                  <a:ext uri="{FF2B5EF4-FFF2-40B4-BE49-F238E27FC236}">
                    <a16:creationId xmlns:a16="http://schemas.microsoft.com/office/drawing/2014/main" id="{E70AB10E-3241-FEF5-0C77-79E5C3955E50}"/>
                  </a:ext>
                </a:extLst>
              </p14:cNvPr>
              <p14:cNvContentPartPr/>
              <p14:nvPr/>
            </p14:nvContentPartPr>
            <p14:xfrm>
              <a:off x="4675560" y="4617938"/>
              <a:ext cx="49320" cy="3600"/>
            </p14:xfrm>
          </p:contentPart>
        </mc:Choice>
        <mc:Fallback xmlns="">
          <p:pic>
            <p:nvPicPr>
              <p:cNvPr id="33" name="Ink 32">
                <a:extLst>
                  <a:ext uri="{FF2B5EF4-FFF2-40B4-BE49-F238E27FC236}">
                    <a16:creationId xmlns:a16="http://schemas.microsoft.com/office/drawing/2014/main" id="{E70AB10E-3241-FEF5-0C77-79E5C3955E50}"/>
                  </a:ext>
                </a:extLst>
              </p:cNvPr>
              <p:cNvPicPr/>
              <p:nvPr/>
            </p:nvPicPr>
            <p:blipFill>
              <a:blip r:embed="rId39"/>
              <a:stretch>
                <a:fillRect/>
              </a:stretch>
            </p:blipFill>
            <p:spPr>
              <a:xfrm>
                <a:off x="4669440" y="4611818"/>
                <a:ext cx="61560" cy="15840"/>
              </a:xfrm>
              <a:prstGeom prst="rect">
                <a:avLst/>
              </a:prstGeom>
            </p:spPr>
          </p:pic>
        </mc:Fallback>
      </mc:AlternateContent>
    </p:spTree>
    <p:extLst>
      <p:ext uri="{BB962C8B-B14F-4D97-AF65-F5344CB8AC3E}">
        <p14:creationId xmlns:p14="http://schemas.microsoft.com/office/powerpoint/2010/main" val="1347348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01168"/>
            <a:ext cx="5303520" cy="228600"/>
          </a:xfrm>
          <a:prstGeom prst="rect">
            <a:avLst/>
          </a:prstGeom>
          <a:noFill/>
        </p:spPr>
        <p:txBody>
          <a:bodyPr wrap="square" lIns="18288" tIns="18288" rIns="18288" bIns="18288" anchor="t">
            <a:spAutoFit/>
          </a:bodyPr>
          <a:lstStyle/>
          <a:p>
            <a:pPr algn="l">
              <a:spcBef>
                <a:spcPts val="0"/>
              </a:spcBef>
              <a:spcAft>
                <a:spcPts val="0"/>
              </a:spcAft>
            </a:pPr>
            <a:r>
              <a:rPr sz="1000" b="1">
                <a:solidFill>
                  <a:srgbClr val="4B4B4B"/>
                </a:solidFill>
                <a:latin typeface="Aptos"/>
              </a:rPr>
              <a:t>LITERATURE REVIEW | PAPER-BY-PAPER EVIDENCE</a:t>
            </a:r>
          </a:p>
        </p:txBody>
      </p:sp>
      <p:sp>
        <p:nvSpPr>
          <p:cNvPr id="3" name="TextBox 2"/>
          <p:cNvSpPr txBox="1"/>
          <p:nvPr/>
        </p:nvSpPr>
        <p:spPr>
          <a:xfrm>
            <a:off x="566928" y="484632"/>
            <a:ext cx="11064240" cy="512064"/>
          </a:xfrm>
          <a:prstGeom prst="rect">
            <a:avLst/>
          </a:prstGeom>
          <a:noFill/>
        </p:spPr>
        <p:txBody>
          <a:bodyPr wrap="square" lIns="18288" tIns="18288" rIns="18288" bIns="18288" anchor="t">
            <a:spAutoFit/>
          </a:bodyPr>
          <a:lstStyle/>
          <a:p>
            <a:pPr algn="l">
              <a:spcBef>
                <a:spcPts val="0"/>
              </a:spcBef>
              <a:spcAft>
                <a:spcPts val="0"/>
              </a:spcAft>
            </a:pPr>
            <a:r>
              <a:rPr sz="2400" b="1">
                <a:solidFill>
                  <a:srgbClr val="191919"/>
                </a:solidFill>
                <a:latin typeface="Aptos"/>
              </a:rPr>
              <a:t>Evaluation: SIUO tests safe-looking inputs with unsafe joint intent</a:t>
            </a:r>
          </a:p>
        </p:txBody>
      </p:sp>
      <p:sp>
        <p:nvSpPr>
          <p:cNvPr id="4" name="TextBox 3"/>
          <p:cNvSpPr txBox="1"/>
          <p:nvPr/>
        </p:nvSpPr>
        <p:spPr>
          <a:xfrm>
            <a:off x="585216" y="1024128"/>
            <a:ext cx="10972800" cy="192024"/>
          </a:xfrm>
          <a:prstGeom prst="rect">
            <a:avLst/>
          </a:prstGeom>
          <a:noFill/>
        </p:spPr>
        <p:txBody>
          <a:bodyPr wrap="square" lIns="18288" tIns="18288" rIns="18288" bIns="18288" anchor="t">
            <a:spAutoFit/>
          </a:bodyPr>
          <a:lstStyle/>
          <a:p>
            <a:pPr algn="l">
              <a:spcBef>
                <a:spcPts val="0"/>
              </a:spcBef>
              <a:spcAft>
                <a:spcPts val="0"/>
              </a:spcAft>
            </a:pPr>
            <a:r>
              <a:rPr sz="1000" b="0">
                <a:solidFill>
                  <a:srgbClr val="4B4B4B"/>
                </a:solidFill>
                <a:latin typeface="Aptos"/>
              </a:rPr>
              <a:t>[13] SIUO, Figs. 1–2</a:t>
            </a:r>
          </a:p>
        </p:txBody>
      </p:sp>
      <p:cxnSp>
        <p:nvCxnSpPr>
          <p:cNvPr id="5" name="Connector 4"/>
          <p:cNvCxnSpPr/>
          <p:nvPr/>
        </p:nvCxnSpPr>
        <p:spPr>
          <a:xfrm>
            <a:off x="566928" y="1353312"/>
            <a:ext cx="11064240" cy="0"/>
          </a:xfrm>
          <a:prstGeom prst="line">
            <a:avLst/>
          </a:prstGeom>
          <a:ln w="1016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03504" y="1572768"/>
            <a:ext cx="5230368" cy="438912"/>
          </a:xfrm>
          <a:prstGeom prst="rect">
            <a:avLst/>
          </a:prstGeom>
          <a:noFill/>
        </p:spPr>
        <p:txBody>
          <a:bodyPr wrap="square" lIns="18288" tIns="18288" rIns="18288" bIns="18288" anchor="t">
            <a:spAutoFit/>
          </a:bodyPr>
          <a:lstStyle/>
          <a:p>
            <a:pPr algn="l">
              <a:spcBef>
                <a:spcPts val="0"/>
              </a:spcBef>
              <a:spcAft>
                <a:spcPts val="0"/>
              </a:spcAft>
            </a:pPr>
            <a:r>
              <a:rPr sz="1500" b="1">
                <a:solidFill>
                  <a:srgbClr val="191919"/>
                </a:solidFill>
                <a:latin typeface="Aptos"/>
              </a:rPr>
              <a:t>SIUO | cross-modal compositional safety benchmark [13]</a:t>
            </a:r>
          </a:p>
        </p:txBody>
      </p:sp>
      <p:cxnSp>
        <p:nvCxnSpPr>
          <p:cNvPr id="7" name="Connector 6"/>
          <p:cNvCxnSpPr/>
          <p:nvPr/>
        </p:nvCxnSpPr>
        <p:spPr>
          <a:xfrm>
            <a:off x="603504" y="2048256"/>
            <a:ext cx="5230368" cy="0"/>
          </a:xfrm>
          <a:prstGeom prst="line">
            <a:avLst/>
          </a:prstGeom>
          <a:ln w="10160">
            <a:solidFill>
              <a:srgbClr val="19191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03504" y="2121408"/>
            <a:ext cx="5230368" cy="3419856"/>
          </a:xfrm>
          <a:prstGeom prst="rect">
            <a:avLst/>
          </a:prstGeom>
          <a:noFill/>
        </p:spPr>
        <p:txBody>
          <a:bodyPr wrap="square" lIns="18288" tIns="18288" rIns="18288" bIns="18288" anchor="t">
            <a:spAutoFit/>
          </a:bodyPr>
          <a:lstStyle/>
          <a:p>
            <a:pPr algn="l">
              <a:spcBef>
                <a:spcPts val="0"/>
              </a:spcBef>
              <a:spcAft>
                <a:spcPts val="0"/>
              </a:spcAft>
            </a:pPr>
            <a:r>
              <a:rPr sz="1140" b="0">
                <a:solidFill>
                  <a:srgbClr val="191919"/>
                </a:solidFill>
                <a:latin typeface="Aptos"/>
              </a:rPr>
              <a:t>CONTRIBUTION
SIUO (Safe Inputs but Unsafe Output) targets cases where image and text are individually safe-looking, but their combination may imply an unsafe request or outcome. The benchmark covers nine safety domains and adds a test condition missing from many explicit-jailbreak suites.
EVALUATION + RESULT
Figure 2 reports safe-response rates for evaluated LVLMs across safety domains. The paper finds substantial vulnerabilities, including in strong closed- and open-source models. Read rates by model/domain; do not turn them into an attack success rate unless using the paper’s exact complement and rubric.
PROJECT ROLE
Use SIUO as a compositional-risk benchmark and locked test stratum, with benign near-neighbors. It is an evaluation set, not an attack algorithm or training method.</a:t>
            </a:r>
          </a:p>
        </p:txBody>
      </p:sp>
      <p:sp>
        <p:nvSpPr>
          <p:cNvPr id="9" name="TextBox 8"/>
          <p:cNvSpPr txBox="1"/>
          <p:nvPr/>
        </p:nvSpPr>
        <p:spPr>
          <a:xfrm>
            <a:off x="603504" y="5733288"/>
            <a:ext cx="5230368" cy="256032"/>
          </a:xfrm>
          <a:prstGeom prst="rect">
            <a:avLst/>
          </a:prstGeom>
          <a:noFill/>
        </p:spPr>
        <p:txBody>
          <a:bodyPr wrap="square" lIns="18288" tIns="18288" rIns="18288" bIns="18288" anchor="t">
            <a:spAutoFit/>
          </a:bodyPr>
          <a:lstStyle/>
          <a:p>
            <a:pPr algn="l">
              <a:spcBef>
                <a:spcPts val="0"/>
              </a:spcBef>
              <a:spcAft>
                <a:spcPts val="0"/>
              </a:spcAft>
            </a:pPr>
            <a:r>
              <a:rPr sz="960" b="1">
                <a:solidFill>
                  <a:srgbClr val="4B4B4B"/>
                </a:solidFill>
                <a:latin typeface="Aptos"/>
              </a:rPr>
              <a:t>PIPELINE: SAFE-NEIGHBOR / COMPOSITIONAL-RISK EVALUATION STRATUM</a:t>
            </a:r>
          </a:p>
        </p:txBody>
      </p:sp>
      <p:cxnSp>
        <p:nvCxnSpPr>
          <p:cNvPr id="10" name="Connector 9"/>
          <p:cNvCxnSpPr/>
          <p:nvPr/>
        </p:nvCxnSpPr>
        <p:spPr>
          <a:xfrm>
            <a:off x="6089904" y="1572768"/>
            <a:ext cx="0" cy="4416552"/>
          </a:xfrm>
          <a:prstGeom prst="line">
            <a:avLst/>
          </a:prstGeom>
          <a:ln w="10160">
            <a:solidFill>
              <a:srgbClr val="19191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 y="6473952"/>
            <a:ext cx="10241280" cy="164592"/>
          </a:xfrm>
          <a:prstGeom prst="rect">
            <a:avLst/>
          </a:prstGeom>
          <a:noFill/>
        </p:spPr>
        <p:txBody>
          <a:bodyPr wrap="square" lIns="18288" tIns="18288" rIns="18288" bIns="18288" anchor="t">
            <a:spAutoFit/>
          </a:bodyPr>
          <a:lstStyle/>
          <a:p>
            <a:pPr algn="l">
              <a:spcBef>
                <a:spcPts val="0"/>
              </a:spcBef>
              <a:spcAft>
                <a:spcPts val="0"/>
              </a:spcAft>
            </a:pPr>
            <a:r>
              <a:rPr sz="900" b="0">
                <a:solidFill>
                  <a:srgbClr val="4B4B4B"/>
                </a:solidFill>
                <a:latin typeface="Aptos"/>
              </a:rPr>
              <a:t>VLM Safety Alignment | Focused literature review</a:t>
            </a:r>
          </a:p>
        </p:txBody>
      </p:sp>
      <p:sp>
        <p:nvSpPr>
          <p:cNvPr id="14" name="TextBox 13"/>
          <p:cNvSpPr txBox="1"/>
          <p:nvPr/>
        </p:nvSpPr>
        <p:spPr>
          <a:xfrm>
            <a:off x="11137392" y="6455664"/>
            <a:ext cx="457200" cy="182880"/>
          </a:xfrm>
          <a:prstGeom prst="rect">
            <a:avLst/>
          </a:prstGeom>
          <a:noFill/>
        </p:spPr>
        <p:txBody>
          <a:bodyPr wrap="square" lIns="18288" tIns="18288" rIns="18288" bIns="18288" anchor="t">
            <a:spAutoFit/>
          </a:bodyPr>
          <a:lstStyle/>
          <a:p>
            <a:pPr algn="r">
              <a:spcBef>
                <a:spcPts val="0"/>
              </a:spcBef>
              <a:spcAft>
                <a:spcPts val="0"/>
              </a:spcAft>
            </a:pPr>
            <a:r>
              <a:rPr sz="900" b="0">
                <a:solidFill>
                  <a:srgbClr val="4B4B4B"/>
                </a:solidFill>
                <a:latin typeface="Aptos"/>
              </a:rPr>
              <a:t>06</a:t>
            </a:r>
          </a:p>
        </p:txBody>
      </p:sp>
      <p:pic>
        <p:nvPicPr>
          <p:cNvPr id="16" name="Picture 15">
            <a:extLst>
              <a:ext uri="{FF2B5EF4-FFF2-40B4-BE49-F238E27FC236}">
                <a16:creationId xmlns:a16="http://schemas.microsoft.com/office/drawing/2014/main" id="{3AC18F8C-8264-11CF-545F-03B08235E8D9}"/>
              </a:ext>
            </a:extLst>
          </p:cNvPr>
          <p:cNvPicPr>
            <a:picLocks noChangeAspect="1"/>
          </p:cNvPicPr>
          <p:nvPr/>
        </p:nvPicPr>
        <p:blipFill>
          <a:blip r:embed="rId3"/>
          <a:stretch>
            <a:fillRect/>
          </a:stretch>
        </p:blipFill>
        <p:spPr>
          <a:xfrm>
            <a:off x="6163056" y="2880360"/>
            <a:ext cx="3543734" cy="3875568"/>
          </a:xfrm>
          <a:prstGeom prst="rect">
            <a:avLst/>
          </a:prstGeom>
        </p:spPr>
      </p:pic>
      <p:pic>
        <p:nvPicPr>
          <p:cNvPr id="18" name="Picture 17">
            <a:extLst>
              <a:ext uri="{FF2B5EF4-FFF2-40B4-BE49-F238E27FC236}">
                <a16:creationId xmlns:a16="http://schemas.microsoft.com/office/drawing/2014/main" id="{727B19B5-B7B5-4FBE-E042-24344015C793}"/>
              </a:ext>
            </a:extLst>
          </p:cNvPr>
          <p:cNvPicPr>
            <a:picLocks noChangeAspect="1"/>
          </p:cNvPicPr>
          <p:nvPr/>
        </p:nvPicPr>
        <p:blipFill>
          <a:blip r:embed="rId4"/>
          <a:stretch>
            <a:fillRect/>
          </a:stretch>
        </p:blipFill>
        <p:spPr>
          <a:xfrm>
            <a:off x="9385300" y="946512"/>
            <a:ext cx="2806700" cy="33618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Training resources: supervised safety data and preferences</a:t>
            </a:r>
          </a:p>
        </p:txBody>
      </p:sp>
      <p:sp>
        <p:nvSpPr>
          <p:cNvPr id="4" name="TextBox 3"/>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[5] </a:t>
            </a:r>
            <a:r>
              <a:rPr sz="1000" b="0" dirty="0" err="1">
                <a:solidFill>
                  <a:srgbClr val="4B4B4B"/>
                </a:solidFill>
                <a:latin typeface="Aptos"/>
              </a:rPr>
              <a:t>VLGuard</a:t>
            </a:r>
            <a:r>
              <a:rPr sz="1000" b="0" dirty="0">
                <a:solidFill>
                  <a:srgbClr val="4B4B4B"/>
                </a:solidFill>
                <a:latin typeface="Aptos"/>
              </a:rPr>
              <a:t>, Table 2 / Fig. 3</a:t>
            </a:r>
          </a:p>
        </p:txBody>
      </p:sp>
      <p:cxnSp>
        <p:nvCxnSpPr>
          <p:cNvPr id="5" name="Connector 4"/>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07</a:t>
            </a:r>
          </a:p>
        </p:txBody>
      </p:sp>
      <p:sp>
        <p:nvSpPr>
          <p:cNvPr id="8" name="TextBox 7"/>
          <p:cNvSpPr txBox="1"/>
          <p:nvPr/>
        </p:nvSpPr>
        <p:spPr>
          <a:xfrm>
            <a:off x="603504" y="1572768"/>
            <a:ext cx="5230368" cy="438912"/>
          </a:xfrm>
          <a:prstGeom prst="rect">
            <a:avLst/>
          </a:prstGeom>
          <a:noFill/>
        </p:spPr>
        <p:txBody>
          <a:bodyPr wrap="square" lIns="32004" tIns="22860" rIns="32004" bIns="18288" anchor="t">
            <a:spAutoFit/>
          </a:bodyPr>
          <a:lstStyle/>
          <a:p>
            <a:pPr algn="l"/>
            <a:r>
              <a:rPr sz="1500" b="1">
                <a:solidFill>
                  <a:srgbClr val="191919"/>
                </a:solidFill>
                <a:latin typeface="Aptos"/>
              </a:rPr>
              <a:t>VLGuard | multimodal safety SFT baseline [5]</a:t>
            </a:r>
          </a:p>
        </p:txBody>
      </p:sp>
      <p:cxnSp>
        <p:nvCxnSpPr>
          <p:cNvPr id="9" name="Connector 8"/>
          <p:cNvCxnSpPr/>
          <p:nvPr/>
        </p:nvCxnSpPr>
        <p:spPr>
          <a:xfrm>
            <a:off x="603504"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3504" y="2121408"/>
            <a:ext cx="5230368" cy="3608680"/>
          </a:xfrm>
          <a:prstGeom prst="rect">
            <a:avLst/>
          </a:prstGeom>
          <a:noFill/>
        </p:spPr>
        <p:txBody>
          <a:bodyPr wrap="square" lIns="32004" tIns="22860" rIns="32004" bIns="18288" anchor="t">
            <a:spAutoFit/>
          </a:bodyPr>
          <a:lstStyle/>
          <a:p>
            <a:pPr algn="l"/>
            <a:r>
              <a:rPr sz="1220" b="0" dirty="0">
                <a:solidFill>
                  <a:srgbClr val="191919"/>
                </a:solidFill>
                <a:latin typeface="Aptos"/>
              </a:rPr>
              <a:t>CONTRIBUTION
A low-cost multimodal safety fine-tuning resource: 2,000 train images (977 harmful, 1,023 safe), about 3,000 pairs; 1,000 test images across Safe-Safe, Safe-Unsafe, and Unsafe conditions.</a:t>
            </a:r>
            <a:endParaRPr lang="en-US" sz="1220" b="0" dirty="0">
              <a:solidFill>
                <a:srgbClr val="191919"/>
              </a:solidFill>
              <a:latin typeface="Aptos"/>
            </a:endParaRPr>
          </a:p>
          <a:p>
            <a:r>
              <a:rPr lang="en-US" sz="1220" b="1" dirty="0" err="1">
                <a:latin typeface="Aptos" panose="020B0004020202020204" pitchFamily="34" charset="0"/>
              </a:rPr>
              <a:t>AdvBench</a:t>
            </a:r>
            <a:r>
              <a:rPr lang="en-US" sz="1220" dirty="0">
                <a:latin typeface="Aptos" panose="020B0004020202020204" pitchFamily="34" charset="0"/>
              </a:rPr>
              <a:t> is a text-based harmful-behavior test set used to see whether a model complies with harmful prompts; it is not itself a visual attack. </a:t>
            </a:r>
          </a:p>
          <a:p>
            <a:r>
              <a:rPr lang="en-US" sz="1220" b="1" dirty="0" err="1">
                <a:latin typeface="Aptos" panose="020B0004020202020204" pitchFamily="34" charset="0"/>
              </a:rPr>
              <a:t>XSTest</a:t>
            </a:r>
            <a:r>
              <a:rPr lang="en-US" sz="1220" dirty="0">
                <a:latin typeface="Aptos" panose="020B0004020202020204" pitchFamily="34" charset="0"/>
              </a:rPr>
              <a:t> checks whether a model is over-cautious. Consists of 250 safe prompts for model to answer, and 200 unsafe contrast prompts to refuse</a:t>
            </a:r>
            <a:endParaRPr lang="en-US" sz="1400" dirty="0"/>
          </a:p>
          <a:p>
            <a:pPr algn="l"/>
            <a:r>
              <a:rPr sz="1220" b="0" dirty="0">
                <a:solidFill>
                  <a:srgbClr val="191919"/>
                </a:solidFill>
                <a:latin typeface="Aptos"/>
              </a:rPr>
              <a:t>
EVALUATION + RESULT
Compares post-hoc and mixed fine-tuning. Table 2 shows reduced attack/unsafe-condition rates; preserving ordinary helpfulness examples matters for benign performance. Read each column's direction before quoting it.
PROJECT MAPPING
Use as the multimodal SFT baseline with a matched helpfulness mixture and safe-neighbor evaluation; split by source intent first.</a:t>
            </a:r>
          </a:p>
        </p:txBody>
      </p:sp>
      <p:sp>
        <p:nvSpPr>
          <p:cNvPr id="11" name="TextBox 10"/>
          <p:cNvSpPr txBox="1"/>
          <p:nvPr/>
        </p:nvSpPr>
        <p:spPr>
          <a:xfrm>
            <a:off x="585216" y="6114136"/>
            <a:ext cx="5230368" cy="201168"/>
          </a:xfrm>
          <a:prstGeom prst="rect">
            <a:avLst/>
          </a:prstGeom>
          <a:noFill/>
        </p:spPr>
        <p:txBody>
          <a:bodyPr wrap="square" lIns="32004" tIns="22860" rIns="32004" bIns="18288" anchor="t">
            <a:spAutoFit/>
          </a:bodyPr>
          <a:lstStyle/>
          <a:p>
            <a:pPr algn="l"/>
            <a:r>
              <a:rPr sz="900" b="1" dirty="0">
                <a:solidFill>
                  <a:srgbClr val="4B4B4B"/>
                </a:solidFill>
                <a:latin typeface="Aptos"/>
              </a:rPr>
              <a:t>PIPELINE: IMAGE-CONDITIONED SAFETY SFT BASELINE</a:t>
            </a:r>
          </a:p>
        </p:txBody>
      </p:sp>
      <p:cxnSp>
        <p:nvCxnSpPr>
          <p:cNvPr id="12" name="Connector 11"/>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D5A8852B-C876-65AE-1E54-FD53D6078DA6}"/>
              </a:ext>
            </a:extLst>
          </p:cNvPr>
          <p:cNvPicPr>
            <a:picLocks noChangeAspect="1"/>
          </p:cNvPicPr>
          <p:nvPr/>
        </p:nvPicPr>
        <p:blipFill>
          <a:blip r:embed="rId3"/>
          <a:stretch>
            <a:fillRect/>
          </a:stretch>
        </p:blipFill>
        <p:spPr>
          <a:xfrm>
            <a:off x="7169875" y="1397601"/>
            <a:ext cx="3638333" cy="2863503"/>
          </a:xfrm>
          <a:prstGeom prst="rect">
            <a:avLst/>
          </a:prstGeom>
        </p:spPr>
      </p:pic>
      <p:pic>
        <p:nvPicPr>
          <p:cNvPr id="20" name="Picture 19">
            <a:extLst>
              <a:ext uri="{FF2B5EF4-FFF2-40B4-BE49-F238E27FC236}">
                <a16:creationId xmlns:a16="http://schemas.microsoft.com/office/drawing/2014/main" id="{73D700F8-3ACC-9464-F2B3-A7922406B759}"/>
              </a:ext>
            </a:extLst>
          </p:cNvPr>
          <p:cNvPicPr>
            <a:picLocks noChangeAspect="1"/>
          </p:cNvPicPr>
          <p:nvPr/>
        </p:nvPicPr>
        <p:blipFill>
          <a:blip r:embed="rId4"/>
          <a:stretch>
            <a:fillRect/>
          </a:stretch>
        </p:blipFill>
        <p:spPr>
          <a:xfrm>
            <a:off x="6170596" y="4305392"/>
            <a:ext cx="5857106" cy="2414888"/>
          </a:xfrm>
          <a:prstGeom prst="rect">
            <a:avLst/>
          </a:prstGeom>
        </p:spPr>
      </p:pic>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DC8F63DA-FF40-53C5-4ADC-8731C128CF88}"/>
                  </a:ext>
                </a:extLst>
              </p14:cNvPr>
              <p14:cNvContentPartPr/>
              <p14:nvPr/>
            </p14:nvContentPartPr>
            <p14:xfrm>
              <a:off x="9775357" y="5194532"/>
              <a:ext cx="115560" cy="6840"/>
            </p14:xfrm>
          </p:contentPart>
        </mc:Choice>
        <mc:Fallback xmlns="">
          <p:pic>
            <p:nvPicPr>
              <p:cNvPr id="13" name="Ink 12">
                <a:extLst>
                  <a:ext uri="{FF2B5EF4-FFF2-40B4-BE49-F238E27FC236}">
                    <a16:creationId xmlns:a16="http://schemas.microsoft.com/office/drawing/2014/main" id="{DC8F63DA-FF40-53C5-4ADC-8731C128CF88}"/>
                  </a:ext>
                </a:extLst>
              </p:cNvPr>
              <p:cNvPicPr/>
              <p:nvPr/>
            </p:nvPicPr>
            <p:blipFill>
              <a:blip r:embed="rId6"/>
              <a:stretch>
                <a:fillRect/>
              </a:stretch>
            </p:blipFill>
            <p:spPr>
              <a:xfrm>
                <a:off x="9769237" y="5188412"/>
                <a:ext cx="1278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F0975D16-3712-C9C0-20DE-AB891B10298D}"/>
                  </a:ext>
                </a:extLst>
              </p14:cNvPr>
              <p14:cNvContentPartPr/>
              <p14:nvPr/>
            </p14:nvContentPartPr>
            <p14:xfrm>
              <a:off x="11616286" y="5296974"/>
              <a:ext cx="148680" cy="360"/>
            </p14:xfrm>
          </p:contentPart>
        </mc:Choice>
        <mc:Fallback xmlns="">
          <p:pic>
            <p:nvPicPr>
              <p:cNvPr id="14" name="Ink 13">
                <a:extLst>
                  <a:ext uri="{FF2B5EF4-FFF2-40B4-BE49-F238E27FC236}">
                    <a16:creationId xmlns:a16="http://schemas.microsoft.com/office/drawing/2014/main" id="{F0975D16-3712-C9C0-20DE-AB891B10298D}"/>
                  </a:ext>
                </a:extLst>
              </p:cNvPr>
              <p:cNvPicPr/>
              <p:nvPr/>
            </p:nvPicPr>
            <p:blipFill>
              <a:blip r:embed="rId8"/>
              <a:stretch>
                <a:fillRect/>
              </a:stretch>
            </p:blipFill>
            <p:spPr>
              <a:xfrm>
                <a:off x="11610166" y="5290854"/>
                <a:ext cx="160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0A4932F0-949F-7E2A-16C0-7711AAA4F471}"/>
                  </a:ext>
                </a:extLst>
              </p14:cNvPr>
              <p14:cNvContentPartPr/>
              <p14:nvPr/>
            </p14:nvContentPartPr>
            <p14:xfrm>
              <a:off x="11643286" y="5506854"/>
              <a:ext cx="151200" cy="2880"/>
            </p14:xfrm>
          </p:contentPart>
        </mc:Choice>
        <mc:Fallback xmlns="">
          <p:pic>
            <p:nvPicPr>
              <p:cNvPr id="15" name="Ink 14">
                <a:extLst>
                  <a:ext uri="{FF2B5EF4-FFF2-40B4-BE49-F238E27FC236}">
                    <a16:creationId xmlns:a16="http://schemas.microsoft.com/office/drawing/2014/main" id="{0A4932F0-949F-7E2A-16C0-7711AAA4F471}"/>
                  </a:ext>
                </a:extLst>
              </p:cNvPr>
              <p:cNvPicPr/>
              <p:nvPr/>
            </p:nvPicPr>
            <p:blipFill>
              <a:blip r:embed="rId10"/>
              <a:stretch>
                <a:fillRect/>
              </a:stretch>
            </p:blipFill>
            <p:spPr>
              <a:xfrm>
                <a:off x="11637166" y="5500734"/>
                <a:ext cx="163440" cy="1512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A43B9-FFB1-CB37-E03B-AA960A735A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28632B-74B8-93EB-DFFA-40F9B74ECD39}"/>
              </a:ext>
            </a:extLst>
          </p:cNvPr>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a:extLst>
              <a:ext uri="{FF2B5EF4-FFF2-40B4-BE49-F238E27FC236}">
                <a16:creationId xmlns:a16="http://schemas.microsoft.com/office/drawing/2014/main" id="{3675D59B-EA76-F7B3-8F5B-7942EB7EA862}"/>
              </a:ext>
            </a:extLst>
          </p:cNvPr>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Training resources: supervised safety data and preferences</a:t>
            </a:r>
          </a:p>
        </p:txBody>
      </p:sp>
      <p:sp>
        <p:nvSpPr>
          <p:cNvPr id="4" name="TextBox 3">
            <a:extLst>
              <a:ext uri="{FF2B5EF4-FFF2-40B4-BE49-F238E27FC236}">
                <a16:creationId xmlns:a16="http://schemas.microsoft.com/office/drawing/2014/main" id="{CCEC03C5-182F-C813-8623-1276C676C084}"/>
              </a:ext>
            </a:extLst>
          </p:cNvPr>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[6] SPA-VL, dataset construction / Table 2 / Fig. 1</a:t>
            </a:r>
          </a:p>
        </p:txBody>
      </p:sp>
      <p:cxnSp>
        <p:nvCxnSpPr>
          <p:cNvPr id="5" name="Connector 4">
            <a:extLst>
              <a:ext uri="{FF2B5EF4-FFF2-40B4-BE49-F238E27FC236}">
                <a16:creationId xmlns:a16="http://schemas.microsoft.com/office/drawing/2014/main" id="{5455BE32-DF4A-B9FA-096E-1B8E02690213}"/>
              </a:ext>
            </a:extLst>
          </p:cNvPr>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D04CBB8-1EA0-F2FC-0B51-B5EC7977878B}"/>
              </a:ext>
            </a:extLst>
          </p:cNvPr>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a:extLst>
              <a:ext uri="{FF2B5EF4-FFF2-40B4-BE49-F238E27FC236}">
                <a16:creationId xmlns:a16="http://schemas.microsoft.com/office/drawing/2014/main" id="{F07E8C7F-043F-D27B-4296-ADCBDF9228A1}"/>
              </a:ext>
            </a:extLst>
          </p:cNvPr>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07</a:t>
            </a:r>
          </a:p>
        </p:txBody>
      </p:sp>
      <p:cxnSp>
        <p:nvCxnSpPr>
          <p:cNvPr id="12" name="Connector 11">
            <a:extLst>
              <a:ext uri="{FF2B5EF4-FFF2-40B4-BE49-F238E27FC236}">
                <a16:creationId xmlns:a16="http://schemas.microsoft.com/office/drawing/2014/main" id="{B31CFC56-E730-0579-0576-A7C0CC00B682}"/>
              </a:ext>
            </a:extLst>
          </p:cNvPr>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CBB8406-66B9-381D-9306-ECF427724D55}"/>
              </a:ext>
            </a:extLst>
          </p:cNvPr>
          <p:cNvSpPr txBox="1"/>
          <p:nvPr/>
        </p:nvSpPr>
        <p:spPr>
          <a:xfrm>
            <a:off x="6345936" y="1572768"/>
            <a:ext cx="5230368" cy="438912"/>
          </a:xfrm>
          <a:prstGeom prst="rect">
            <a:avLst/>
          </a:prstGeom>
          <a:noFill/>
        </p:spPr>
        <p:txBody>
          <a:bodyPr wrap="square" lIns="32004" tIns="22860" rIns="32004" bIns="18288" anchor="t">
            <a:spAutoFit/>
          </a:bodyPr>
          <a:lstStyle/>
          <a:p>
            <a:pPr algn="l"/>
            <a:r>
              <a:rPr sz="1500" b="1">
                <a:solidFill>
                  <a:srgbClr val="191919"/>
                </a:solidFill>
                <a:latin typeface="Aptos"/>
              </a:rPr>
              <a:t>SPA-VL | preference data + DPO/PPO [6]</a:t>
            </a:r>
          </a:p>
        </p:txBody>
      </p:sp>
      <p:cxnSp>
        <p:nvCxnSpPr>
          <p:cNvPr id="14" name="Connector 13">
            <a:extLst>
              <a:ext uri="{FF2B5EF4-FFF2-40B4-BE49-F238E27FC236}">
                <a16:creationId xmlns:a16="http://schemas.microsoft.com/office/drawing/2014/main" id="{EBDBD3EB-B488-D12C-A6A3-46E86F081230}"/>
              </a:ext>
            </a:extLst>
          </p:cNvPr>
          <p:cNvCxnSpPr/>
          <p:nvPr/>
        </p:nvCxnSpPr>
        <p:spPr>
          <a:xfrm>
            <a:off x="6345936"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624AB26-07D4-2F30-5FE1-928E65BFAEAB}"/>
              </a:ext>
            </a:extLst>
          </p:cNvPr>
          <p:cNvSpPr txBox="1"/>
          <p:nvPr/>
        </p:nvSpPr>
        <p:spPr>
          <a:xfrm>
            <a:off x="6345936" y="2121408"/>
            <a:ext cx="5230368" cy="2482218"/>
          </a:xfrm>
          <a:prstGeom prst="rect">
            <a:avLst/>
          </a:prstGeom>
          <a:noFill/>
        </p:spPr>
        <p:txBody>
          <a:bodyPr wrap="square" lIns="32004" tIns="22860" rIns="32004" bIns="18288" anchor="t">
            <a:spAutoFit/>
          </a:bodyPr>
          <a:lstStyle/>
          <a:p>
            <a:pPr algn="l"/>
            <a:r>
              <a:rPr sz="1220" b="0" dirty="0">
                <a:solidFill>
                  <a:srgbClr val="191919"/>
                </a:solidFill>
                <a:latin typeface="Aptos"/>
              </a:rPr>
              <a:t>CONTRIBUTION
100,788 preference records from 1</a:t>
            </a:r>
            <a:r>
              <a:rPr lang="en-US" sz="1220" b="0" dirty="0">
                <a:solidFill>
                  <a:srgbClr val="191919"/>
                </a:solidFill>
                <a:latin typeface="Aptos"/>
              </a:rPr>
              <a:t>3</a:t>
            </a:r>
            <a:r>
              <a:rPr sz="1220" b="0" dirty="0">
                <a:solidFill>
                  <a:srgbClr val="191919"/>
                </a:solidFill>
                <a:latin typeface="Aptos"/>
              </a:rPr>
              <a:t> response models</a:t>
            </a:r>
            <a:r>
              <a:rPr lang="en-US" sz="1220" b="0" dirty="0">
                <a:solidFill>
                  <a:srgbClr val="191919"/>
                </a:solidFill>
                <a:latin typeface="Aptos"/>
              </a:rPr>
              <a:t>.</a:t>
            </a:r>
            <a:r>
              <a:rPr sz="1220" b="0" dirty="0">
                <a:solidFill>
                  <a:srgbClr val="191919"/>
                </a:solidFill>
                <a:latin typeface="Aptos"/>
              </a:rPr>
              <a:t> </a:t>
            </a:r>
            <a:r>
              <a:rPr lang="en-US" sz="1220" dirty="0">
                <a:solidFill>
                  <a:srgbClr val="191919"/>
                </a:solidFill>
                <a:latin typeface="Aptos"/>
              </a:rPr>
              <a:t>E</a:t>
            </a:r>
            <a:r>
              <a:rPr sz="1220" b="0" dirty="0">
                <a:solidFill>
                  <a:srgbClr val="191919"/>
                </a:solidFill>
                <a:latin typeface="Aptos"/>
              </a:rPr>
              <a:t>ach is (question, image, chosen answer, rejected answer). DPO/PPO are optimization methods, not datasets.
EVALUATION + RESULT
Table 2 tests DPO/PPO on MM-</a:t>
            </a:r>
            <a:r>
              <a:rPr sz="1220" b="0" dirty="0" err="1">
                <a:solidFill>
                  <a:srgbClr val="191919"/>
                </a:solidFill>
                <a:latin typeface="Aptos"/>
              </a:rPr>
              <a:t>SafetyBench</a:t>
            </a:r>
            <a:r>
              <a:rPr sz="1220" b="0" dirty="0">
                <a:solidFill>
                  <a:srgbClr val="191919"/>
                </a:solidFill>
                <a:latin typeface="Aptos"/>
              </a:rPr>
              <a:t>, </a:t>
            </a:r>
            <a:r>
              <a:rPr sz="1220" b="0" dirty="0" err="1">
                <a:solidFill>
                  <a:srgbClr val="191919"/>
                </a:solidFill>
                <a:latin typeface="Aptos"/>
              </a:rPr>
              <a:t>AdvBench</a:t>
            </a:r>
            <a:r>
              <a:rPr sz="1220" b="0" dirty="0">
                <a:solidFill>
                  <a:srgbClr val="191919"/>
                </a:solidFill>
                <a:latin typeface="Aptos"/>
              </a:rPr>
              <a:t>, and </a:t>
            </a:r>
            <a:r>
              <a:rPr sz="1220" b="0" dirty="0" err="1">
                <a:solidFill>
                  <a:srgbClr val="191919"/>
                </a:solidFill>
                <a:latin typeface="Aptos"/>
              </a:rPr>
              <a:t>HarmEval</a:t>
            </a:r>
            <a:r>
              <a:rPr sz="1220" b="0" dirty="0">
                <a:solidFill>
                  <a:srgbClr val="191919"/>
                </a:solidFill>
                <a:latin typeface="Aptos"/>
              </a:rPr>
              <a:t>. SPA-VL-DPO reports 0.60% average MM-</a:t>
            </a:r>
            <a:r>
              <a:rPr sz="1220" b="0" dirty="0" err="1">
                <a:solidFill>
                  <a:srgbClr val="191919"/>
                </a:solidFill>
                <a:latin typeface="Aptos"/>
              </a:rPr>
              <a:t>SafetyBench</a:t>
            </a:r>
            <a:r>
              <a:rPr sz="1220" b="0" dirty="0">
                <a:solidFill>
                  <a:srgbClr val="191919"/>
                </a:solidFill>
                <a:latin typeface="Aptos"/>
              </a:rPr>
              <a:t> ASR and 0.00/0.00 on </a:t>
            </a:r>
            <a:r>
              <a:rPr sz="1220" b="0" dirty="0" err="1">
                <a:solidFill>
                  <a:srgbClr val="191919"/>
                </a:solidFill>
                <a:latin typeface="Aptos"/>
              </a:rPr>
              <a:t>AdvBench</a:t>
            </a:r>
            <a:r>
              <a:rPr sz="1220" b="0" dirty="0">
                <a:solidFill>
                  <a:srgbClr val="191919"/>
                </a:solidFill>
                <a:latin typeface="Aptos"/>
              </a:rPr>
              <a:t> vanilla/suffix under that paper's setup.
PROJECT MAPPING
Use the resource provenance and standard DPO comparator; audit source/intent overlap and retain a separately held-out attack family.</a:t>
            </a:r>
          </a:p>
        </p:txBody>
      </p:sp>
      <p:sp>
        <p:nvSpPr>
          <p:cNvPr id="16" name="TextBox 15">
            <a:extLst>
              <a:ext uri="{FF2B5EF4-FFF2-40B4-BE49-F238E27FC236}">
                <a16:creationId xmlns:a16="http://schemas.microsoft.com/office/drawing/2014/main" id="{2C049069-8CFF-34EF-487E-E71F3CD7FAFA}"/>
              </a:ext>
            </a:extLst>
          </p:cNvPr>
          <p:cNvSpPr txBox="1"/>
          <p:nvPr/>
        </p:nvSpPr>
        <p:spPr>
          <a:xfrm>
            <a:off x="6345936" y="5733288"/>
            <a:ext cx="5230368" cy="201168"/>
          </a:xfrm>
          <a:prstGeom prst="rect">
            <a:avLst/>
          </a:prstGeom>
          <a:noFill/>
        </p:spPr>
        <p:txBody>
          <a:bodyPr wrap="square" lIns="32004" tIns="22860" rIns="32004" bIns="18288" anchor="t">
            <a:spAutoFit/>
          </a:bodyPr>
          <a:lstStyle/>
          <a:p>
            <a:pPr algn="l"/>
            <a:r>
              <a:rPr sz="900" b="1">
                <a:solidFill>
                  <a:srgbClr val="4B4B4B"/>
                </a:solidFill>
                <a:latin typeface="Aptos"/>
              </a:rPr>
              <a:t>PIPELINE: PREFERENCE DATA + STANDARD DPO COMPARATOR</a:t>
            </a:r>
          </a:p>
        </p:txBody>
      </p:sp>
      <p:pic>
        <p:nvPicPr>
          <p:cNvPr id="18" name="Picture 17">
            <a:extLst>
              <a:ext uri="{FF2B5EF4-FFF2-40B4-BE49-F238E27FC236}">
                <a16:creationId xmlns:a16="http://schemas.microsoft.com/office/drawing/2014/main" id="{4AC3BEDF-43E2-F0A2-9FC6-7F957B0FF3D4}"/>
              </a:ext>
            </a:extLst>
          </p:cNvPr>
          <p:cNvPicPr>
            <a:picLocks noChangeAspect="1"/>
          </p:cNvPicPr>
          <p:nvPr/>
        </p:nvPicPr>
        <p:blipFill>
          <a:blip r:embed="rId3"/>
          <a:stretch>
            <a:fillRect/>
          </a:stretch>
        </p:blipFill>
        <p:spPr>
          <a:xfrm>
            <a:off x="1360197" y="1404596"/>
            <a:ext cx="4601692" cy="2531479"/>
          </a:xfrm>
          <a:prstGeom prst="rect">
            <a:avLst/>
          </a:prstGeom>
        </p:spPr>
      </p:pic>
      <p:pic>
        <p:nvPicPr>
          <p:cNvPr id="20" name="Picture 19">
            <a:extLst>
              <a:ext uri="{FF2B5EF4-FFF2-40B4-BE49-F238E27FC236}">
                <a16:creationId xmlns:a16="http://schemas.microsoft.com/office/drawing/2014/main" id="{4500EFCB-1CCE-E0C5-E6DE-8E5ABD43C7EB}"/>
              </a:ext>
            </a:extLst>
          </p:cNvPr>
          <p:cNvPicPr>
            <a:picLocks noChangeAspect="1"/>
          </p:cNvPicPr>
          <p:nvPr/>
        </p:nvPicPr>
        <p:blipFill>
          <a:blip r:embed="rId4"/>
          <a:stretch>
            <a:fillRect/>
          </a:stretch>
        </p:blipFill>
        <p:spPr>
          <a:xfrm>
            <a:off x="0" y="3936075"/>
            <a:ext cx="4353692" cy="2928469"/>
          </a:xfrm>
          <a:prstGeom prst="rect">
            <a:avLst/>
          </a:prstGeom>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7A6D402C-E606-7C8E-B6D1-57C477B4DF72}"/>
                  </a:ext>
                </a:extLst>
              </p14:cNvPr>
              <p14:cNvContentPartPr/>
              <p14:nvPr/>
            </p14:nvContentPartPr>
            <p14:xfrm>
              <a:off x="2711880" y="6490749"/>
              <a:ext cx="106200" cy="9720"/>
            </p14:xfrm>
          </p:contentPart>
        </mc:Choice>
        <mc:Fallback xmlns="">
          <p:pic>
            <p:nvPicPr>
              <p:cNvPr id="8" name="Ink 7">
                <a:extLst>
                  <a:ext uri="{FF2B5EF4-FFF2-40B4-BE49-F238E27FC236}">
                    <a16:creationId xmlns:a16="http://schemas.microsoft.com/office/drawing/2014/main" id="{7A6D402C-E606-7C8E-B6D1-57C477B4DF72}"/>
                  </a:ext>
                </a:extLst>
              </p:cNvPr>
              <p:cNvPicPr/>
              <p:nvPr/>
            </p:nvPicPr>
            <p:blipFill>
              <a:blip r:embed="rId6"/>
              <a:stretch>
                <a:fillRect/>
              </a:stretch>
            </p:blipFill>
            <p:spPr>
              <a:xfrm>
                <a:off x="2705760" y="6484629"/>
                <a:ext cx="1184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A21C57CA-EF51-719C-97B7-19105B5562C2}"/>
                  </a:ext>
                </a:extLst>
              </p14:cNvPr>
              <p14:cNvContentPartPr/>
              <p14:nvPr/>
            </p14:nvContentPartPr>
            <p14:xfrm>
              <a:off x="2715120" y="6686229"/>
              <a:ext cx="92160" cy="360"/>
            </p14:xfrm>
          </p:contentPart>
        </mc:Choice>
        <mc:Fallback xmlns="">
          <p:pic>
            <p:nvPicPr>
              <p:cNvPr id="9" name="Ink 8">
                <a:extLst>
                  <a:ext uri="{FF2B5EF4-FFF2-40B4-BE49-F238E27FC236}">
                    <a16:creationId xmlns:a16="http://schemas.microsoft.com/office/drawing/2014/main" id="{A21C57CA-EF51-719C-97B7-19105B5562C2}"/>
                  </a:ext>
                </a:extLst>
              </p:cNvPr>
              <p:cNvPicPr/>
              <p:nvPr/>
            </p:nvPicPr>
            <p:blipFill>
              <a:blip r:embed="rId8"/>
              <a:stretch>
                <a:fillRect/>
              </a:stretch>
            </p:blipFill>
            <p:spPr>
              <a:xfrm>
                <a:off x="2709000" y="6680109"/>
                <a:ext cx="1044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A29AE9F1-74E3-CB15-1803-F1691A995D46}"/>
                  </a:ext>
                </a:extLst>
              </p14:cNvPr>
              <p14:cNvContentPartPr/>
              <p14:nvPr/>
            </p14:nvContentPartPr>
            <p14:xfrm>
              <a:off x="3094200" y="6478509"/>
              <a:ext cx="97560" cy="10800"/>
            </p14:xfrm>
          </p:contentPart>
        </mc:Choice>
        <mc:Fallback xmlns="">
          <p:pic>
            <p:nvPicPr>
              <p:cNvPr id="10" name="Ink 9">
                <a:extLst>
                  <a:ext uri="{FF2B5EF4-FFF2-40B4-BE49-F238E27FC236}">
                    <a16:creationId xmlns:a16="http://schemas.microsoft.com/office/drawing/2014/main" id="{A29AE9F1-74E3-CB15-1803-F1691A995D46}"/>
                  </a:ext>
                </a:extLst>
              </p:cNvPr>
              <p:cNvPicPr/>
              <p:nvPr/>
            </p:nvPicPr>
            <p:blipFill>
              <a:blip r:embed="rId10"/>
              <a:stretch>
                <a:fillRect/>
              </a:stretch>
            </p:blipFill>
            <p:spPr>
              <a:xfrm>
                <a:off x="3088080" y="6472389"/>
                <a:ext cx="109800" cy="23040"/>
              </a:xfrm>
              <a:prstGeom prst="rect">
                <a:avLst/>
              </a:prstGeom>
            </p:spPr>
          </p:pic>
        </mc:Fallback>
      </mc:AlternateContent>
      <p:sp>
        <p:nvSpPr>
          <p:cNvPr id="11" name="TextBox 10">
            <a:extLst>
              <a:ext uri="{FF2B5EF4-FFF2-40B4-BE49-F238E27FC236}">
                <a16:creationId xmlns:a16="http://schemas.microsoft.com/office/drawing/2014/main" id="{04BF9A4B-9666-8A81-D965-FA463425188D}"/>
              </a:ext>
            </a:extLst>
          </p:cNvPr>
          <p:cNvSpPr txBox="1"/>
          <p:nvPr/>
        </p:nvSpPr>
        <p:spPr>
          <a:xfrm>
            <a:off x="2585675" y="4249103"/>
            <a:ext cx="579961" cy="184666"/>
          </a:xfrm>
          <a:prstGeom prst="rect">
            <a:avLst/>
          </a:prstGeom>
          <a:noFill/>
        </p:spPr>
        <p:txBody>
          <a:bodyPr wrap="square" rtlCol="0">
            <a:spAutoFit/>
          </a:bodyPr>
          <a:lstStyle/>
          <a:p>
            <a:r>
              <a:rPr lang="en-US" sz="600" dirty="0"/>
              <a:t>(ASR)</a:t>
            </a:r>
          </a:p>
        </p:txBody>
      </p:sp>
    </p:spTree>
    <p:extLst>
      <p:ext uri="{BB962C8B-B14F-4D97-AF65-F5344CB8AC3E}">
        <p14:creationId xmlns:p14="http://schemas.microsoft.com/office/powerpoint/2010/main" val="553540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Robust alignment and integrated visual safety</a:t>
            </a:r>
          </a:p>
        </p:txBody>
      </p:sp>
      <p:sp>
        <p:nvSpPr>
          <p:cNvPr id="4" name="TextBox 3"/>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[7] ADPO, Table 1</a:t>
            </a:r>
            <a:r>
              <a:rPr lang="en-US" sz="1000" dirty="0">
                <a:solidFill>
                  <a:srgbClr val="4B4B4B"/>
                </a:solidFill>
                <a:latin typeface="Aptos"/>
              </a:rPr>
              <a:t>/</a:t>
            </a:r>
            <a:r>
              <a:rPr lang="en-US" sz="1000" b="0" dirty="0">
                <a:solidFill>
                  <a:srgbClr val="4B4B4B"/>
                </a:solidFill>
                <a:latin typeface="Aptos"/>
              </a:rPr>
              <a:t> Fig. 2</a:t>
            </a:r>
            <a:endParaRPr sz="1000" b="0" dirty="0">
              <a:solidFill>
                <a:srgbClr val="4B4B4B"/>
              </a:solidFill>
              <a:latin typeface="Aptos"/>
            </a:endParaRPr>
          </a:p>
        </p:txBody>
      </p:sp>
      <p:cxnSp>
        <p:nvCxnSpPr>
          <p:cNvPr id="5" name="Connector 4"/>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08</a:t>
            </a:r>
          </a:p>
        </p:txBody>
      </p:sp>
      <p:sp>
        <p:nvSpPr>
          <p:cNvPr id="8" name="TextBox 7"/>
          <p:cNvSpPr txBox="1"/>
          <p:nvPr/>
        </p:nvSpPr>
        <p:spPr>
          <a:xfrm>
            <a:off x="603504" y="1572768"/>
            <a:ext cx="5230368" cy="438912"/>
          </a:xfrm>
          <a:prstGeom prst="rect">
            <a:avLst/>
          </a:prstGeom>
          <a:noFill/>
        </p:spPr>
        <p:txBody>
          <a:bodyPr wrap="square" lIns="32004" tIns="22860" rIns="32004" bIns="18288" anchor="t">
            <a:spAutoFit/>
          </a:bodyPr>
          <a:lstStyle/>
          <a:p>
            <a:pPr algn="l"/>
            <a:r>
              <a:rPr sz="1500" b="1">
                <a:solidFill>
                  <a:srgbClr val="191919"/>
                </a:solidFill>
                <a:latin typeface="Aptos"/>
              </a:rPr>
              <a:t>ADPO | adversarial preference alignment [7]</a:t>
            </a:r>
          </a:p>
        </p:txBody>
      </p:sp>
      <p:cxnSp>
        <p:nvCxnSpPr>
          <p:cNvPr id="9" name="Connector 8"/>
          <p:cNvCxnSpPr/>
          <p:nvPr/>
        </p:nvCxnSpPr>
        <p:spPr>
          <a:xfrm>
            <a:off x="603504"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3504" y="2121408"/>
            <a:ext cx="5230368" cy="3456432"/>
          </a:xfrm>
          <a:prstGeom prst="rect">
            <a:avLst/>
          </a:prstGeom>
          <a:noFill/>
        </p:spPr>
        <p:txBody>
          <a:bodyPr wrap="square" lIns="32004" tIns="22860" rIns="32004" bIns="18288" anchor="t">
            <a:spAutoFit/>
          </a:bodyPr>
          <a:lstStyle/>
          <a:p>
            <a:pPr algn="l"/>
            <a:r>
              <a:rPr sz="1220" b="0">
                <a:solidFill>
                  <a:srgbClr val="191919"/>
                </a:solidFill>
                <a:latin typeface="Aptos"/>
              </a:rPr>
              <a:t>CONTRIBUTION
Adversary-aware DPO adds image/latent adversarial examples to preference alignment; it is direct prior art for robustness-oriented VLM training.
EVALUATION + RESULT
For LLaVA-1.5-7B, Table 1's five ASRs (VisualAdv / MMPGDBlank / MultiTrust typo / multimodal / crossmodal) are 5.0 / 0.5 / 0.0 / 0.0 / 0.2% with ADPO, versus 64.5 / 84.0 / 22.2 / 55.1 / 42.0% base. Utility shifts and training cost are also reported.
PROJECT MAPPING
Candidate comparator; reserve attack families/templates for test and count optimization compute.</a:t>
            </a:r>
          </a:p>
        </p:txBody>
      </p:sp>
      <p:sp>
        <p:nvSpPr>
          <p:cNvPr id="11" name="TextBox 10"/>
          <p:cNvSpPr txBox="1"/>
          <p:nvPr/>
        </p:nvSpPr>
        <p:spPr>
          <a:xfrm>
            <a:off x="603504" y="5733288"/>
            <a:ext cx="5230368" cy="201168"/>
          </a:xfrm>
          <a:prstGeom prst="rect">
            <a:avLst/>
          </a:prstGeom>
          <a:noFill/>
        </p:spPr>
        <p:txBody>
          <a:bodyPr wrap="square" lIns="32004" tIns="22860" rIns="32004" bIns="18288" anchor="t">
            <a:spAutoFit/>
          </a:bodyPr>
          <a:lstStyle/>
          <a:p>
            <a:pPr algn="l"/>
            <a:r>
              <a:rPr sz="900" b="1">
                <a:solidFill>
                  <a:srgbClr val="4B4B4B"/>
                </a:solidFill>
                <a:latin typeface="Aptos"/>
              </a:rPr>
              <a:t>PIPELINE: ADVERSARIAL PREFERENCE-TRAINING COMPARATOR</a:t>
            </a:r>
          </a:p>
        </p:txBody>
      </p:sp>
      <p:cxnSp>
        <p:nvCxnSpPr>
          <p:cNvPr id="12" name="Connector 11"/>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8D41C73A-263E-113F-44A7-AA5D8C7684DC}"/>
              </a:ext>
            </a:extLst>
          </p:cNvPr>
          <p:cNvPicPr>
            <a:picLocks noChangeAspect="1"/>
          </p:cNvPicPr>
          <p:nvPr/>
        </p:nvPicPr>
        <p:blipFill>
          <a:blip r:embed="rId3"/>
          <a:stretch>
            <a:fillRect/>
          </a:stretch>
        </p:blipFill>
        <p:spPr>
          <a:xfrm>
            <a:off x="7017965" y="484632"/>
            <a:ext cx="5174035" cy="2783500"/>
          </a:xfrm>
          <a:prstGeom prst="rect">
            <a:avLst/>
          </a:prstGeom>
        </p:spPr>
      </p:pic>
      <p:pic>
        <p:nvPicPr>
          <p:cNvPr id="20" name="Picture 19">
            <a:extLst>
              <a:ext uri="{FF2B5EF4-FFF2-40B4-BE49-F238E27FC236}">
                <a16:creationId xmlns:a16="http://schemas.microsoft.com/office/drawing/2014/main" id="{13145C45-1CBB-B72E-4D9D-71AB4D1A5440}"/>
              </a:ext>
            </a:extLst>
          </p:cNvPr>
          <p:cNvPicPr>
            <a:picLocks noChangeAspect="1"/>
          </p:cNvPicPr>
          <p:nvPr/>
        </p:nvPicPr>
        <p:blipFill>
          <a:blip r:embed="rId4"/>
          <a:stretch>
            <a:fillRect/>
          </a:stretch>
        </p:blipFill>
        <p:spPr>
          <a:xfrm>
            <a:off x="6163056" y="3295563"/>
            <a:ext cx="4343238" cy="3562431"/>
          </a:xfrm>
          <a:prstGeom prst="rect">
            <a:avLst/>
          </a:prstGeom>
        </p:spPr>
      </p:pic>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907BAF94-B6AB-2ED9-6955-73AB0AEAAB5D}"/>
                  </a:ext>
                </a:extLst>
              </p14:cNvPr>
              <p14:cNvContentPartPr/>
              <p14:nvPr/>
            </p14:nvContentPartPr>
            <p14:xfrm>
              <a:off x="6169338" y="4345676"/>
              <a:ext cx="144000" cy="69120"/>
            </p14:xfrm>
          </p:contentPart>
        </mc:Choice>
        <mc:Fallback xmlns="">
          <p:pic>
            <p:nvPicPr>
              <p:cNvPr id="15" name="Ink 14">
                <a:extLst>
                  <a:ext uri="{FF2B5EF4-FFF2-40B4-BE49-F238E27FC236}">
                    <a16:creationId xmlns:a16="http://schemas.microsoft.com/office/drawing/2014/main" id="{907BAF94-B6AB-2ED9-6955-73AB0AEAAB5D}"/>
                  </a:ext>
                </a:extLst>
              </p:cNvPr>
              <p:cNvPicPr/>
              <p:nvPr/>
            </p:nvPicPr>
            <p:blipFill>
              <a:blip r:embed="rId6"/>
              <a:stretch>
                <a:fillRect/>
              </a:stretch>
            </p:blipFill>
            <p:spPr>
              <a:xfrm>
                <a:off x="6163218" y="4339556"/>
                <a:ext cx="15624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177F73A9-FDD7-D071-4852-DE4D7FB2E488}"/>
                  </a:ext>
                </a:extLst>
              </p14:cNvPr>
              <p14:cNvContentPartPr/>
              <p14:nvPr/>
            </p14:nvContentPartPr>
            <p14:xfrm>
              <a:off x="3087378" y="3427676"/>
              <a:ext cx="1480320" cy="24480"/>
            </p14:xfrm>
          </p:contentPart>
        </mc:Choice>
        <mc:Fallback xmlns="">
          <p:pic>
            <p:nvPicPr>
              <p:cNvPr id="16" name="Ink 15">
                <a:extLst>
                  <a:ext uri="{FF2B5EF4-FFF2-40B4-BE49-F238E27FC236}">
                    <a16:creationId xmlns:a16="http://schemas.microsoft.com/office/drawing/2014/main" id="{177F73A9-FDD7-D071-4852-DE4D7FB2E488}"/>
                  </a:ext>
                </a:extLst>
              </p:cNvPr>
              <p:cNvPicPr/>
              <p:nvPr/>
            </p:nvPicPr>
            <p:blipFill>
              <a:blip r:embed="rId8"/>
              <a:stretch>
                <a:fillRect/>
              </a:stretch>
            </p:blipFill>
            <p:spPr>
              <a:xfrm>
                <a:off x="3081258" y="3421556"/>
                <a:ext cx="14925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06FF582F-BA56-ECE4-54FB-003F1E6B2705}"/>
                  </a:ext>
                </a:extLst>
              </p14:cNvPr>
              <p14:cNvContentPartPr/>
              <p14:nvPr/>
            </p14:nvContentPartPr>
            <p14:xfrm>
              <a:off x="6060008" y="3692203"/>
              <a:ext cx="165960" cy="75960"/>
            </p14:xfrm>
          </p:contentPart>
        </mc:Choice>
        <mc:Fallback xmlns="">
          <p:pic>
            <p:nvPicPr>
              <p:cNvPr id="17" name="Ink 16">
                <a:extLst>
                  <a:ext uri="{FF2B5EF4-FFF2-40B4-BE49-F238E27FC236}">
                    <a16:creationId xmlns:a16="http://schemas.microsoft.com/office/drawing/2014/main" id="{06FF582F-BA56-ECE4-54FB-003F1E6B2705}"/>
                  </a:ext>
                </a:extLst>
              </p:cNvPr>
              <p:cNvPicPr/>
              <p:nvPr/>
            </p:nvPicPr>
            <p:blipFill>
              <a:blip r:embed="rId10"/>
              <a:stretch>
                <a:fillRect/>
              </a:stretch>
            </p:blipFill>
            <p:spPr>
              <a:xfrm>
                <a:off x="6053888" y="3686083"/>
                <a:ext cx="178200" cy="8820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E7928-7FB6-B1DA-BAD9-48D7AF5339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FB09999-3DA3-B1DB-1FD3-A88273F704FC}"/>
              </a:ext>
            </a:extLst>
          </p:cNvPr>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a:extLst>
              <a:ext uri="{FF2B5EF4-FFF2-40B4-BE49-F238E27FC236}">
                <a16:creationId xmlns:a16="http://schemas.microsoft.com/office/drawing/2014/main" id="{9FEF02AB-3E5D-0B16-E596-B1ADAB3D8EE0}"/>
              </a:ext>
            </a:extLst>
          </p:cNvPr>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Robust alignment and integrated visual safety</a:t>
            </a:r>
          </a:p>
        </p:txBody>
      </p:sp>
      <p:sp>
        <p:nvSpPr>
          <p:cNvPr id="4" name="TextBox 3">
            <a:extLst>
              <a:ext uri="{FF2B5EF4-FFF2-40B4-BE49-F238E27FC236}">
                <a16:creationId xmlns:a16="http://schemas.microsoft.com/office/drawing/2014/main" id="{5878E36B-D999-7085-83B3-3BB750364092}"/>
              </a:ext>
            </a:extLst>
          </p:cNvPr>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[8] </a:t>
            </a:r>
            <a:r>
              <a:rPr sz="1000" b="0" dirty="0" err="1">
                <a:solidFill>
                  <a:srgbClr val="4B4B4B"/>
                </a:solidFill>
                <a:latin typeface="Aptos"/>
              </a:rPr>
              <a:t>HoliSafe</a:t>
            </a:r>
            <a:r>
              <a:rPr sz="1000" b="0" dirty="0">
                <a:solidFill>
                  <a:srgbClr val="4B4B4B"/>
                </a:solidFill>
                <a:latin typeface="Aptos"/>
              </a:rPr>
              <a:t>, Tables </a:t>
            </a:r>
            <a:r>
              <a:rPr lang="en-US" sz="1000" dirty="0">
                <a:solidFill>
                  <a:srgbClr val="4B4B4B"/>
                </a:solidFill>
                <a:latin typeface="Aptos"/>
              </a:rPr>
              <a:t>2</a:t>
            </a:r>
            <a:r>
              <a:rPr sz="1000" b="0" dirty="0">
                <a:solidFill>
                  <a:srgbClr val="4B4B4B"/>
                </a:solidFill>
                <a:latin typeface="Aptos"/>
              </a:rPr>
              <a:t>, 3/ Fig. 2</a:t>
            </a:r>
          </a:p>
        </p:txBody>
      </p:sp>
      <p:cxnSp>
        <p:nvCxnSpPr>
          <p:cNvPr id="5" name="Connector 4">
            <a:extLst>
              <a:ext uri="{FF2B5EF4-FFF2-40B4-BE49-F238E27FC236}">
                <a16:creationId xmlns:a16="http://schemas.microsoft.com/office/drawing/2014/main" id="{36F8701F-E37F-0EE1-4474-3F11A72C00DD}"/>
              </a:ext>
            </a:extLst>
          </p:cNvPr>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5144D3C-0CEA-7C8D-E8DB-78273AEB32E6}"/>
              </a:ext>
            </a:extLst>
          </p:cNvPr>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a:extLst>
              <a:ext uri="{FF2B5EF4-FFF2-40B4-BE49-F238E27FC236}">
                <a16:creationId xmlns:a16="http://schemas.microsoft.com/office/drawing/2014/main" id="{81053CE2-8731-10EA-9F3F-9F3BBA67FC76}"/>
              </a:ext>
            </a:extLst>
          </p:cNvPr>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08</a:t>
            </a:r>
          </a:p>
        </p:txBody>
      </p:sp>
      <p:cxnSp>
        <p:nvCxnSpPr>
          <p:cNvPr id="12" name="Connector 11">
            <a:extLst>
              <a:ext uri="{FF2B5EF4-FFF2-40B4-BE49-F238E27FC236}">
                <a16:creationId xmlns:a16="http://schemas.microsoft.com/office/drawing/2014/main" id="{E5762126-FAE7-9AA4-273A-A7EDC513FB88}"/>
              </a:ext>
            </a:extLst>
          </p:cNvPr>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E127474-8861-B56C-96B5-AC76A50B1581}"/>
              </a:ext>
            </a:extLst>
          </p:cNvPr>
          <p:cNvSpPr txBox="1"/>
          <p:nvPr/>
        </p:nvSpPr>
        <p:spPr>
          <a:xfrm>
            <a:off x="6345936" y="1572768"/>
            <a:ext cx="5230368" cy="438912"/>
          </a:xfrm>
          <a:prstGeom prst="rect">
            <a:avLst/>
          </a:prstGeom>
          <a:noFill/>
        </p:spPr>
        <p:txBody>
          <a:bodyPr wrap="square" lIns="32004" tIns="22860" rIns="32004" bIns="18288" anchor="t">
            <a:spAutoFit/>
          </a:bodyPr>
          <a:lstStyle/>
          <a:p>
            <a:pPr algn="l"/>
            <a:r>
              <a:rPr sz="1500" b="1">
                <a:solidFill>
                  <a:srgbClr val="191919"/>
                </a:solidFill>
                <a:latin typeface="Aptos"/>
              </a:rPr>
              <a:t>HoliSafe / Safe-VLM | five-state coverage + VGM [8]</a:t>
            </a:r>
          </a:p>
        </p:txBody>
      </p:sp>
      <p:cxnSp>
        <p:nvCxnSpPr>
          <p:cNvPr id="14" name="Connector 13">
            <a:extLst>
              <a:ext uri="{FF2B5EF4-FFF2-40B4-BE49-F238E27FC236}">
                <a16:creationId xmlns:a16="http://schemas.microsoft.com/office/drawing/2014/main" id="{BA4E99F6-1B25-C024-62D2-AFAF148E6CCE}"/>
              </a:ext>
            </a:extLst>
          </p:cNvPr>
          <p:cNvCxnSpPr/>
          <p:nvPr/>
        </p:nvCxnSpPr>
        <p:spPr>
          <a:xfrm>
            <a:off x="6345936"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373F6EF-BD4D-E6BC-7573-74430C941634}"/>
              </a:ext>
            </a:extLst>
          </p:cNvPr>
          <p:cNvSpPr txBox="1"/>
          <p:nvPr/>
        </p:nvSpPr>
        <p:spPr>
          <a:xfrm>
            <a:off x="6345936" y="2121408"/>
            <a:ext cx="5230368" cy="3456432"/>
          </a:xfrm>
          <a:prstGeom prst="rect">
            <a:avLst/>
          </a:prstGeom>
          <a:noFill/>
        </p:spPr>
        <p:txBody>
          <a:bodyPr wrap="square" lIns="32004" tIns="22860" rIns="32004" bIns="18288" anchor="t">
            <a:spAutoFit/>
          </a:bodyPr>
          <a:lstStyle/>
          <a:p>
            <a:pPr algn="l"/>
            <a:r>
              <a:rPr sz="1220" b="0">
                <a:solidFill>
                  <a:srgbClr val="191919"/>
                </a:solidFill>
                <a:latin typeface="Aptos"/>
              </a:rPr>
              <a:t>CONTRIBUTION
14,246 image-instruction-response pairs; 4,031 HoliSafe-Bench questions; five image/text safety states. Safe-VLM adds a learnable safety token/visual guard and joint generation/classification objective.
EVALUATION + RESULT
Table 3 reports judge-dependent rates; Safe-LLaVA-7B has 8.8% mASR / 1.3% benign RR under Claude-3.5, and 15.3% mASR under GPT-4o in the cited arXiv version.
PROJECT MAPPING
Reuse/adapt its coverage taxonomy; treat VGM as one separate comparator, not a stackable component. Report judge and version.</a:t>
            </a:r>
          </a:p>
        </p:txBody>
      </p:sp>
      <p:sp>
        <p:nvSpPr>
          <p:cNvPr id="16" name="TextBox 15">
            <a:extLst>
              <a:ext uri="{FF2B5EF4-FFF2-40B4-BE49-F238E27FC236}">
                <a16:creationId xmlns:a16="http://schemas.microsoft.com/office/drawing/2014/main" id="{B094B14D-BF6D-9BAA-0269-27904BC903F1}"/>
              </a:ext>
            </a:extLst>
          </p:cNvPr>
          <p:cNvSpPr txBox="1"/>
          <p:nvPr/>
        </p:nvSpPr>
        <p:spPr>
          <a:xfrm>
            <a:off x="6345936" y="4888326"/>
            <a:ext cx="5230368" cy="201168"/>
          </a:xfrm>
          <a:prstGeom prst="rect">
            <a:avLst/>
          </a:prstGeom>
          <a:noFill/>
        </p:spPr>
        <p:txBody>
          <a:bodyPr wrap="square" lIns="32004" tIns="22860" rIns="32004" bIns="18288" anchor="t">
            <a:spAutoFit/>
          </a:bodyPr>
          <a:lstStyle/>
          <a:p>
            <a:pPr algn="l"/>
            <a:r>
              <a:rPr sz="900" b="1" dirty="0">
                <a:solidFill>
                  <a:srgbClr val="4B4B4B"/>
                </a:solidFill>
                <a:latin typeface="Aptos"/>
              </a:rPr>
              <a:t>PIPELINE: MODALITY-STATE COVERAGE + OPTIONAL VGM ARM</a:t>
            </a:r>
          </a:p>
        </p:txBody>
      </p:sp>
      <p:pic>
        <p:nvPicPr>
          <p:cNvPr id="18" name="Picture 17">
            <a:extLst>
              <a:ext uri="{FF2B5EF4-FFF2-40B4-BE49-F238E27FC236}">
                <a16:creationId xmlns:a16="http://schemas.microsoft.com/office/drawing/2014/main" id="{5DCDE264-6A73-7E33-DC5D-B21BD61E72E6}"/>
              </a:ext>
            </a:extLst>
          </p:cNvPr>
          <p:cNvPicPr>
            <a:picLocks noChangeAspect="1"/>
          </p:cNvPicPr>
          <p:nvPr/>
        </p:nvPicPr>
        <p:blipFill>
          <a:blip r:embed="rId3"/>
          <a:stretch>
            <a:fillRect/>
          </a:stretch>
        </p:blipFill>
        <p:spPr>
          <a:xfrm>
            <a:off x="8768" y="1494506"/>
            <a:ext cx="1620699" cy="3057953"/>
          </a:xfrm>
          <a:prstGeom prst="rect">
            <a:avLst/>
          </a:prstGeom>
        </p:spPr>
      </p:pic>
      <p:pic>
        <p:nvPicPr>
          <p:cNvPr id="20" name="Picture 19">
            <a:extLst>
              <a:ext uri="{FF2B5EF4-FFF2-40B4-BE49-F238E27FC236}">
                <a16:creationId xmlns:a16="http://schemas.microsoft.com/office/drawing/2014/main" id="{D686F727-8FFF-C103-B642-EA1188BC2B5C}"/>
              </a:ext>
            </a:extLst>
          </p:cNvPr>
          <p:cNvPicPr>
            <a:picLocks noChangeAspect="1"/>
          </p:cNvPicPr>
          <p:nvPr/>
        </p:nvPicPr>
        <p:blipFill>
          <a:blip r:embed="rId4"/>
          <a:stretch>
            <a:fillRect/>
          </a:stretch>
        </p:blipFill>
        <p:spPr>
          <a:xfrm>
            <a:off x="8769" y="4588969"/>
            <a:ext cx="6059520" cy="1549050"/>
          </a:xfrm>
          <a:prstGeom prst="rect">
            <a:avLst/>
          </a:prstGeom>
        </p:spPr>
      </p:pic>
      <p:pic>
        <p:nvPicPr>
          <p:cNvPr id="22" name="Picture 21">
            <a:extLst>
              <a:ext uri="{FF2B5EF4-FFF2-40B4-BE49-F238E27FC236}">
                <a16:creationId xmlns:a16="http://schemas.microsoft.com/office/drawing/2014/main" id="{B6C5CF4D-F4A0-106D-7C75-E2CC9A55C4D1}"/>
              </a:ext>
            </a:extLst>
          </p:cNvPr>
          <p:cNvPicPr>
            <a:picLocks noChangeAspect="1"/>
          </p:cNvPicPr>
          <p:nvPr/>
        </p:nvPicPr>
        <p:blipFill>
          <a:blip r:embed="rId5"/>
          <a:stretch>
            <a:fillRect/>
          </a:stretch>
        </p:blipFill>
        <p:spPr>
          <a:xfrm>
            <a:off x="1678230" y="1494506"/>
            <a:ext cx="4362930" cy="2904240"/>
          </a:xfrm>
          <a:prstGeom prst="rect">
            <a:avLst/>
          </a:prstGeom>
        </p:spPr>
      </p:pic>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8FFDE75E-49DF-7946-335A-716F7A49DDD0}"/>
                  </a:ext>
                </a:extLst>
              </p14:cNvPr>
              <p14:cNvContentPartPr/>
              <p14:nvPr/>
            </p14:nvContentPartPr>
            <p14:xfrm>
              <a:off x="4356240" y="3872349"/>
              <a:ext cx="120240" cy="360"/>
            </p14:xfrm>
          </p:contentPart>
        </mc:Choice>
        <mc:Fallback xmlns="">
          <p:pic>
            <p:nvPicPr>
              <p:cNvPr id="8" name="Ink 7">
                <a:extLst>
                  <a:ext uri="{FF2B5EF4-FFF2-40B4-BE49-F238E27FC236}">
                    <a16:creationId xmlns:a16="http://schemas.microsoft.com/office/drawing/2014/main" id="{8FFDE75E-49DF-7946-335A-716F7A49DDD0}"/>
                  </a:ext>
                </a:extLst>
              </p:cNvPr>
              <p:cNvPicPr/>
              <p:nvPr/>
            </p:nvPicPr>
            <p:blipFill>
              <a:blip r:embed="rId7"/>
              <a:stretch>
                <a:fillRect/>
              </a:stretch>
            </p:blipFill>
            <p:spPr>
              <a:xfrm>
                <a:off x="4350120" y="3866229"/>
                <a:ext cx="1324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AF5CF994-0958-5537-58FB-B3567139914C}"/>
                  </a:ext>
                </a:extLst>
              </p14:cNvPr>
              <p14:cNvContentPartPr/>
              <p14:nvPr/>
            </p14:nvContentPartPr>
            <p14:xfrm>
              <a:off x="1627800" y="3791709"/>
              <a:ext cx="80280" cy="60480"/>
            </p14:xfrm>
          </p:contentPart>
        </mc:Choice>
        <mc:Fallback xmlns="">
          <p:pic>
            <p:nvPicPr>
              <p:cNvPr id="9" name="Ink 8">
                <a:extLst>
                  <a:ext uri="{FF2B5EF4-FFF2-40B4-BE49-F238E27FC236}">
                    <a16:creationId xmlns:a16="http://schemas.microsoft.com/office/drawing/2014/main" id="{AF5CF994-0958-5537-58FB-B3567139914C}"/>
                  </a:ext>
                </a:extLst>
              </p:cNvPr>
              <p:cNvPicPr/>
              <p:nvPr/>
            </p:nvPicPr>
            <p:blipFill>
              <a:blip r:embed="rId9"/>
              <a:stretch>
                <a:fillRect/>
              </a:stretch>
            </p:blipFill>
            <p:spPr>
              <a:xfrm>
                <a:off x="1621680" y="3785589"/>
                <a:ext cx="925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95AFDDD6-9F73-0BE5-A3B5-3A4E6863E30F}"/>
                  </a:ext>
                </a:extLst>
              </p14:cNvPr>
              <p14:cNvContentPartPr/>
              <p14:nvPr/>
            </p14:nvContentPartPr>
            <p14:xfrm>
              <a:off x="4676880" y="3866777"/>
              <a:ext cx="81000" cy="9360"/>
            </p14:xfrm>
          </p:contentPart>
        </mc:Choice>
        <mc:Fallback xmlns="">
          <p:pic>
            <p:nvPicPr>
              <p:cNvPr id="10" name="Ink 9">
                <a:extLst>
                  <a:ext uri="{FF2B5EF4-FFF2-40B4-BE49-F238E27FC236}">
                    <a16:creationId xmlns:a16="http://schemas.microsoft.com/office/drawing/2014/main" id="{95AFDDD6-9F73-0BE5-A3B5-3A4E6863E30F}"/>
                  </a:ext>
                </a:extLst>
              </p:cNvPr>
              <p:cNvPicPr/>
              <p:nvPr/>
            </p:nvPicPr>
            <p:blipFill>
              <a:blip r:embed="rId11"/>
              <a:stretch>
                <a:fillRect/>
              </a:stretch>
            </p:blipFill>
            <p:spPr>
              <a:xfrm>
                <a:off x="4670760" y="3860657"/>
                <a:ext cx="9324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A97C37AC-4A4E-226E-A030-7D9B92847564}"/>
                  </a:ext>
                </a:extLst>
              </p14:cNvPr>
              <p14:cNvContentPartPr/>
              <p14:nvPr/>
            </p14:nvContentPartPr>
            <p14:xfrm>
              <a:off x="4971000" y="3852446"/>
              <a:ext cx="136440" cy="15120"/>
            </p14:xfrm>
          </p:contentPart>
        </mc:Choice>
        <mc:Fallback xmlns="">
          <p:pic>
            <p:nvPicPr>
              <p:cNvPr id="11" name="Ink 10">
                <a:extLst>
                  <a:ext uri="{FF2B5EF4-FFF2-40B4-BE49-F238E27FC236}">
                    <a16:creationId xmlns:a16="http://schemas.microsoft.com/office/drawing/2014/main" id="{A97C37AC-4A4E-226E-A030-7D9B92847564}"/>
                  </a:ext>
                </a:extLst>
              </p:cNvPr>
              <p:cNvPicPr/>
              <p:nvPr/>
            </p:nvPicPr>
            <p:blipFill>
              <a:blip r:embed="rId13"/>
              <a:stretch>
                <a:fillRect/>
              </a:stretch>
            </p:blipFill>
            <p:spPr>
              <a:xfrm>
                <a:off x="4964880" y="3846326"/>
                <a:ext cx="14868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D03E1961-393D-4DEA-FF3B-2E6642A7CD5B}"/>
                  </a:ext>
                </a:extLst>
              </p14:cNvPr>
              <p14:cNvContentPartPr/>
              <p14:nvPr/>
            </p14:nvContentPartPr>
            <p14:xfrm>
              <a:off x="5377080" y="3840206"/>
              <a:ext cx="163440" cy="23760"/>
            </p14:xfrm>
          </p:contentPart>
        </mc:Choice>
        <mc:Fallback xmlns="">
          <p:pic>
            <p:nvPicPr>
              <p:cNvPr id="17" name="Ink 16">
                <a:extLst>
                  <a:ext uri="{FF2B5EF4-FFF2-40B4-BE49-F238E27FC236}">
                    <a16:creationId xmlns:a16="http://schemas.microsoft.com/office/drawing/2014/main" id="{D03E1961-393D-4DEA-FF3B-2E6642A7CD5B}"/>
                  </a:ext>
                </a:extLst>
              </p:cNvPr>
              <p:cNvPicPr/>
              <p:nvPr/>
            </p:nvPicPr>
            <p:blipFill>
              <a:blip r:embed="rId15"/>
              <a:stretch>
                <a:fillRect/>
              </a:stretch>
            </p:blipFill>
            <p:spPr>
              <a:xfrm>
                <a:off x="5370960" y="3834086"/>
                <a:ext cx="175680" cy="36000"/>
              </a:xfrm>
              <a:prstGeom prst="rect">
                <a:avLst/>
              </a:prstGeom>
            </p:spPr>
          </p:pic>
        </mc:Fallback>
      </mc:AlternateContent>
    </p:spTree>
    <p:extLst>
      <p:ext uri="{BB962C8B-B14F-4D97-AF65-F5344CB8AC3E}">
        <p14:creationId xmlns:p14="http://schemas.microsoft.com/office/powerpoint/2010/main" val="1190176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Visual-side and safety–helpfulness alignment</a:t>
            </a:r>
          </a:p>
        </p:txBody>
      </p:sp>
      <p:sp>
        <p:nvSpPr>
          <p:cNvPr id="4" name="TextBox 3"/>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[9] DAVSP, Fig. 2 / Table</a:t>
            </a:r>
            <a:r>
              <a:rPr lang="en-US" sz="1000" b="0" dirty="0">
                <a:solidFill>
                  <a:srgbClr val="4B4B4B"/>
                </a:solidFill>
                <a:latin typeface="Aptos"/>
              </a:rPr>
              <a:t> 2</a:t>
            </a:r>
            <a:r>
              <a:rPr sz="1000" b="0" dirty="0">
                <a:solidFill>
                  <a:srgbClr val="4B4B4B"/>
                </a:solidFill>
                <a:latin typeface="Aptos"/>
              </a:rPr>
              <a:t> </a:t>
            </a:r>
          </a:p>
        </p:txBody>
      </p:sp>
      <p:cxnSp>
        <p:nvCxnSpPr>
          <p:cNvPr id="5" name="Connector 4"/>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09</a:t>
            </a:r>
          </a:p>
        </p:txBody>
      </p:sp>
      <p:sp>
        <p:nvSpPr>
          <p:cNvPr id="8" name="TextBox 7"/>
          <p:cNvSpPr txBox="1"/>
          <p:nvPr/>
        </p:nvSpPr>
        <p:spPr>
          <a:xfrm>
            <a:off x="603504" y="1572768"/>
            <a:ext cx="5230368" cy="438912"/>
          </a:xfrm>
          <a:prstGeom prst="rect">
            <a:avLst/>
          </a:prstGeom>
          <a:noFill/>
        </p:spPr>
        <p:txBody>
          <a:bodyPr wrap="square" lIns="32004" tIns="22860" rIns="32004" bIns="18288" anchor="t">
            <a:spAutoFit/>
          </a:bodyPr>
          <a:lstStyle/>
          <a:p>
            <a:pPr algn="l"/>
            <a:r>
              <a:rPr sz="1500" b="1">
                <a:solidFill>
                  <a:srgbClr val="191919"/>
                </a:solidFill>
                <a:latin typeface="Aptos"/>
              </a:rPr>
              <a:t>DAVSP | visual prompt / activation alignment [9]</a:t>
            </a:r>
          </a:p>
        </p:txBody>
      </p:sp>
      <p:cxnSp>
        <p:nvCxnSpPr>
          <p:cNvPr id="9" name="Connector 8"/>
          <p:cNvCxnSpPr/>
          <p:nvPr/>
        </p:nvCxnSpPr>
        <p:spPr>
          <a:xfrm>
            <a:off x="603504"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3504" y="2121408"/>
            <a:ext cx="5230368" cy="3456432"/>
          </a:xfrm>
          <a:prstGeom prst="rect">
            <a:avLst/>
          </a:prstGeom>
          <a:noFill/>
        </p:spPr>
        <p:txBody>
          <a:bodyPr wrap="square" lIns="32004" tIns="22860" rIns="32004" bIns="18288" anchor="t">
            <a:spAutoFit/>
          </a:bodyPr>
          <a:lstStyle/>
          <a:p>
            <a:pPr algn="l"/>
            <a:r>
              <a:rPr sz="1220" b="0">
                <a:solidFill>
                  <a:srgbClr val="191919"/>
                </a:solidFill>
                <a:latin typeface="Aptos"/>
              </a:rPr>
              <a:t>CONTRIBUTION
Optimizes a visual safety prompt and activation alignment while keeping the base LVLM frozen; inference adds the learned visual and textual safety prompts.
EVALUATION + RESULT
Table 2 reports resistance success rate (RSR), not ASR: FigStep 84.20% on LLaVA-1.5-13B and 99.20% on Qwen2-VL-7B; MM-SafetyBench SD+TYPO 98.72% and 99.12%.
PROJECT MAPPING
Separate visual-side comparator; include capability and latency controls. RSR is paper-specific and not directly comparable with ASR.</a:t>
            </a:r>
          </a:p>
        </p:txBody>
      </p:sp>
      <p:sp>
        <p:nvSpPr>
          <p:cNvPr id="11" name="TextBox 10"/>
          <p:cNvSpPr txBox="1"/>
          <p:nvPr/>
        </p:nvSpPr>
        <p:spPr>
          <a:xfrm>
            <a:off x="603504" y="5733288"/>
            <a:ext cx="5230368" cy="201168"/>
          </a:xfrm>
          <a:prstGeom prst="rect">
            <a:avLst/>
          </a:prstGeom>
          <a:noFill/>
        </p:spPr>
        <p:txBody>
          <a:bodyPr wrap="square" lIns="32004" tIns="22860" rIns="32004" bIns="18288" anchor="t">
            <a:spAutoFit/>
          </a:bodyPr>
          <a:lstStyle/>
          <a:p>
            <a:pPr algn="l"/>
            <a:r>
              <a:rPr sz="900" b="1">
                <a:solidFill>
                  <a:srgbClr val="4B4B4B"/>
                </a:solidFill>
                <a:latin typeface="Aptos"/>
              </a:rPr>
              <a:t>PIPELINE: OPTIONAL INFERENCE-TIME VISUAL INTERVENTION</a:t>
            </a:r>
          </a:p>
        </p:txBody>
      </p:sp>
      <p:cxnSp>
        <p:nvCxnSpPr>
          <p:cNvPr id="12" name="Connector 11"/>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9C035E36-88BA-F167-CECC-FE5AC0CF40C9}"/>
              </a:ext>
            </a:extLst>
          </p:cNvPr>
          <p:cNvPicPr>
            <a:picLocks noChangeAspect="1"/>
          </p:cNvPicPr>
          <p:nvPr/>
        </p:nvPicPr>
        <p:blipFill>
          <a:blip r:embed="rId3"/>
          <a:stretch>
            <a:fillRect/>
          </a:stretch>
        </p:blipFill>
        <p:spPr>
          <a:xfrm>
            <a:off x="7562182" y="266766"/>
            <a:ext cx="3246026" cy="2811477"/>
          </a:xfrm>
          <a:prstGeom prst="rect">
            <a:avLst/>
          </a:prstGeom>
        </p:spPr>
      </p:pic>
      <p:pic>
        <p:nvPicPr>
          <p:cNvPr id="20" name="Picture 19">
            <a:extLst>
              <a:ext uri="{FF2B5EF4-FFF2-40B4-BE49-F238E27FC236}">
                <a16:creationId xmlns:a16="http://schemas.microsoft.com/office/drawing/2014/main" id="{23D2F7AA-4725-0361-6B21-CC1CD20081A2}"/>
              </a:ext>
            </a:extLst>
          </p:cNvPr>
          <p:cNvPicPr>
            <a:picLocks noChangeAspect="1"/>
          </p:cNvPicPr>
          <p:nvPr/>
        </p:nvPicPr>
        <p:blipFill>
          <a:blip r:embed="rId4"/>
          <a:stretch>
            <a:fillRect/>
          </a:stretch>
        </p:blipFill>
        <p:spPr>
          <a:xfrm>
            <a:off x="7241531" y="3076653"/>
            <a:ext cx="3694693" cy="3740306"/>
          </a:xfrm>
          <a:prstGeom prst="rect">
            <a:avLst/>
          </a:prstGeom>
        </p:spPr>
      </p:pic>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11983D92-C9FF-72F6-D06B-052B104215B3}"/>
                  </a:ext>
                </a:extLst>
              </p14:cNvPr>
              <p14:cNvContentPartPr/>
              <p14:nvPr/>
            </p14:nvContentPartPr>
            <p14:xfrm>
              <a:off x="10309869" y="4935720"/>
              <a:ext cx="346320" cy="21240"/>
            </p14:xfrm>
          </p:contentPart>
        </mc:Choice>
        <mc:Fallback xmlns="">
          <p:pic>
            <p:nvPicPr>
              <p:cNvPr id="13" name="Ink 12">
                <a:extLst>
                  <a:ext uri="{FF2B5EF4-FFF2-40B4-BE49-F238E27FC236}">
                    <a16:creationId xmlns:a16="http://schemas.microsoft.com/office/drawing/2014/main" id="{11983D92-C9FF-72F6-D06B-052B104215B3}"/>
                  </a:ext>
                </a:extLst>
              </p:cNvPr>
              <p:cNvPicPr/>
              <p:nvPr/>
            </p:nvPicPr>
            <p:blipFill>
              <a:blip r:embed="rId6"/>
              <a:stretch>
                <a:fillRect/>
              </a:stretch>
            </p:blipFill>
            <p:spPr>
              <a:xfrm>
                <a:off x="10303749" y="4929600"/>
                <a:ext cx="3585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999E6F97-979E-64F5-FE0C-5695DF6F9406}"/>
                  </a:ext>
                </a:extLst>
              </p14:cNvPr>
              <p14:cNvContentPartPr/>
              <p14:nvPr/>
            </p14:nvContentPartPr>
            <p14:xfrm>
              <a:off x="10321389" y="6251160"/>
              <a:ext cx="372240" cy="16200"/>
            </p14:xfrm>
          </p:contentPart>
        </mc:Choice>
        <mc:Fallback xmlns="">
          <p:pic>
            <p:nvPicPr>
              <p:cNvPr id="14" name="Ink 13">
                <a:extLst>
                  <a:ext uri="{FF2B5EF4-FFF2-40B4-BE49-F238E27FC236}">
                    <a16:creationId xmlns:a16="http://schemas.microsoft.com/office/drawing/2014/main" id="{999E6F97-979E-64F5-FE0C-5695DF6F9406}"/>
                  </a:ext>
                </a:extLst>
              </p:cNvPr>
              <p:cNvPicPr/>
              <p:nvPr/>
            </p:nvPicPr>
            <p:blipFill>
              <a:blip r:embed="rId8"/>
              <a:stretch>
                <a:fillRect/>
              </a:stretch>
            </p:blipFill>
            <p:spPr>
              <a:xfrm>
                <a:off x="10315269" y="6245040"/>
                <a:ext cx="384480" cy="2844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54BFA-36D0-A856-4C87-F063DF9916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B7BE6D-132C-57BC-6334-364E31853BA9}"/>
              </a:ext>
            </a:extLst>
          </p:cNvPr>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LITERATURE REVIEW | PAPER-BY-PAPER EVIDENCE</a:t>
            </a:r>
          </a:p>
        </p:txBody>
      </p:sp>
      <p:sp>
        <p:nvSpPr>
          <p:cNvPr id="3" name="TextBox 2">
            <a:extLst>
              <a:ext uri="{FF2B5EF4-FFF2-40B4-BE49-F238E27FC236}">
                <a16:creationId xmlns:a16="http://schemas.microsoft.com/office/drawing/2014/main" id="{10984D4A-91DE-6492-8D23-494A04F7F3DB}"/>
              </a:ext>
            </a:extLst>
          </p:cNvPr>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a:solidFill>
                  <a:srgbClr val="191919"/>
                </a:solidFill>
                <a:latin typeface="Aptos"/>
              </a:rPr>
              <a:t>Visual-side and safety–helpfulness alignment</a:t>
            </a:r>
          </a:p>
        </p:txBody>
      </p:sp>
      <p:sp>
        <p:nvSpPr>
          <p:cNvPr id="4" name="TextBox 3">
            <a:extLst>
              <a:ext uri="{FF2B5EF4-FFF2-40B4-BE49-F238E27FC236}">
                <a16:creationId xmlns:a16="http://schemas.microsoft.com/office/drawing/2014/main" id="{EF9601B7-18BA-BA69-082B-6A614C395A81}"/>
              </a:ext>
            </a:extLst>
          </p:cNvPr>
          <p:cNvSpPr txBox="1"/>
          <p:nvPr/>
        </p:nvSpPr>
        <p:spPr>
          <a:xfrm>
            <a:off x="585216" y="1024128"/>
            <a:ext cx="10972800" cy="195438"/>
          </a:xfrm>
          <a:prstGeom prst="rect">
            <a:avLst/>
          </a:prstGeom>
          <a:noFill/>
        </p:spPr>
        <p:txBody>
          <a:bodyPr wrap="square" lIns="32004" tIns="22860" rIns="32004" bIns="18288" anchor="t">
            <a:spAutoFit/>
          </a:bodyPr>
          <a:lstStyle/>
          <a:p>
            <a:pPr algn="l"/>
            <a:r>
              <a:rPr sz="1000" b="0" dirty="0">
                <a:solidFill>
                  <a:srgbClr val="4B4B4B"/>
                </a:solidFill>
                <a:latin typeface="Aptos"/>
              </a:rPr>
              <a:t>[10] Pragma-VL, Fig. </a:t>
            </a:r>
            <a:r>
              <a:rPr lang="en-US" sz="1000" dirty="0">
                <a:solidFill>
                  <a:srgbClr val="4B4B4B"/>
                </a:solidFill>
                <a:latin typeface="Aptos"/>
              </a:rPr>
              <a:t>3</a:t>
            </a:r>
            <a:r>
              <a:rPr sz="1000" b="0" dirty="0">
                <a:solidFill>
                  <a:srgbClr val="4B4B4B"/>
                </a:solidFill>
                <a:latin typeface="Aptos"/>
              </a:rPr>
              <a:t> / Table 2</a:t>
            </a:r>
          </a:p>
        </p:txBody>
      </p:sp>
      <p:cxnSp>
        <p:nvCxnSpPr>
          <p:cNvPr id="5" name="Connector 4">
            <a:extLst>
              <a:ext uri="{FF2B5EF4-FFF2-40B4-BE49-F238E27FC236}">
                <a16:creationId xmlns:a16="http://schemas.microsoft.com/office/drawing/2014/main" id="{9BBA3A99-B791-1BD2-92D9-CF537C021E01}"/>
              </a:ext>
            </a:extLst>
          </p:cNvPr>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8807820-CF37-96B2-DA8D-D6009570C8CF}"/>
              </a:ext>
            </a:extLst>
          </p:cNvPr>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a:extLst>
              <a:ext uri="{FF2B5EF4-FFF2-40B4-BE49-F238E27FC236}">
                <a16:creationId xmlns:a16="http://schemas.microsoft.com/office/drawing/2014/main" id="{378F6F26-7DA7-215E-7763-A6051A49615C}"/>
              </a:ext>
            </a:extLst>
          </p:cNvPr>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09</a:t>
            </a:r>
          </a:p>
        </p:txBody>
      </p:sp>
      <p:cxnSp>
        <p:nvCxnSpPr>
          <p:cNvPr id="12" name="Connector 11">
            <a:extLst>
              <a:ext uri="{FF2B5EF4-FFF2-40B4-BE49-F238E27FC236}">
                <a16:creationId xmlns:a16="http://schemas.microsoft.com/office/drawing/2014/main" id="{0DEF6C18-ED22-CAD9-2093-AEBDD24D7411}"/>
              </a:ext>
            </a:extLst>
          </p:cNvPr>
          <p:cNvCxnSpPr/>
          <p:nvPr/>
        </p:nvCxnSpPr>
        <p:spPr>
          <a:xfrm>
            <a:off x="6089904" y="1572768"/>
            <a:ext cx="0" cy="4416552"/>
          </a:xfrm>
          <a:prstGeom prst="line">
            <a:avLst/>
          </a:prstGeom>
          <a:ln w="10160">
            <a:solidFill>
              <a:srgbClr val="DCDCDC"/>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888300F-F920-F3B6-DE70-101A89B38457}"/>
              </a:ext>
            </a:extLst>
          </p:cNvPr>
          <p:cNvSpPr txBox="1"/>
          <p:nvPr/>
        </p:nvSpPr>
        <p:spPr>
          <a:xfrm>
            <a:off x="6345936" y="1572768"/>
            <a:ext cx="5230368" cy="438912"/>
          </a:xfrm>
          <a:prstGeom prst="rect">
            <a:avLst/>
          </a:prstGeom>
          <a:noFill/>
        </p:spPr>
        <p:txBody>
          <a:bodyPr wrap="square" lIns="32004" tIns="22860" rIns="32004" bIns="18288" anchor="t">
            <a:spAutoFit/>
          </a:bodyPr>
          <a:lstStyle/>
          <a:p>
            <a:pPr algn="l"/>
            <a:r>
              <a:rPr sz="1500" b="1">
                <a:solidFill>
                  <a:srgbClr val="191919"/>
                </a:solidFill>
                <a:latin typeface="Aptos"/>
              </a:rPr>
              <a:t>Pragma-VL | pragmatic arbitration [10]</a:t>
            </a:r>
          </a:p>
        </p:txBody>
      </p:sp>
      <p:cxnSp>
        <p:nvCxnSpPr>
          <p:cNvPr id="14" name="Connector 13">
            <a:extLst>
              <a:ext uri="{FF2B5EF4-FFF2-40B4-BE49-F238E27FC236}">
                <a16:creationId xmlns:a16="http://schemas.microsoft.com/office/drawing/2014/main" id="{FA8AA010-3E07-4F22-E698-7F6C2FC0350D}"/>
              </a:ext>
            </a:extLst>
          </p:cNvPr>
          <p:cNvCxnSpPr/>
          <p:nvPr/>
        </p:nvCxnSpPr>
        <p:spPr>
          <a:xfrm>
            <a:off x="6345936" y="2048256"/>
            <a:ext cx="5230368" cy="0"/>
          </a:xfrm>
          <a:prstGeom prst="line">
            <a:avLst/>
          </a:prstGeom>
          <a:ln w="11430">
            <a:solidFill>
              <a:srgbClr val="DCDCDC"/>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6E1D94C-A1C2-0DB6-13DC-56B82C421F9C}"/>
              </a:ext>
            </a:extLst>
          </p:cNvPr>
          <p:cNvSpPr txBox="1"/>
          <p:nvPr/>
        </p:nvSpPr>
        <p:spPr>
          <a:xfrm>
            <a:off x="6345936" y="2121408"/>
            <a:ext cx="5230368" cy="3456432"/>
          </a:xfrm>
          <a:prstGeom prst="rect">
            <a:avLst/>
          </a:prstGeom>
          <a:noFill/>
        </p:spPr>
        <p:txBody>
          <a:bodyPr wrap="square" lIns="32004" tIns="22860" rIns="32004" bIns="18288" anchor="t">
            <a:spAutoFit/>
          </a:bodyPr>
          <a:lstStyle/>
          <a:p>
            <a:pPr algn="l"/>
            <a:r>
              <a:rPr sz="1220" b="0">
                <a:solidFill>
                  <a:srgbClr val="191919"/>
                </a:solidFill>
                <a:latin typeface="Aptos"/>
              </a:rPr>
              <a:t>CONTRIBUTION
A staged training framework for contextual safety/helpfulness arbitration, using data augmentation and reward modeling; not a jailbreak attack or simple SFT dataset.
EVALUATION + RESULT
Qwen2.5-VL-7B Table 2: MM-SafetyBench ASR 31.66% vs. base 48.75%; SIUO safety 63.47% vs. 38.78%, with effectiveness 95.21% vs. 92.17%. Table 3 also checks VQA/math capability.
PROJECT MAPPING
Potential training comparator if recipe, data, and compute are feasible; report safety, helpfulness, capability separately.</a:t>
            </a:r>
          </a:p>
        </p:txBody>
      </p:sp>
      <p:pic>
        <p:nvPicPr>
          <p:cNvPr id="18" name="Picture 17">
            <a:extLst>
              <a:ext uri="{FF2B5EF4-FFF2-40B4-BE49-F238E27FC236}">
                <a16:creationId xmlns:a16="http://schemas.microsoft.com/office/drawing/2014/main" id="{D706D913-0E73-1366-5DCE-51BFC21C18BF}"/>
              </a:ext>
            </a:extLst>
          </p:cNvPr>
          <p:cNvPicPr>
            <a:picLocks noChangeAspect="1"/>
          </p:cNvPicPr>
          <p:nvPr/>
        </p:nvPicPr>
        <p:blipFill>
          <a:blip r:embed="rId3"/>
          <a:stretch>
            <a:fillRect/>
          </a:stretch>
        </p:blipFill>
        <p:spPr>
          <a:xfrm>
            <a:off x="566928" y="1414135"/>
            <a:ext cx="4592549" cy="3105838"/>
          </a:xfrm>
          <a:prstGeom prst="rect">
            <a:avLst/>
          </a:prstGeom>
        </p:spPr>
      </p:pic>
      <p:pic>
        <p:nvPicPr>
          <p:cNvPr id="20" name="Picture 19">
            <a:extLst>
              <a:ext uri="{FF2B5EF4-FFF2-40B4-BE49-F238E27FC236}">
                <a16:creationId xmlns:a16="http://schemas.microsoft.com/office/drawing/2014/main" id="{854C18B6-7562-9BCD-3E2F-84C894C1D140}"/>
              </a:ext>
            </a:extLst>
          </p:cNvPr>
          <p:cNvPicPr>
            <a:picLocks noChangeAspect="1"/>
          </p:cNvPicPr>
          <p:nvPr/>
        </p:nvPicPr>
        <p:blipFill>
          <a:blip r:embed="rId4"/>
          <a:stretch>
            <a:fillRect/>
          </a:stretch>
        </p:blipFill>
        <p:spPr>
          <a:xfrm>
            <a:off x="566928" y="4522676"/>
            <a:ext cx="4592563" cy="2305382"/>
          </a:xfrm>
          <a:prstGeom prst="rect">
            <a:avLst/>
          </a:prstGeom>
        </p:spPr>
      </p:pic>
      <p:pic>
        <p:nvPicPr>
          <p:cNvPr id="9" name="Picture 8">
            <a:extLst>
              <a:ext uri="{FF2B5EF4-FFF2-40B4-BE49-F238E27FC236}">
                <a16:creationId xmlns:a16="http://schemas.microsoft.com/office/drawing/2014/main" id="{DB1AB34B-A1AC-F239-10FC-314E13AD7866}"/>
              </a:ext>
            </a:extLst>
          </p:cNvPr>
          <p:cNvPicPr>
            <a:picLocks noChangeAspect="1"/>
          </p:cNvPicPr>
          <p:nvPr/>
        </p:nvPicPr>
        <p:blipFill>
          <a:blip r:embed="rId5"/>
          <a:stretch>
            <a:fillRect/>
          </a:stretch>
        </p:blipFill>
        <p:spPr>
          <a:xfrm>
            <a:off x="7464533" y="4605016"/>
            <a:ext cx="4221750" cy="2256544"/>
          </a:xfrm>
          <a:prstGeom prst="rect">
            <a:avLst/>
          </a:prstGeom>
        </p:spPr>
      </p:pic>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58EE90EF-A0FF-DE58-0886-59EEB14CFF2D}"/>
                  </a:ext>
                </a:extLst>
              </p14:cNvPr>
              <p14:cNvContentPartPr/>
              <p14:nvPr/>
            </p14:nvContentPartPr>
            <p14:xfrm>
              <a:off x="4162020" y="3312660"/>
              <a:ext cx="172080" cy="10080"/>
            </p14:xfrm>
          </p:contentPart>
        </mc:Choice>
        <mc:Fallback xmlns="">
          <p:pic>
            <p:nvPicPr>
              <p:cNvPr id="10" name="Ink 9">
                <a:extLst>
                  <a:ext uri="{FF2B5EF4-FFF2-40B4-BE49-F238E27FC236}">
                    <a16:creationId xmlns:a16="http://schemas.microsoft.com/office/drawing/2014/main" id="{58EE90EF-A0FF-DE58-0886-59EEB14CFF2D}"/>
                  </a:ext>
                </a:extLst>
              </p:cNvPr>
              <p:cNvPicPr/>
              <p:nvPr/>
            </p:nvPicPr>
            <p:blipFill>
              <a:blip r:embed="rId7"/>
              <a:stretch>
                <a:fillRect/>
              </a:stretch>
            </p:blipFill>
            <p:spPr>
              <a:xfrm>
                <a:off x="4155900" y="3306540"/>
                <a:ext cx="1843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FD5ADB00-F8EF-4DC4-4F2E-82AC92D88FE1}"/>
                  </a:ext>
                </a:extLst>
              </p14:cNvPr>
              <p14:cNvContentPartPr/>
              <p14:nvPr/>
            </p14:nvContentPartPr>
            <p14:xfrm>
              <a:off x="4173540" y="2438580"/>
              <a:ext cx="44640" cy="360"/>
            </p14:xfrm>
          </p:contentPart>
        </mc:Choice>
        <mc:Fallback xmlns="">
          <p:pic>
            <p:nvPicPr>
              <p:cNvPr id="11" name="Ink 10">
                <a:extLst>
                  <a:ext uri="{FF2B5EF4-FFF2-40B4-BE49-F238E27FC236}">
                    <a16:creationId xmlns:a16="http://schemas.microsoft.com/office/drawing/2014/main" id="{FD5ADB00-F8EF-4DC4-4F2E-82AC92D88FE1}"/>
                  </a:ext>
                </a:extLst>
              </p:cNvPr>
              <p:cNvPicPr/>
              <p:nvPr/>
            </p:nvPicPr>
            <p:blipFill>
              <a:blip r:embed="rId9"/>
              <a:stretch>
                <a:fillRect/>
              </a:stretch>
            </p:blipFill>
            <p:spPr>
              <a:xfrm>
                <a:off x="4167420" y="2432460"/>
                <a:ext cx="568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6803758B-9E50-16C4-18C1-3D0798BD887E}"/>
                  </a:ext>
                </a:extLst>
              </p14:cNvPr>
              <p14:cNvContentPartPr/>
              <p14:nvPr/>
            </p14:nvContentPartPr>
            <p14:xfrm>
              <a:off x="4576020" y="3319500"/>
              <a:ext cx="185760" cy="360"/>
            </p14:xfrm>
          </p:contentPart>
        </mc:Choice>
        <mc:Fallback xmlns="">
          <p:pic>
            <p:nvPicPr>
              <p:cNvPr id="17" name="Ink 16">
                <a:extLst>
                  <a:ext uri="{FF2B5EF4-FFF2-40B4-BE49-F238E27FC236}">
                    <a16:creationId xmlns:a16="http://schemas.microsoft.com/office/drawing/2014/main" id="{6803758B-9E50-16C4-18C1-3D0798BD887E}"/>
                  </a:ext>
                </a:extLst>
              </p:cNvPr>
              <p:cNvPicPr/>
              <p:nvPr/>
            </p:nvPicPr>
            <p:blipFill>
              <a:blip r:embed="rId11"/>
              <a:stretch>
                <a:fillRect/>
              </a:stretch>
            </p:blipFill>
            <p:spPr>
              <a:xfrm>
                <a:off x="4569900" y="3313380"/>
                <a:ext cx="1980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F46571E4-AE1D-C30B-717E-C916F87E1FDA}"/>
                  </a:ext>
                </a:extLst>
              </p14:cNvPr>
              <p14:cNvContentPartPr/>
              <p14:nvPr/>
            </p14:nvContentPartPr>
            <p14:xfrm>
              <a:off x="3898260" y="3327780"/>
              <a:ext cx="138600" cy="360"/>
            </p14:xfrm>
          </p:contentPart>
        </mc:Choice>
        <mc:Fallback xmlns="">
          <p:pic>
            <p:nvPicPr>
              <p:cNvPr id="19" name="Ink 18">
                <a:extLst>
                  <a:ext uri="{FF2B5EF4-FFF2-40B4-BE49-F238E27FC236}">
                    <a16:creationId xmlns:a16="http://schemas.microsoft.com/office/drawing/2014/main" id="{F46571E4-AE1D-C30B-717E-C916F87E1FDA}"/>
                  </a:ext>
                </a:extLst>
              </p:cNvPr>
              <p:cNvPicPr/>
              <p:nvPr/>
            </p:nvPicPr>
            <p:blipFill>
              <a:blip r:embed="rId13"/>
              <a:stretch>
                <a:fillRect/>
              </a:stretch>
            </p:blipFill>
            <p:spPr>
              <a:xfrm>
                <a:off x="3892140" y="3321660"/>
                <a:ext cx="150840" cy="12600"/>
              </a:xfrm>
              <a:prstGeom prst="rect">
                <a:avLst/>
              </a:prstGeom>
            </p:spPr>
          </p:pic>
        </mc:Fallback>
      </mc:AlternateContent>
    </p:spTree>
    <p:extLst>
      <p:ext uri="{BB962C8B-B14F-4D97-AF65-F5344CB8AC3E}">
        <p14:creationId xmlns:p14="http://schemas.microsoft.com/office/powerpoint/2010/main" val="1307776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01168"/>
            <a:ext cx="5303520" cy="228600"/>
          </a:xfrm>
          <a:prstGeom prst="rect">
            <a:avLst/>
          </a:prstGeom>
          <a:noFill/>
        </p:spPr>
        <p:txBody>
          <a:bodyPr wrap="square" lIns="32004" tIns="22860" rIns="32004" bIns="18288" anchor="t">
            <a:spAutoFit/>
          </a:bodyPr>
          <a:lstStyle/>
          <a:p>
            <a:pPr algn="l"/>
            <a:r>
              <a:rPr sz="1000" b="1">
                <a:solidFill>
                  <a:srgbClr val="4B4B4B"/>
                </a:solidFill>
                <a:latin typeface="Aptos"/>
              </a:rPr>
              <a:t>ATTACK EVALUATION</a:t>
            </a:r>
          </a:p>
        </p:txBody>
      </p:sp>
      <p:sp>
        <p:nvSpPr>
          <p:cNvPr id="3" name="TextBox 2"/>
          <p:cNvSpPr txBox="1"/>
          <p:nvPr/>
        </p:nvSpPr>
        <p:spPr>
          <a:xfrm>
            <a:off x="566928" y="484632"/>
            <a:ext cx="11064240" cy="512064"/>
          </a:xfrm>
          <a:prstGeom prst="rect">
            <a:avLst/>
          </a:prstGeom>
          <a:noFill/>
        </p:spPr>
        <p:txBody>
          <a:bodyPr wrap="square" lIns="32004" tIns="22860" rIns="32004" bIns="18288" anchor="t">
            <a:spAutoFit/>
          </a:bodyPr>
          <a:lstStyle/>
          <a:p>
            <a:pPr algn="l"/>
            <a:r>
              <a:rPr sz="2400" b="1" dirty="0">
                <a:solidFill>
                  <a:srgbClr val="191919"/>
                </a:solidFill>
                <a:latin typeface="Aptos"/>
              </a:rPr>
              <a:t>A representative suite, not every published VLM attack</a:t>
            </a:r>
          </a:p>
        </p:txBody>
      </p:sp>
      <p:sp>
        <p:nvSpPr>
          <p:cNvPr id="4" name="TextBox 3"/>
          <p:cNvSpPr txBox="1"/>
          <p:nvPr/>
        </p:nvSpPr>
        <p:spPr>
          <a:xfrm>
            <a:off x="585216" y="1024128"/>
            <a:ext cx="10972800" cy="219456"/>
          </a:xfrm>
          <a:prstGeom prst="rect">
            <a:avLst/>
          </a:prstGeom>
          <a:noFill/>
        </p:spPr>
        <p:txBody>
          <a:bodyPr wrap="square" lIns="32004" tIns="22860" rIns="32004" bIns="18288" anchor="t">
            <a:spAutoFit/>
          </a:bodyPr>
          <a:lstStyle/>
          <a:p>
            <a:pPr algn="l"/>
            <a:r>
              <a:rPr sz="1000" b="0">
                <a:solidFill>
                  <a:srgbClr val="4B4B4B"/>
                </a:solidFill>
                <a:latin typeface="Aptos"/>
              </a:rPr>
              <a:t>Attack procedures: FigStep [1], HADES [11], PolyJailbreak [4] | Attack corpus: JailBreakV-28K [12] | Compositional tests: SIUO [13]</a:t>
            </a:r>
          </a:p>
        </p:txBody>
      </p:sp>
      <p:cxnSp>
        <p:nvCxnSpPr>
          <p:cNvPr id="5" name="Connector 4"/>
          <p:cNvCxnSpPr/>
          <p:nvPr/>
        </p:nvCxnSpPr>
        <p:spPr>
          <a:xfrm>
            <a:off x="566928" y="1353312"/>
            <a:ext cx="11064240" cy="0"/>
          </a:xfrm>
          <a:prstGeom prst="line">
            <a:avLst/>
          </a:prstGeom>
          <a:ln w="13970">
            <a:solidFill>
              <a:srgbClr val="19191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73952"/>
            <a:ext cx="10241280" cy="164592"/>
          </a:xfrm>
          <a:prstGeom prst="rect">
            <a:avLst/>
          </a:prstGeom>
          <a:noFill/>
        </p:spPr>
        <p:txBody>
          <a:bodyPr wrap="square" lIns="32004" tIns="22860" rIns="32004" bIns="18288" anchor="t">
            <a:spAutoFit/>
          </a:bodyPr>
          <a:lstStyle/>
          <a:p>
            <a:pPr algn="l"/>
            <a:r>
              <a:rPr sz="850" b="0">
                <a:solidFill>
                  <a:srgbClr val="4B4B4B"/>
                </a:solidFill>
                <a:latin typeface="Aptos"/>
              </a:rPr>
              <a:t>VLM Safety Alignment | Focused literature review</a:t>
            </a:r>
          </a:p>
        </p:txBody>
      </p:sp>
      <p:sp>
        <p:nvSpPr>
          <p:cNvPr id="7" name="TextBox 6"/>
          <p:cNvSpPr txBox="1"/>
          <p:nvPr/>
        </p:nvSpPr>
        <p:spPr>
          <a:xfrm>
            <a:off x="11137392" y="6455664"/>
            <a:ext cx="457200" cy="182880"/>
          </a:xfrm>
          <a:prstGeom prst="rect">
            <a:avLst/>
          </a:prstGeom>
          <a:noFill/>
        </p:spPr>
        <p:txBody>
          <a:bodyPr wrap="square" lIns="32004" tIns="22860" rIns="32004" bIns="18288" anchor="t">
            <a:spAutoFit/>
          </a:bodyPr>
          <a:lstStyle/>
          <a:p>
            <a:pPr algn="r"/>
            <a:r>
              <a:rPr sz="900" b="0">
                <a:solidFill>
                  <a:srgbClr val="4B4B4B"/>
                </a:solidFill>
                <a:latin typeface="Aptos"/>
              </a:rPr>
              <a:t>10</a:t>
            </a:r>
          </a:p>
        </p:txBody>
      </p:sp>
      <p:sp>
        <p:nvSpPr>
          <p:cNvPr id="8" name="TextBox 7"/>
          <p:cNvSpPr txBox="1"/>
          <p:nvPr/>
        </p:nvSpPr>
        <p:spPr>
          <a:xfrm>
            <a:off x="621792" y="1554480"/>
            <a:ext cx="2029968" cy="274320"/>
          </a:xfrm>
          <a:prstGeom prst="rect">
            <a:avLst/>
          </a:prstGeom>
          <a:noFill/>
        </p:spPr>
        <p:txBody>
          <a:bodyPr wrap="square" lIns="32004" tIns="22860" rIns="32004" bIns="18288" anchor="t">
            <a:spAutoFit/>
          </a:bodyPr>
          <a:lstStyle/>
          <a:p>
            <a:pPr algn="l"/>
            <a:r>
              <a:rPr sz="1000" b="1">
                <a:solidFill>
                  <a:srgbClr val="4B4B4B"/>
                </a:solidFill>
                <a:latin typeface="Aptos"/>
              </a:rPr>
              <a:t>FAMILY / ACCESS</a:t>
            </a:r>
          </a:p>
        </p:txBody>
      </p:sp>
      <p:sp>
        <p:nvSpPr>
          <p:cNvPr id="9" name="TextBox 8"/>
          <p:cNvSpPr txBox="1"/>
          <p:nvPr/>
        </p:nvSpPr>
        <p:spPr>
          <a:xfrm>
            <a:off x="2761488" y="1554480"/>
            <a:ext cx="4572000" cy="274320"/>
          </a:xfrm>
          <a:prstGeom prst="rect">
            <a:avLst/>
          </a:prstGeom>
          <a:noFill/>
        </p:spPr>
        <p:txBody>
          <a:bodyPr wrap="square" lIns="32004" tIns="22860" rIns="32004" bIns="18288" anchor="t">
            <a:spAutoFit/>
          </a:bodyPr>
          <a:lstStyle/>
          <a:p>
            <a:pPr algn="l"/>
            <a:r>
              <a:rPr sz="1000" b="1">
                <a:solidFill>
                  <a:srgbClr val="4B4B4B"/>
                </a:solidFill>
                <a:latin typeface="Aptos"/>
              </a:rPr>
              <a:t>WHAT IT TESTS</a:t>
            </a:r>
          </a:p>
        </p:txBody>
      </p:sp>
      <p:sp>
        <p:nvSpPr>
          <p:cNvPr id="10" name="TextBox 9"/>
          <p:cNvSpPr txBox="1"/>
          <p:nvPr/>
        </p:nvSpPr>
        <p:spPr>
          <a:xfrm>
            <a:off x="7479792" y="1554480"/>
            <a:ext cx="4069080" cy="274320"/>
          </a:xfrm>
          <a:prstGeom prst="rect">
            <a:avLst/>
          </a:prstGeom>
          <a:noFill/>
        </p:spPr>
        <p:txBody>
          <a:bodyPr wrap="square" lIns="32004" tIns="22860" rIns="32004" bIns="18288" anchor="t">
            <a:spAutoFit/>
          </a:bodyPr>
          <a:lstStyle/>
          <a:p>
            <a:pPr algn="l"/>
            <a:r>
              <a:rPr sz="1000" b="1">
                <a:solidFill>
                  <a:srgbClr val="4B4B4B"/>
                </a:solidFill>
                <a:latin typeface="Aptos"/>
              </a:rPr>
              <a:t>PLACE IN OUR PROTOCOL</a:t>
            </a:r>
          </a:p>
        </p:txBody>
      </p:sp>
      <p:cxnSp>
        <p:nvCxnSpPr>
          <p:cNvPr id="11" name="Connector 10"/>
          <p:cNvCxnSpPr/>
          <p:nvPr/>
        </p:nvCxnSpPr>
        <p:spPr>
          <a:xfrm>
            <a:off x="621792" y="1865376"/>
            <a:ext cx="10917936"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1792" y="1993392"/>
            <a:ext cx="2029968" cy="630936"/>
          </a:xfrm>
          <a:prstGeom prst="rect">
            <a:avLst/>
          </a:prstGeom>
          <a:noFill/>
        </p:spPr>
        <p:txBody>
          <a:bodyPr wrap="square" lIns="32004" tIns="22860" rIns="32004" bIns="18288" anchor="t">
            <a:spAutoFit/>
          </a:bodyPr>
          <a:lstStyle/>
          <a:p>
            <a:pPr algn="l"/>
            <a:r>
              <a:rPr sz="1120" b="1">
                <a:solidFill>
                  <a:srgbClr val="191919"/>
                </a:solidFill>
                <a:latin typeface="Aptos"/>
              </a:rPr>
              <a:t>Visual text / OCR
Black-box</a:t>
            </a:r>
          </a:p>
        </p:txBody>
      </p:sp>
      <p:sp>
        <p:nvSpPr>
          <p:cNvPr id="13" name="TextBox 12"/>
          <p:cNvSpPr txBox="1"/>
          <p:nvPr/>
        </p:nvSpPr>
        <p:spPr>
          <a:xfrm>
            <a:off x="2761488" y="1993392"/>
            <a:ext cx="4572000" cy="630936"/>
          </a:xfrm>
          <a:prstGeom prst="rect">
            <a:avLst/>
          </a:prstGeom>
          <a:noFill/>
        </p:spPr>
        <p:txBody>
          <a:bodyPr wrap="square" lIns="32004" tIns="22860" rIns="32004" bIns="18288" anchor="t">
            <a:spAutoFit/>
          </a:bodyPr>
          <a:lstStyle/>
          <a:p>
            <a:pPr algn="l"/>
            <a:r>
              <a:rPr sz="1080" b="0">
                <a:solidFill>
                  <a:srgbClr val="191919"/>
                </a:solidFill>
                <a:latin typeface="Aptos"/>
              </a:rPr>
              <a:t>FigStep turns an unsafe instruction into image typography; vary rendering while holding intent fixed.</a:t>
            </a:r>
          </a:p>
        </p:txBody>
      </p:sp>
      <p:sp>
        <p:nvSpPr>
          <p:cNvPr id="14" name="TextBox 13"/>
          <p:cNvSpPr txBox="1"/>
          <p:nvPr/>
        </p:nvSpPr>
        <p:spPr>
          <a:xfrm>
            <a:off x="7479792" y="1993392"/>
            <a:ext cx="4069080" cy="630936"/>
          </a:xfrm>
          <a:prstGeom prst="rect">
            <a:avLst/>
          </a:prstGeom>
          <a:noFill/>
        </p:spPr>
        <p:txBody>
          <a:bodyPr wrap="square" lIns="32004" tIns="22860" rIns="32004" bIns="18288" anchor="t">
            <a:spAutoFit/>
          </a:bodyPr>
          <a:lstStyle/>
          <a:p>
            <a:pPr algn="l"/>
            <a:r>
              <a:rPr sz="1080" b="0">
                <a:solidFill>
                  <a:srgbClr val="191919"/>
                </a:solidFill>
                <a:latin typeface="Aptos"/>
              </a:rPr>
              <a:t>CORE fixed tier; text-only matched control + benign OCR controls.</a:t>
            </a:r>
          </a:p>
        </p:txBody>
      </p:sp>
      <p:cxnSp>
        <p:nvCxnSpPr>
          <p:cNvPr id="15" name="Connector 14"/>
          <p:cNvCxnSpPr/>
          <p:nvPr/>
        </p:nvCxnSpPr>
        <p:spPr>
          <a:xfrm>
            <a:off x="621792" y="2660904"/>
            <a:ext cx="10917936" cy="0"/>
          </a:xfrm>
          <a:prstGeom prst="line">
            <a:avLst/>
          </a:prstGeom>
          <a:ln w="8890">
            <a:solidFill>
              <a:srgbClr val="DCDCD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1792" y="2697480"/>
            <a:ext cx="2029968" cy="630936"/>
          </a:xfrm>
          <a:prstGeom prst="rect">
            <a:avLst/>
          </a:prstGeom>
          <a:noFill/>
        </p:spPr>
        <p:txBody>
          <a:bodyPr wrap="square" lIns="32004" tIns="22860" rIns="32004" bIns="18288" anchor="t">
            <a:spAutoFit/>
          </a:bodyPr>
          <a:lstStyle/>
          <a:p>
            <a:pPr algn="l"/>
            <a:r>
              <a:rPr sz="1120" b="1">
                <a:solidFill>
                  <a:srgbClr val="191919"/>
                </a:solidFill>
                <a:latin typeface="Aptos"/>
              </a:rPr>
              <a:t>Generated / optimized image
Black-box or white-box</a:t>
            </a:r>
          </a:p>
        </p:txBody>
      </p:sp>
      <p:sp>
        <p:nvSpPr>
          <p:cNvPr id="17" name="TextBox 16"/>
          <p:cNvSpPr txBox="1"/>
          <p:nvPr/>
        </p:nvSpPr>
        <p:spPr>
          <a:xfrm>
            <a:off x="2761488" y="2697480"/>
            <a:ext cx="4572000" cy="630936"/>
          </a:xfrm>
          <a:prstGeom prst="rect">
            <a:avLst/>
          </a:prstGeom>
          <a:noFill/>
        </p:spPr>
        <p:txBody>
          <a:bodyPr wrap="square" lIns="32004" tIns="22860" rIns="32004" bIns="18288" anchor="t">
            <a:spAutoFit/>
          </a:bodyPr>
          <a:lstStyle/>
          <a:p>
            <a:pPr algn="l"/>
            <a:r>
              <a:rPr sz="1080" b="0">
                <a:solidFill>
                  <a:srgbClr val="191919"/>
                </a:solidFill>
                <a:latin typeface="Aptos"/>
              </a:rPr>
              <a:t>HADES separates typography, black-box optimized images (+Opt), and gradient-based adversarial images (+Adv). These are different access tiers.</a:t>
            </a:r>
          </a:p>
        </p:txBody>
      </p:sp>
      <p:sp>
        <p:nvSpPr>
          <p:cNvPr id="18" name="TextBox 17"/>
          <p:cNvSpPr txBox="1"/>
          <p:nvPr/>
        </p:nvSpPr>
        <p:spPr>
          <a:xfrm>
            <a:off x="7479792" y="2697480"/>
            <a:ext cx="4069080" cy="630936"/>
          </a:xfrm>
          <a:prstGeom prst="rect">
            <a:avLst/>
          </a:prstGeom>
          <a:noFill/>
        </p:spPr>
        <p:txBody>
          <a:bodyPr wrap="square" lIns="32004" tIns="22860" rIns="32004" bIns="18288" anchor="t">
            <a:spAutoFit/>
          </a:bodyPr>
          <a:lstStyle/>
          <a:p>
            <a:pPr algn="l"/>
            <a:r>
              <a:rPr sz="1080" b="0">
                <a:solidFill>
                  <a:srgbClr val="191919"/>
                </a:solidFill>
                <a:latin typeface="Aptos"/>
              </a:rPr>
              <a:t>CORE +Opt if artifacts are reproducible; +Adv is a separate optional white-box result.</a:t>
            </a:r>
          </a:p>
        </p:txBody>
      </p:sp>
      <p:cxnSp>
        <p:nvCxnSpPr>
          <p:cNvPr id="19" name="Connector 18"/>
          <p:cNvCxnSpPr/>
          <p:nvPr/>
        </p:nvCxnSpPr>
        <p:spPr>
          <a:xfrm>
            <a:off x="621792" y="3364992"/>
            <a:ext cx="10917936" cy="0"/>
          </a:xfrm>
          <a:prstGeom prst="line">
            <a:avLst/>
          </a:prstGeom>
          <a:ln w="8890">
            <a:solidFill>
              <a:srgbClr val="DCDCD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1792" y="3401568"/>
            <a:ext cx="2029968" cy="630936"/>
          </a:xfrm>
          <a:prstGeom prst="rect">
            <a:avLst/>
          </a:prstGeom>
          <a:noFill/>
        </p:spPr>
        <p:txBody>
          <a:bodyPr wrap="square" lIns="32004" tIns="22860" rIns="32004" bIns="18288" anchor="t">
            <a:spAutoFit/>
          </a:bodyPr>
          <a:lstStyle/>
          <a:p>
            <a:pPr algn="l"/>
            <a:r>
              <a:rPr sz="1120" b="1">
                <a:solidFill>
                  <a:srgbClr val="191919"/>
                </a:solidFill>
                <a:latin typeface="Aptos"/>
              </a:rPr>
              <a:t>Cross-modal composition
Benchmark cases</a:t>
            </a:r>
          </a:p>
        </p:txBody>
      </p:sp>
      <p:sp>
        <p:nvSpPr>
          <p:cNvPr id="21" name="TextBox 20"/>
          <p:cNvSpPr txBox="1"/>
          <p:nvPr/>
        </p:nvSpPr>
        <p:spPr>
          <a:xfrm>
            <a:off x="2761488" y="3401568"/>
            <a:ext cx="4572000" cy="630936"/>
          </a:xfrm>
          <a:prstGeom prst="rect">
            <a:avLst/>
          </a:prstGeom>
          <a:noFill/>
        </p:spPr>
        <p:txBody>
          <a:bodyPr wrap="square" lIns="32004" tIns="22860" rIns="32004" bIns="18288" anchor="t">
            <a:spAutoFit/>
          </a:bodyPr>
          <a:lstStyle/>
          <a:p>
            <a:pPr algn="l"/>
            <a:r>
              <a:rPr sz="1080" b="0">
                <a:solidFill>
                  <a:srgbClr val="191919"/>
                </a:solidFill>
                <a:latin typeface="Aptos"/>
              </a:rPr>
              <a:t>SIUO and HoliSafe cover cases where modality-wise safe inputs can yield an unsafe joint interpretation; not attack algorithms.</a:t>
            </a:r>
          </a:p>
        </p:txBody>
      </p:sp>
      <p:sp>
        <p:nvSpPr>
          <p:cNvPr id="22" name="TextBox 21"/>
          <p:cNvSpPr txBox="1"/>
          <p:nvPr/>
        </p:nvSpPr>
        <p:spPr>
          <a:xfrm>
            <a:off x="7479792" y="3401568"/>
            <a:ext cx="4069080" cy="630936"/>
          </a:xfrm>
          <a:prstGeom prst="rect">
            <a:avLst/>
          </a:prstGeom>
          <a:noFill/>
        </p:spPr>
        <p:txBody>
          <a:bodyPr wrap="square" lIns="32004" tIns="22860" rIns="32004" bIns="18288" anchor="t">
            <a:spAutoFit/>
          </a:bodyPr>
          <a:lstStyle/>
          <a:p>
            <a:pPr algn="l"/>
            <a:r>
              <a:rPr sz="1080" b="0">
                <a:solidFill>
                  <a:srgbClr val="191919"/>
                </a:solidFill>
                <a:latin typeface="Aptos"/>
              </a:rPr>
              <a:t>CORE strata; test each modality alone and jointly, with safe near-neighbors.</a:t>
            </a:r>
          </a:p>
        </p:txBody>
      </p:sp>
      <p:cxnSp>
        <p:nvCxnSpPr>
          <p:cNvPr id="23" name="Connector 22"/>
          <p:cNvCxnSpPr/>
          <p:nvPr/>
        </p:nvCxnSpPr>
        <p:spPr>
          <a:xfrm>
            <a:off x="621792" y="4069080"/>
            <a:ext cx="10917936" cy="0"/>
          </a:xfrm>
          <a:prstGeom prst="line">
            <a:avLst/>
          </a:prstGeom>
          <a:ln w="8890">
            <a:solidFill>
              <a:srgbClr val="DCDCD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21792" y="4105656"/>
            <a:ext cx="2029968" cy="630936"/>
          </a:xfrm>
          <a:prstGeom prst="rect">
            <a:avLst/>
          </a:prstGeom>
          <a:noFill/>
        </p:spPr>
        <p:txBody>
          <a:bodyPr wrap="square" lIns="32004" tIns="22860" rIns="32004" bIns="18288" anchor="t">
            <a:spAutoFit/>
          </a:bodyPr>
          <a:lstStyle/>
          <a:p>
            <a:pPr algn="l"/>
            <a:r>
              <a:rPr sz="1120" b="1">
                <a:solidFill>
                  <a:srgbClr val="191919"/>
                </a:solidFill>
                <a:latin typeface="Aptos"/>
              </a:rPr>
              <a:t>Adaptive cross-modal search
Black-box</a:t>
            </a:r>
          </a:p>
        </p:txBody>
      </p:sp>
      <p:sp>
        <p:nvSpPr>
          <p:cNvPr id="25" name="TextBox 24"/>
          <p:cNvSpPr txBox="1"/>
          <p:nvPr/>
        </p:nvSpPr>
        <p:spPr>
          <a:xfrm>
            <a:off x="2761488" y="4105656"/>
            <a:ext cx="4572000" cy="630936"/>
          </a:xfrm>
          <a:prstGeom prst="rect">
            <a:avLst/>
          </a:prstGeom>
          <a:noFill/>
        </p:spPr>
        <p:txBody>
          <a:bodyPr wrap="square" lIns="32004" tIns="22860" rIns="32004" bIns="18288" anchor="t">
            <a:spAutoFit/>
          </a:bodyPr>
          <a:lstStyle/>
          <a:p>
            <a:pPr algn="l"/>
            <a:r>
              <a:rPr sz="1080" b="0">
                <a:solidFill>
                  <a:srgbClr val="191919"/>
                </a:solidFill>
                <a:latin typeface="Aptos"/>
              </a:rPr>
              <a:t>PolyJailbreak iteratively adapts text/image strategies from target feedback; report cost and success by query count.</a:t>
            </a:r>
          </a:p>
        </p:txBody>
      </p:sp>
      <p:sp>
        <p:nvSpPr>
          <p:cNvPr id="26" name="TextBox 25"/>
          <p:cNvSpPr txBox="1"/>
          <p:nvPr/>
        </p:nvSpPr>
        <p:spPr>
          <a:xfrm>
            <a:off x="7479792" y="4105656"/>
            <a:ext cx="4069080" cy="630936"/>
          </a:xfrm>
          <a:prstGeom prst="rect">
            <a:avLst/>
          </a:prstGeom>
          <a:noFill/>
        </p:spPr>
        <p:txBody>
          <a:bodyPr wrap="square" lIns="32004" tIns="22860" rIns="32004" bIns="18288" anchor="t">
            <a:spAutoFit/>
          </a:bodyPr>
          <a:lstStyle/>
          <a:p>
            <a:pPr algn="l"/>
            <a:r>
              <a:rPr sz="1080" b="0">
                <a:solidFill>
                  <a:srgbClr val="191919"/>
                </a:solidFill>
                <a:latin typeface="Aptos"/>
              </a:rPr>
              <a:t>CORE adaptive tier under a shared target-call budget; keep separate from static ASR.</a:t>
            </a:r>
          </a:p>
        </p:txBody>
      </p:sp>
      <p:cxnSp>
        <p:nvCxnSpPr>
          <p:cNvPr id="27" name="Connector 26"/>
          <p:cNvCxnSpPr/>
          <p:nvPr/>
        </p:nvCxnSpPr>
        <p:spPr>
          <a:xfrm>
            <a:off x="621792" y="4773168"/>
            <a:ext cx="10917936" cy="0"/>
          </a:xfrm>
          <a:prstGeom prst="line">
            <a:avLst/>
          </a:prstGeom>
          <a:ln w="8890">
            <a:solidFill>
              <a:srgbClr val="DCDCD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21792" y="4809744"/>
            <a:ext cx="2029968" cy="630936"/>
          </a:xfrm>
          <a:prstGeom prst="rect">
            <a:avLst/>
          </a:prstGeom>
          <a:noFill/>
        </p:spPr>
        <p:txBody>
          <a:bodyPr wrap="square" lIns="32004" tIns="22860" rIns="32004" bIns="18288" anchor="t">
            <a:spAutoFit/>
          </a:bodyPr>
          <a:lstStyle/>
          <a:p>
            <a:pPr algn="l"/>
            <a:r>
              <a:rPr sz="1120" b="1">
                <a:solidFill>
                  <a:srgbClr val="191919"/>
                </a:solidFill>
                <a:latin typeface="Aptos"/>
              </a:rPr>
              <a:t>Transferred / diverse attack corpus</a:t>
            </a:r>
          </a:p>
        </p:txBody>
      </p:sp>
      <p:sp>
        <p:nvSpPr>
          <p:cNvPr id="29" name="TextBox 28"/>
          <p:cNvSpPr txBox="1"/>
          <p:nvPr/>
        </p:nvSpPr>
        <p:spPr>
          <a:xfrm>
            <a:off x="2761488" y="4809744"/>
            <a:ext cx="4572000" cy="630936"/>
          </a:xfrm>
          <a:prstGeom prst="rect">
            <a:avLst/>
          </a:prstGeom>
          <a:noFill/>
        </p:spPr>
        <p:txBody>
          <a:bodyPr wrap="square" lIns="32004" tIns="22860" rIns="32004" bIns="18288" anchor="t">
            <a:spAutoFit/>
          </a:bodyPr>
          <a:lstStyle/>
          <a:p>
            <a:pPr algn="l"/>
            <a:r>
              <a:rPr sz="1080" b="0">
                <a:solidFill>
                  <a:srgbClr val="191919"/>
                </a:solidFill>
                <a:latin typeface="Aptos"/>
              </a:rPr>
              <a:t>JailBreakV-28K is a benchmark collection spanning transferred text and multimodal attacks; the corpus is not one attack method.</a:t>
            </a:r>
          </a:p>
        </p:txBody>
      </p:sp>
      <p:sp>
        <p:nvSpPr>
          <p:cNvPr id="30" name="TextBox 29"/>
          <p:cNvSpPr txBox="1"/>
          <p:nvPr/>
        </p:nvSpPr>
        <p:spPr>
          <a:xfrm>
            <a:off x="7479792" y="4809744"/>
            <a:ext cx="4069080" cy="630936"/>
          </a:xfrm>
          <a:prstGeom prst="rect">
            <a:avLst/>
          </a:prstGeom>
          <a:noFill/>
        </p:spPr>
        <p:txBody>
          <a:bodyPr wrap="square" lIns="32004" tIns="22860" rIns="32004" bIns="18288" anchor="t">
            <a:spAutoFit/>
          </a:bodyPr>
          <a:lstStyle/>
          <a:p>
            <a:pPr algn="l"/>
            <a:r>
              <a:rPr sz="1080" b="0">
                <a:solidFill>
                  <a:srgbClr val="191919"/>
                </a:solidFill>
                <a:latin typeface="Aptos"/>
              </a:rPr>
              <a:t>Use a deduplicated, held-out slice as a stress test; disclose selection and overlap.</a:t>
            </a:r>
          </a:p>
        </p:txBody>
      </p:sp>
      <p:cxnSp>
        <p:nvCxnSpPr>
          <p:cNvPr id="31" name="Connector 30"/>
          <p:cNvCxnSpPr/>
          <p:nvPr/>
        </p:nvCxnSpPr>
        <p:spPr>
          <a:xfrm>
            <a:off x="621792" y="5477256"/>
            <a:ext cx="10917936" cy="0"/>
          </a:xfrm>
          <a:prstGeom prst="line">
            <a:avLst/>
          </a:prstGeom>
          <a:ln w="8890">
            <a:solidFill>
              <a:srgbClr val="DCDCDC"/>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8368" y="5650992"/>
            <a:ext cx="10789920" cy="198388"/>
          </a:xfrm>
          <a:prstGeom prst="rect">
            <a:avLst/>
          </a:prstGeom>
          <a:noFill/>
        </p:spPr>
        <p:txBody>
          <a:bodyPr wrap="square" lIns="32004" tIns="22860" rIns="32004" bIns="18288" anchor="t">
            <a:spAutoFit/>
          </a:bodyPr>
          <a:lstStyle/>
          <a:p>
            <a:pPr algn="l"/>
            <a:r>
              <a:rPr sz="1019" b="1" dirty="0">
                <a:solidFill>
                  <a:srgbClr val="191919"/>
                </a:solidFill>
                <a:latin typeface="Aptos"/>
              </a:rPr>
              <a:t>Out of initial scope: hidden/steganographic image instructions, structured flowchart attacks, multilingual and multi-turn variants.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DATASETS AND BENCHMARKS</a:t>
            </a:r>
          </a:p>
        </p:txBody>
      </p:sp>
      <p:sp>
        <p:nvSpPr>
          <p:cNvPr id="3" name="TextBox 2"/>
          <p:cNvSpPr txBox="1"/>
          <p:nvPr/>
        </p:nvSpPr>
        <p:spPr>
          <a:xfrm>
            <a:off x="566928" y="566928"/>
            <a:ext cx="10972800" cy="406265"/>
          </a:xfrm>
          <a:prstGeom prst="rect">
            <a:avLst/>
          </a:prstGeom>
          <a:noFill/>
        </p:spPr>
        <p:txBody>
          <a:bodyPr wrap="square" lIns="27432" tIns="18288" rIns="27432" bIns="18288" anchor="t">
            <a:spAutoFit/>
          </a:bodyPr>
          <a:lstStyle/>
          <a:p>
            <a:r>
              <a:rPr sz="2400" b="1" dirty="0">
                <a:latin typeface="Aptos" panose="020B0004020202020204" pitchFamily="34" charset="0"/>
              </a:rPr>
              <a:t>Separate training data from locked evaluation benchmarks</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Source counts: VLSBench [2], USB [3], VLGuard [5], SPA-VL [6], HoliSafe [8]</a:t>
            </a:r>
          </a:p>
        </p:txBody>
      </p:sp>
      <p:sp>
        <p:nvSpPr>
          <p:cNvPr id="6" name="TextBox 5"/>
          <p:cNvSpPr txBox="1"/>
          <p:nvPr/>
        </p:nvSpPr>
        <p:spPr>
          <a:xfrm>
            <a:off x="11082528" y="6473952"/>
            <a:ext cx="438912" cy="201168"/>
          </a:xfrm>
          <a:prstGeom prst="rect">
            <a:avLst/>
          </a:prstGeom>
          <a:noFill/>
        </p:spPr>
        <p:txBody>
          <a:bodyPr wrap="square" lIns="27432" tIns="18288" rIns="27432" bIns="18288" anchor="t">
            <a:spAutoFit/>
          </a:bodyPr>
          <a:lstStyle/>
          <a:p>
            <a:r>
              <a:t>11</a:t>
            </a:r>
          </a:p>
        </p:txBody>
      </p:sp>
      <p:graphicFrame>
        <p:nvGraphicFramePr>
          <p:cNvPr id="7" name="Table 6"/>
          <p:cNvGraphicFramePr>
            <a:graphicFrameLocks noGrp="1"/>
          </p:cNvGraphicFramePr>
          <p:nvPr>
            <p:extLst>
              <p:ext uri="{D42A27DB-BD31-4B8C-83A1-F6EECF244321}">
                <p14:modId xmlns:p14="http://schemas.microsoft.com/office/powerpoint/2010/main" val="2081046877"/>
              </p:ext>
            </p:extLst>
          </p:nvPr>
        </p:nvGraphicFramePr>
        <p:xfrm>
          <a:off x="685800" y="1481328"/>
          <a:ext cx="10836842" cy="4526280"/>
        </p:xfrm>
        <a:graphic>
          <a:graphicData uri="http://schemas.openxmlformats.org/drawingml/2006/table">
            <a:tbl>
              <a:tblPr firstRow="1" bandRow="1">
                <a:tableStyleId>{5C22544A-7EE6-4342-B048-85BDC9FD1C3A}</a:tableStyleId>
              </a:tblPr>
              <a:tblGrid>
                <a:gridCol w="861441">
                  <a:extLst>
                    <a:ext uri="{9D8B030D-6E8A-4147-A177-3AD203B41FA5}">
                      <a16:colId xmlns:a16="http://schemas.microsoft.com/office/drawing/2014/main" val="20000"/>
                    </a:ext>
                  </a:extLst>
                </a:gridCol>
                <a:gridCol w="3834769">
                  <a:extLst>
                    <a:ext uri="{9D8B030D-6E8A-4147-A177-3AD203B41FA5}">
                      <a16:colId xmlns:a16="http://schemas.microsoft.com/office/drawing/2014/main" val="20001"/>
                    </a:ext>
                  </a:extLst>
                </a:gridCol>
                <a:gridCol w="6140632">
                  <a:extLst>
                    <a:ext uri="{9D8B030D-6E8A-4147-A177-3AD203B41FA5}">
                      <a16:colId xmlns:a16="http://schemas.microsoft.com/office/drawing/2014/main" val="20002"/>
                    </a:ext>
                  </a:extLst>
                </a:gridCol>
              </a:tblGrid>
              <a:tr h="754380">
                <a:tc>
                  <a:txBody>
                    <a:bodyPr/>
                    <a:lstStyle/>
                    <a:p>
                      <a:pPr>
                        <a:spcAft>
                          <a:spcPts val="0"/>
                        </a:spcAft>
                      </a:pPr>
                      <a:r>
                        <a:rPr sz="1100" b="1" dirty="0">
                          <a:solidFill>
                            <a:srgbClr val="2D2D2D"/>
                          </a:solidFill>
                          <a:latin typeface="Aptos"/>
                        </a:rPr>
                        <a:t>Resource</a:t>
                      </a:r>
                    </a:p>
                  </a:txBody>
                  <a:tcPr marL="73152" marR="54864" marT="36576" marB="27432" anchor="ctr">
                    <a:solidFill>
                      <a:srgbClr val="F2F2F2"/>
                    </a:solidFill>
                  </a:tcPr>
                </a:tc>
                <a:tc>
                  <a:txBody>
                    <a:bodyPr/>
                    <a:lstStyle/>
                    <a:p>
                      <a:pPr>
                        <a:spcAft>
                          <a:spcPts val="0"/>
                        </a:spcAft>
                      </a:pPr>
                      <a:r>
                        <a:rPr sz="1100" b="1" dirty="0">
                          <a:solidFill>
                            <a:srgbClr val="2D2D2D"/>
                          </a:solidFill>
                          <a:latin typeface="Aptos"/>
                        </a:rPr>
                        <a:t>Scale / structure</a:t>
                      </a:r>
                    </a:p>
                  </a:txBody>
                  <a:tcPr marL="73152" marR="54864" marT="36576" marB="27432" anchor="ctr">
                    <a:solidFill>
                      <a:srgbClr val="F2F2F2"/>
                    </a:solidFill>
                  </a:tcPr>
                </a:tc>
                <a:tc>
                  <a:txBody>
                    <a:bodyPr/>
                    <a:lstStyle/>
                    <a:p>
                      <a:pPr>
                        <a:spcAft>
                          <a:spcPts val="0"/>
                        </a:spcAft>
                      </a:pPr>
                      <a:r>
                        <a:rPr sz="1100" b="1" dirty="0">
                          <a:solidFill>
                            <a:srgbClr val="2D2D2D"/>
                          </a:solidFill>
                          <a:latin typeface="Aptos"/>
                        </a:rPr>
                        <a:t>Use and caution</a:t>
                      </a:r>
                    </a:p>
                  </a:txBody>
                  <a:tcPr marL="73152" marR="54864" marT="36576" marB="27432" anchor="ctr">
                    <a:solidFill>
                      <a:srgbClr val="F2F2F2"/>
                    </a:solidFill>
                  </a:tcPr>
                </a:tc>
                <a:extLst>
                  <a:ext uri="{0D108BD9-81ED-4DB2-BD59-A6C34878D82A}">
                    <a16:rowId xmlns:a16="http://schemas.microsoft.com/office/drawing/2014/main" val="10000"/>
                  </a:ext>
                </a:extLst>
              </a:tr>
              <a:tr h="754380">
                <a:tc>
                  <a:txBody>
                    <a:bodyPr/>
                    <a:lstStyle/>
                    <a:p>
                      <a:pPr>
                        <a:spcAft>
                          <a:spcPts val="0"/>
                        </a:spcAft>
                      </a:pPr>
                      <a:r>
                        <a:rPr sz="1200" b="1" dirty="0" err="1">
                          <a:solidFill>
                            <a:srgbClr val="2D2D2D"/>
                          </a:solidFill>
                          <a:latin typeface="Aptos"/>
                        </a:rPr>
                        <a:t>VLGuard</a:t>
                      </a:r>
                      <a:endParaRPr sz="1200" b="1" dirty="0">
                        <a:solidFill>
                          <a:srgbClr val="2D2D2D"/>
                        </a:solidFill>
                        <a:latin typeface="Aptos"/>
                      </a:endParaRP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2,000 train images; ~3,000 pairs; </a:t>
                      </a:r>
                      <a:endParaRPr lang="en-US" sz="1200" b="0" dirty="0">
                        <a:solidFill>
                          <a:srgbClr val="2D2D2D"/>
                        </a:solidFill>
                        <a:latin typeface="Aptos"/>
                      </a:endParaRPr>
                    </a:p>
                    <a:p>
                      <a:pPr>
                        <a:spcAft>
                          <a:spcPts val="0"/>
                        </a:spcAft>
                      </a:pPr>
                      <a:r>
                        <a:rPr sz="1200" b="0" dirty="0">
                          <a:solidFill>
                            <a:srgbClr val="2D2D2D"/>
                          </a:solidFill>
                          <a:latin typeface="Aptos"/>
                        </a:rPr>
                        <a:t>1,000 test images</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Safety-SFT baseline;</a:t>
                      </a:r>
                      <a:endParaRPr lang="en-US" sz="1200" b="0" dirty="0">
                        <a:solidFill>
                          <a:srgbClr val="2D2D2D"/>
                        </a:solidFill>
                        <a:latin typeface="Aptos"/>
                      </a:endParaRPr>
                    </a:p>
                    <a:p>
                      <a:pPr>
                        <a:spcAft>
                          <a:spcPts val="0"/>
                        </a:spcAft>
                      </a:pPr>
                      <a:r>
                        <a:rPr sz="1200" b="0" dirty="0">
                          <a:solidFill>
                            <a:srgbClr val="2D2D2D"/>
                          </a:solidFill>
                          <a:latin typeface="Aptos"/>
                        </a:rPr>
                        <a:t> include benign-helpfulness controls</a:t>
                      </a:r>
                    </a:p>
                  </a:txBody>
                  <a:tcPr marL="73152" marR="54864" marT="36576" marB="27432" anchor="ctr">
                    <a:solidFill>
                      <a:srgbClr val="FFFFFF"/>
                    </a:solidFill>
                  </a:tcPr>
                </a:tc>
                <a:extLst>
                  <a:ext uri="{0D108BD9-81ED-4DB2-BD59-A6C34878D82A}">
                    <a16:rowId xmlns:a16="http://schemas.microsoft.com/office/drawing/2014/main" val="10001"/>
                  </a:ext>
                </a:extLst>
              </a:tr>
              <a:tr h="754380">
                <a:tc>
                  <a:txBody>
                    <a:bodyPr/>
                    <a:lstStyle/>
                    <a:p>
                      <a:pPr>
                        <a:spcAft>
                          <a:spcPts val="0"/>
                        </a:spcAft>
                      </a:pPr>
                      <a:r>
                        <a:rPr sz="1200" b="1" dirty="0">
                          <a:solidFill>
                            <a:srgbClr val="2D2D2D"/>
                          </a:solidFill>
                          <a:latin typeface="Aptos"/>
                        </a:rPr>
                        <a:t>SPA-VL</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100,788 preference records;</a:t>
                      </a:r>
                      <a:endParaRPr lang="en-US" sz="1200" b="0" dirty="0">
                        <a:solidFill>
                          <a:srgbClr val="2D2D2D"/>
                        </a:solidFill>
                        <a:latin typeface="Aptos"/>
                      </a:endParaRPr>
                    </a:p>
                    <a:p>
                      <a:pPr>
                        <a:spcAft>
                          <a:spcPts val="0"/>
                        </a:spcAft>
                      </a:pPr>
                      <a:r>
                        <a:rPr sz="1200" b="0" dirty="0">
                          <a:solidFill>
                            <a:srgbClr val="2D2D2D"/>
                          </a:solidFill>
                          <a:latin typeface="Aptos"/>
                        </a:rPr>
                        <a:t> 6 domains / 1</a:t>
                      </a:r>
                      <a:r>
                        <a:rPr lang="en-US" sz="1200" b="0" dirty="0">
                          <a:solidFill>
                            <a:srgbClr val="2D2D2D"/>
                          </a:solidFill>
                          <a:latin typeface="Aptos"/>
                        </a:rPr>
                        <a:t>5</a:t>
                      </a:r>
                      <a:r>
                        <a:rPr sz="1200" b="0" dirty="0">
                          <a:solidFill>
                            <a:srgbClr val="2D2D2D"/>
                          </a:solidFill>
                          <a:latin typeface="Aptos"/>
                        </a:rPr>
                        <a:t> categories / 53 subcategories</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Preference data; </a:t>
                      </a:r>
                      <a:endParaRPr lang="en-US" sz="1200" b="0" dirty="0">
                        <a:solidFill>
                          <a:srgbClr val="2D2D2D"/>
                        </a:solidFill>
                        <a:latin typeface="Aptos"/>
                      </a:endParaRPr>
                    </a:p>
                    <a:p>
                      <a:pPr>
                        <a:spcAft>
                          <a:spcPts val="0"/>
                        </a:spcAft>
                      </a:pPr>
                      <a:r>
                        <a:rPr lang="en-US" sz="1200" b="0" dirty="0">
                          <a:solidFill>
                            <a:srgbClr val="2D2D2D"/>
                          </a:solidFill>
                          <a:latin typeface="Aptos"/>
                        </a:rPr>
                        <a:t>s</a:t>
                      </a:r>
                      <a:r>
                        <a:rPr sz="1200" b="0" dirty="0">
                          <a:solidFill>
                            <a:srgbClr val="2D2D2D"/>
                          </a:solidFill>
                          <a:latin typeface="Aptos"/>
                        </a:rPr>
                        <a:t>plit by source intent and avoid test overlap</a:t>
                      </a:r>
                    </a:p>
                  </a:txBody>
                  <a:tcPr marL="73152" marR="54864" marT="36576" marB="27432" anchor="ctr">
                    <a:solidFill>
                      <a:srgbClr val="FFFFFF"/>
                    </a:solidFill>
                  </a:tcPr>
                </a:tc>
                <a:extLst>
                  <a:ext uri="{0D108BD9-81ED-4DB2-BD59-A6C34878D82A}">
                    <a16:rowId xmlns:a16="http://schemas.microsoft.com/office/drawing/2014/main" val="10002"/>
                  </a:ext>
                </a:extLst>
              </a:tr>
              <a:tr h="754380">
                <a:tc>
                  <a:txBody>
                    <a:bodyPr/>
                    <a:lstStyle/>
                    <a:p>
                      <a:pPr>
                        <a:spcAft>
                          <a:spcPts val="0"/>
                        </a:spcAft>
                      </a:pPr>
                      <a:r>
                        <a:rPr sz="1200" b="1">
                          <a:solidFill>
                            <a:srgbClr val="2D2D2D"/>
                          </a:solidFill>
                          <a:latin typeface="Aptos"/>
                        </a:rPr>
                        <a:t>HoliSafe</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14,246 </a:t>
                      </a:r>
                      <a:r>
                        <a:rPr lang="en-US" sz="1200" b="0" dirty="0">
                          <a:solidFill>
                            <a:srgbClr val="2D2D2D"/>
                          </a:solidFill>
                          <a:latin typeface="Aptos"/>
                        </a:rPr>
                        <a:t>total </a:t>
                      </a:r>
                      <a:r>
                        <a:rPr sz="1200" b="0" dirty="0">
                          <a:solidFill>
                            <a:srgbClr val="2D2D2D"/>
                          </a:solidFill>
                          <a:latin typeface="Aptos"/>
                        </a:rPr>
                        <a:t>pairs</a:t>
                      </a:r>
                      <a:r>
                        <a:rPr lang="en-US" sz="1200" b="0" dirty="0">
                          <a:solidFill>
                            <a:srgbClr val="2D2D2D"/>
                          </a:solidFill>
                          <a:latin typeface="Aptos"/>
                        </a:rPr>
                        <a:t>: </a:t>
                      </a:r>
                      <a:r>
                        <a:rPr sz="1200" b="0" dirty="0">
                          <a:solidFill>
                            <a:srgbClr val="2D2D2D"/>
                          </a:solidFill>
                          <a:latin typeface="Aptos"/>
                        </a:rPr>
                        <a:t>10,215 train</a:t>
                      </a:r>
                      <a:r>
                        <a:rPr lang="en-US" sz="1200" b="0" dirty="0">
                          <a:solidFill>
                            <a:srgbClr val="2D2D2D"/>
                          </a:solidFill>
                          <a:latin typeface="Aptos"/>
                        </a:rPr>
                        <a:t>ing, and </a:t>
                      </a:r>
                      <a:r>
                        <a:rPr sz="1200" b="0" dirty="0">
                          <a:solidFill>
                            <a:srgbClr val="2D2D2D"/>
                          </a:solidFill>
                          <a:latin typeface="Aptos"/>
                        </a:rPr>
                        <a:t>4,031 test QA </a:t>
                      </a:r>
                      <a:r>
                        <a:rPr lang="en-US" sz="1200" b="0" dirty="0">
                          <a:solidFill>
                            <a:srgbClr val="2D2D2D"/>
                          </a:solidFill>
                          <a:latin typeface="Aptos"/>
                        </a:rPr>
                        <a:t>examples </a:t>
                      </a:r>
                      <a:r>
                        <a:rPr sz="1200" b="0" dirty="0">
                          <a:solidFill>
                            <a:srgbClr val="2D2D2D"/>
                          </a:solidFill>
                          <a:latin typeface="Aptos"/>
                        </a:rPr>
                        <a:t>on 1,796 images</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Five input/outcome states; </a:t>
                      </a:r>
                      <a:endParaRPr lang="en-US" sz="1200" b="0" dirty="0">
                        <a:solidFill>
                          <a:srgbClr val="2D2D2D"/>
                        </a:solidFill>
                        <a:latin typeface="Aptos"/>
                      </a:endParaRPr>
                    </a:p>
                    <a:p>
                      <a:pPr>
                        <a:spcAft>
                          <a:spcPts val="0"/>
                        </a:spcAft>
                      </a:pPr>
                      <a:r>
                        <a:rPr sz="1200" b="0" dirty="0">
                          <a:solidFill>
                            <a:srgbClr val="2D2D2D"/>
                          </a:solidFill>
                          <a:latin typeface="Aptos"/>
                        </a:rPr>
                        <a:t>benchmark plus visual guard</a:t>
                      </a:r>
                    </a:p>
                  </a:txBody>
                  <a:tcPr marL="73152" marR="54864" marT="36576" marB="27432" anchor="ctr">
                    <a:solidFill>
                      <a:srgbClr val="FFFFFF"/>
                    </a:solidFill>
                  </a:tcPr>
                </a:tc>
                <a:extLst>
                  <a:ext uri="{0D108BD9-81ED-4DB2-BD59-A6C34878D82A}">
                    <a16:rowId xmlns:a16="http://schemas.microsoft.com/office/drawing/2014/main" val="10003"/>
                  </a:ext>
                </a:extLst>
              </a:tr>
              <a:tr h="754380">
                <a:tc>
                  <a:txBody>
                    <a:bodyPr/>
                    <a:lstStyle/>
                    <a:p>
                      <a:pPr>
                        <a:spcAft>
                          <a:spcPts val="0"/>
                        </a:spcAft>
                      </a:pPr>
                      <a:r>
                        <a:rPr sz="1200" b="1">
                          <a:solidFill>
                            <a:srgbClr val="2D2D2D"/>
                          </a:solidFill>
                          <a:latin typeface="Aptos"/>
                        </a:rPr>
                        <a:t>VLSBench</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2,241 pairs; 1,957 images; </a:t>
                      </a:r>
                      <a:endParaRPr lang="en-US" sz="1200" b="0" dirty="0">
                        <a:solidFill>
                          <a:srgbClr val="2D2D2D"/>
                        </a:solidFill>
                        <a:latin typeface="Aptos"/>
                      </a:endParaRPr>
                    </a:p>
                    <a:p>
                      <a:pPr>
                        <a:spcAft>
                          <a:spcPts val="0"/>
                        </a:spcAft>
                      </a:pPr>
                      <a:r>
                        <a:rPr sz="1200" b="0" dirty="0">
                          <a:solidFill>
                            <a:srgbClr val="2D2D2D"/>
                          </a:solidFill>
                          <a:latin typeface="Aptos"/>
                        </a:rPr>
                        <a:t>6 categories / 19 subcategories</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Leakless visual-safety test </a:t>
                      </a:r>
                      <a:endParaRPr lang="en-US" sz="1200" b="0" dirty="0">
                        <a:solidFill>
                          <a:srgbClr val="2D2D2D"/>
                        </a:solidFill>
                        <a:latin typeface="Aptos"/>
                      </a:endParaRPr>
                    </a:p>
                    <a:p>
                      <a:pPr>
                        <a:spcAft>
                          <a:spcPts val="0"/>
                        </a:spcAft>
                      </a:pPr>
                      <a:r>
                        <a:rPr lang="en-US" sz="1200" b="0" dirty="0">
                          <a:solidFill>
                            <a:srgbClr val="2D2D2D"/>
                          </a:solidFill>
                          <a:latin typeface="Aptos"/>
                        </a:rPr>
                        <a:t>a</a:t>
                      </a:r>
                      <a:r>
                        <a:rPr sz="1200" b="0" dirty="0">
                          <a:solidFill>
                            <a:srgbClr val="2D2D2D"/>
                          </a:solidFill>
                          <a:latin typeface="Aptos"/>
                        </a:rPr>
                        <a:t>nd image-ablation controls</a:t>
                      </a:r>
                    </a:p>
                  </a:txBody>
                  <a:tcPr marL="73152" marR="54864" marT="36576" marB="27432" anchor="ctr">
                    <a:solidFill>
                      <a:srgbClr val="FFFFFF"/>
                    </a:solidFill>
                  </a:tcPr>
                </a:tc>
                <a:extLst>
                  <a:ext uri="{0D108BD9-81ED-4DB2-BD59-A6C34878D82A}">
                    <a16:rowId xmlns:a16="http://schemas.microsoft.com/office/drawing/2014/main" val="10004"/>
                  </a:ext>
                </a:extLst>
              </a:tr>
              <a:tr h="754380">
                <a:tc>
                  <a:txBody>
                    <a:bodyPr/>
                    <a:lstStyle/>
                    <a:p>
                      <a:pPr>
                        <a:spcAft>
                          <a:spcPts val="0"/>
                        </a:spcAft>
                      </a:pPr>
                      <a:r>
                        <a:rPr sz="1200" b="1">
                          <a:solidFill>
                            <a:srgbClr val="2D2D2D"/>
                          </a:solidFill>
                          <a:latin typeface="Aptos"/>
                        </a:rPr>
                        <a:t>USB</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13,175 Base + 3,785 Hard; </a:t>
                      </a:r>
                      <a:endParaRPr lang="en-US" sz="1200" b="0" dirty="0">
                        <a:solidFill>
                          <a:srgbClr val="2D2D2D"/>
                        </a:solidFill>
                        <a:latin typeface="Aptos"/>
                      </a:endParaRPr>
                    </a:p>
                    <a:p>
                      <a:pPr>
                        <a:spcAft>
                          <a:spcPts val="0"/>
                        </a:spcAft>
                      </a:pPr>
                      <a:r>
                        <a:rPr sz="1200" b="0" dirty="0">
                          <a:solidFill>
                            <a:srgbClr val="2D2D2D"/>
                          </a:solidFill>
                          <a:latin typeface="Aptos"/>
                        </a:rPr>
                        <a:t>61 categories × 4 modality combos</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Broad coverage; preserve stratum </a:t>
                      </a:r>
                      <a:endParaRPr lang="en-US" sz="1200" b="0" dirty="0">
                        <a:solidFill>
                          <a:srgbClr val="2D2D2D"/>
                        </a:solidFill>
                        <a:latin typeface="Aptos"/>
                      </a:endParaRPr>
                    </a:p>
                    <a:p>
                      <a:pPr>
                        <a:spcAft>
                          <a:spcPts val="0"/>
                        </a:spcAft>
                      </a:pPr>
                      <a:r>
                        <a:rPr sz="1200" b="0" dirty="0">
                          <a:solidFill>
                            <a:srgbClr val="2D2D2D"/>
                          </a:solidFill>
                          <a:latin typeface="Aptos"/>
                        </a:rPr>
                        <a:t>and SR/RR definitions</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cxnSp>
        <p:nvCxnSpPr>
          <p:cNvPr id="8" name="Connector 7"/>
          <p:cNvCxnSpPr/>
          <p:nvPr/>
        </p:nvCxnSpPr>
        <p:spPr>
          <a:xfrm>
            <a:off x="1465690" y="1481328"/>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396849" y="1475417"/>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223570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74914" y="3022745"/>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 y="368430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 y="449884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 y="525322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 y="148132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 y="600760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 y="1481328"/>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67160" y="1481328"/>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 name="Connector 8">
            <a:extLst>
              <a:ext uri="{FF2B5EF4-FFF2-40B4-BE49-F238E27FC236}">
                <a16:creationId xmlns:a16="http://schemas.microsoft.com/office/drawing/2014/main" id="{B79A9768-3B61-B4C3-91A3-180DCC6E6094}"/>
              </a:ext>
            </a:extLst>
          </p:cNvPr>
          <p:cNvCxnSpPr/>
          <p:nvPr/>
        </p:nvCxnSpPr>
        <p:spPr>
          <a:xfrm>
            <a:off x="8515892" y="1481328"/>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0E70D7E-BEF0-4BD0-693B-2ED753654B36}"/>
              </a:ext>
            </a:extLst>
          </p:cNvPr>
          <p:cNvSpPr txBox="1"/>
          <p:nvPr/>
        </p:nvSpPr>
        <p:spPr>
          <a:xfrm>
            <a:off x="8515891" y="2424460"/>
            <a:ext cx="2990306" cy="446276"/>
          </a:xfrm>
          <a:prstGeom prst="rect">
            <a:avLst/>
          </a:prstGeom>
          <a:noFill/>
        </p:spPr>
        <p:txBody>
          <a:bodyPr wrap="square" rtlCol="0">
            <a:spAutoFit/>
          </a:bodyPr>
          <a:lstStyle/>
          <a:p>
            <a:r>
              <a:rPr lang="en-US" sz="1100" dirty="0" err="1"/>
              <a:t>VLGuard</a:t>
            </a:r>
            <a:r>
              <a:rPr lang="en-US" sz="1100" dirty="0"/>
              <a:t> lists images and </a:t>
            </a:r>
            <a:r>
              <a:rPr lang="en-US" sz="1200" dirty="0"/>
              <a:t>instruction-response</a:t>
            </a:r>
            <a:r>
              <a:rPr lang="en-US" sz="1100" dirty="0"/>
              <a:t> pairs</a:t>
            </a:r>
          </a:p>
        </p:txBody>
      </p:sp>
      <p:sp>
        <p:nvSpPr>
          <p:cNvPr id="21" name="TextBox 20">
            <a:extLst>
              <a:ext uri="{FF2B5EF4-FFF2-40B4-BE49-F238E27FC236}">
                <a16:creationId xmlns:a16="http://schemas.microsoft.com/office/drawing/2014/main" id="{9E2010C4-C6E2-E1ED-116D-5B7265A61B36}"/>
              </a:ext>
            </a:extLst>
          </p:cNvPr>
          <p:cNvSpPr txBox="1"/>
          <p:nvPr/>
        </p:nvSpPr>
        <p:spPr>
          <a:xfrm>
            <a:off x="8806811" y="4717847"/>
            <a:ext cx="2110321" cy="276999"/>
          </a:xfrm>
          <a:prstGeom prst="rect">
            <a:avLst/>
          </a:prstGeom>
          <a:noFill/>
        </p:spPr>
        <p:txBody>
          <a:bodyPr wrap="none" rtlCol="0">
            <a:spAutoFit/>
          </a:bodyPr>
          <a:lstStyle/>
          <a:p>
            <a:r>
              <a:rPr lang="en-US" sz="1200" dirty="0" err="1"/>
              <a:t>VLSBench</a:t>
            </a:r>
            <a:r>
              <a:rPr lang="en-US" sz="1200" dirty="0"/>
              <a:t> lists image-text pairs</a:t>
            </a:r>
          </a:p>
        </p:txBody>
      </p:sp>
      <p:sp>
        <p:nvSpPr>
          <p:cNvPr id="22" name="TextBox 21">
            <a:extLst>
              <a:ext uri="{FF2B5EF4-FFF2-40B4-BE49-F238E27FC236}">
                <a16:creationId xmlns:a16="http://schemas.microsoft.com/office/drawing/2014/main" id="{6FB769FA-48C6-7DFF-6103-FE2DE155FD33}"/>
              </a:ext>
            </a:extLst>
          </p:cNvPr>
          <p:cNvSpPr txBox="1"/>
          <p:nvPr/>
        </p:nvSpPr>
        <p:spPr>
          <a:xfrm>
            <a:off x="8916487" y="3255338"/>
            <a:ext cx="2100127" cy="276999"/>
          </a:xfrm>
          <a:prstGeom prst="rect">
            <a:avLst/>
          </a:prstGeom>
          <a:noFill/>
        </p:spPr>
        <p:txBody>
          <a:bodyPr wrap="none" rtlCol="0">
            <a:spAutoFit/>
          </a:bodyPr>
          <a:lstStyle/>
          <a:p>
            <a:r>
              <a:rPr lang="en-US" sz="1200" dirty="0"/>
              <a:t>SPA-VL lists preference records</a:t>
            </a:r>
          </a:p>
        </p:txBody>
      </p:sp>
      <p:sp>
        <p:nvSpPr>
          <p:cNvPr id="23" name="TextBox 22">
            <a:extLst>
              <a:ext uri="{FF2B5EF4-FFF2-40B4-BE49-F238E27FC236}">
                <a16:creationId xmlns:a16="http://schemas.microsoft.com/office/drawing/2014/main" id="{36F7F881-8A51-F4BA-B98A-72DBD5FE1029}"/>
              </a:ext>
            </a:extLst>
          </p:cNvPr>
          <p:cNvSpPr txBox="1"/>
          <p:nvPr/>
        </p:nvSpPr>
        <p:spPr>
          <a:xfrm>
            <a:off x="8524867" y="3774653"/>
            <a:ext cx="2996573" cy="646331"/>
          </a:xfrm>
          <a:prstGeom prst="rect">
            <a:avLst/>
          </a:prstGeom>
          <a:noFill/>
        </p:spPr>
        <p:txBody>
          <a:bodyPr wrap="square" rtlCol="0">
            <a:spAutoFit/>
          </a:bodyPr>
          <a:lstStyle/>
          <a:p>
            <a:r>
              <a:rPr lang="en-US" sz="1200" dirty="0" err="1"/>
              <a:t>HoliSafe’s</a:t>
            </a:r>
            <a:r>
              <a:rPr lang="en-US" sz="1200" dirty="0"/>
              <a:t> 14,246 pairs cover the full dataset: training pairs. It is a count of QA pairs, associated with 1,796 images</a:t>
            </a:r>
          </a:p>
        </p:txBody>
      </p:sp>
      <p:sp>
        <p:nvSpPr>
          <p:cNvPr id="24" name="TextBox 23">
            <a:extLst>
              <a:ext uri="{FF2B5EF4-FFF2-40B4-BE49-F238E27FC236}">
                <a16:creationId xmlns:a16="http://schemas.microsoft.com/office/drawing/2014/main" id="{CC5761FA-565D-C15B-5318-EDFA4088576C}"/>
              </a:ext>
            </a:extLst>
          </p:cNvPr>
          <p:cNvSpPr txBox="1"/>
          <p:nvPr/>
        </p:nvSpPr>
        <p:spPr>
          <a:xfrm>
            <a:off x="8806811" y="5490843"/>
            <a:ext cx="2319481" cy="276999"/>
          </a:xfrm>
          <a:prstGeom prst="rect">
            <a:avLst/>
          </a:prstGeom>
          <a:noFill/>
        </p:spPr>
        <p:txBody>
          <a:bodyPr wrap="none" rtlCol="0">
            <a:spAutoFit/>
          </a:bodyPr>
          <a:lstStyle/>
          <a:p>
            <a:r>
              <a:rPr lang="en-US" sz="1200" dirty="0"/>
              <a:t>USB lists Base and Hard samples.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EVIDENCE SNAPSHOTS</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Selected results: read each value in its own metric</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FigStep Table 1 [1]; VLSBench Fig. 1 [2]; ADPO Table 1 [7]; HoliSafe Table 3 [8]</a:t>
            </a:r>
          </a:p>
        </p:txBody>
      </p:sp>
      <p:sp>
        <p:nvSpPr>
          <p:cNvPr id="6" name="TextBox 5"/>
          <p:cNvSpPr txBox="1"/>
          <p:nvPr/>
        </p:nvSpPr>
        <p:spPr>
          <a:xfrm>
            <a:off x="11082528" y="6473952"/>
            <a:ext cx="438912" cy="201168"/>
          </a:xfrm>
          <a:prstGeom prst="rect">
            <a:avLst/>
          </a:prstGeom>
          <a:noFill/>
        </p:spPr>
        <p:txBody>
          <a:bodyPr wrap="square" lIns="27432" tIns="18288" rIns="27432" bIns="18288" anchor="t">
            <a:spAutoFit/>
          </a:bodyPr>
          <a:lstStyle/>
          <a:p>
            <a:r>
              <a:t>12</a:t>
            </a:r>
          </a:p>
        </p:txBody>
      </p:sp>
      <p:graphicFrame>
        <p:nvGraphicFramePr>
          <p:cNvPr id="7" name="Table 6"/>
          <p:cNvGraphicFramePr>
            <a:graphicFrameLocks noGrp="1"/>
          </p:cNvGraphicFramePr>
          <p:nvPr/>
        </p:nvGraphicFramePr>
        <p:xfrm>
          <a:off x="658368" y="1481328"/>
          <a:ext cx="10927079" cy="4315968"/>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863193">
                <a:tc>
                  <a:txBody>
                    <a:bodyPr/>
                    <a:lstStyle/>
                    <a:p>
                      <a:pPr>
                        <a:spcAft>
                          <a:spcPts val="0"/>
                        </a:spcAft>
                      </a:pPr>
                      <a:r>
                        <a:rPr sz="1200" b="1">
                          <a:solidFill>
                            <a:srgbClr val="2D2D2D"/>
                          </a:solidFill>
                          <a:latin typeface="Aptos"/>
                        </a:rPr>
                        <a:t>Paper/table</a:t>
                      </a:r>
                    </a:p>
                  </a:txBody>
                  <a:tcPr marL="73152" marR="54864" marT="36576" marB="27432" anchor="ctr">
                    <a:solidFill>
                      <a:srgbClr val="F2F2F2"/>
                    </a:solidFill>
                  </a:tcPr>
                </a:tc>
                <a:tc>
                  <a:txBody>
                    <a:bodyPr/>
                    <a:lstStyle/>
                    <a:p>
                      <a:pPr>
                        <a:spcAft>
                          <a:spcPts val="0"/>
                        </a:spcAft>
                      </a:pPr>
                      <a:r>
                        <a:rPr sz="1200" b="1">
                          <a:solidFill>
                            <a:srgbClr val="2D2D2D"/>
                          </a:solidFill>
                          <a:latin typeface="Aptos"/>
                        </a:rPr>
                        <a:t>Reported comparison</a:t>
                      </a:r>
                    </a:p>
                  </a:txBody>
                  <a:tcPr marL="73152" marR="54864" marT="36576" marB="27432" anchor="ctr">
                    <a:solidFill>
                      <a:srgbClr val="F2F2F2"/>
                    </a:solidFill>
                  </a:tcPr>
                </a:tc>
                <a:tc>
                  <a:txBody>
                    <a:bodyPr/>
                    <a:lstStyle/>
                    <a:p>
                      <a:pPr>
                        <a:spcAft>
                          <a:spcPts val="0"/>
                        </a:spcAft>
                      </a:pPr>
                      <a:r>
                        <a:rPr sz="1200" b="1">
                          <a:solidFill>
                            <a:srgbClr val="2D2D2D"/>
                          </a:solidFill>
                          <a:latin typeface="Aptos"/>
                        </a:rPr>
                        <a:t>Metric and interpretation</a:t>
                      </a:r>
                    </a:p>
                  </a:txBody>
                  <a:tcPr marL="73152" marR="54864" marT="36576" marB="27432" anchor="ctr">
                    <a:solidFill>
                      <a:srgbClr val="F2F2F2"/>
                    </a:solidFill>
                  </a:tcPr>
                </a:tc>
                <a:extLst>
                  <a:ext uri="{0D108BD9-81ED-4DB2-BD59-A6C34878D82A}">
                    <a16:rowId xmlns:a16="http://schemas.microsoft.com/office/drawing/2014/main" val="10000"/>
                  </a:ext>
                </a:extLst>
              </a:tr>
              <a:tr h="863193">
                <a:tc>
                  <a:txBody>
                    <a:bodyPr/>
                    <a:lstStyle/>
                    <a:p>
                      <a:pPr>
                        <a:spcAft>
                          <a:spcPts val="0"/>
                        </a:spcAft>
                      </a:pPr>
                      <a:r>
                        <a:rPr sz="1300" b="1">
                          <a:solidFill>
                            <a:srgbClr val="2D2D2D"/>
                          </a:solidFill>
                          <a:latin typeface="Aptos"/>
                        </a:rPr>
                        <a:t>FigStep, Table 1</a:t>
                      </a:r>
                    </a:p>
                  </a:txBody>
                  <a:tcPr marL="73152" marR="54864" marT="36576" marB="27432" anchor="ctr">
                    <a:solidFill>
                      <a:srgbClr val="FFFFFF"/>
                    </a:solidFill>
                  </a:tcPr>
                </a:tc>
                <a:tc>
                  <a:txBody>
                    <a:bodyPr/>
                    <a:lstStyle/>
                    <a:p>
                      <a:pPr>
                        <a:spcAft>
                          <a:spcPts val="0"/>
                        </a:spcAft>
                      </a:pPr>
                      <a:r>
                        <a:rPr sz="1300" b="0">
                          <a:solidFill>
                            <a:srgbClr val="2D2D2D"/>
                          </a:solidFill>
                          <a:latin typeface="Aptos"/>
                        </a:rPr>
                        <a:t>82.50% FigStep vs 44.80% vanilla harmful text</a:t>
                      </a:r>
                    </a:p>
                  </a:txBody>
                  <a:tcPr marL="73152" marR="54864" marT="36576" marB="27432" anchor="ctr">
                    <a:solidFill>
                      <a:srgbClr val="FFFFFF"/>
                    </a:solidFill>
                  </a:tcPr>
                </a:tc>
                <a:tc>
                  <a:txBody>
                    <a:bodyPr/>
                    <a:lstStyle/>
                    <a:p>
                      <a:pPr>
                        <a:spcAft>
                          <a:spcPts val="0"/>
                        </a:spcAft>
                      </a:pPr>
                      <a:r>
                        <a:rPr sz="1300" b="0">
                          <a:solidFill>
                            <a:srgbClr val="2D2D2D"/>
                          </a:solidFill>
                          <a:latin typeface="Aptos"/>
                        </a:rPr>
                        <a:t>Mean ASR across six evaluated open VLMs; lower is safer</a:t>
                      </a:r>
                    </a:p>
                  </a:txBody>
                  <a:tcPr marL="73152" marR="54864" marT="36576" marB="27432" anchor="ctr">
                    <a:solidFill>
                      <a:srgbClr val="FFFFFF"/>
                    </a:solidFill>
                  </a:tcPr>
                </a:tc>
                <a:extLst>
                  <a:ext uri="{0D108BD9-81ED-4DB2-BD59-A6C34878D82A}">
                    <a16:rowId xmlns:a16="http://schemas.microsoft.com/office/drawing/2014/main" val="10001"/>
                  </a:ext>
                </a:extLst>
              </a:tr>
              <a:tr h="863193">
                <a:tc>
                  <a:txBody>
                    <a:bodyPr/>
                    <a:lstStyle/>
                    <a:p>
                      <a:pPr>
                        <a:spcAft>
                          <a:spcPts val="0"/>
                        </a:spcAft>
                      </a:pPr>
                      <a:r>
                        <a:rPr sz="1300" b="1">
                          <a:solidFill>
                            <a:srgbClr val="2D2D2D"/>
                          </a:solidFill>
                          <a:latin typeface="Aptos"/>
                        </a:rPr>
                        <a:t>VLSBench, Fig. 1</a:t>
                      </a:r>
                    </a:p>
                  </a:txBody>
                  <a:tcPr marL="73152" marR="54864" marT="36576" marB="27432" anchor="ctr">
                    <a:solidFill>
                      <a:srgbClr val="FFFFFF"/>
                    </a:solidFill>
                  </a:tcPr>
                </a:tc>
                <a:tc>
                  <a:txBody>
                    <a:bodyPr/>
                    <a:lstStyle/>
                    <a:p>
                      <a:pPr>
                        <a:spcAft>
                          <a:spcPts val="0"/>
                        </a:spcAft>
                      </a:pPr>
                      <a:r>
                        <a:rPr sz="1300" b="0">
                          <a:solidFill>
                            <a:srgbClr val="2D2D2D"/>
                          </a:solidFill>
                          <a:latin typeface="Aptos"/>
                        </a:rPr>
                        <a:t>LLaVA-1.5-7B: 6.6 base; 21.3 MM-SFT; 27.0 MM-DPO</a:t>
                      </a:r>
                    </a:p>
                  </a:txBody>
                  <a:tcPr marL="73152" marR="54864" marT="36576" marB="27432" anchor="ctr">
                    <a:solidFill>
                      <a:srgbClr val="FFFFFF"/>
                    </a:solidFill>
                  </a:tcPr>
                </a:tc>
                <a:tc>
                  <a:txBody>
                    <a:bodyPr/>
                    <a:lstStyle/>
                    <a:p>
                      <a:pPr>
                        <a:spcAft>
                          <a:spcPts val="0"/>
                        </a:spcAft>
                      </a:pPr>
                      <a:r>
                        <a:rPr sz="1300" b="0">
                          <a:solidFill>
                            <a:srgbClr val="2D2D2D"/>
                          </a:solidFill>
                          <a:latin typeface="Aptos"/>
                        </a:rPr>
                        <a:t>Safety rate; higher is safer. Not ASR.</a:t>
                      </a:r>
                    </a:p>
                  </a:txBody>
                  <a:tcPr marL="73152" marR="54864" marT="36576" marB="27432" anchor="ctr">
                    <a:solidFill>
                      <a:srgbClr val="FFFFFF"/>
                    </a:solidFill>
                  </a:tcPr>
                </a:tc>
                <a:extLst>
                  <a:ext uri="{0D108BD9-81ED-4DB2-BD59-A6C34878D82A}">
                    <a16:rowId xmlns:a16="http://schemas.microsoft.com/office/drawing/2014/main" val="10002"/>
                  </a:ext>
                </a:extLst>
              </a:tr>
              <a:tr h="863193">
                <a:tc>
                  <a:txBody>
                    <a:bodyPr/>
                    <a:lstStyle/>
                    <a:p>
                      <a:pPr>
                        <a:spcAft>
                          <a:spcPts val="0"/>
                        </a:spcAft>
                      </a:pPr>
                      <a:r>
                        <a:rPr sz="1300" b="1">
                          <a:solidFill>
                            <a:srgbClr val="2D2D2D"/>
                          </a:solidFill>
                          <a:latin typeface="Aptos"/>
                        </a:rPr>
                        <a:t>ADPO, Table 1</a:t>
                      </a:r>
                    </a:p>
                  </a:txBody>
                  <a:tcPr marL="73152" marR="54864" marT="36576" marB="27432" anchor="ctr">
                    <a:solidFill>
                      <a:srgbClr val="FFFFFF"/>
                    </a:solidFill>
                  </a:tcPr>
                </a:tc>
                <a:tc>
                  <a:txBody>
                    <a:bodyPr/>
                    <a:lstStyle/>
                    <a:p>
                      <a:pPr>
                        <a:spcAft>
                          <a:spcPts val="0"/>
                        </a:spcAft>
                      </a:pPr>
                      <a:r>
                        <a:rPr sz="1300" b="0">
                          <a:solidFill>
                            <a:srgbClr val="2D2D2D"/>
                          </a:solidFill>
                          <a:latin typeface="Aptos"/>
                        </a:rPr>
                        <a:t>LLaVA ASR on VisualAdv: 64.5 base / 12.0 DPO / 5.0 ADPO</a:t>
                      </a:r>
                    </a:p>
                  </a:txBody>
                  <a:tcPr marL="73152" marR="54864" marT="36576" marB="27432" anchor="ctr">
                    <a:solidFill>
                      <a:srgbClr val="FFFFFF"/>
                    </a:solidFill>
                  </a:tcPr>
                </a:tc>
                <a:tc>
                  <a:txBody>
                    <a:bodyPr/>
                    <a:lstStyle/>
                    <a:p>
                      <a:pPr>
                        <a:spcAft>
                          <a:spcPts val="0"/>
                        </a:spcAft>
                      </a:pPr>
                      <a:r>
                        <a:rPr sz="1300" b="0">
                          <a:solidFill>
                            <a:srgbClr val="2D2D2D"/>
                          </a:solidFill>
                          <a:latin typeface="Aptos"/>
                        </a:rPr>
                        <a:t>Attack-specific ASR; lower is safer. Other columns are separate attacks.</a:t>
                      </a:r>
                    </a:p>
                  </a:txBody>
                  <a:tcPr marL="73152" marR="54864" marT="36576" marB="27432" anchor="ctr">
                    <a:solidFill>
                      <a:srgbClr val="FFFFFF"/>
                    </a:solidFill>
                  </a:tcPr>
                </a:tc>
                <a:extLst>
                  <a:ext uri="{0D108BD9-81ED-4DB2-BD59-A6C34878D82A}">
                    <a16:rowId xmlns:a16="http://schemas.microsoft.com/office/drawing/2014/main" val="10003"/>
                  </a:ext>
                </a:extLst>
              </a:tr>
              <a:tr h="863196">
                <a:tc>
                  <a:txBody>
                    <a:bodyPr/>
                    <a:lstStyle/>
                    <a:p>
                      <a:pPr>
                        <a:spcAft>
                          <a:spcPts val="0"/>
                        </a:spcAft>
                      </a:pPr>
                      <a:r>
                        <a:rPr sz="1300" b="1">
                          <a:solidFill>
                            <a:srgbClr val="2D2D2D"/>
                          </a:solidFill>
                          <a:latin typeface="Aptos"/>
                        </a:rPr>
                        <a:t>HoliSafe, Table 3</a:t>
                      </a:r>
                    </a:p>
                  </a:txBody>
                  <a:tcPr marL="73152" marR="54864" marT="36576" marB="27432" anchor="ctr">
                    <a:solidFill>
                      <a:srgbClr val="FFFFFF"/>
                    </a:solidFill>
                  </a:tcPr>
                </a:tc>
                <a:tc>
                  <a:txBody>
                    <a:bodyPr/>
                    <a:lstStyle/>
                    <a:p>
                      <a:pPr>
                        <a:spcAft>
                          <a:spcPts val="0"/>
                        </a:spcAft>
                      </a:pPr>
                      <a:r>
                        <a:rPr sz="1300" b="0">
                          <a:solidFill>
                            <a:srgbClr val="2D2D2D"/>
                          </a:solidFill>
                          <a:latin typeface="Aptos"/>
                        </a:rPr>
                        <a:t>SafeLLaVA-7B mASR: 8.8 Claude / 15.3 GPT-4o / 15.8 Gemini</a:t>
                      </a:r>
                    </a:p>
                  </a:txBody>
                  <a:tcPr marL="73152" marR="54864" marT="36576" marB="27432" anchor="ctr">
                    <a:solidFill>
                      <a:srgbClr val="FFFFFF"/>
                    </a:solidFill>
                  </a:tcPr>
                </a:tc>
                <a:tc>
                  <a:txBody>
                    <a:bodyPr/>
                    <a:lstStyle/>
                    <a:p>
                      <a:pPr>
                        <a:spcAft>
                          <a:spcPts val="0"/>
                        </a:spcAft>
                      </a:pPr>
                      <a:r>
                        <a:rPr sz="1300" b="0">
                          <a:solidFill>
                            <a:srgbClr val="2D2D2D"/>
                          </a:solidFill>
                          <a:latin typeface="Aptos"/>
                        </a:rPr>
                        <a:t>Judge-dependent mASR; safe-pair RR with Claude: 1.3%</a:t>
                      </a:r>
                    </a:p>
                  </a:txBody>
                  <a:tcPr marL="73152" marR="54864" marT="36576" marB="27432" anchor="ctr">
                    <a:solidFill>
                      <a:srgbClr val="FFFFFF"/>
                    </a:solidFill>
                  </a:tcPr>
                </a:tc>
                <a:extLst>
                  <a:ext uri="{0D108BD9-81ED-4DB2-BD59-A6C34878D82A}">
                    <a16:rowId xmlns:a16="http://schemas.microsoft.com/office/drawing/2014/main" val="10004"/>
                  </a:ext>
                </a:extLst>
              </a:tr>
            </a:tbl>
          </a:graphicData>
        </a:graphic>
      </p:graphicFrame>
      <p:cxnSp>
        <p:nvCxnSpPr>
          <p:cNvPr id="8" name="Connector 7"/>
          <p:cNvCxnSpPr/>
          <p:nvPr/>
        </p:nvCxnSpPr>
        <p:spPr>
          <a:xfrm>
            <a:off x="2532887" y="1481328"/>
            <a:ext cx="0" cy="4315968"/>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196327" y="1481328"/>
            <a:ext cx="0" cy="4315968"/>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8368" y="2344521"/>
            <a:ext cx="1092708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8368" y="3207715"/>
            <a:ext cx="1092708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 y="4070908"/>
            <a:ext cx="1092708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8368" y="4934102"/>
            <a:ext cx="1092708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8368" y="1481328"/>
            <a:ext cx="1092708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8368" y="5797296"/>
            <a:ext cx="1092708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8368" y="1481328"/>
            <a:ext cx="0" cy="4315968"/>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85448" y="1481328"/>
            <a:ext cx="0" cy="4315968"/>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5925312"/>
            <a:ext cx="10607040" cy="347472"/>
          </a:xfrm>
          <a:prstGeom prst="rect">
            <a:avLst/>
          </a:prstGeom>
          <a:noFill/>
        </p:spPr>
        <p:txBody>
          <a:bodyPr wrap="square" lIns="27432" tIns="18288" rIns="27432" bIns="18288" anchor="t">
            <a:spAutoFit/>
          </a:bodyPr>
          <a:lstStyle/>
          <a:p>
            <a:pPr algn="l"/>
            <a:r>
              <a:rPr sz="1200" b="1">
                <a:solidFill>
                  <a:srgbClr val="4B4B4B"/>
                </a:solidFill>
                <a:latin typeface="Aptos"/>
              </a:rPr>
              <a:t>These are not a cross-paper leaderboard: datasets, checkpoints, judges, and metric directions differ.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METHOD COMPARISON</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Alignment methods make different commitments</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VLGuard [5]; SPA-VL [6]; ADPO [7]; HoliSafe [8]; DAVSP [9]; Pragma-VL [10]</a:t>
            </a:r>
          </a:p>
        </p:txBody>
      </p:sp>
      <p:sp>
        <p:nvSpPr>
          <p:cNvPr id="6" name="TextBox 5"/>
          <p:cNvSpPr txBox="1"/>
          <p:nvPr/>
        </p:nvSpPr>
        <p:spPr>
          <a:xfrm>
            <a:off x="11082528" y="6473952"/>
            <a:ext cx="438912" cy="201168"/>
          </a:xfrm>
          <a:prstGeom prst="rect">
            <a:avLst/>
          </a:prstGeom>
          <a:noFill/>
        </p:spPr>
        <p:txBody>
          <a:bodyPr wrap="square" lIns="27432" tIns="18288" rIns="27432" bIns="18288" anchor="t">
            <a:spAutoFit/>
          </a:bodyPr>
          <a:lstStyle/>
          <a:p>
            <a:r>
              <a:t>13</a:t>
            </a:r>
          </a:p>
        </p:txBody>
      </p:sp>
      <p:graphicFrame>
        <p:nvGraphicFramePr>
          <p:cNvPr id="7" name="Table 6"/>
          <p:cNvGraphicFramePr>
            <a:graphicFrameLocks noGrp="1"/>
          </p:cNvGraphicFramePr>
          <p:nvPr>
            <p:extLst>
              <p:ext uri="{D42A27DB-BD31-4B8C-83A1-F6EECF244321}">
                <p14:modId xmlns:p14="http://schemas.microsoft.com/office/powerpoint/2010/main" val="451665112"/>
              </p:ext>
            </p:extLst>
          </p:nvPr>
        </p:nvGraphicFramePr>
        <p:xfrm>
          <a:off x="731520" y="1554480"/>
          <a:ext cx="10744200" cy="4856988"/>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739140">
                <a:tc>
                  <a:txBody>
                    <a:bodyPr/>
                    <a:lstStyle/>
                    <a:p>
                      <a:pPr>
                        <a:spcAft>
                          <a:spcPts val="0"/>
                        </a:spcAft>
                      </a:pPr>
                      <a:r>
                        <a:rPr sz="1100" b="1">
                          <a:solidFill>
                            <a:srgbClr val="2D2D2D"/>
                          </a:solidFill>
                          <a:latin typeface="Aptos"/>
                        </a:rPr>
                        <a:t>Method family</a:t>
                      </a:r>
                    </a:p>
                  </a:txBody>
                  <a:tcPr marL="73152" marR="54864" marT="36576" marB="27432" anchor="ctr">
                    <a:solidFill>
                      <a:srgbClr val="F2F2F2"/>
                    </a:solidFill>
                  </a:tcPr>
                </a:tc>
                <a:tc>
                  <a:txBody>
                    <a:bodyPr/>
                    <a:lstStyle/>
                    <a:p>
                      <a:pPr>
                        <a:spcAft>
                          <a:spcPts val="0"/>
                        </a:spcAft>
                      </a:pPr>
                      <a:r>
                        <a:rPr sz="1100" b="1">
                          <a:solidFill>
                            <a:srgbClr val="2D2D2D"/>
                          </a:solidFill>
                          <a:latin typeface="Aptos"/>
                        </a:rPr>
                        <a:t>Representative work</a:t>
                      </a:r>
                    </a:p>
                  </a:txBody>
                  <a:tcPr marL="73152" marR="54864" marT="36576" marB="27432" anchor="ctr">
                    <a:solidFill>
                      <a:srgbClr val="F2F2F2"/>
                    </a:solidFill>
                  </a:tcPr>
                </a:tc>
                <a:tc>
                  <a:txBody>
                    <a:bodyPr/>
                    <a:lstStyle/>
                    <a:p>
                      <a:pPr>
                        <a:spcAft>
                          <a:spcPts val="0"/>
                        </a:spcAft>
                      </a:pPr>
                      <a:r>
                        <a:rPr sz="1100" b="1">
                          <a:solidFill>
                            <a:srgbClr val="2D2D2D"/>
                          </a:solidFill>
                          <a:latin typeface="Aptos"/>
                        </a:rPr>
                        <a:t>Core intervention</a:t>
                      </a:r>
                    </a:p>
                  </a:txBody>
                  <a:tcPr marL="73152" marR="54864" marT="36576" marB="27432" anchor="ctr">
                    <a:solidFill>
                      <a:srgbClr val="F2F2F2"/>
                    </a:solidFill>
                  </a:tcPr>
                </a:tc>
                <a:tc>
                  <a:txBody>
                    <a:bodyPr/>
                    <a:lstStyle/>
                    <a:p>
                      <a:pPr>
                        <a:spcAft>
                          <a:spcPts val="0"/>
                        </a:spcAft>
                      </a:pPr>
                      <a:r>
                        <a:rPr sz="1100" b="1">
                          <a:solidFill>
                            <a:srgbClr val="2D2D2D"/>
                          </a:solidFill>
                          <a:latin typeface="Aptos"/>
                        </a:rPr>
                        <a:t>Key question for our audit</a:t>
                      </a:r>
                    </a:p>
                  </a:txBody>
                  <a:tcPr marL="73152" marR="54864" marT="36576" marB="27432" anchor="ctr">
                    <a:solidFill>
                      <a:srgbClr val="F2F2F2"/>
                    </a:solidFill>
                  </a:tcPr>
                </a:tc>
                <a:extLst>
                  <a:ext uri="{0D108BD9-81ED-4DB2-BD59-A6C34878D82A}">
                    <a16:rowId xmlns:a16="http://schemas.microsoft.com/office/drawing/2014/main" val="10000"/>
                  </a:ext>
                </a:extLst>
              </a:tr>
              <a:tr h="739140">
                <a:tc>
                  <a:txBody>
                    <a:bodyPr/>
                    <a:lstStyle/>
                    <a:p>
                      <a:pPr>
                        <a:spcAft>
                          <a:spcPts val="0"/>
                        </a:spcAft>
                      </a:pPr>
                      <a:r>
                        <a:rPr sz="1200" b="1">
                          <a:solidFill>
                            <a:srgbClr val="2D2D2D"/>
                          </a:solidFill>
                          <a:latin typeface="Aptos"/>
                        </a:rPr>
                        <a:t>Safety SFT</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VLGuard</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Tune on image-conditioned safe/unsafe responses</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Does benign answerability survive?</a:t>
                      </a:r>
                    </a:p>
                  </a:txBody>
                  <a:tcPr marL="73152" marR="54864" marT="36576" marB="27432" anchor="ctr">
                    <a:solidFill>
                      <a:srgbClr val="FFFFFF"/>
                    </a:solidFill>
                  </a:tcPr>
                </a:tc>
                <a:extLst>
                  <a:ext uri="{0D108BD9-81ED-4DB2-BD59-A6C34878D82A}">
                    <a16:rowId xmlns:a16="http://schemas.microsoft.com/office/drawing/2014/main" val="10001"/>
                  </a:ext>
                </a:extLst>
              </a:tr>
              <a:tr h="739140">
                <a:tc>
                  <a:txBody>
                    <a:bodyPr/>
                    <a:lstStyle/>
                    <a:p>
                      <a:pPr>
                        <a:spcAft>
                          <a:spcPts val="0"/>
                        </a:spcAft>
                      </a:pPr>
                      <a:r>
                        <a:rPr sz="1200" b="1">
                          <a:solidFill>
                            <a:srgbClr val="2D2D2D"/>
                          </a:solidFill>
                          <a:latin typeface="Aptos"/>
                        </a:rPr>
                        <a:t>Preference tuning</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SPA-VL</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Optimize chosen vs rejected multimodal responses</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What are pair source and DPO recipe?</a:t>
                      </a:r>
                    </a:p>
                  </a:txBody>
                  <a:tcPr marL="73152" marR="54864" marT="36576" marB="27432" anchor="ctr">
                    <a:solidFill>
                      <a:srgbClr val="FFFFFF"/>
                    </a:solidFill>
                  </a:tcPr>
                </a:tc>
                <a:extLst>
                  <a:ext uri="{0D108BD9-81ED-4DB2-BD59-A6C34878D82A}">
                    <a16:rowId xmlns:a16="http://schemas.microsoft.com/office/drawing/2014/main" val="10002"/>
                  </a:ext>
                </a:extLst>
              </a:tr>
              <a:tr h="739140">
                <a:tc>
                  <a:txBody>
                    <a:bodyPr/>
                    <a:lstStyle/>
                    <a:p>
                      <a:pPr>
                        <a:spcAft>
                          <a:spcPts val="0"/>
                        </a:spcAft>
                      </a:pPr>
                      <a:r>
                        <a:rPr sz="1200" b="1">
                          <a:solidFill>
                            <a:srgbClr val="2D2D2D"/>
                          </a:solidFill>
                          <a:latin typeface="Aptos"/>
                        </a:rPr>
                        <a:t>Adversarial preference</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ADPO</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Train reference/preferences with adversarial perturbations</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Do gains transfer to held-out attack families?</a:t>
                      </a:r>
                    </a:p>
                  </a:txBody>
                  <a:tcPr marL="73152" marR="54864" marT="36576" marB="27432" anchor="ctr">
                    <a:solidFill>
                      <a:srgbClr val="FFFFFF"/>
                    </a:solidFill>
                  </a:tcPr>
                </a:tc>
                <a:extLst>
                  <a:ext uri="{0D108BD9-81ED-4DB2-BD59-A6C34878D82A}">
                    <a16:rowId xmlns:a16="http://schemas.microsoft.com/office/drawing/2014/main" val="10003"/>
                  </a:ext>
                </a:extLst>
              </a:tr>
              <a:tr h="739140">
                <a:tc>
                  <a:txBody>
                    <a:bodyPr/>
                    <a:lstStyle/>
                    <a:p>
                      <a:pPr>
                        <a:spcAft>
                          <a:spcPts val="0"/>
                        </a:spcAft>
                      </a:pPr>
                      <a:r>
                        <a:rPr sz="1200" b="1">
                          <a:solidFill>
                            <a:srgbClr val="2D2D2D"/>
                          </a:solidFill>
                          <a:latin typeface="Aptos"/>
                        </a:rPr>
                        <a:t>Visual guard</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HoliSafe</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Classify visual harmfulness and guide generation</a:t>
                      </a:r>
                      <a:r>
                        <a:rPr lang="en-US" sz="1200" b="0" dirty="0">
                          <a:solidFill>
                            <a:srgbClr val="2D2D2D"/>
                          </a:solidFill>
                          <a:latin typeface="Aptos"/>
                        </a:rPr>
                        <a:t>. </a:t>
                      </a:r>
                    </a:p>
                    <a:p>
                      <a:pPr>
                        <a:spcAft>
                          <a:spcPts val="0"/>
                        </a:spcAft>
                      </a:pPr>
                      <a:r>
                        <a:rPr lang="en-US" sz="1200" dirty="0"/>
                        <a:t>Optimizes a visual safety prompt/alignment component while keeping the base LVLM frozen</a:t>
                      </a:r>
                      <a:endParaRPr sz="1200" b="0" dirty="0">
                        <a:solidFill>
                          <a:srgbClr val="2D2D2D"/>
                        </a:solidFill>
                        <a:latin typeface="Aptos"/>
                      </a:endParaRPr>
                    </a:p>
                  </a:txBody>
                  <a:tcPr marL="73152" marR="54864" marT="36576" marB="27432" anchor="ctr">
                    <a:solidFill>
                      <a:srgbClr val="FFFFFF"/>
                    </a:solidFill>
                  </a:tcPr>
                </a:tc>
                <a:tc>
                  <a:txBody>
                    <a:bodyPr/>
                    <a:lstStyle/>
                    <a:p>
                      <a:pPr>
                        <a:spcAft>
                          <a:spcPts val="0"/>
                        </a:spcAft>
                      </a:pPr>
                      <a:r>
                        <a:rPr sz="1200" b="0">
                          <a:solidFill>
                            <a:srgbClr val="2D2D2D"/>
                          </a:solidFill>
                          <a:latin typeface="Aptos"/>
                        </a:rPr>
                        <a:t>What are judge/false-refusal tradeoffs?</a:t>
                      </a:r>
                    </a:p>
                  </a:txBody>
                  <a:tcPr marL="73152" marR="54864" marT="36576" marB="27432" anchor="ctr">
                    <a:solidFill>
                      <a:srgbClr val="FFFFFF"/>
                    </a:solidFill>
                  </a:tcPr>
                </a:tc>
                <a:extLst>
                  <a:ext uri="{0D108BD9-81ED-4DB2-BD59-A6C34878D82A}">
                    <a16:rowId xmlns:a16="http://schemas.microsoft.com/office/drawing/2014/main" val="10004"/>
                  </a:ext>
                </a:extLst>
              </a:tr>
              <a:tr h="739140">
                <a:tc>
                  <a:txBody>
                    <a:bodyPr/>
                    <a:lstStyle/>
                    <a:p>
                      <a:pPr>
                        <a:spcAft>
                          <a:spcPts val="0"/>
                        </a:spcAft>
                      </a:pPr>
                      <a:r>
                        <a:rPr sz="1200" b="1">
                          <a:solidFill>
                            <a:srgbClr val="2D2D2D"/>
                          </a:solidFill>
                          <a:latin typeface="Aptos"/>
                        </a:rPr>
                        <a:t>Prompt / arbitration</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DAVSP; Pragma-VL</a:t>
                      </a:r>
                    </a:p>
                  </a:txBody>
                  <a:tcPr marL="73152" marR="54864" marT="36576" marB="27432" anchor="ctr">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Optimizes a visual safety prompt/alignment component while keeping the base LVLM frozen</a:t>
                      </a:r>
                      <a:endParaRPr lang="en-US" sz="1200" b="0" dirty="0">
                        <a:solidFill>
                          <a:srgbClr val="2D2D2D"/>
                        </a:solidFill>
                        <a:latin typeface="Aptos"/>
                      </a:endParaRPr>
                    </a:p>
                    <a:p>
                      <a:pPr>
                        <a:spcAft>
                          <a:spcPts val="0"/>
                        </a:spcAft>
                      </a:pPr>
                      <a:endParaRPr lang="en-US" sz="1200" b="0" dirty="0">
                        <a:solidFill>
                          <a:srgbClr val="2D2D2D"/>
                        </a:solidFill>
                        <a:latin typeface="Aptos"/>
                      </a:endParaRPr>
                    </a:p>
                    <a:p>
                      <a:pPr>
                        <a:spcAft>
                          <a:spcPts val="0"/>
                        </a:spcAft>
                      </a:pPr>
                      <a:r>
                        <a:rPr sz="1200" b="0" dirty="0">
                          <a:solidFill>
                            <a:srgbClr val="2D2D2D"/>
                          </a:solidFill>
                          <a:latin typeface="Aptos"/>
                        </a:rPr>
                        <a:t>Visual safety prompt or dynamic safety-helpfulness objective</a:t>
                      </a:r>
                      <a:r>
                        <a:rPr lang="en-US" sz="1200" b="0" dirty="0">
                          <a:solidFill>
                            <a:srgbClr val="2D2D2D"/>
                          </a:solidFill>
                          <a:latin typeface="Aptos"/>
                        </a:rPr>
                        <a:t>. Balances safety and helpfulness based on context</a:t>
                      </a:r>
                      <a:endParaRPr sz="1200" b="0" dirty="0">
                        <a:solidFill>
                          <a:srgbClr val="2D2D2D"/>
                        </a:solidFill>
                        <a:latin typeface="Aptos"/>
                      </a:endParaRP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What are cost, units, and deployment assumptions?</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cxnSp>
        <p:nvCxnSpPr>
          <p:cNvPr id="8" name="Connector 7"/>
          <p:cNvCxnSpPr>
            <a:cxnSpLocks/>
          </p:cNvCxnSpPr>
          <p:nvPr/>
        </p:nvCxnSpPr>
        <p:spPr>
          <a:xfrm>
            <a:off x="2697480" y="1554480"/>
            <a:ext cx="0" cy="4856988"/>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a:cxnSpLocks/>
          </p:cNvCxnSpPr>
          <p:nvPr/>
        </p:nvCxnSpPr>
        <p:spPr>
          <a:xfrm>
            <a:off x="4754880" y="1554480"/>
            <a:ext cx="0" cy="4856988"/>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a:cxnSpLocks/>
          </p:cNvCxnSpPr>
          <p:nvPr/>
        </p:nvCxnSpPr>
        <p:spPr>
          <a:xfrm>
            <a:off x="8778240" y="1554480"/>
            <a:ext cx="0" cy="4856988"/>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31520" y="2293620"/>
            <a:ext cx="107442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31520" y="3032760"/>
            <a:ext cx="107442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31520" y="3771900"/>
            <a:ext cx="107442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31520" y="4511040"/>
            <a:ext cx="107442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31520" y="5250180"/>
            <a:ext cx="107442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31520" y="1554480"/>
            <a:ext cx="107442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a:cxnSpLocks/>
          </p:cNvCxnSpPr>
          <p:nvPr/>
        </p:nvCxnSpPr>
        <p:spPr>
          <a:xfrm>
            <a:off x="731520" y="6411468"/>
            <a:ext cx="107442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a:cxnSpLocks/>
          </p:cNvCxnSpPr>
          <p:nvPr/>
        </p:nvCxnSpPr>
        <p:spPr>
          <a:xfrm>
            <a:off x="731520" y="1554480"/>
            <a:ext cx="0" cy="4856988"/>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a:cxnSpLocks/>
          </p:cNvCxnSpPr>
          <p:nvPr/>
        </p:nvCxnSpPr>
        <p:spPr>
          <a:xfrm>
            <a:off x="11475720" y="1554480"/>
            <a:ext cx="0" cy="4856988"/>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ADVERSARIAL EVALUATION</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Separate attack methods from evaluation controls</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FigStep [1]; HADES [11]; JailBreakV [12]; PolyJailbreak [4]; SIUO [13]; VLSBench [2]; USB [3]</a:t>
            </a:r>
          </a:p>
        </p:txBody>
      </p:sp>
      <p:sp>
        <p:nvSpPr>
          <p:cNvPr id="6" name="TextBox 5"/>
          <p:cNvSpPr txBox="1"/>
          <p:nvPr/>
        </p:nvSpPr>
        <p:spPr>
          <a:xfrm>
            <a:off x="11082528" y="6473952"/>
            <a:ext cx="438912" cy="201168"/>
          </a:xfrm>
          <a:prstGeom prst="rect">
            <a:avLst/>
          </a:prstGeom>
          <a:noFill/>
        </p:spPr>
        <p:txBody>
          <a:bodyPr wrap="square" lIns="27432" tIns="18288" rIns="27432" bIns="18288" anchor="t">
            <a:spAutoFit/>
          </a:bodyPr>
          <a:lstStyle/>
          <a:p>
            <a:r>
              <a:t>14</a:t>
            </a:r>
          </a:p>
        </p:txBody>
      </p:sp>
      <p:graphicFrame>
        <p:nvGraphicFramePr>
          <p:cNvPr id="7" name="Table 6"/>
          <p:cNvGraphicFramePr>
            <a:graphicFrameLocks noGrp="1"/>
          </p:cNvGraphicFramePr>
          <p:nvPr>
            <p:extLst>
              <p:ext uri="{D42A27DB-BD31-4B8C-83A1-F6EECF244321}">
                <p14:modId xmlns:p14="http://schemas.microsoft.com/office/powerpoint/2010/main" val="538615458"/>
              </p:ext>
            </p:extLst>
          </p:nvPr>
        </p:nvGraphicFramePr>
        <p:xfrm>
          <a:off x="713232" y="1508760"/>
          <a:ext cx="10789920" cy="443484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739140">
                <a:tc>
                  <a:txBody>
                    <a:bodyPr/>
                    <a:lstStyle/>
                    <a:p>
                      <a:pPr>
                        <a:spcAft>
                          <a:spcPts val="0"/>
                        </a:spcAft>
                      </a:pPr>
                      <a:r>
                        <a:rPr sz="1100" b="1">
                          <a:solidFill>
                            <a:srgbClr val="2D2D2D"/>
                          </a:solidFill>
                          <a:latin typeface="Aptos"/>
                        </a:rPr>
                        <a:t>Role</a:t>
                      </a:r>
                    </a:p>
                  </a:txBody>
                  <a:tcPr marL="73152" marR="54864" marT="36576" marB="27432" anchor="ctr">
                    <a:solidFill>
                      <a:srgbClr val="F2F2F2"/>
                    </a:solidFill>
                  </a:tcPr>
                </a:tc>
                <a:tc>
                  <a:txBody>
                    <a:bodyPr/>
                    <a:lstStyle/>
                    <a:p>
                      <a:pPr>
                        <a:spcAft>
                          <a:spcPts val="0"/>
                        </a:spcAft>
                      </a:pPr>
                      <a:r>
                        <a:rPr sz="1100" b="1">
                          <a:solidFill>
                            <a:srgbClr val="2D2D2D"/>
                          </a:solidFill>
                          <a:latin typeface="Aptos"/>
                        </a:rPr>
                        <a:t>Resource / method</a:t>
                      </a:r>
                    </a:p>
                  </a:txBody>
                  <a:tcPr marL="73152" marR="54864" marT="36576" marB="27432" anchor="ctr">
                    <a:solidFill>
                      <a:srgbClr val="F2F2F2"/>
                    </a:solidFill>
                  </a:tcPr>
                </a:tc>
                <a:tc>
                  <a:txBody>
                    <a:bodyPr/>
                    <a:lstStyle/>
                    <a:p>
                      <a:pPr>
                        <a:spcAft>
                          <a:spcPts val="0"/>
                        </a:spcAft>
                      </a:pPr>
                      <a:r>
                        <a:rPr sz="1100" b="1">
                          <a:solidFill>
                            <a:srgbClr val="2D2D2D"/>
                          </a:solidFill>
                          <a:latin typeface="Aptos"/>
                        </a:rPr>
                        <a:t>What it tests; what it is not</a:t>
                      </a:r>
                    </a:p>
                  </a:txBody>
                  <a:tcPr marL="73152" marR="54864" marT="36576" marB="27432" anchor="ctr">
                    <a:solidFill>
                      <a:srgbClr val="F2F2F2"/>
                    </a:solidFill>
                  </a:tcPr>
                </a:tc>
                <a:extLst>
                  <a:ext uri="{0D108BD9-81ED-4DB2-BD59-A6C34878D82A}">
                    <a16:rowId xmlns:a16="http://schemas.microsoft.com/office/drawing/2014/main" val="10000"/>
                  </a:ext>
                </a:extLst>
              </a:tr>
              <a:tr h="739140">
                <a:tc>
                  <a:txBody>
                    <a:bodyPr/>
                    <a:lstStyle/>
                    <a:p>
                      <a:pPr>
                        <a:spcAft>
                          <a:spcPts val="0"/>
                        </a:spcAft>
                      </a:pPr>
                      <a:r>
                        <a:rPr sz="1200" b="1">
                          <a:solidFill>
                            <a:srgbClr val="2D2D2D"/>
                          </a:solidFill>
                          <a:latin typeface="Aptos"/>
                        </a:rPr>
                        <a:t>Fixed attack</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FigStep: typographic image-carried request</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Attack method; OCR/visual-text route</a:t>
                      </a:r>
                    </a:p>
                  </a:txBody>
                  <a:tcPr marL="73152" marR="54864" marT="36576" marB="27432" anchor="ctr">
                    <a:solidFill>
                      <a:srgbClr val="FFFFFF"/>
                    </a:solidFill>
                  </a:tcPr>
                </a:tc>
                <a:extLst>
                  <a:ext uri="{0D108BD9-81ED-4DB2-BD59-A6C34878D82A}">
                    <a16:rowId xmlns:a16="http://schemas.microsoft.com/office/drawing/2014/main" val="10001"/>
                  </a:ext>
                </a:extLst>
              </a:tr>
              <a:tr h="739140">
                <a:tc>
                  <a:txBody>
                    <a:bodyPr/>
                    <a:lstStyle/>
                    <a:p>
                      <a:pPr>
                        <a:spcAft>
                          <a:spcPts val="0"/>
                        </a:spcAft>
                      </a:pPr>
                      <a:r>
                        <a:rPr sz="1200" b="1">
                          <a:solidFill>
                            <a:srgbClr val="2D2D2D"/>
                          </a:solidFill>
                          <a:latin typeface="Aptos"/>
                        </a:rPr>
                        <a:t>Fixed attack</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HADES: typography plus semantically matched image</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Black-box semantic visual exploit; keep +Opt distinct from white-box +Adv</a:t>
                      </a:r>
                    </a:p>
                  </a:txBody>
                  <a:tcPr marL="73152" marR="54864" marT="36576" marB="27432" anchor="ctr">
                    <a:solidFill>
                      <a:srgbClr val="FFFFFF"/>
                    </a:solidFill>
                  </a:tcPr>
                </a:tc>
                <a:extLst>
                  <a:ext uri="{0D108BD9-81ED-4DB2-BD59-A6C34878D82A}">
                    <a16:rowId xmlns:a16="http://schemas.microsoft.com/office/drawing/2014/main" val="10002"/>
                  </a:ext>
                </a:extLst>
              </a:tr>
              <a:tr h="739140">
                <a:tc>
                  <a:txBody>
                    <a:bodyPr/>
                    <a:lstStyle/>
                    <a:p>
                      <a:pPr>
                        <a:spcAft>
                          <a:spcPts val="0"/>
                        </a:spcAft>
                      </a:pPr>
                      <a:r>
                        <a:rPr sz="1200" b="1">
                          <a:solidFill>
                            <a:srgbClr val="2D2D2D"/>
                          </a:solidFill>
                          <a:latin typeface="Aptos"/>
                        </a:rPr>
                        <a:t>Attack collection</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JailBreakV-28K transfer and image-based cases</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Many fixed attack instances; not one attack algorithm</a:t>
                      </a:r>
                    </a:p>
                  </a:txBody>
                  <a:tcPr marL="73152" marR="54864" marT="36576" marB="27432" anchor="ctr">
                    <a:solidFill>
                      <a:srgbClr val="FFFFFF"/>
                    </a:solidFill>
                  </a:tcPr>
                </a:tc>
                <a:extLst>
                  <a:ext uri="{0D108BD9-81ED-4DB2-BD59-A6C34878D82A}">
                    <a16:rowId xmlns:a16="http://schemas.microsoft.com/office/drawing/2014/main" val="10003"/>
                  </a:ext>
                </a:extLst>
              </a:tr>
              <a:tr h="739140">
                <a:tc>
                  <a:txBody>
                    <a:bodyPr/>
                    <a:lstStyle/>
                    <a:p>
                      <a:pPr>
                        <a:spcAft>
                          <a:spcPts val="0"/>
                        </a:spcAft>
                      </a:pPr>
                      <a:r>
                        <a:rPr sz="1200" b="1">
                          <a:solidFill>
                            <a:srgbClr val="2D2D2D"/>
                          </a:solidFill>
                          <a:latin typeface="Aptos"/>
                        </a:rPr>
                        <a:t>Adaptive attack</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PolyJailbreak black-box search</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Separate query-budget curve; not pooled with static ASR</a:t>
                      </a:r>
                    </a:p>
                  </a:txBody>
                  <a:tcPr marL="73152" marR="54864" marT="36576" marB="27432" anchor="ctr">
                    <a:solidFill>
                      <a:srgbClr val="FFFFFF"/>
                    </a:solidFill>
                  </a:tcPr>
                </a:tc>
                <a:extLst>
                  <a:ext uri="{0D108BD9-81ED-4DB2-BD59-A6C34878D82A}">
                    <a16:rowId xmlns:a16="http://schemas.microsoft.com/office/drawing/2014/main" val="10004"/>
                  </a:ext>
                </a:extLst>
              </a:tr>
              <a:tr h="739140">
                <a:tc>
                  <a:txBody>
                    <a:bodyPr/>
                    <a:lstStyle/>
                    <a:p>
                      <a:pPr>
                        <a:spcAft>
                          <a:spcPts val="0"/>
                        </a:spcAft>
                      </a:pPr>
                      <a:r>
                        <a:rPr sz="1200" b="1">
                          <a:solidFill>
                            <a:srgbClr val="2D2D2D"/>
                          </a:solidFill>
                          <a:latin typeface="Aptos"/>
                        </a:rPr>
                        <a:t>Evaluation controls</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SIUO, VLSBench, USB, safe pairs</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Compositionality</a:t>
                      </a:r>
                      <a:r>
                        <a:rPr lang="en-US" sz="1200" b="0" dirty="0">
                          <a:solidFill>
                            <a:srgbClr val="2D2D2D"/>
                          </a:solidFill>
                          <a:latin typeface="Aptos"/>
                        </a:rPr>
                        <a:t>, </a:t>
                      </a:r>
                      <a:r>
                        <a:rPr lang="en-US" sz="1200" b="0" dirty="0" err="1">
                          <a:solidFill>
                            <a:srgbClr val="2D2D2D"/>
                          </a:solidFill>
                          <a:latin typeface="Aptos"/>
                        </a:rPr>
                        <a:t>S_t+S_i</a:t>
                      </a:r>
                      <a:r>
                        <a:rPr lang="en-US" sz="1200" b="0" dirty="0">
                          <a:solidFill>
                            <a:srgbClr val="2D2D2D"/>
                          </a:solidFill>
                          <a:latin typeface="Aptos"/>
                        </a:rPr>
                        <a:t>-&gt;U</a:t>
                      </a:r>
                      <a:r>
                        <a:rPr sz="1200" b="0" dirty="0">
                          <a:solidFill>
                            <a:srgbClr val="2D2D2D"/>
                          </a:solidFill>
                          <a:latin typeface="Aptos"/>
                        </a:rPr>
                        <a:t>, image dependence</a:t>
                      </a:r>
                      <a:r>
                        <a:rPr lang="en-US" sz="1200" b="0" dirty="0">
                          <a:solidFill>
                            <a:srgbClr val="2D2D2D"/>
                          </a:solidFill>
                          <a:latin typeface="Aptos"/>
                        </a:rPr>
                        <a:t> and whether image matters</a:t>
                      </a:r>
                      <a:r>
                        <a:rPr sz="1200" b="0" dirty="0">
                          <a:solidFill>
                            <a:srgbClr val="2D2D2D"/>
                          </a:solidFill>
                          <a:latin typeface="Aptos"/>
                        </a:rPr>
                        <a:t>, </a:t>
                      </a:r>
                      <a:r>
                        <a:rPr lang="en-US" sz="1200" b="0" dirty="0">
                          <a:solidFill>
                            <a:srgbClr val="2D2D2D"/>
                          </a:solidFill>
                          <a:latin typeface="Aptos"/>
                        </a:rPr>
                        <a:t>risk and </a:t>
                      </a:r>
                      <a:r>
                        <a:rPr sz="1200" b="0" dirty="0">
                          <a:solidFill>
                            <a:srgbClr val="2D2D2D"/>
                          </a:solidFill>
                          <a:latin typeface="Aptos"/>
                        </a:rPr>
                        <a:t>coverage, calibration; not attacks</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cxnSp>
        <p:nvCxnSpPr>
          <p:cNvPr id="8" name="Connector 7"/>
          <p:cNvCxnSpPr/>
          <p:nvPr/>
        </p:nvCxnSpPr>
        <p:spPr>
          <a:xfrm>
            <a:off x="2267712" y="1508760"/>
            <a:ext cx="0" cy="443484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336792" y="1508760"/>
            <a:ext cx="0" cy="443484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13232" y="2247899"/>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13232" y="2987039"/>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13232" y="3726179"/>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13232" y="4465320"/>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13232" y="5204460"/>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13232" y="1508760"/>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13232" y="5943600"/>
            <a:ext cx="10789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13232" y="1508760"/>
            <a:ext cx="0" cy="443484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03152" y="1508760"/>
            <a:ext cx="0" cy="443484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PROPOSED ATTACK PROTOCOL</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Fixed attack procedure: build matched, locked test cases</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FigStep [1]; HADES [11]; JailBreakV-28K [12]; design choices are proposed, not paper results</a:t>
            </a:r>
          </a:p>
        </p:txBody>
      </p:sp>
      <p:graphicFrame>
        <p:nvGraphicFramePr>
          <p:cNvPr id="7" name="Table 6"/>
          <p:cNvGraphicFramePr>
            <a:graphicFrameLocks noGrp="1"/>
          </p:cNvGraphicFramePr>
          <p:nvPr>
            <p:extLst>
              <p:ext uri="{D42A27DB-BD31-4B8C-83A1-F6EECF244321}">
                <p14:modId xmlns:p14="http://schemas.microsoft.com/office/powerpoint/2010/main" val="2375396571"/>
              </p:ext>
            </p:extLst>
          </p:nvPr>
        </p:nvGraphicFramePr>
        <p:xfrm>
          <a:off x="685800" y="1481328"/>
          <a:ext cx="10881359" cy="452628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tblGrid>
              <a:tr h="754380">
                <a:tc>
                  <a:txBody>
                    <a:bodyPr/>
                    <a:lstStyle/>
                    <a:p>
                      <a:pPr>
                        <a:spcAft>
                          <a:spcPts val="0"/>
                        </a:spcAft>
                      </a:pPr>
                      <a:r>
                        <a:rPr sz="1019" b="1">
                          <a:solidFill>
                            <a:srgbClr val="2D2D2D"/>
                          </a:solidFill>
                          <a:latin typeface="Aptos"/>
                        </a:rPr>
                        <a:t>Step</a:t>
                      </a:r>
                    </a:p>
                  </a:txBody>
                  <a:tcPr marL="73152" marR="54864" marT="36576" marB="27432" anchor="ctr">
                    <a:solidFill>
                      <a:srgbClr val="F2F2F2"/>
                    </a:solidFill>
                  </a:tcPr>
                </a:tc>
                <a:tc>
                  <a:txBody>
                    <a:bodyPr/>
                    <a:lstStyle/>
                    <a:p>
                      <a:pPr>
                        <a:spcAft>
                          <a:spcPts val="0"/>
                        </a:spcAft>
                      </a:pPr>
                      <a:r>
                        <a:rPr sz="1019" b="1">
                          <a:solidFill>
                            <a:srgbClr val="2D2D2D"/>
                          </a:solidFill>
                          <a:latin typeface="Aptos"/>
                        </a:rPr>
                        <a:t>Pre-registered operation</a:t>
                      </a:r>
                    </a:p>
                  </a:txBody>
                  <a:tcPr marL="73152" marR="54864" marT="36576" marB="27432" anchor="ctr">
                    <a:solidFill>
                      <a:srgbClr val="F2F2F2"/>
                    </a:solidFill>
                  </a:tcPr>
                </a:tc>
                <a:tc>
                  <a:txBody>
                    <a:bodyPr/>
                    <a:lstStyle/>
                    <a:p>
                      <a:pPr>
                        <a:spcAft>
                          <a:spcPts val="0"/>
                        </a:spcAft>
                      </a:pPr>
                      <a:r>
                        <a:rPr sz="1019" b="1">
                          <a:solidFill>
                            <a:srgbClr val="2D2D2D"/>
                          </a:solidFill>
                          <a:latin typeface="Aptos"/>
                        </a:rPr>
                        <a:t>Record / control</a:t>
                      </a:r>
                    </a:p>
                  </a:txBody>
                  <a:tcPr marL="73152" marR="54864" marT="36576" marB="27432" anchor="ctr">
                    <a:solidFill>
                      <a:srgbClr val="F2F2F2"/>
                    </a:solidFill>
                  </a:tcPr>
                </a:tc>
                <a:extLst>
                  <a:ext uri="{0D108BD9-81ED-4DB2-BD59-A6C34878D82A}">
                    <a16:rowId xmlns:a16="http://schemas.microsoft.com/office/drawing/2014/main" val="10000"/>
                  </a:ext>
                </a:extLst>
              </a:tr>
              <a:tr h="754380">
                <a:tc>
                  <a:txBody>
                    <a:bodyPr/>
                    <a:lstStyle/>
                    <a:p>
                      <a:pPr>
                        <a:spcAft>
                          <a:spcPts val="0"/>
                        </a:spcAft>
                      </a:pPr>
                      <a:r>
                        <a:rPr sz="1120" b="1">
                          <a:solidFill>
                            <a:srgbClr val="2D2D2D"/>
                          </a:solidFill>
                          <a:latin typeface="Aptos"/>
                        </a:rPr>
                        <a:t>1. Freeze source intent</a:t>
                      </a:r>
                    </a:p>
                  </a:txBody>
                  <a:tcPr marL="73152" marR="54864" marT="36576" marB="27432" anchor="ctr">
                    <a:solidFill>
                      <a:srgbClr val="FFFFFF"/>
                    </a:solidFill>
                  </a:tcPr>
                </a:tc>
                <a:tc>
                  <a:txBody>
                    <a:bodyPr/>
                    <a:lstStyle/>
                    <a:p>
                      <a:pPr>
                        <a:spcAft>
                          <a:spcPts val="0"/>
                        </a:spcAft>
                      </a:pPr>
                      <a:r>
                        <a:rPr sz="1120" b="0">
                          <a:solidFill>
                            <a:srgbClr val="2D2D2D"/>
                          </a:solidFill>
                          <a:latin typeface="Aptos"/>
                        </a:rPr>
                        <a:t>Assign each approved test intent an ID; label policy category and safe counterpart</a:t>
                      </a:r>
                    </a:p>
                  </a:txBody>
                  <a:tcPr marL="73152" marR="54864" marT="36576" marB="27432" anchor="ctr">
                    <a:solidFill>
                      <a:srgbClr val="FFFFFF"/>
                    </a:solidFill>
                  </a:tcPr>
                </a:tc>
                <a:tc>
                  <a:txBody>
                    <a:bodyPr/>
                    <a:lstStyle/>
                    <a:p>
                      <a:pPr>
                        <a:spcAft>
                          <a:spcPts val="0"/>
                        </a:spcAft>
                      </a:pPr>
                      <a:r>
                        <a:rPr sz="1120" b="0">
                          <a:solidFill>
                            <a:srgbClr val="2D2D2D"/>
                          </a:solidFill>
                          <a:latin typeface="Aptos"/>
                        </a:rPr>
                        <a:t>Source, license, label, annotator/adjudication</a:t>
                      </a:r>
                    </a:p>
                  </a:txBody>
                  <a:tcPr marL="73152" marR="54864" marT="36576" marB="27432" anchor="ctr">
                    <a:solidFill>
                      <a:srgbClr val="FFFFFF"/>
                    </a:solidFill>
                  </a:tcPr>
                </a:tc>
                <a:extLst>
                  <a:ext uri="{0D108BD9-81ED-4DB2-BD59-A6C34878D82A}">
                    <a16:rowId xmlns:a16="http://schemas.microsoft.com/office/drawing/2014/main" val="10001"/>
                  </a:ext>
                </a:extLst>
              </a:tr>
              <a:tr h="754380">
                <a:tc>
                  <a:txBody>
                    <a:bodyPr/>
                    <a:lstStyle/>
                    <a:p>
                      <a:pPr>
                        <a:spcAft>
                          <a:spcPts val="0"/>
                        </a:spcAft>
                      </a:pPr>
                      <a:r>
                        <a:rPr sz="1120" b="1">
                          <a:solidFill>
                            <a:srgbClr val="2D2D2D"/>
                          </a:solidFill>
                          <a:latin typeface="Aptos"/>
                        </a:rPr>
                        <a:t>2. Split before transforms</a:t>
                      </a:r>
                    </a:p>
                  </a:txBody>
                  <a:tcPr marL="73152" marR="54864" marT="36576" marB="27432" anchor="ctr">
                    <a:solidFill>
                      <a:srgbClr val="FFFFFF"/>
                    </a:solidFill>
                  </a:tcPr>
                </a:tc>
                <a:tc>
                  <a:txBody>
                    <a:bodyPr/>
                    <a:lstStyle/>
                    <a:p>
                      <a:pPr>
                        <a:spcAft>
                          <a:spcPts val="0"/>
                        </a:spcAft>
                      </a:pPr>
                      <a:r>
                        <a:rPr sz="1120" b="0" dirty="0">
                          <a:solidFill>
                            <a:srgbClr val="2D2D2D"/>
                          </a:solidFill>
                          <a:latin typeface="Aptos"/>
                        </a:rPr>
                        <a:t>Group by intent</a:t>
                      </a:r>
                      <a:r>
                        <a:rPr lang="en-US" sz="1120" b="0" dirty="0">
                          <a:solidFill>
                            <a:srgbClr val="2D2D2D"/>
                          </a:solidFill>
                          <a:latin typeface="Aptos"/>
                        </a:rPr>
                        <a:t>, </a:t>
                      </a:r>
                      <a:r>
                        <a:rPr sz="1120" b="0" dirty="0">
                          <a:solidFill>
                            <a:srgbClr val="2D2D2D"/>
                          </a:solidFill>
                          <a:latin typeface="Aptos"/>
                        </a:rPr>
                        <a:t>reserve test intents and held-out render templates/families</a:t>
                      </a:r>
                    </a:p>
                  </a:txBody>
                  <a:tcPr marL="73152" marR="54864" marT="36576" marB="27432" anchor="ctr">
                    <a:solidFill>
                      <a:srgbClr val="FFFFFF"/>
                    </a:solidFill>
                  </a:tcPr>
                </a:tc>
                <a:tc>
                  <a:txBody>
                    <a:bodyPr/>
                    <a:lstStyle/>
                    <a:p>
                      <a:pPr>
                        <a:spcAft>
                          <a:spcPts val="0"/>
                        </a:spcAft>
                      </a:pPr>
                      <a:r>
                        <a:rPr sz="1120" b="0">
                          <a:solidFill>
                            <a:srgbClr val="2D2D2D"/>
                          </a:solidFill>
                          <a:latin typeface="Aptos"/>
                        </a:rPr>
                        <a:t>Seeded manifest; near-duplicate and image hash audit</a:t>
                      </a:r>
                    </a:p>
                  </a:txBody>
                  <a:tcPr marL="73152" marR="54864" marT="36576" marB="27432" anchor="ctr">
                    <a:solidFill>
                      <a:srgbClr val="FFFFFF"/>
                    </a:solidFill>
                  </a:tcPr>
                </a:tc>
                <a:extLst>
                  <a:ext uri="{0D108BD9-81ED-4DB2-BD59-A6C34878D82A}">
                    <a16:rowId xmlns:a16="http://schemas.microsoft.com/office/drawing/2014/main" val="10002"/>
                  </a:ext>
                </a:extLst>
              </a:tr>
              <a:tr h="754380">
                <a:tc>
                  <a:txBody>
                    <a:bodyPr/>
                    <a:lstStyle/>
                    <a:p>
                      <a:pPr>
                        <a:spcAft>
                          <a:spcPts val="0"/>
                        </a:spcAft>
                      </a:pPr>
                      <a:r>
                        <a:rPr sz="1120" b="1">
                          <a:solidFill>
                            <a:srgbClr val="2D2D2D"/>
                          </a:solidFill>
                          <a:latin typeface="Aptos"/>
                        </a:rPr>
                        <a:t>3. Construct fixed arms</a:t>
                      </a:r>
                    </a:p>
                  </a:txBody>
                  <a:tcPr marL="73152" marR="54864" marT="36576" marB="27432" anchor="ctr">
                    <a:solidFill>
                      <a:srgbClr val="FFFFFF"/>
                    </a:solidFill>
                  </a:tcPr>
                </a:tc>
                <a:tc>
                  <a:txBody>
                    <a:bodyPr/>
                    <a:lstStyle/>
                    <a:p>
                      <a:pPr>
                        <a:spcAft>
                          <a:spcPts val="0"/>
                        </a:spcAft>
                      </a:pPr>
                      <a:r>
                        <a:rPr sz="1120" b="0" dirty="0">
                          <a:solidFill>
                            <a:srgbClr val="2D2D2D"/>
                          </a:solidFill>
                          <a:latin typeface="Aptos"/>
                        </a:rPr>
                        <a:t>A0 text control</a:t>
                      </a:r>
                      <a:endParaRPr lang="en-US" sz="1120" b="0" dirty="0">
                        <a:solidFill>
                          <a:srgbClr val="2D2D2D"/>
                        </a:solidFill>
                        <a:latin typeface="Aptos"/>
                      </a:endParaRPr>
                    </a:p>
                    <a:p>
                      <a:pPr>
                        <a:spcAft>
                          <a:spcPts val="0"/>
                        </a:spcAft>
                      </a:pPr>
                      <a:r>
                        <a:rPr sz="1120" b="0" dirty="0">
                          <a:solidFill>
                            <a:srgbClr val="2D2D2D"/>
                          </a:solidFill>
                          <a:latin typeface="Aptos"/>
                        </a:rPr>
                        <a:t>A1 </a:t>
                      </a:r>
                      <a:r>
                        <a:rPr sz="1120" b="0" dirty="0" err="1">
                          <a:solidFill>
                            <a:srgbClr val="2D2D2D"/>
                          </a:solidFill>
                          <a:latin typeface="Aptos"/>
                        </a:rPr>
                        <a:t>FigStep</a:t>
                      </a:r>
                      <a:r>
                        <a:rPr sz="1120" b="0" dirty="0">
                          <a:solidFill>
                            <a:srgbClr val="2D2D2D"/>
                          </a:solidFill>
                          <a:latin typeface="Aptos"/>
                        </a:rPr>
                        <a:t>-style rendered image</a:t>
                      </a:r>
                      <a:endParaRPr lang="en-US" sz="1120" b="0" dirty="0">
                        <a:solidFill>
                          <a:srgbClr val="2D2D2D"/>
                        </a:solidFill>
                        <a:latin typeface="Aptos"/>
                      </a:endParaRPr>
                    </a:p>
                    <a:p>
                      <a:pPr>
                        <a:spcAft>
                          <a:spcPts val="0"/>
                        </a:spcAft>
                      </a:pPr>
                      <a:r>
                        <a:rPr sz="1120" b="0" dirty="0">
                          <a:solidFill>
                            <a:srgbClr val="2D2D2D"/>
                          </a:solidFill>
                          <a:latin typeface="Aptos"/>
                        </a:rPr>
                        <a:t>A2 HADES +</a:t>
                      </a:r>
                      <a:r>
                        <a:rPr sz="1120" b="0" dirty="0" err="1">
                          <a:solidFill>
                            <a:srgbClr val="2D2D2D"/>
                          </a:solidFill>
                          <a:latin typeface="Aptos"/>
                        </a:rPr>
                        <a:t>Opt</a:t>
                      </a:r>
                      <a:r>
                        <a:rPr sz="1120" b="0" dirty="0">
                          <a:solidFill>
                            <a:srgbClr val="2D2D2D"/>
                          </a:solidFill>
                          <a:latin typeface="Aptos"/>
                        </a:rPr>
                        <a:t> artifact</a:t>
                      </a:r>
                    </a:p>
                  </a:txBody>
                  <a:tcPr marL="73152" marR="54864" marT="36576" marB="27432" anchor="ctr">
                    <a:solidFill>
                      <a:srgbClr val="FFFFFF"/>
                    </a:solidFill>
                  </a:tcPr>
                </a:tc>
                <a:tc>
                  <a:txBody>
                    <a:bodyPr/>
                    <a:lstStyle/>
                    <a:p>
                      <a:pPr>
                        <a:spcAft>
                          <a:spcPts val="0"/>
                        </a:spcAft>
                      </a:pPr>
                      <a:r>
                        <a:rPr sz="1120" b="0" dirty="0">
                          <a:solidFill>
                            <a:srgbClr val="2D2D2D"/>
                          </a:solidFill>
                          <a:latin typeface="Aptos"/>
                        </a:rPr>
                        <a:t>One case per transform</a:t>
                      </a:r>
                    </a:p>
                  </a:txBody>
                  <a:tcPr marL="73152" marR="54864" marT="36576" marB="27432" anchor="ctr">
                    <a:solidFill>
                      <a:srgbClr val="FFFFFF"/>
                    </a:solidFill>
                  </a:tcPr>
                </a:tc>
                <a:extLst>
                  <a:ext uri="{0D108BD9-81ED-4DB2-BD59-A6C34878D82A}">
                    <a16:rowId xmlns:a16="http://schemas.microsoft.com/office/drawing/2014/main" val="10003"/>
                  </a:ext>
                </a:extLst>
              </a:tr>
              <a:tr h="754380">
                <a:tc>
                  <a:txBody>
                    <a:bodyPr/>
                    <a:lstStyle/>
                    <a:p>
                      <a:pPr>
                        <a:spcAft>
                          <a:spcPts val="0"/>
                        </a:spcAft>
                      </a:pPr>
                      <a:r>
                        <a:rPr sz="1120" b="1">
                          <a:solidFill>
                            <a:srgbClr val="2D2D2D"/>
                          </a:solidFill>
                          <a:latin typeface="Aptos"/>
                        </a:rPr>
                        <a:t>4. Add attribution controls</a:t>
                      </a:r>
                    </a:p>
                  </a:txBody>
                  <a:tcPr marL="73152" marR="54864" marT="36576" marB="27432" anchor="ctr">
                    <a:solidFill>
                      <a:srgbClr val="FFFFFF"/>
                    </a:solidFill>
                  </a:tcPr>
                </a:tc>
                <a:tc>
                  <a:txBody>
                    <a:bodyPr/>
                    <a:lstStyle/>
                    <a:p>
                      <a:pPr>
                        <a:spcAft>
                          <a:spcPts val="0"/>
                        </a:spcAft>
                      </a:pPr>
                      <a:r>
                        <a:rPr sz="1120" b="0">
                          <a:solidFill>
                            <a:srgbClr val="2D2D2D"/>
                          </a:solidFill>
                          <a:latin typeface="Aptos"/>
                        </a:rPr>
                        <a:t>Run text-only, image-only where valid, original image, removed/masked/decoy image</a:t>
                      </a:r>
                    </a:p>
                  </a:txBody>
                  <a:tcPr marL="73152" marR="54864" marT="36576" marB="27432" anchor="ctr">
                    <a:solidFill>
                      <a:srgbClr val="FFFFFF"/>
                    </a:solidFill>
                  </a:tcPr>
                </a:tc>
                <a:tc>
                  <a:txBody>
                    <a:bodyPr/>
                    <a:lstStyle/>
                    <a:p>
                      <a:pPr>
                        <a:spcAft>
                          <a:spcPts val="0"/>
                        </a:spcAft>
                      </a:pPr>
                      <a:r>
                        <a:rPr sz="1120" b="0" dirty="0">
                          <a:solidFill>
                            <a:srgbClr val="2D2D2D"/>
                          </a:solidFill>
                          <a:latin typeface="Aptos"/>
                        </a:rPr>
                        <a:t>Same intent</a:t>
                      </a:r>
                      <a:r>
                        <a:rPr lang="en-US" sz="1120" b="0" dirty="0">
                          <a:solidFill>
                            <a:srgbClr val="2D2D2D"/>
                          </a:solidFill>
                          <a:latin typeface="Aptos"/>
                        </a:rPr>
                        <a:t>, </a:t>
                      </a:r>
                      <a:r>
                        <a:rPr sz="1120" b="0" dirty="0">
                          <a:solidFill>
                            <a:srgbClr val="2D2D2D"/>
                          </a:solidFill>
                          <a:latin typeface="Aptos"/>
                        </a:rPr>
                        <a:t>only the named modality changes</a:t>
                      </a:r>
                    </a:p>
                  </a:txBody>
                  <a:tcPr marL="73152" marR="54864" marT="36576" marB="27432" anchor="ctr">
                    <a:solidFill>
                      <a:srgbClr val="FFFFFF"/>
                    </a:solidFill>
                  </a:tcPr>
                </a:tc>
                <a:extLst>
                  <a:ext uri="{0D108BD9-81ED-4DB2-BD59-A6C34878D82A}">
                    <a16:rowId xmlns:a16="http://schemas.microsoft.com/office/drawing/2014/main" val="10004"/>
                  </a:ext>
                </a:extLst>
              </a:tr>
              <a:tr h="754380">
                <a:tc>
                  <a:txBody>
                    <a:bodyPr/>
                    <a:lstStyle/>
                    <a:p>
                      <a:pPr>
                        <a:spcAft>
                          <a:spcPts val="0"/>
                        </a:spcAft>
                      </a:pPr>
                      <a:r>
                        <a:rPr sz="1120" b="1">
                          <a:solidFill>
                            <a:srgbClr val="2D2D2D"/>
                          </a:solidFill>
                          <a:latin typeface="Aptos"/>
                        </a:rPr>
                        <a:t>5. Query frozen models</a:t>
                      </a:r>
                    </a:p>
                  </a:txBody>
                  <a:tcPr marL="73152" marR="54864" marT="36576" marB="27432" anchor="ctr">
                    <a:solidFill>
                      <a:srgbClr val="FFFFFF"/>
                    </a:solidFill>
                  </a:tcPr>
                </a:tc>
                <a:tc>
                  <a:txBody>
                    <a:bodyPr/>
                    <a:lstStyle/>
                    <a:p>
                      <a:pPr>
                        <a:spcAft>
                          <a:spcPts val="0"/>
                        </a:spcAft>
                      </a:pPr>
                      <a:r>
                        <a:rPr sz="1120" b="0">
                          <a:solidFill>
                            <a:srgbClr val="2D2D2D"/>
                          </a:solidFill>
                          <a:latin typeface="Aptos"/>
                        </a:rPr>
                        <a:t>Same system prompt, processor, decoding, and 256-token cap; one query/item</a:t>
                      </a:r>
                    </a:p>
                  </a:txBody>
                  <a:tcPr marL="73152" marR="54864" marT="36576" marB="27432" anchor="ctr">
                    <a:solidFill>
                      <a:srgbClr val="FFFFFF"/>
                    </a:solidFill>
                  </a:tcPr>
                </a:tc>
                <a:tc>
                  <a:txBody>
                    <a:bodyPr/>
                    <a:lstStyle/>
                    <a:p>
                      <a:pPr>
                        <a:spcAft>
                          <a:spcPts val="0"/>
                        </a:spcAft>
                      </a:pPr>
                      <a:r>
                        <a:rPr sz="1120" b="0" dirty="0">
                          <a:solidFill>
                            <a:srgbClr val="2D2D2D"/>
                          </a:solidFill>
                          <a:latin typeface="Aptos"/>
                        </a:rPr>
                        <a:t>Proposed deterministic setting</a:t>
                      </a:r>
                      <a:r>
                        <a:rPr lang="en-US" sz="1120" b="0" dirty="0">
                          <a:solidFill>
                            <a:srgbClr val="2D2D2D"/>
                          </a:solidFill>
                          <a:latin typeface="Aptos"/>
                        </a:rPr>
                        <a:t>, </a:t>
                      </a:r>
                      <a:r>
                        <a:rPr sz="1120" b="0" dirty="0">
                          <a:solidFill>
                            <a:srgbClr val="2D2D2D"/>
                          </a:solidFill>
                          <a:latin typeface="Aptos"/>
                        </a:rPr>
                        <a:t>pin checkpoint and software revisions</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cxnSp>
        <p:nvCxnSpPr>
          <p:cNvPr id="8" name="Connector 7"/>
          <p:cNvCxnSpPr/>
          <p:nvPr/>
        </p:nvCxnSpPr>
        <p:spPr>
          <a:xfrm>
            <a:off x="2103120" y="1481328"/>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589520" y="1481328"/>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223570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 y="299008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 y="374446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 y="449884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 y="525322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 y="148132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 y="600760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 y="1481328"/>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67160" y="1481328"/>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6108192"/>
            <a:ext cx="10515600" cy="256032"/>
          </a:xfrm>
          <a:prstGeom prst="rect">
            <a:avLst/>
          </a:prstGeom>
          <a:noFill/>
        </p:spPr>
        <p:txBody>
          <a:bodyPr wrap="square" lIns="27432" tIns="18288" rIns="27432" bIns="18288" anchor="t">
            <a:spAutoFit/>
          </a:bodyPr>
          <a:lstStyle/>
          <a:p>
            <a:pPr algn="l"/>
            <a:r>
              <a:rPr sz="1200" b="1">
                <a:solidFill>
                  <a:srgbClr val="4B4B4B"/>
                </a:solidFill>
                <a:latin typeface="Aptos"/>
              </a:rPr>
              <a:t>Keep HADES +Opt (black-box) and +Adv (white-box) in separate result tables.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PROPOSED ATTACK PROTOCOL</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Adaptive red team: equal query budget, audited success</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PolyJailbreak [4]; ADPO [7]; proposed cap and outcome definitions</a:t>
            </a:r>
          </a:p>
        </p:txBody>
      </p:sp>
      <p:graphicFrame>
        <p:nvGraphicFramePr>
          <p:cNvPr id="7" name="Table 6"/>
          <p:cNvGraphicFramePr>
            <a:graphicFrameLocks noGrp="1"/>
          </p:cNvGraphicFramePr>
          <p:nvPr>
            <p:extLst>
              <p:ext uri="{D42A27DB-BD31-4B8C-83A1-F6EECF244321}">
                <p14:modId xmlns:p14="http://schemas.microsoft.com/office/powerpoint/2010/main" val="3606715020"/>
              </p:ext>
            </p:extLst>
          </p:nvPr>
        </p:nvGraphicFramePr>
        <p:xfrm>
          <a:off x="685800" y="1481328"/>
          <a:ext cx="10881360" cy="4480560"/>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8641080">
                  <a:extLst>
                    <a:ext uri="{9D8B030D-6E8A-4147-A177-3AD203B41FA5}">
                      <a16:colId xmlns:a16="http://schemas.microsoft.com/office/drawing/2014/main" val="20001"/>
                    </a:ext>
                  </a:extLst>
                </a:gridCol>
              </a:tblGrid>
              <a:tr h="640080">
                <a:tc>
                  <a:txBody>
                    <a:bodyPr/>
                    <a:lstStyle/>
                    <a:p>
                      <a:pPr>
                        <a:spcAft>
                          <a:spcPts val="0"/>
                        </a:spcAft>
                      </a:pPr>
                      <a:r>
                        <a:rPr sz="1100" b="1">
                          <a:solidFill>
                            <a:srgbClr val="2D2D2D"/>
                          </a:solidFill>
                          <a:latin typeface="Aptos"/>
                        </a:rPr>
                        <a:t>Protocol item</a:t>
                      </a:r>
                    </a:p>
                  </a:txBody>
                  <a:tcPr marL="73152" marR="54864" marT="36576" marB="27432" anchor="ctr">
                    <a:solidFill>
                      <a:srgbClr val="F2F2F2"/>
                    </a:solidFill>
                  </a:tcPr>
                </a:tc>
                <a:tc>
                  <a:txBody>
                    <a:bodyPr/>
                    <a:lstStyle/>
                    <a:p>
                      <a:pPr>
                        <a:spcAft>
                          <a:spcPts val="0"/>
                        </a:spcAft>
                      </a:pPr>
                      <a:r>
                        <a:rPr sz="1100" b="1">
                          <a:solidFill>
                            <a:srgbClr val="2D2D2D"/>
                          </a:solidFill>
                          <a:latin typeface="Aptos"/>
                        </a:rPr>
                        <a:t>Pre-registered rule</a:t>
                      </a:r>
                    </a:p>
                  </a:txBody>
                  <a:tcPr marL="73152" marR="54864" marT="36576" marB="27432" anchor="ctr">
                    <a:solidFill>
                      <a:srgbClr val="F2F2F2"/>
                    </a:solidFill>
                  </a:tcPr>
                </a:tc>
                <a:extLst>
                  <a:ext uri="{0D108BD9-81ED-4DB2-BD59-A6C34878D82A}">
                    <a16:rowId xmlns:a16="http://schemas.microsoft.com/office/drawing/2014/main" val="10000"/>
                  </a:ext>
                </a:extLst>
              </a:tr>
              <a:tr h="640080">
                <a:tc>
                  <a:txBody>
                    <a:bodyPr/>
                    <a:lstStyle/>
                    <a:p>
                      <a:pPr>
                        <a:spcAft>
                          <a:spcPts val="0"/>
                        </a:spcAft>
                      </a:pPr>
                      <a:r>
                        <a:rPr sz="1200" b="1">
                          <a:solidFill>
                            <a:srgbClr val="2D2D2D"/>
                          </a:solidFill>
                          <a:latin typeface="Aptos"/>
                        </a:rPr>
                        <a:t>Adaptive budget</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Per intent × target: up to 5 discovery calls + 15 optimization calls = 20 target calls</a:t>
                      </a:r>
                      <a:endParaRPr lang="en-US" sz="1200" b="0" dirty="0">
                        <a:solidFill>
                          <a:srgbClr val="2D2D2D"/>
                        </a:solidFill>
                        <a:latin typeface="Aptos"/>
                      </a:endParaRPr>
                    </a:p>
                    <a:p>
                      <a:pPr>
                        <a:spcAft>
                          <a:spcPts val="0"/>
                        </a:spcAft>
                      </a:pPr>
                      <a:r>
                        <a:rPr sz="1200" b="0" dirty="0">
                          <a:solidFill>
                            <a:srgbClr val="2D2D2D"/>
                          </a:solidFill>
                          <a:latin typeface="Aptos"/>
                        </a:rPr>
                        <a:t>stop on first adjudicated success</a:t>
                      </a:r>
                      <a:r>
                        <a:rPr lang="en-US" sz="1200" b="0" dirty="0">
                          <a:solidFill>
                            <a:srgbClr val="2D2D2D"/>
                          </a:solidFill>
                          <a:latin typeface="Aptos"/>
                        </a:rPr>
                        <a:t>, preserve the trace and report success vs query curves</a:t>
                      </a:r>
                      <a:endParaRPr sz="1200" b="0" dirty="0">
                        <a:solidFill>
                          <a:srgbClr val="2D2D2D"/>
                        </a:solidFill>
                        <a:latin typeface="Aptos"/>
                      </a:endParaRPr>
                    </a:p>
                  </a:txBody>
                  <a:tcPr marL="73152" marR="54864" marT="36576" marB="27432" anchor="ctr">
                    <a:solidFill>
                      <a:srgbClr val="FFFFFF"/>
                    </a:solidFill>
                  </a:tcPr>
                </a:tc>
                <a:extLst>
                  <a:ext uri="{0D108BD9-81ED-4DB2-BD59-A6C34878D82A}">
                    <a16:rowId xmlns:a16="http://schemas.microsoft.com/office/drawing/2014/main" val="10001"/>
                  </a:ext>
                </a:extLst>
              </a:tr>
              <a:tr h="640080">
                <a:tc>
                  <a:txBody>
                    <a:bodyPr/>
                    <a:lstStyle/>
                    <a:p>
                      <a:pPr>
                        <a:spcAft>
                          <a:spcPts val="0"/>
                        </a:spcAft>
                      </a:pPr>
                      <a:r>
                        <a:rPr sz="1200" b="1">
                          <a:solidFill>
                            <a:srgbClr val="2D2D2D"/>
                          </a:solidFill>
                          <a:latin typeface="Aptos"/>
                        </a:rPr>
                        <a:t>Paper-vs-proposal label</a:t>
                      </a:r>
                    </a:p>
                  </a:txBody>
                  <a:tcPr marL="73152" marR="54864" marT="36576" marB="27432" anchor="ctr">
                    <a:solidFill>
                      <a:srgbClr val="FFFFFF"/>
                    </a:solidFill>
                  </a:tcPr>
                </a:tc>
                <a:tc>
                  <a:txBody>
                    <a:bodyPr/>
                    <a:lstStyle/>
                    <a:p>
                      <a:pPr>
                        <a:spcAft>
                          <a:spcPts val="0"/>
                        </a:spcAft>
                      </a:pPr>
                      <a:r>
                        <a:rPr sz="1200" b="1" dirty="0" err="1">
                          <a:solidFill>
                            <a:srgbClr val="2D2D2D"/>
                          </a:solidFill>
                          <a:latin typeface="Aptos"/>
                        </a:rPr>
                        <a:t>PolyJailbreak</a:t>
                      </a:r>
                      <a:r>
                        <a:rPr sz="1200" b="0" dirty="0">
                          <a:solidFill>
                            <a:srgbClr val="2D2D2D"/>
                          </a:solidFill>
                          <a:latin typeface="Aptos"/>
                        </a:rPr>
                        <a:t> reports </a:t>
                      </a:r>
                      <a:r>
                        <a:rPr sz="1200" b="0" dirty="0" err="1">
                          <a:solidFill>
                            <a:srgbClr val="2D2D2D"/>
                          </a:solidFill>
                          <a:latin typeface="Aptos"/>
                        </a:rPr>
                        <a:t>T_max</a:t>
                      </a:r>
                      <a:r>
                        <a:rPr sz="1200" b="0" dirty="0">
                          <a:solidFill>
                            <a:srgbClr val="2D2D2D"/>
                          </a:solidFill>
                          <a:latin typeface="Aptos"/>
                        </a:rPr>
                        <a:t>=15 optimization steps; our additional 5-call discovery allowance is a proposed cap, not its native setting</a:t>
                      </a:r>
                    </a:p>
                  </a:txBody>
                  <a:tcPr marL="73152" marR="54864" marT="36576" marB="27432" anchor="ctr">
                    <a:solidFill>
                      <a:srgbClr val="FFFFFF"/>
                    </a:solidFill>
                  </a:tcPr>
                </a:tc>
                <a:extLst>
                  <a:ext uri="{0D108BD9-81ED-4DB2-BD59-A6C34878D82A}">
                    <a16:rowId xmlns:a16="http://schemas.microsoft.com/office/drawing/2014/main" val="10002"/>
                  </a:ext>
                </a:extLst>
              </a:tr>
              <a:tr h="640080">
                <a:tc>
                  <a:txBody>
                    <a:bodyPr/>
                    <a:lstStyle/>
                    <a:p>
                      <a:pPr>
                        <a:spcAft>
                          <a:spcPts val="0"/>
                        </a:spcAft>
                      </a:pPr>
                      <a:r>
                        <a:rPr sz="1200" b="1">
                          <a:solidFill>
                            <a:srgbClr val="2D2D2D"/>
                          </a:solidFill>
                          <a:latin typeface="Aptos"/>
                        </a:rPr>
                        <a:t>Primary endpoint</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Semantic harmful-compliance rate by attack family; success requires materially enabling prohibited intent, not keyword match</a:t>
                      </a:r>
                    </a:p>
                  </a:txBody>
                  <a:tcPr marL="73152" marR="54864" marT="36576" marB="27432" anchor="ctr">
                    <a:solidFill>
                      <a:srgbClr val="FFFFFF"/>
                    </a:solidFill>
                  </a:tcPr>
                </a:tc>
                <a:extLst>
                  <a:ext uri="{0D108BD9-81ED-4DB2-BD59-A6C34878D82A}">
                    <a16:rowId xmlns:a16="http://schemas.microsoft.com/office/drawing/2014/main" val="10003"/>
                  </a:ext>
                </a:extLst>
              </a:tr>
              <a:tr h="640080">
                <a:tc>
                  <a:txBody>
                    <a:bodyPr/>
                    <a:lstStyle/>
                    <a:p>
                      <a:pPr>
                        <a:spcAft>
                          <a:spcPts val="0"/>
                        </a:spcAft>
                      </a:pPr>
                      <a:r>
                        <a:rPr sz="1200" b="1">
                          <a:solidFill>
                            <a:srgbClr val="2D2D2D"/>
                          </a:solidFill>
                          <a:latin typeface="Aptos"/>
                        </a:rPr>
                        <a:t>Calibration and utility</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False-refusal rate and answer quality on matched safe near-neighbors; VQA/OCR and image-ablation grounding reported separately</a:t>
                      </a:r>
                    </a:p>
                  </a:txBody>
                  <a:tcPr marL="73152" marR="54864" marT="36576" marB="27432" anchor="ctr">
                    <a:solidFill>
                      <a:srgbClr val="FFFFFF"/>
                    </a:solidFill>
                  </a:tcPr>
                </a:tc>
                <a:extLst>
                  <a:ext uri="{0D108BD9-81ED-4DB2-BD59-A6C34878D82A}">
                    <a16:rowId xmlns:a16="http://schemas.microsoft.com/office/drawing/2014/main" val="10004"/>
                  </a:ext>
                </a:extLst>
              </a:tr>
              <a:tr h="640080">
                <a:tc>
                  <a:txBody>
                    <a:bodyPr/>
                    <a:lstStyle/>
                    <a:p>
                      <a:pPr>
                        <a:spcAft>
                          <a:spcPts val="0"/>
                        </a:spcAft>
                      </a:pPr>
                      <a:r>
                        <a:rPr sz="1200" b="1">
                          <a:solidFill>
                            <a:srgbClr val="2D2D2D"/>
                          </a:solidFill>
                          <a:latin typeface="Aptos"/>
                        </a:rPr>
                        <a:t>Judge and uncertainty</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Freeze judge/model version and rubric; blind arm labels; human-adjudicate stratified ambiguous/disagreement sample; paired intent-cluster bootstrap CIs</a:t>
                      </a:r>
                    </a:p>
                  </a:txBody>
                  <a:tcPr marL="73152" marR="54864" marT="36576" marB="27432" anchor="ctr">
                    <a:solidFill>
                      <a:srgbClr val="FFFFFF"/>
                    </a:solidFill>
                  </a:tcPr>
                </a:tc>
                <a:extLst>
                  <a:ext uri="{0D108BD9-81ED-4DB2-BD59-A6C34878D82A}">
                    <a16:rowId xmlns:a16="http://schemas.microsoft.com/office/drawing/2014/main" val="10005"/>
                  </a:ext>
                </a:extLst>
              </a:tr>
              <a:tr h="640080">
                <a:tc>
                  <a:txBody>
                    <a:bodyPr/>
                    <a:lstStyle/>
                    <a:p>
                      <a:pPr>
                        <a:spcAft>
                          <a:spcPts val="0"/>
                        </a:spcAft>
                      </a:pPr>
                      <a:r>
                        <a:rPr sz="1200" b="1">
                          <a:solidFill>
                            <a:srgbClr val="2D2D2D"/>
                          </a:solidFill>
                          <a:latin typeface="Aptos"/>
                        </a:rPr>
                        <a:t>Audit trail</a:t>
                      </a:r>
                    </a:p>
                  </a:txBody>
                  <a:tcPr marL="73152" marR="54864" marT="36576" marB="27432" anchor="ctr">
                    <a:solidFill>
                      <a:srgbClr val="FFFFFF"/>
                    </a:solidFill>
                  </a:tcPr>
                </a:tc>
                <a:tc>
                  <a:txBody>
                    <a:bodyPr/>
                    <a:lstStyle/>
                    <a:p>
                      <a:pPr>
                        <a:spcAft>
                          <a:spcPts val="0"/>
                        </a:spcAft>
                      </a:pPr>
                      <a:r>
                        <a:rPr sz="1200" b="0" dirty="0">
                          <a:solidFill>
                            <a:srgbClr val="2D2D2D"/>
                          </a:solidFill>
                          <a:latin typeface="Aptos"/>
                        </a:rPr>
                        <a:t>Save all query counts, stop reason, seed, hashes, judge outputs, latency/cost, and versioned artifacts; do not publish harmful outputs</a:t>
                      </a:r>
                    </a:p>
                  </a:txBody>
                  <a:tcPr marL="73152" marR="54864" marT="36576" marB="27432" anchor="ctr">
                    <a:solidFill>
                      <a:srgbClr val="FFFFFF"/>
                    </a:solidFill>
                  </a:tcPr>
                </a:tc>
                <a:extLst>
                  <a:ext uri="{0D108BD9-81ED-4DB2-BD59-A6C34878D82A}">
                    <a16:rowId xmlns:a16="http://schemas.microsoft.com/office/drawing/2014/main" val="10006"/>
                  </a:ext>
                </a:extLst>
              </a:tr>
            </a:tbl>
          </a:graphicData>
        </a:graphic>
      </p:graphicFrame>
      <p:cxnSp>
        <p:nvCxnSpPr>
          <p:cNvPr id="8" name="Connector 7"/>
          <p:cNvCxnSpPr/>
          <p:nvPr/>
        </p:nvCxnSpPr>
        <p:spPr>
          <a:xfrm>
            <a:off x="2926080" y="1481328"/>
            <a:ext cx="0" cy="448056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212140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276148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 y="340156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 y="404164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 y="468172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 y="532180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 y="148132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 y="5961888"/>
            <a:ext cx="1088136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 y="1481328"/>
            <a:ext cx="0" cy="448056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67160" y="1481328"/>
            <a:ext cx="0" cy="448056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SYSTEM DESIGN</a:t>
            </a:r>
          </a:p>
        </p:txBody>
      </p:sp>
      <p:sp>
        <p:nvSpPr>
          <p:cNvPr id="3" name="TextBox 2"/>
          <p:cNvSpPr txBox="1"/>
          <p:nvPr/>
        </p:nvSpPr>
        <p:spPr>
          <a:xfrm>
            <a:off x="566928" y="566928"/>
            <a:ext cx="10972800" cy="421654"/>
          </a:xfrm>
          <a:prstGeom prst="rect">
            <a:avLst/>
          </a:prstGeom>
          <a:noFill/>
        </p:spPr>
        <p:txBody>
          <a:bodyPr wrap="square" lIns="27432" tIns="18288" rIns="27432" bIns="18288" anchor="t">
            <a:spAutoFit/>
          </a:bodyPr>
          <a:lstStyle/>
          <a:p>
            <a:pPr algn="l"/>
            <a:r>
              <a:rPr sz="2500" b="1" dirty="0">
                <a:solidFill>
                  <a:srgbClr val="232323"/>
                </a:solidFill>
                <a:latin typeface="Aptos"/>
              </a:rPr>
              <a:t>Proposed study design</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Design synthesized from [1]–[13]; not a combined method reported by prior work</a:t>
            </a:r>
          </a:p>
        </p:txBody>
      </p:sp>
      <p:sp>
        <p:nvSpPr>
          <p:cNvPr id="7" name="Rectangle 6"/>
          <p:cNvSpPr/>
          <p:nvPr/>
        </p:nvSpPr>
        <p:spPr>
          <a:xfrm>
            <a:off x="585216" y="1572768"/>
            <a:ext cx="1847088" cy="3273552"/>
          </a:xfrm>
          <a:prstGeom prst="rect">
            <a:avLst/>
          </a:prstGeom>
          <a:solidFill>
            <a:srgbClr val="FFFFFF"/>
          </a:solidFill>
          <a:ln w="15875">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85216" y="1572768"/>
            <a:ext cx="1847088" cy="502920"/>
          </a:xfrm>
          <a:prstGeom prst="rect">
            <a:avLst/>
          </a:prstGeom>
          <a:solidFill>
            <a:srgbClr val="F2F2F2"/>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627632"/>
            <a:ext cx="1737360" cy="365760"/>
          </a:xfrm>
          <a:prstGeom prst="rect">
            <a:avLst/>
          </a:prstGeom>
          <a:noFill/>
        </p:spPr>
        <p:txBody>
          <a:bodyPr wrap="square" lIns="36576" tIns="22860" rIns="36576" bIns="18288" anchor="ctr">
            <a:spAutoFit/>
          </a:bodyPr>
          <a:lstStyle/>
          <a:p>
            <a:pPr algn="ctr"/>
            <a:r>
              <a:rPr sz="1200" b="1">
                <a:solidFill>
                  <a:srgbClr val="1E1E1E"/>
                </a:solidFill>
                <a:latin typeface="Aptos"/>
              </a:rPr>
              <a:t>1 | DATA + EVIDENCE</a:t>
            </a:r>
          </a:p>
        </p:txBody>
      </p:sp>
      <p:sp>
        <p:nvSpPr>
          <p:cNvPr id="10" name="TextBox 9"/>
          <p:cNvSpPr txBox="1"/>
          <p:nvPr/>
        </p:nvSpPr>
        <p:spPr>
          <a:xfrm>
            <a:off x="694944" y="2194560"/>
            <a:ext cx="1627632" cy="2542032"/>
          </a:xfrm>
          <a:prstGeom prst="rect">
            <a:avLst/>
          </a:prstGeom>
          <a:noFill/>
        </p:spPr>
        <p:txBody>
          <a:bodyPr wrap="square" lIns="36576" tIns="22860" rIns="36576" bIns="18288" anchor="t">
            <a:spAutoFit/>
          </a:bodyPr>
          <a:lstStyle/>
          <a:p>
            <a:pPr algn="l"/>
            <a:r>
              <a:rPr sz="1050" b="0">
                <a:solidFill>
                  <a:srgbClr val="1E1E1E"/>
                </a:solidFill>
                <a:latin typeface="Aptos"/>
              </a:rPr>
              <a:t>VLGuard: safety examples [5]
SPA-VL: preference pairs [6]
HoliSafe: image/text cases [8]
VLSBench + USB: evaluation design [2,3]
Track source, license, intent, and safe counterpart.</a:t>
            </a:r>
          </a:p>
        </p:txBody>
      </p:sp>
      <p:sp>
        <p:nvSpPr>
          <p:cNvPr id="11" name="Rectangle 10"/>
          <p:cNvSpPr/>
          <p:nvPr/>
        </p:nvSpPr>
        <p:spPr>
          <a:xfrm>
            <a:off x="2615184" y="1572768"/>
            <a:ext cx="1920240" cy="3273552"/>
          </a:xfrm>
          <a:prstGeom prst="rect">
            <a:avLst/>
          </a:prstGeom>
          <a:solidFill>
            <a:srgbClr val="FFFFFF"/>
          </a:solidFill>
          <a:ln w="15875">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615184" y="1572768"/>
            <a:ext cx="1920240" cy="502920"/>
          </a:xfrm>
          <a:prstGeom prst="rect">
            <a:avLst/>
          </a:prstGeom>
          <a:solidFill>
            <a:srgbClr val="F2F2F2"/>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70048" y="1627632"/>
            <a:ext cx="1810512" cy="365760"/>
          </a:xfrm>
          <a:prstGeom prst="rect">
            <a:avLst/>
          </a:prstGeom>
          <a:noFill/>
        </p:spPr>
        <p:txBody>
          <a:bodyPr wrap="square" lIns="36576" tIns="22860" rIns="36576" bIns="18288" anchor="ctr">
            <a:spAutoFit/>
          </a:bodyPr>
          <a:lstStyle/>
          <a:p>
            <a:pPr algn="ctr"/>
            <a:r>
              <a:rPr sz="1200" b="1">
                <a:solidFill>
                  <a:srgbClr val="1E1E1E"/>
                </a:solidFill>
                <a:latin typeface="Aptos"/>
              </a:rPr>
              <a:t>2 | LABEL + SPLIT</a:t>
            </a:r>
          </a:p>
        </p:txBody>
      </p:sp>
      <p:sp>
        <p:nvSpPr>
          <p:cNvPr id="14" name="TextBox 13"/>
          <p:cNvSpPr txBox="1"/>
          <p:nvPr/>
        </p:nvSpPr>
        <p:spPr>
          <a:xfrm>
            <a:off x="2724912" y="2194560"/>
            <a:ext cx="1700784" cy="2542032"/>
          </a:xfrm>
          <a:prstGeom prst="rect">
            <a:avLst/>
          </a:prstGeom>
          <a:noFill/>
        </p:spPr>
        <p:txBody>
          <a:bodyPr wrap="square" lIns="36576" tIns="22860" rIns="36576" bIns="18288" anchor="t">
            <a:spAutoFit/>
          </a:bodyPr>
          <a:lstStyle/>
          <a:p>
            <a:pPr algn="l"/>
            <a:r>
              <a:rPr sz="1050" b="0">
                <a:solidFill>
                  <a:srgbClr val="1E1E1E"/>
                </a:solidFill>
                <a:latin typeface="Aptos"/>
              </a:rPr>
              <a:t>Label image, text, and joint risk; add safe near-neighbors.
Split by source intent BEFORE paraphrase, rendering, image synthesis, or attack transforms.
Train / validation / locked test; deduplicate intents and images.</a:t>
            </a:r>
          </a:p>
        </p:txBody>
      </p:sp>
      <p:sp>
        <p:nvSpPr>
          <p:cNvPr id="15" name="Rectangle 14"/>
          <p:cNvSpPr/>
          <p:nvPr/>
        </p:nvSpPr>
        <p:spPr>
          <a:xfrm>
            <a:off x="4718304" y="1572768"/>
            <a:ext cx="2359152" cy="3273552"/>
          </a:xfrm>
          <a:prstGeom prst="rect">
            <a:avLst/>
          </a:prstGeom>
          <a:solidFill>
            <a:srgbClr val="FFFFFF"/>
          </a:solidFill>
          <a:ln w="15875">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718304" y="1572768"/>
            <a:ext cx="2359152" cy="502920"/>
          </a:xfrm>
          <a:prstGeom prst="rect">
            <a:avLst/>
          </a:prstGeom>
          <a:solidFill>
            <a:srgbClr val="F2F2F2"/>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73168" y="1627632"/>
            <a:ext cx="2249424" cy="365760"/>
          </a:xfrm>
          <a:prstGeom prst="rect">
            <a:avLst/>
          </a:prstGeom>
          <a:noFill/>
        </p:spPr>
        <p:txBody>
          <a:bodyPr wrap="square" lIns="36576" tIns="22860" rIns="36576" bIns="18288" anchor="ctr">
            <a:spAutoFit/>
          </a:bodyPr>
          <a:lstStyle/>
          <a:p>
            <a:pPr algn="ctr"/>
            <a:r>
              <a:rPr sz="1200" b="1">
                <a:solidFill>
                  <a:srgbClr val="1E1E1E"/>
                </a:solidFill>
                <a:latin typeface="Aptos"/>
              </a:rPr>
              <a:t>3 | SEPARATE ALIGNMENT ARMS</a:t>
            </a:r>
          </a:p>
        </p:txBody>
      </p:sp>
      <p:sp>
        <p:nvSpPr>
          <p:cNvPr id="18" name="TextBox 17"/>
          <p:cNvSpPr txBox="1"/>
          <p:nvPr/>
        </p:nvSpPr>
        <p:spPr>
          <a:xfrm>
            <a:off x="4828032" y="2194560"/>
            <a:ext cx="2139696" cy="2542032"/>
          </a:xfrm>
          <a:prstGeom prst="rect">
            <a:avLst/>
          </a:prstGeom>
          <a:noFill/>
        </p:spPr>
        <p:txBody>
          <a:bodyPr wrap="square" lIns="36576" tIns="22860" rIns="36576" bIns="18288" anchor="t">
            <a:spAutoFit/>
          </a:bodyPr>
          <a:lstStyle/>
          <a:p>
            <a:pPr algn="l"/>
            <a:r>
              <a:rPr sz="1050" b="0">
                <a:solidFill>
                  <a:srgbClr val="1E1E1E"/>
                </a:solidFill>
                <a:latin typeface="Aptos"/>
              </a:rPr>
              <a:t>B0 Native checkpoint
B1 Text-only safety SFT
B2 Multimodal safety SFT (VLGuard)
B3 Standard DPO (SPA-VL)
B4 ADPO (if reproducible)
Choose at most one feasible comparator: HoliSafe VGM, DAVSP, or Pragma-VL. Do not stack methods.</a:t>
            </a:r>
          </a:p>
        </p:txBody>
      </p:sp>
      <p:sp>
        <p:nvSpPr>
          <p:cNvPr id="19" name="Rectangle 18"/>
          <p:cNvSpPr/>
          <p:nvPr/>
        </p:nvSpPr>
        <p:spPr>
          <a:xfrm>
            <a:off x="7260336" y="1572768"/>
            <a:ext cx="2395728" cy="3273552"/>
          </a:xfrm>
          <a:prstGeom prst="rect">
            <a:avLst/>
          </a:prstGeom>
          <a:solidFill>
            <a:srgbClr val="FFFFFF"/>
          </a:solidFill>
          <a:ln w="15875">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260336" y="1572768"/>
            <a:ext cx="2395728" cy="502920"/>
          </a:xfrm>
          <a:prstGeom prst="rect">
            <a:avLst/>
          </a:prstGeom>
          <a:solidFill>
            <a:srgbClr val="F2F2F2"/>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0" y="1627632"/>
            <a:ext cx="2286000" cy="365760"/>
          </a:xfrm>
          <a:prstGeom prst="rect">
            <a:avLst/>
          </a:prstGeom>
          <a:noFill/>
        </p:spPr>
        <p:txBody>
          <a:bodyPr wrap="square" lIns="36576" tIns="22860" rIns="36576" bIns="18288" anchor="ctr">
            <a:spAutoFit/>
          </a:bodyPr>
          <a:lstStyle/>
          <a:p>
            <a:pPr algn="ctr"/>
            <a:r>
              <a:rPr sz="1200" b="1">
                <a:solidFill>
                  <a:srgbClr val="1E1E1E"/>
                </a:solidFill>
                <a:latin typeface="Aptos"/>
              </a:rPr>
              <a:t>4 | LOCKED EVALUATION</a:t>
            </a:r>
          </a:p>
        </p:txBody>
      </p:sp>
      <p:sp>
        <p:nvSpPr>
          <p:cNvPr id="22" name="TextBox 21"/>
          <p:cNvSpPr txBox="1"/>
          <p:nvPr/>
        </p:nvSpPr>
        <p:spPr>
          <a:xfrm>
            <a:off x="7370064" y="2194560"/>
            <a:ext cx="2176272" cy="2542032"/>
          </a:xfrm>
          <a:prstGeom prst="rect">
            <a:avLst/>
          </a:prstGeom>
          <a:noFill/>
        </p:spPr>
        <p:txBody>
          <a:bodyPr wrap="square" lIns="36576" tIns="22860" rIns="36576" bIns="18288" anchor="t">
            <a:spAutoFit/>
          </a:bodyPr>
          <a:lstStyle/>
          <a:p>
            <a:pPr algn="l"/>
            <a:r>
              <a:rPr sz="1050" b="0">
                <a:solidFill>
                  <a:srgbClr val="1E1E1E"/>
                </a:solidFill>
                <a:latin typeface="Aptos"/>
              </a:rPr>
              <a:t>ATTACKS
Fixed: FigStep [1], HADES +Opt [11]
Attack set: JailBreakV [12]
Adaptive: PolyJailbreak [4]
BENCHMARKS + CONTROLS
VLSBench / USB / HoliSafe [2,3,8]
Safe neighbors; image removed, masked, or decoy. Same frozen inference settings.</a:t>
            </a:r>
          </a:p>
        </p:txBody>
      </p:sp>
      <p:sp>
        <p:nvSpPr>
          <p:cNvPr id="23" name="Rectangle 22"/>
          <p:cNvSpPr/>
          <p:nvPr/>
        </p:nvSpPr>
        <p:spPr>
          <a:xfrm>
            <a:off x="9838944" y="1572768"/>
            <a:ext cx="1773936" cy="3273552"/>
          </a:xfrm>
          <a:prstGeom prst="rect">
            <a:avLst/>
          </a:prstGeom>
          <a:solidFill>
            <a:srgbClr val="FFFFFF"/>
          </a:solidFill>
          <a:ln w="15875">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838944" y="1572768"/>
            <a:ext cx="1773936" cy="502920"/>
          </a:xfrm>
          <a:prstGeom prst="rect">
            <a:avLst/>
          </a:prstGeom>
          <a:solidFill>
            <a:srgbClr val="F2F2F2"/>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93808" y="1627632"/>
            <a:ext cx="1664207" cy="365760"/>
          </a:xfrm>
          <a:prstGeom prst="rect">
            <a:avLst/>
          </a:prstGeom>
          <a:noFill/>
        </p:spPr>
        <p:txBody>
          <a:bodyPr wrap="square" lIns="36576" tIns="22860" rIns="36576" bIns="18288" anchor="ctr">
            <a:spAutoFit/>
          </a:bodyPr>
          <a:lstStyle/>
          <a:p>
            <a:pPr algn="ctr"/>
            <a:r>
              <a:rPr sz="1200" b="1">
                <a:solidFill>
                  <a:srgbClr val="1E1E1E"/>
                </a:solidFill>
                <a:latin typeface="Aptos"/>
              </a:rPr>
              <a:t>5 | SCORE + REPORT</a:t>
            </a:r>
          </a:p>
        </p:txBody>
      </p:sp>
      <p:sp>
        <p:nvSpPr>
          <p:cNvPr id="26" name="TextBox 25"/>
          <p:cNvSpPr txBox="1"/>
          <p:nvPr/>
        </p:nvSpPr>
        <p:spPr>
          <a:xfrm>
            <a:off x="9948672" y="2194560"/>
            <a:ext cx="1554480" cy="2542032"/>
          </a:xfrm>
          <a:prstGeom prst="rect">
            <a:avLst/>
          </a:prstGeom>
          <a:noFill/>
        </p:spPr>
        <p:txBody>
          <a:bodyPr wrap="square" lIns="36576" tIns="22860" rIns="36576" bIns="18288" anchor="t">
            <a:spAutoFit/>
          </a:bodyPr>
          <a:lstStyle/>
          <a:p>
            <a:pPr algn="l"/>
            <a:r>
              <a:rPr sz="1050" b="0">
                <a:solidFill>
                  <a:srgbClr val="1E1E1E"/>
                </a:solidFill>
                <a:latin typeface="Aptos"/>
              </a:rPr>
              <a:t>Harmful compliance / ASR
Benign false refusal
Safe-answer quality
Image grounding
VQA / OCR capability
Calls, latency, compute
Paired by intent; CIs + human audit.</a:t>
            </a:r>
          </a:p>
        </p:txBody>
      </p:sp>
      <p:cxnSp>
        <p:nvCxnSpPr>
          <p:cNvPr id="27" name="Connector 26"/>
          <p:cNvCxnSpPr/>
          <p:nvPr/>
        </p:nvCxnSpPr>
        <p:spPr>
          <a:xfrm>
            <a:off x="2446020" y="3182112"/>
            <a:ext cx="155448" cy="0"/>
          </a:xfrm>
          <a:prstGeom prst="line">
            <a:avLst/>
          </a:prstGeom>
          <a:ln w="17780">
            <a:solidFill>
              <a:srgbClr val="1E1E1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549140" y="3182112"/>
            <a:ext cx="155448" cy="0"/>
          </a:xfrm>
          <a:prstGeom prst="line">
            <a:avLst/>
          </a:prstGeom>
          <a:ln w="17780">
            <a:solidFill>
              <a:srgbClr val="1E1E1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91172" y="3182112"/>
            <a:ext cx="155448" cy="0"/>
          </a:xfrm>
          <a:prstGeom prst="line">
            <a:avLst/>
          </a:prstGeom>
          <a:ln w="17780">
            <a:solidFill>
              <a:srgbClr val="1E1E1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69780" y="3182112"/>
            <a:ext cx="155448" cy="0"/>
          </a:xfrm>
          <a:prstGeom prst="line">
            <a:avLst/>
          </a:prstGeom>
          <a:ln w="17780">
            <a:solidFill>
              <a:srgbClr val="1E1E1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13232" y="5071540"/>
            <a:ext cx="10744200" cy="226216"/>
          </a:xfrm>
          <a:prstGeom prst="rect">
            <a:avLst/>
          </a:prstGeom>
          <a:noFill/>
        </p:spPr>
        <p:txBody>
          <a:bodyPr wrap="square" lIns="36576" tIns="22860" rIns="36576" bIns="18288" anchor="ctr">
            <a:spAutoFit/>
          </a:bodyPr>
          <a:lstStyle/>
          <a:p>
            <a:pPr algn="ctr"/>
            <a:r>
              <a:rPr sz="1200" b="1" dirty="0">
                <a:solidFill>
                  <a:srgbClr val="1E1E1E"/>
                </a:solidFill>
                <a:latin typeface="Aptos"/>
              </a:rPr>
              <a:t>Locked test intents never enter training. Attacks are procedures</a:t>
            </a:r>
            <a:r>
              <a:rPr lang="en-US" sz="1200" b="1" dirty="0">
                <a:solidFill>
                  <a:srgbClr val="1E1E1E"/>
                </a:solidFill>
                <a:latin typeface="Aptos"/>
              </a:rPr>
              <a:t>, </a:t>
            </a:r>
            <a:r>
              <a:rPr sz="1200" b="1" dirty="0">
                <a:solidFill>
                  <a:srgbClr val="1E1E1E"/>
                </a:solidFill>
                <a:latin typeface="Aptos"/>
              </a:rPr>
              <a:t>benchmarks are test sets</a:t>
            </a:r>
            <a:r>
              <a:rPr lang="en-US" sz="1200" b="1" dirty="0">
                <a:solidFill>
                  <a:srgbClr val="1E1E1E"/>
                </a:solidFill>
                <a:latin typeface="Aptos"/>
              </a:rPr>
              <a:t>, </a:t>
            </a:r>
            <a:r>
              <a:rPr sz="1200" b="1" dirty="0">
                <a:solidFill>
                  <a:srgbClr val="1E1E1E"/>
                </a:solidFill>
                <a:latin typeface="Aptos"/>
              </a:rPr>
              <a:t>image ablations test dependence.</a:t>
            </a:r>
          </a:p>
        </p:txBody>
      </p:sp>
      <p:sp>
        <p:nvSpPr>
          <p:cNvPr id="32" name="TextBox 31"/>
          <p:cNvSpPr txBox="1"/>
          <p:nvPr/>
        </p:nvSpPr>
        <p:spPr>
          <a:xfrm>
            <a:off x="713232" y="5518146"/>
            <a:ext cx="10744200" cy="210827"/>
          </a:xfrm>
          <a:prstGeom prst="rect">
            <a:avLst/>
          </a:prstGeom>
          <a:noFill/>
        </p:spPr>
        <p:txBody>
          <a:bodyPr wrap="square" lIns="36576" tIns="22860" rIns="36576" bIns="18288" anchor="ctr">
            <a:spAutoFit/>
          </a:bodyPr>
          <a:lstStyle/>
          <a:p>
            <a:pPr algn="ctr"/>
            <a:r>
              <a:rPr sz="1100" b="0" dirty="0">
                <a:solidFill>
                  <a:srgbClr val="1E1E1E"/>
                </a:solidFill>
                <a:latin typeface="Aptos"/>
              </a:rPr>
              <a:t>Compare interventions separately. Preserve each metric, judge/version, query budget, and cost.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EXPERIMENTAL PROTOCOL</a:t>
            </a:r>
          </a:p>
        </p:txBody>
      </p:sp>
      <p:sp>
        <p:nvSpPr>
          <p:cNvPr id="3" name="TextBox 2"/>
          <p:cNvSpPr txBox="1"/>
          <p:nvPr/>
        </p:nvSpPr>
        <p:spPr>
          <a:xfrm>
            <a:off x="566928" y="566928"/>
            <a:ext cx="10972800" cy="421654"/>
          </a:xfrm>
          <a:prstGeom prst="rect">
            <a:avLst/>
          </a:prstGeom>
          <a:noFill/>
        </p:spPr>
        <p:txBody>
          <a:bodyPr wrap="square" lIns="27432" tIns="18288" rIns="27432" bIns="18288" anchor="t">
            <a:spAutoFit/>
          </a:bodyPr>
          <a:lstStyle/>
          <a:p>
            <a:pPr algn="l"/>
            <a:r>
              <a:rPr sz="2500" b="1" dirty="0">
                <a:solidFill>
                  <a:srgbClr val="232323"/>
                </a:solidFill>
                <a:latin typeface="Aptos"/>
              </a:rPr>
              <a:t>Baseline </a:t>
            </a:r>
            <a:r>
              <a:rPr lang="en-US" sz="2500" b="1" dirty="0">
                <a:solidFill>
                  <a:srgbClr val="232323"/>
                </a:solidFill>
                <a:latin typeface="Aptos"/>
              </a:rPr>
              <a:t>for research</a:t>
            </a:r>
            <a:r>
              <a:rPr sz="2500" b="1" dirty="0">
                <a:solidFill>
                  <a:srgbClr val="232323"/>
                </a:solidFill>
                <a:latin typeface="Aptos"/>
              </a:rPr>
              <a:t> and outcome contract</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Training precedent: [5]–[10]; evaluation precedent: [1]–[4], [11]–[13]</a:t>
            </a:r>
          </a:p>
        </p:txBody>
      </p:sp>
      <p:graphicFrame>
        <p:nvGraphicFramePr>
          <p:cNvPr id="7" name="Table 6"/>
          <p:cNvGraphicFramePr>
            <a:graphicFrameLocks noGrp="1"/>
          </p:cNvGraphicFramePr>
          <p:nvPr>
            <p:extLst>
              <p:ext uri="{D42A27DB-BD31-4B8C-83A1-F6EECF244321}">
                <p14:modId xmlns:p14="http://schemas.microsoft.com/office/powerpoint/2010/main" val="3222640994"/>
              </p:ext>
            </p:extLst>
          </p:nvPr>
        </p:nvGraphicFramePr>
        <p:xfrm>
          <a:off x="685800" y="1508760"/>
          <a:ext cx="5486400" cy="452628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646611">
                <a:tc>
                  <a:txBody>
                    <a:bodyPr/>
                    <a:lstStyle/>
                    <a:p>
                      <a:pPr>
                        <a:spcAft>
                          <a:spcPts val="0"/>
                        </a:spcAft>
                      </a:pPr>
                      <a:r>
                        <a:rPr lang="en-US" sz="1100" b="1" dirty="0">
                          <a:solidFill>
                            <a:srgbClr val="2D2D2D"/>
                          </a:solidFill>
                          <a:latin typeface="Aptos"/>
                        </a:rPr>
                        <a:t>Controlled model conditions</a:t>
                      </a:r>
                      <a:endParaRPr sz="1100" b="1" dirty="0">
                        <a:solidFill>
                          <a:srgbClr val="2D2D2D"/>
                        </a:solidFill>
                        <a:latin typeface="Aptos"/>
                      </a:endParaRPr>
                    </a:p>
                  </a:txBody>
                  <a:tcPr marL="73152" marR="54864" marT="36576" marB="27432" anchor="ctr">
                    <a:solidFill>
                      <a:srgbClr val="F2F2F2"/>
                    </a:solidFill>
                  </a:tcPr>
                </a:tc>
                <a:tc>
                  <a:txBody>
                    <a:bodyPr/>
                    <a:lstStyle/>
                    <a:p>
                      <a:pPr>
                        <a:spcAft>
                          <a:spcPts val="0"/>
                        </a:spcAft>
                      </a:pPr>
                      <a:r>
                        <a:rPr sz="1100" b="1">
                          <a:solidFill>
                            <a:srgbClr val="2D2D2D"/>
                          </a:solidFill>
                          <a:latin typeface="Aptos"/>
                        </a:rPr>
                        <a:t>Purpose</a:t>
                      </a:r>
                    </a:p>
                  </a:txBody>
                  <a:tcPr marL="73152" marR="54864" marT="36576" marB="27432" anchor="ctr">
                    <a:solidFill>
                      <a:srgbClr val="F2F2F2"/>
                    </a:solidFill>
                  </a:tcPr>
                </a:tc>
                <a:extLst>
                  <a:ext uri="{0D108BD9-81ED-4DB2-BD59-A6C34878D82A}">
                    <a16:rowId xmlns:a16="http://schemas.microsoft.com/office/drawing/2014/main" val="10000"/>
                  </a:ext>
                </a:extLst>
              </a:tr>
              <a:tr h="646611">
                <a:tc>
                  <a:txBody>
                    <a:bodyPr/>
                    <a:lstStyle/>
                    <a:p>
                      <a:pPr>
                        <a:spcAft>
                          <a:spcPts val="0"/>
                        </a:spcAft>
                      </a:pPr>
                      <a:r>
                        <a:rPr sz="1200" b="1">
                          <a:solidFill>
                            <a:srgbClr val="2D2D2D"/>
                          </a:solidFill>
                          <a:latin typeface="Aptos"/>
                        </a:rPr>
                        <a:t>B0 Native VLM</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Starting behavior</a:t>
                      </a:r>
                    </a:p>
                  </a:txBody>
                  <a:tcPr marL="73152" marR="54864" marT="36576" marB="27432" anchor="ctr">
                    <a:solidFill>
                      <a:srgbClr val="FFFFFF"/>
                    </a:solidFill>
                  </a:tcPr>
                </a:tc>
                <a:extLst>
                  <a:ext uri="{0D108BD9-81ED-4DB2-BD59-A6C34878D82A}">
                    <a16:rowId xmlns:a16="http://schemas.microsoft.com/office/drawing/2014/main" val="10001"/>
                  </a:ext>
                </a:extLst>
              </a:tr>
              <a:tr h="646611">
                <a:tc>
                  <a:txBody>
                    <a:bodyPr/>
                    <a:lstStyle/>
                    <a:p>
                      <a:pPr>
                        <a:spcAft>
                          <a:spcPts val="0"/>
                        </a:spcAft>
                      </a:pPr>
                      <a:r>
                        <a:rPr sz="1200" b="1">
                          <a:solidFill>
                            <a:srgbClr val="2D2D2D"/>
                          </a:solidFill>
                          <a:latin typeface="Aptos"/>
                        </a:rPr>
                        <a:t>B1 Text-only safety SFT</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Isolate language-only tuning</a:t>
                      </a:r>
                    </a:p>
                  </a:txBody>
                  <a:tcPr marL="73152" marR="54864" marT="36576" marB="27432" anchor="ctr">
                    <a:solidFill>
                      <a:srgbClr val="FFFFFF"/>
                    </a:solidFill>
                  </a:tcPr>
                </a:tc>
                <a:extLst>
                  <a:ext uri="{0D108BD9-81ED-4DB2-BD59-A6C34878D82A}">
                    <a16:rowId xmlns:a16="http://schemas.microsoft.com/office/drawing/2014/main" val="10002"/>
                  </a:ext>
                </a:extLst>
              </a:tr>
              <a:tr h="646611">
                <a:tc>
                  <a:txBody>
                    <a:bodyPr/>
                    <a:lstStyle/>
                    <a:p>
                      <a:pPr>
                        <a:spcAft>
                          <a:spcPts val="0"/>
                        </a:spcAft>
                      </a:pPr>
                      <a:r>
                        <a:rPr sz="1200" b="1">
                          <a:solidFill>
                            <a:srgbClr val="2D2D2D"/>
                          </a:solidFill>
                          <a:latin typeface="Aptos"/>
                        </a:rPr>
                        <a:t>B2 Multimodal safety SFT</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VLGuard-style baseline</a:t>
                      </a:r>
                    </a:p>
                  </a:txBody>
                  <a:tcPr marL="73152" marR="54864" marT="36576" marB="27432" anchor="ctr">
                    <a:solidFill>
                      <a:srgbClr val="FFFFFF"/>
                    </a:solidFill>
                  </a:tcPr>
                </a:tc>
                <a:extLst>
                  <a:ext uri="{0D108BD9-81ED-4DB2-BD59-A6C34878D82A}">
                    <a16:rowId xmlns:a16="http://schemas.microsoft.com/office/drawing/2014/main" val="10003"/>
                  </a:ext>
                </a:extLst>
              </a:tr>
              <a:tr h="646611">
                <a:tc>
                  <a:txBody>
                    <a:bodyPr/>
                    <a:lstStyle/>
                    <a:p>
                      <a:pPr>
                        <a:spcAft>
                          <a:spcPts val="0"/>
                        </a:spcAft>
                      </a:pPr>
                      <a:r>
                        <a:rPr sz="1200" b="1">
                          <a:solidFill>
                            <a:srgbClr val="2D2D2D"/>
                          </a:solidFill>
                          <a:latin typeface="Aptos"/>
                        </a:rPr>
                        <a:t>B3 Standard DPO</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Preference objective without adversary</a:t>
                      </a:r>
                    </a:p>
                  </a:txBody>
                  <a:tcPr marL="73152" marR="54864" marT="36576" marB="27432" anchor="ctr">
                    <a:solidFill>
                      <a:srgbClr val="FFFFFF"/>
                    </a:solidFill>
                  </a:tcPr>
                </a:tc>
                <a:extLst>
                  <a:ext uri="{0D108BD9-81ED-4DB2-BD59-A6C34878D82A}">
                    <a16:rowId xmlns:a16="http://schemas.microsoft.com/office/drawing/2014/main" val="10004"/>
                  </a:ext>
                </a:extLst>
              </a:tr>
              <a:tr h="646611">
                <a:tc>
                  <a:txBody>
                    <a:bodyPr/>
                    <a:lstStyle/>
                    <a:p>
                      <a:pPr>
                        <a:spcAft>
                          <a:spcPts val="0"/>
                        </a:spcAft>
                      </a:pPr>
                      <a:r>
                        <a:rPr sz="1200" b="1">
                          <a:solidFill>
                            <a:srgbClr val="2D2D2D"/>
                          </a:solidFill>
                          <a:latin typeface="Aptos"/>
                        </a:rPr>
                        <a:t>B4 ADPO-style</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Adversarial preference; if faithfully reproducible</a:t>
                      </a:r>
                    </a:p>
                  </a:txBody>
                  <a:tcPr marL="73152" marR="54864" marT="36576" marB="27432" anchor="ctr">
                    <a:solidFill>
                      <a:srgbClr val="FFFFFF"/>
                    </a:solidFill>
                  </a:tcPr>
                </a:tc>
                <a:extLst>
                  <a:ext uri="{0D108BD9-81ED-4DB2-BD59-A6C34878D82A}">
                    <a16:rowId xmlns:a16="http://schemas.microsoft.com/office/drawing/2014/main" val="10005"/>
                  </a:ext>
                </a:extLst>
              </a:tr>
              <a:tr h="646614">
                <a:tc>
                  <a:txBody>
                    <a:bodyPr/>
                    <a:lstStyle/>
                    <a:p>
                      <a:pPr>
                        <a:spcAft>
                          <a:spcPts val="0"/>
                        </a:spcAft>
                      </a:pPr>
                      <a:r>
                        <a:rPr sz="1200" b="1">
                          <a:solidFill>
                            <a:srgbClr val="2D2D2D"/>
                          </a:solidFill>
                          <a:latin typeface="Aptos"/>
                        </a:rPr>
                        <a:t>B5 One recent comparator</a:t>
                      </a:r>
                    </a:p>
                  </a:txBody>
                  <a:tcPr marL="73152" marR="54864" marT="36576" marB="27432" anchor="ctr">
                    <a:solidFill>
                      <a:srgbClr val="FFFFFF"/>
                    </a:solidFill>
                  </a:tcPr>
                </a:tc>
                <a:tc>
                  <a:txBody>
                    <a:bodyPr/>
                    <a:lstStyle/>
                    <a:p>
                      <a:pPr>
                        <a:spcAft>
                          <a:spcPts val="0"/>
                        </a:spcAft>
                      </a:pPr>
                      <a:r>
                        <a:rPr sz="1200" b="0" dirty="0" err="1">
                          <a:solidFill>
                            <a:srgbClr val="2D2D2D"/>
                          </a:solidFill>
                          <a:latin typeface="Aptos"/>
                        </a:rPr>
                        <a:t>HoliSafe</a:t>
                      </a:r>
                      <a:r>
                        <a:rPr sz="1200" b="0" dirty="0">
                          <a:solidFill>
                            <a:srgbClr val="2D2D2D"/>
                          </a:solidFill>
                          <a:latin typeface="Aptos"/>
                        </a:rPr>
                        <a:t>, DAVSP, or Pragma-VL after feasibility check</a:t>
                      </a:r>
                    </a:p>
                  </a:txBody>
                  <a:tcPr marL="73152" marR="54864" marT="36576" marB="27432" anchor="ctr">
                    <a:solidFill>
                      <a:srgbClr val="FFFFFF"/>
                    </a:solidFill>
                  </a:tcPr>
                </a:tc>
                <a:extLst>
                  <a:ext uri="{0D108BD9-81ED-4DB2-BD59-A6C34878D82A}">
                    <a16:rowId xmlns:a16="http://schemas.microsoft.com/office/drawing/2014/main" val="10006"/>
                  </a:ext>
                </a:extLst>
              </a:tr>
            </a:tbl>
          </a:graphicData>
        </a:graphic>
      </p:graphicFrame>
      <p:cxnSp>
        <p:nvCxnSpPr>
          <p:cNvPr id="8" name="Connector 7"/>
          <p:cNvCxnSpPr/>
          <p:nvPr/>
        </p:nvCxnSpPr>
        <p:spPr>
          <a:xfrm>
            <a:off x="3154680" y="1508760"/>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85800" y="2155371"/>
            <a:ext cx="54864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2801982"/>
            <a:ext cx="54864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 y="3448594"/>
            <a:ext cx="54864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 y="4095205"/>
            <a:ext cx="54864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 y="4741817"/>
            <a:ext cx="54864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 y="5388428"/>
            <a:ext cx="54864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 y="1508760"/>
            <a:ext cx="54864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 y="6035040"/>
            <a:ext cx="548640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 y="1508760"/>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72200" y="1508760"/>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6446520" y="1508760"/>
          <a:ext cx="5074920" cy="452628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754380">
                <a:tc>
                  <a:txBody>
                    <a:bodyPr/>
                    <a:lstStyle/>
                    <a:p>
                      <a:pPr>
                        <a:spcAft>
                          <a:spcPts val="0"/>
                        </a:spcAft>
                      </a:pPr>
                      <a:r>
                        <a:rPr sz="1100" b="1">
                          <a:solidFill>
                            <a:srgbClr val="2D2D2D"/>
                          </a:solidFill>
                          <a:latin typeface="Aptos"/>
                        </a:rPr>
                        <a:t>Outcome</a:t>
                      </a:r>
                    </a:p>
                  </a:txBody>
                  <a:tcPr marL="73152" marR="54864" marT="36576" marB="27432" anchor="ctr">
                    <a:solidFill>
                      <a:srgbClr val="F2F2F2"/>
                    </a:solidFill>
                  </a:tcPr>
                </a:tc>
                <a:tc>
                  <a:txBody>
                    <a:bodyPr/>
                    <a:lstStyle/>
                    <a:p>
                      <a:pPr>
                        <a:spcAft>
                          <a:spcPts val="0"/>
                        </a:spcAft>
                      </a:pPr>
                      <a:r>
                        <a:rPr sz="1100" b="1">
                          <a:solidFill>
                            <a:srgbClr val="2D2D2D"/>
                          </a:solidFill>
                          <a:latin typeface="Aptos"/>
                        </a:rPr>
                        <a:t>Report</a:t>
                      </a:r>
                    </a:p>
                  </a:txBody>
                  <a:tcPr marL="73152" marR="54864" marT="36576" marB="27432" anchor="ctr">
                    <a:solidFill>
                      <a:srgbClr val="F2F2F2"/>
                    </a:solidFill>
                  </a:tcPr>
                </a:tc>
                <a:extLst>
                  <a:ext uri="{0D108BD9-81ED-4DB2-BD59-A6C34878D82A}">
                    <a16:rowId xmlns:a16="http://schemas.microsoft.com/office/drawing/2014/main" val="10000"/>
                  </a:ext>
                </a:extLst>
              </a:tr>
              <a:tr h="754380">
                <a:tc>
                  <a:txBody>
                    <a:bodyPr/>
                    <a:lstStyle/>
                    <a:p>
                      <a:pPr>
                        <a:spcAft>
                          <a:spcPts val="0"/>
                        </a:spcAft>
                      </a:pPr>
                      <a:r>
                        <a:rPr sz="1200" b="1">
                          <a:solidFill>
                            <a:srgbClr val="2D2D2D"/>
                          </a:solidFill>
                          <a:latin typeface="Aptos"/>
                        </a:rPr>
                        <a:t>Safety</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Semantic harmful-compliance / ASR by family</a:t>
                      </a:r>
                    </a:p>
                  </a:txBody>
                  <a:tcPr marL="73152" marR="54864" marT="36576" marB="27432" anchor="ctr">
                    <a:solidFill>
                      <a:srgbClr val="FFFFFF"/>
                    </a:solidFill>
                  </a:tcPr>
                </a:tc>
                <a:extLst>
                  <a:ext uri="{0D108BD9-81ED-4DB2-BD59-A6C34878D82A}">
                    <a16:rowId xmlns:a16="http://schemas.microsoft.com/office/drawing/2014/main" val="10001"/>
                  </a:ext>
                </a:extLst>
              </a:tr>
              <a:tr h="754380">
                <a:tc>
                  <a:txBody>
                    <a:bodyPr/>
                    <a:lstStyle/>
                    <a:p>
                      <a:pPr>
                        <a:spcAft>
                          <a:spcPts val="0"/>
                        </a:spcAft>
                      </a:pPr>
                      <a:r>
                        <a:rPr sz="1200" b="1">
                          <a:solidFill>
                            <a:srgbClr val="2D2D2D"/>
                          </a:solidFill>
                          <a:latin typeface="Aptos"/>
                        </a:rPr>
                        <a:t>Calibration</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Benign false refusal + safe-answer quality</a:t>
                      </a:r>
                    </a:p>
                  </a:txBody>
                  <a:tcPr marL="73152" marR="54864" marT="36576" marB="27432" anchor="ctr">
                    <a:solidFill>
                      <a:srgbClr val="FFFFFF"/>
                    </a:solidFill>
                  </a:tcPr>
                </a:tc>
                <a:extLst>
                  <a:ext uri="{0D108BD9-81ED-4DB2-BD59-A6C34878D82A}">
                    <a16:rowId xmlns:a16="http://schemas.microsoft.com/office/drawing/2014/main" val="10002"/>
                  </a:ext>
                </a:extLst>
              </a:tr>
              <a:tr h="754380">
                <a:tc>
                  <a:txBody>
                    <a:bodyPr/>
                    <a:lstStyle/>
                    <a:p>
                      <a:pPr>
                        <a:spcAft>
                          <a:spcPts val="0"/>
                        </a:spcAft>
                      </a:pPr>
                      <a:r>
                        <a:rPr sz="1200" b="1">
                          <a:solidFill>
                            <a:srgbClr val="2D2D2D"/>
                          </a:solidFill>
                          <a:latin typeface="Aptos"/>
                        </a:rPr>
                        <a:t>Grounding</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Original vs removed / masked / decoy image</a:t>
                      </a:r>
                    </a:p>
                  </a:txBody>
                  <a:tcPr marL="73152" marR="54864" marT="36576" marB="27432" anchor="ctr">
                    <a:solidFill>
                      <a:srgbClr val="FFFFFF"/>
                    </a:solidFill>
                  </a:tcPr>
                </a:tc>
                <a:extLst>
                  <a:ext uri="{0D108BD9-81ED-4DB2-BD59-A6C34878D82A}">
                    <a16:rowId xmlns:a16="http://schemas.microsoft.com/office/drawing/2014/main" val="10003"/>
                  </a:ext>
                </a:extLst>
              </a:tr>
              <a:tr h="754380">
                <a:tc>
                  <a:txBody>
                    <a:bodyPr/>
                    <a:lstStyle/>
                    <a:p>
                      <a:pPr>
                        <a:spcAft>
                          <a:spcPts val="0"/>
                        </a:spcAft>
                      </a:pPr>
                      <a:r>
                        <a:rPr sz="1200" b="1">
                          <a:solidFill>
                            <a:srgbClr val="2D2D2D"/>
                          </a:solidFill>
                          <a:latin typeface="Aptos"/>
                        </a:rPr>
                        <a:t>Capability</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Fixed VQA/OCR metrics, separate from safety</a:t>
                      </a:r>
                    </a:p>
                  </a:txBody>
                  <a:tcPr marL="73152" marR="54864" marT="36576" marB="27432" anchor="ctr">
                    <a:solidFill>
                      <a:srgbClr val="FFFFFF"/>
                    </a:solidFill>
                  </a:tcPr>
                </a:tc>
                <a:extLst>
                  <a:ext uri="{0D108BD9-81ED-4DB2-BD59-A6C34878D82A}">
                    <a16:rowId xmlns:a16="http://schemas.microsoft.com/office/drawing/2014/main" val="10004"/>
                  </a:ext>
                </a:extLst>
              </a:tr>
              <a:tr h="754380">
                <a:tc>
                  <a:txBody>
                    <a:bodyPr/>
                    <a:lstStyle/>
                    <a:p>
                      <a:pPr>
                        <a:spcAft>
                          <a:spcPts val="0"/>
                        </a:spcAft>
                      </a:pPr>
                      <a:r>
                        <a:rPr sz="1200" b="1">
                          <a:solidFill>
                            <a:srgbClr val="2D2D2D"/>
                          </a:solidFill>
                          <a:latin typeface="Aptos"/>
                        </a:rPr>
                        <a:t>Cost</a:t>
                      </a:r>
                    </a:p>
                  </a:txBody>
                  <a:tcPr marL="73152" marR="54864" marT="36576" marB="27432" anchor="ctr">
                    <a:solidFill>
                      <a:srgbClr val="FFFFFF"/>
                    </a:solidFill>
                  </a:tcPr>
                </a:tc>
                <a:tc>
                  <a:txBody>
                    <a:bodyPr/>
                    <a:lstStyle/>
                    <a:p>
                      <a:pPr>
                        <a:spcAft>
                          <a:spcPts val="0"/>
                        </a:spcAft>
                      </a:pPr>
                      <a:r>
                        <a:rPr sz="1200" b="0">
                          <a:solidFill>
                            <a:srgbClr val="2D2D2D"/>
                          </a:solidFill>
                          <a:latin typeface="Aptos"/>
                        </a:rPr>
                        <a:t>Training compute, latency, extra calls, memory</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cxnSp>
        <p:nvCxnSpPr>
          <p:cNvPr id="20" name="Connector 19"/>
          <p:cNvCxnSpPr/>
          <p:nvPr/>
        </p:nvCxnSpPr>
        <p:spPr>
          <a:xfrm>
            <a:off x="7863840" y="1508760"/>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46520" y="2263140"/>
            <a:ext cx="5074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446520" y="3017520"/>
            <a:ext cx="5074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446520" y="3771900"/>
            <a:ext cx="5074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446520" y="4526280"/>
            <a:ext cx="5074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446520" y="5280660"/>
            <a:ext cx="5074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446520" y="1508760"/>
            <a:ext cx="5074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446520" y="6035040"/>
            <a:ext cx="5074920"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446520" y="1508760"/>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521440" y="1508760"/>
            <a:ext cx="0" cy="452628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HYPOTHESIS AND CHALLENGES</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The gap is in controlled transfer and attribution</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VLSBench [2]; ADPO [7]; HoliSafe [8]; USB [3]; PolyJailbreak [4]</a:t>
            </a:r>
          </a:p>
        </p:txBody>
      </p:sp>
      <p:sp>
        <p:nvSpPr>
          <p:cNvPr id="7" name="Rectangle 6"/>
          <p:cNvSpPr/>
          <p:nvPr/>
        </p:nvSpPr>
        <p:spPr>
          <a:xfrm>
            <a:off x="777240" y="1572768"/>
            <a:ext cx="5166360" cy="182880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572768"/>
            <a:ext cx="64008" cy="1828800"/>
          </a:xfrm>
          <a:prstGeom prst="rect">
            <a:avLst/>
          </a:prstGeom>
          <a:solidFill>
            <a:srgbClr val="4B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709928"/>
            <a:ext cx="4818888" cy="267766"/>
          </a:xfrm>
          <a:prstGeom prst="rect">
            <a:avLst/>
          </a:prstGeom>
          <a:noFill/>
        </p:spPr>
        <p:txBody>
          <a:bodyPr wrap="square" lIns="27432" tIns="18288" rIns="27432" bIns="18288" anchor="t">
            <a:spAutoFit/>
          </a:bodyPr>
          <a:lstStyle/>
          <a:p>
            <a:pPr algn="l"/>
            <a:r>
              <a:rPr lang="en-US" sz="1500" b="1" dirty="0">
                <a:solidFill>
                  <a:srgbClr val="4B4B4B"/>
                </a:solidFill>
                <a:latin typeface="Aptos"/>
              </a:rPr>
              <a:t>Prediction </a:t>
            </a:r>
            <a:r>
              <a:rPr sz="1500" b="1" dirty="0">
                <a:solidFill>
                  <a:srgbClr val="4B4B4B"/>
                </a:solidFill>
                <a:latin typeface="Aptos"/>
              </a:rPr>
              <a:t>| IMAGE-CONDITIONED TRANSFER</a:t>
            </a:r>
          </a:p>
        </p:txBody>
      </p:sp>
      <p:sp>
        <p:nvSpPr>
          <p:cNvPr id="10" name="TextBox 9"/>
          <p:cNvSpPr txBox="1"/>
          <p:nvPr/>
        </p:nvSpPr>
        <p:spPr>
          <a:xfrm>
            <a:off x="960120" y="2103120"/>
            <a:ext cx="4818888" cy="1207007"/>
          </a:xfrm>
          <a:prstGeom prst="rect">
            <a:avLst/>
          </a:prstGeom>
          <a:noFill/>
        </p:spPr>
        <p:txBody>
          <a:bodyPr wrap="square" lIns="27432" tIns="18288" rIns="27432" bIns="18288" anchor="t">
            <a:spAutoFit/>
          </a:bodyPr>
          <a:lstStyle/>
          <a:p>
            <a:pPr algn="l"/>
            <a:r>
              <a:rPr sz="1500" b="0">
                <a:solidFill>
                  <a:srgbClr val="2D2D2D"/>
                </a:solidFill>
                <a:latin typeface="Aptos"/>
              </a:rPr>
              <a:t>At matched data budget, multimodal alignment improves intent-held-out visual attack resistance over text-only safety tuning.</a:t>
            </a:r>
          </a:p>
        </p:txBody>
      </p:sp>
      <p:sp>
        <p:nvSpPr>
          <p:cNvPr id="11" name="Rectangle 10"/>
          <p:cNvSpPr/>
          <p:nvPr/>
        </p:nvSpPr>
        <p:spPr>
          <a:xfrm>
            <a:off x="6217920" y="1572768"/>
            <a:ext cx="5166360" cy="1828800"/>
          </a:xfrm>
          <a:prstGeom prst="rect">
            <a:avLst/>
          </a:prstGeom>
          <a:solidFill>
            <a:srgbClr val="FFFFFF"/>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572768"/>
            <a:ext cx="64008" cy="1828800"/>
          </a:xfrm>
          <a:prstGeom prst="rect">
            <a:avLst/>
          </a:prstGeom>
          <a:solidFill>
            <a:srgbClr val="4B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709928"/>
            <a:ext cx="4818888" cy="267766"/>
          </a:xfrm>
          <a:prstGeom prst="rect">
            <a:avLst/>
          </a:prstGeom>
          <a:noFill/>
        </p:spPr>
        <p:txBody>
          <a:bodyPr wrap="square" lIns="27432" tIns="18288" rIns="27432" bIns="18288" anchor="t">
            <a:spAutoFit/>
          </a:bodyPr>
          <a:lstStyle/>
          <a:p>
            <a:pPr algn="l"/>
            <a:r>
              <a:rPr lang="en-US" sz="1500" b="1" dirty="0">
                <a:solidFill>
                  <a:srgbClr val="4B4B4B"/>
                </a:solidFill>
                <a:latin typeface="Aptos"/>
              </a:rPr>
              <a:t>Transfer Prediction</a:t>
            </a:r>
            <a:r>
              <a:rPr sz="1500" b="1" dirty="0">
                <a:solidFill>
                  <a:srgbClr val="4B4B4B"/>
                </a:solidFill>
                <a:latin typeface="Aptos"/>
              </a:rPr>
              <a:t> | HELD-OUT MECHANISMS</a:t>
            </a:r>
          </a:p>
        </p:txBody>
      </p:sp>
      <p:sp>
        <p:nvSpPr>
          <p:cNvPr id="14" name="TextBox 13"/>
          <p:cNvSpPr txBox="1"/>
          <p:nvPr/>
        </p:nvSpPr>
        <p:spPr>
          <a:xfrm>
            <a:off x="6400800" y="2103120"/>
            <a:ext cx="4818888" cy="498598"/>
          </a:xfrm>
          <a:prstGeom prst="rect">
            <a:avLst/>
          </a:prstGeom>
          <a:noFill/>
        </p:spPr>
        <p:txBody>
          <a:bodyPr wrap="square" lIns="27432" tIns="18288" rIns="27432" bIns="18288" anchor="t">
            <a:spAutoFit/>
          </a:bodyPr>
          <a:lstStyle/>
          <a:p>
            <a:pPr algn="l"/>
            <a:r>
              <a:rPr sz="1500" b="0" dirty="0">
                <a:solidFill>
                  <a:srgbClr val="2D2D2D"/>
                </a:solidFill>
                <a:latin typeface="Aptos"/>
              </a:rPr>
              <a:t>ADPO gains are larger on seen attack families than on family-held-out tests.</a:t>
            </a:r>
          </a:p>
        </p:txBody>
      </p:sp>
      <p:sp>
        <p:nvSpPr>
          <p:cNvPr id="15" name="Oval 14"/>
          <p:cNvSpPr/>
          <p:nvPr/>
        </p:nvSpPr>
        <p:spPr>
          <a:xfrm>
            <a:off x="841248" y="3849624"/>
            <a:ext cx="100584" cy="100584"/>
          </a:xfrm>
          <a:prstGeom prst="ellipse">
            <a:avLst/>
          </a:prstGeom>
          <a:solidFill>
            <a:srgbClr val="4B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69848" y="3749039"/>
            <a:ext cx="10195560" cy="466344"/>
          </a:xfrm>
          <a:prstGeom prst="rect">
            <a:avLst/>
          </a:prstGeom>
          <a:noFill/>
        </p:spPr>
        <p:txBody>
          <a:bodyPr wrap="square" lIns="27432" tIns="18288" rIns="27432" bIns="18288" anchor="t">
            <a:spAutoFit/>
          </a:bodyPr>
          <a:lstStyle/>
          <a:p>
            <a:pPr algn="l"/>
            <a:r>
              <a:rPr sz="1400" b="0">
                <a:solidFill>
                  <a:srgbClr val="2D2D2D"/>
                </a:solidFill>
                <a:latin typeface="Aptos"/>
              </a:rPr>
              <a:t>Leakage and attribution: did the model need the image?</a:t>
            </a:r>
          </a:p>
        </p:txBody>
      </p:sp>
      <p:sp>
        <p:nvSpPr>
          <p:cNvPr id="17" name="Oval 16"/>
          <p:cNvSpPr/>
          <p:nvPr/>
        </p:nvSpPr>
        <p:spPr>
          <a:xfrm>
            <a:off x="841248" y="4361688"/>
            <a:ext cx="100584" cy="100584"/>
          </a:xfrm>
          <a:prstGeom prst="ellipse">
            <a:avLst/>
          </a:prstGeom>
          <a:solidFill>
            <a:srgbClr val="4B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69848" y="4261104"/>
            <a:ext cx="10195560" cy="466344"/>
          </a:xfrm>
          <a:prstGeom prst="rect">
            <a:avLst/>
          </a:prstGeom>
          <a:noFill/>
        </p:spPr>
        <p:txBody>
          <a:bodyPr wrap="square" lIns="27432" tIns="18288" rIns="27432" bIns="18288" anchor="t">
            <a:spAutoFit/>
          </a:bodyPr>
          <a:lstStyle/>
          <a:p>
            <a:pPr algn="l"/>
            <a:r>
              <a:rPr sz="1400" b="0">
                <a:solidFill>
                  <a:srgbClr val="2D2D2D"/>
                </a:solidFill>
                <a:latin typeface="Aptos"/>
              </a:rPr>
              <a:t>Metric incompatibility: ASR, RSR, safety rate, RR, judges, and units differ.</a:t>
            </a:r>
          </a:p>
        </p:txBody>
      </p:sp>
      <p:sp>
        <p:nvSpPr>
          <p:cNvPr id="19" name="Oval 18"/>
          <p:cNvSpPr/>
          <p:nvPr/>
        </p:nvSpPr>
        <p:spPr>
          <a:xfrm>
            <a:off x="841248" y="4873752"/>
            <a:ext cx="100584" cy="100584"/>
          </a:xfrm>
          <a:prstGeom prst="ellipse">
            <a:avLst/>
          </a:prstGeom>
          <a:solidFill>
            <a:srgbClr val="4B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69848" y="4773168"/>
            <a:ext cx="10195560" cy="466344"/>
          </a:xfrm>
          <a:prstGeom prst="rect">
            <a:avLst/>
          </a:prstGeom>
          <a:noFill/>
        </p:spPr>
        <p:txBody>
          <a:bodyPr wrap="square" lIns="27432" tIns="18288" rIns="27432" bIns="18288" anchor="t">
            <a:spAutoFit/>
          </a:bodyPr>
          <a:lstStyle/>
          <a:p>
            <a:pPr algn="l"/>
            <a:r>
              <a:rPr sz="1400" b="0">
                <a:solidFill>
                  <a:srgbClr val="2D2D2D"/>
                </a:solidFill>
                <a:latin typeface="Aptos"/>
              </a:rPr>
              <a:t>Over-refusal and utility loss can make apparent safety gains misleading.</a:t>
            </a:r>
          </a:p>
        </p:txBody>
      </p:sp>
      <p:sp>
        <p:nvSpPr>
          <p:cNvPr id="21" name="Oval 20"/>
          <p:cNvSpPr/>
          <p:nvPr/>
        </p:nvSpPr>
        <p:spPr>
          <a:xfrm>
            <a:off x="841248" y="5385816"/>
            <a:ext cx="100584" cy="100584"/>
          </a:xfrm>
          <a:prstGeom prst="ellipse">
            <a:avLst/>
          </a:prstGeom>
          <a:solidFill>
            <a:srgbClr val="4B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69848" y="5285231"/>
            <a:ext cx="10195560" cy="466344"/>
          </a:xfrm>
          <a:prstGeom prst="rect">
            <a:avLst/>
          </a:prstGeom>
          <a:noFill/>
        </p:spPr>
        <p:txBody>
          <a:bodyPr wrap="square" lIns="27432" tIns="18288" rIns="27432" bIns="18288" anchor="t">
            <a:spAutoFit/>
          </a:bodyPr>
          <a:lstStyle/>
          <a:p>
            <a:pPr algn="l"/>
            <a:r>
              <a:rPr sz="1400" b="0">
                <a:solidFill>
                  <a:srgbClr val="2D2D2D"/>
                </a:solidFill>
                <a:latin typeface="Aptos"/>
              </a:rPr>
              <a:t>Intent duplicates, judge disagreement, adaptive budgets, and model/version drift threaten reproducibility.</a:t>
            </a:r>
          </a:p>
        </p:txBody>
      </p:sp>
      <p:sp>
        <p:nvSpPr>
          <p:cNvPr id="23" name="TextBox 22">
            <a:extLst>
              <a:ext uri="{FF2B5EF4-FFF2-40B4-BE49-F238E27FC236}">
                <a16:creationId xmlns:a16="http://schemas.microsoft.com/office/drawing/2014/main" id="{E8FE3055-EA8A-5E5D-B183-896A08917B8F}"/>
              </a:ext>
            </a:extLst>
          </p:cNvPr>
          <p:cNvSpPr txBox="1"/>
          <p:nvPr/>
        </p:nvSpPr>
        <p:spPr>
          <a:xfrm>
            <a:off x="777240" y="3476071"/>
            <a:ext cx="10195560" cy="252377"/>
          </a:xfrm>
          <a:prstGeom prst="rect">
            <a:avLst/>
          </a:prstGeom>
          <a:noFill/>
        </p:spPr>
        <p:txBody>
          <a:bodyPr wrap="square" lIns="27432" tIns="18288" rIns="27432" bIns="18288" anchor="t">
            <a:spAutoFit/>
          </a:bodyPr>
          <a:lstStyle/>
          <a:p>
            <a:pPr algn="l"/>
            <a:r>
              <a:rPr lang="en-US" sz="1400" b="0" dirty="0">
                <a:solidFill>
                  <a:srgbClr val="2D2D2D"/>
                </a:solidFill>
                <a:latin typeface="Aptos"/>
              </a:rPr>
              <a:t>THREATS TO VALIDITY:</a:t>
            </a:r>
            <a:endParaRPr sz="1400" b="0" dirty="0">
              <a:solidFill>
                <a:srgbClr val="2D2D2D"/>
              </a:solidFill>
              <a:latin typeface="Apto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STUDY PLAN</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A responsible proposal has a bounded first experiment</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3071254760"/>
              </p:ext>
            </p:extLst>
          </p:nvPr>
        </p:nvGraphicFramePr>
        <p:xfrm>
          <a:off x="868680" y="1600200"/>
          <a:ext cx="10469880" cy="41148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85800">
                <a:tc>
                  <a:txBody>
                    <a:bodyPr/>
                    <a:lstStyle/>
                    <a:p>
                      <a:pPr>
                        <a:spcAft>
                          <a:spcPts val="0"/>
                        </a:spcAft>
                      </a:pPr>
                      <a:r>
                        <a:rPr sz="1300" b="1">
                          <a:solidFill>
                            <a:srgbClr val="2D2D2D"/>
                          </a:solidFill>
                          <a:latin typeface="Aptos"/>
                        </a:rPr>
                        <a:t>Stage</a:t>
                      </a:r>
                    </a:p>
                  </a:txBody>
                  <a:tcPr marL="73152" marR="54864" marT="36576" marB="27432" anchor="ctr">
                    <a:solidFill>
                      <a:srgbClr val="F2F2F2"/>
                    </a:solidFill>
                  </a:tcPr>
                </a:tc>
                <a:tc>
                  <a:txBody>
                    <a:bodyPr/>
                    <a:lstStyle/>
                    <a:p>
                      <a:pPr>
                        <a:spcAft>
                          <a:spcPts val="0"/>
                        </a:spcAft>
                      </a:pPr>
                      <a:r>
                        <a:rPr sz="1300" b="1">
                          <a:solidFill>
                            <a:srgbClr val="2D2D2D"/>
                          </a:solidFill>
                          <a:latin typeface="Aptos"/>
                        </a:rPr>
                        <a:t>Deliverable</a:t>
                      </a:r>
                    </a:p>
                  </a:txBody>
                  <a:tcPr marL="73152" marR="54864" marT="36576" marB="27432" anchor="ctr">
                    <a:solidFill>
                      <a:srgbClr val="F2F2F2"/>
                    </a:solidFill>
                  </a:tcPr>
                </a:tc>
                <a:tc>
                  <a:txBody>
                    <a:bodyPr/>
                    <a:lstStyle/>
                    <a:p>
                      <a:pPr>
                        <a:spcAft>
                          <a:spcPts val="0"/>
                        </a:spcAft>
                      </a:pPr>
                      <a:r>
                        <a:rPr sz="1300" b="1">
                          <a:solidFill>
                            <a:srgbClr val="2D2D2D"/>
                          </a:solidFill>
                          <a:latin typeface="Aptos"/>
                        </a:rPr>
                        <a:t>Decision gate</a:t>
                      </a:r>
                    </a:p>
                  </a:txBody>
                  <a:tcPr marL="73152" marR="54864" marT="36576" marB="27432" anchor="ctr">
                    <a:solidFill>
                      <a:srgbClr val="F2F2F2"/>
                    </a:solidFill>
                  </a:tcPr>
                </a:tc>
                <a:extLst>
                  <a:ext uri="{0D108BD9-81ED-4DB2-BD59-A6C34878D82A}">
                    <a16:rowId xmlns:a16="http://schemas.microsoft.com/office/drawing/2014/main" val="10000"/>
                  </a:ext>
                </a:extLst>
              </a:tr>
              <a:tr h="685800">
                <a:tc>
                  <a:txBody>
                    <a:bodyPr/>
                    <a:lstStyle/>
                    <a:p>
                      <a:pPr>
                        <a:spcAft>
                          <a:spcPts val="0"/>
                        </a:spcAft>
                      </a:pPr>
                      <a:r>
                        <a:rPr sz="1400" b="1">
                          <a:solidFill>
                            <a:srgbClr val="2D2D2D"/>
                          </a:solidFill>
                          <a:latin typeface="Aptos"/>
                        </a:rPr>
                        <a:t>1. Paper audit</a:t>
                      </a:r>
                    </a:p>
                  </a:txBody>
                  <a:tcPr marL="73152" marR="54864" marT="36576" marB="27432" anchor="ctr">
                    <a:solidFill>
                      <a:srgbClr val="FFFFFF"/>
                    </a:solidFill>
                  </a:tcPr>
                </a:tc>
                <a:tc>
                  <a:txBody>
                    <a:bodyPr/>
                    <a:lstStyle/>
                    <a:p>
                      <a:pPr>
                        <a:spcAft>
                          <a:spcPts val="0"/>
                        </a:spcAft>
                      </a:pPr>
                      <a:r>
                        <a:rPr sz="1400" b="0" dirty="0">
                          <a:solidFill>
                            <a:srgbClr val="2D2D2D"/>
                          </a:solidFill>
                          <a:latin typeface="Aptos"/>
                        </a:rPr>
                        <a:t>Extract protocol, exact tables, and metrics for </a:t>
                      </a:r>
                      <a:r>
                        <a:rPr lang="en-US" sz="1400" b="0" dirty="0">
                          <a:solidFill>
                            <a:srgbClr val="2D2D2D"/>
                          </a:solidFill>
                          <a:latin typeface="Aptos"/>
                        </a:rPr>
                        <a:t>all</a:t>
                      </a:r>
                      <a:r>
                        <a:rPr sz="1400" b="0" dirty="0">
                          <a:solidFill>
                            <a:srgbClr val="2D2D2D"/>
                          </a:solidFill>
                          <a:latin typeface="Aptos"/>
                        </a:rPr>
                        <a:t> papers</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Lock candidate methods and benchmark versions</a:t>
                      </a:r>
                    </a:p>
                  </a:txBody>
                  <a:tcPr marL="73152" marR="54864" marT="36576" marB="27432" anchor="ctr">
                    <a:solidFill>
                      <a:srgbClr val="FFFFFF"/>
                    </a:solidFill>
                  </a:tcPr>
                </a:tc>
                <a:extLst>
                  <a:ext uri="{0D108BD9-81ED-4DB2-BD59-A6C34878D82A}">
                    <a16:rowId xmlns:a16="http://schemas.microsoft.com/office/drawing/2014/main" val="10001"/>
                  </a:ext>
                </a:extLst>
              </a:tr>
              <a:tr h="685800">
                <a:tc>
                  <a:txBody>
                    <a:bodyPr/>
                    <a:lstStyle/>
                    <a:p>
                      <a:pPr>
                        <a:spcAft>
                          <a:spcPts val="0"/>
                        </a:spcAft>
                      </a:pPr>
                      <a:r>
                        <a:rPr sz="1400" b="1">
                          <a:solidFill>
                            <a:srgbClr val="2D2D2D"/>
                          </a:solidFill>
                          <a:latin typeface="Aptos"/>
                        </a:rPr>
                        <a:t>2. Feasibility</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Choose one open checkpoint; test artifact access and data licenses</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If ADPO/recent method is not reproducible, document exclusion</a:t>
                      </a:r>
                    </a:p>
                  </a:txBody>
                  <a:tcPr marL="73152" marR="54864" marT="36576" marB="27432" anchor="ctr">
                    <a:solidFill>
                      <a:srgbClr val="FFFFFF"/>
                    </a:solidFill>
                  </a:tcPr>
                </a:tc>
                <a:extLst>
                  <a:ext uri="{0D108BD9-81ED-4DB2-BD59-A6C34878D82A}">
                    <a16:rowId xmlns:a16="http://schemas.microsoft.com/office/drawing/2014/main" val="10002"/>
                  </a:ext>
                </a:extLst>
              </a:tr>
              <a:tr h="685800">
                <a:tc>
                  <a:txBody>
                    <a:bodyPr/>
                    <a:lstStyle/>
                    <a:p>
                      <a:pPr>
                        <a:spcAft>
                          <a:spcPts val="0"/>
                        </a:spcAft>
                      </a:pPr>
                      <a:r>
                        <a:rPr sz="1400" b="1">
                          <a:solidFill>
                            <a:srgbClr val="2D2D2D"/>
                          </a:solidFill>
                          <a:latin typeface="Aptos"/>
                        </a:rPr>
                        <a:t>3. Protocol freeze</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Intent-level split, attack tiers, judges, endpoints, compute budget</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Preregister before training</a:t>
                      </a:r>
                    </a:p>
                  </a:txBody>
                  <a:tcPr marL="73152" marR="54864" marT="36576" marB="27432" anchor="ctr">
                    <a:solidFill>
                      <a:srgbClr val="FFFFFF"/>
                    </a:solidFill>
                  </a:tcPr>
                </a:tc>
                <a:extLst>
                  <a:ext uri="{0D108BD9-81ED-4DB2-BD59-A6C34878D82A}">
                    <a16:rowId xmlns:a16="http://schemas.microsoft.com/office/drawing/2014/main" val="10003"/>
                  </a:ext>
                </a:extLst>
              </a:tr>
              <a:tr h="685800">
                <a:tc>
                  <a:txBody>
                    <a:bodyPr/>
                    <a:lstStyle/>
                    <a:p>
                      <a:pPr>
                        <a:spcAft>
                          <a:spcPts val="0"/>
                        </a:spcAft>
                      </a:pPr>
                      <a:r>
                        <a:rPr sz="1400" b="1">
                          <a:solidFill>
                            <a:srgbClr val="2D2D2D"/>
                          </a:solidFill>
                          <a:latin typeface="Aptos"/>
                        </a:rPr>
                        <a:t>4. Run + analyze</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Baseline ladder, repeated seeds, per-family safety/utility/grounding</a:t>
                      </a:r>
                    </a:p>
                  </a:txBody>
                  <a:tcPr marL="73152" marR="54864" marT="36576" marB="27432" anchor="ctr">
                    <a:solidFill>
                      <a:srgbClr val="FFFFFF"/>
                    </a:solidFill>
                  </a:tcPr>
                </a:tc>
                <a:tc>
                  <a:txBody>
                    <a:bodyPr/>
                    <a:lstStyle/>
                    <a:p>
                      <a:pPr>
                        <a:spcAft>
                          <a:spcPts val="0"/>
                        </a:spcAft>
                      </a:pPr>
                      <a:r>
                        <a:rPr sz="1400" b="0">
                          <a:solidFill>
                            <a:srgbClr val="2D2D2D"/>
                          </a:solidFill>
                          <a:latin typeface="Aptos"/>
                        </a:rPr>
                        <a:t>Report negative results and uncertainty</a:t>
                      </a:r>
                    </a:p>
                  </a:txBody>
                  <a:tcPr marL="73152" marR="54864" marT="36576" marB="27432" anchor="ctr">
                    <a:solidFill>
                      <a:srgbClr val="FFFFFF"/>
                    </a:solidFill>
                  </a:tcPr>
                </a:tc>
                <a:extLst>
                  <a:ext uri="{0D108BD9-81ED-4DB2-BD59-A6C34878D82A}">
                    <a16:rowId xmlns:a16="http://schemas.microsoft.com/office/drawing/2014/main" val="10004"/>
                  </a:ext>
                </a:extLst>
              </a:tr>
              <a:tr h="685800">
                <a:tc>
                  <a:txBody>
                    <a:bodyPr/>
                    <a:lstStyle/>
                    <a:p>
                      <a:pPr>
                        <a:spcAft>
                          <a:spcPts val="0"/>
                        </a:spcAft>
                      </a:pPr>
                      <a:r>
                        <a:rPr sz="1400" b="1">
                          <a:solidFill>
                            <a:srgbClr val="2D2D2D"/>
                          </a:solidFill>
                          <a:latin typeface="Aptos"/>
                        </a:rPr>
                        <a:t>5. Expand review</a:t>
                      </a:r>
                    </a:p>
                  </a:txBody>
                  <a:tcPr marL="73152" marR="54864" marT="36576" marB="27432" anchor="ctr">
                    <a:solidFill>
                      <a:srgbClr val="FFFFFF"/>
                    </a:solidFill>
                  </a:tcPr>
                </a:tc>
                <a:tc>
                  <a:txBody>
                    <a:bodyPr/>
                    <a:lstStyle/>
                    <a:p>
                      <a:pPr>
                        <a:spcAft>
                          <a:spcPts val="0"/>
                        </a:spcAft>
                      </a:pPr>
                      <a:r>
                        <a:rPr sz="1400" b="0" dirty="0">
                          <a:solidFill>
                            <a:srgbClr val="2D2D2D"/>
                          </a:solidFill>
                          <a:latin typeface="Aptos"/>
                        </a:rPr>
                        <a:t>Add literature and adaptive/white-box tiers</a:t>
                      </a:r>
                    </a:p>
                  </a:txBody>
                  <a:tcPr marL="73152" marR="54864" marT="36576" marB="27432" anchor="ctr">
                    <a:solidFill>
                      <a:srgbClr val="FFFFFF"/>
                    </a:solidFill>
                  </a:tcPr>
                </a:tc>
                <a:tc>
                  <a:txBody>
                    <a:bodyPr/>
                    <a:lstStyle/>
                    <a:p>
                      <a:pPr>
                        <a:spcAft>
                          <a:spcPts val="0"/>
                        </a:spcAft>
                      </a:pPr>
                      <a:r>
                        <a:rPr sz="1400" b="0" dirty="0">
                          <a:solidFill>
                            <a:srgbClr val="2D2D2D"/>
                          </a:solidFill>
                          <a:latin typeface="Aptos"/>
                        </a:rPr>
                        <a:t>Do not claim comprehensive SOTA until audit closes</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cxnSp>
        <p:nvCxnSpPr>
          <p:cNvPr id="8" name="Connector 7"/>
          <p:cNvCxnSpPr/>
          <p:nvPr/>
        </p:nvCxnSpPr>
        <p:spPr>
          <a:xfrm>
            <a:off x="2697480" y="1600200"/>
            <a:ext cx="0" cy="411480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06640" y="1600200"/>
            <a:ext cx="0" cy="411480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68680" y="2286000"/>
            <a:ext cx="10469879"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68680" y="2971800"/>
            <a:ext cx="10469879"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68680" y="3657600"/>
            <a:ext cx="10469879"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68680" y="4343400"/>
            <a:ext cx="10469879"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68680" y="5029200"/>
            <a:ext cx="10469879"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68680" y="1600200"/>
            <a:ext cx="10469879"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68680" y="5715000"/>
            <a:ext cx="10469879" cy="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68680" y="1600200"/>
            <a:ext cx="0" cy="411480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338559" y="1600200"/>
            <a:ext cx="0" cy="4114800"/>
          </a:xfrm>
          <a:prstGeom prst="line">
            <a:avLst/>
          </a:prstGeom>
          <a:ln w="1397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REFERENCES</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References | Attacks and evaluation</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Primary records [1]–[4], [11]–[13]</a:t>
            </a:r>
          </a:p>
        </p:txBody>
      </p:sp>
      <p:sp>
        <p:nvSpPr>
          <p:cNvPr id="7" name="TextBox 6"/>
          <p:cNvSpPr txBox="1"/>
          <p:nvPr/>
        </p:nvSpPr>
        <p:spPr>
          <a:xfrm>
            <a:off x="777240" y="1444752"/>
            <a:ext cx="10652760" cy="612648"/>
          </a:xfrm>
          <a:prstGeom prst="rect">
            <a:avLst/>
          </a:prstGeom>
          <a:noFill/>
        </p:spPr>
        <p:txBody>
          <a:bodyPr wrap="square" lIns="27432" tIns="18288" rIns="27432" bIns="18288" anchor="t">
            <a:spAutoFit/>
          </a:bodyPr>
          <a:lstStyle/>
          <a:p>
            <a:pPr algn="l"/>
            <a:r>
              <a:rPr sz="1100" b="0">
                <a:solidFill>
                  <a:srgbClr val="2D2D2D"/>
                </a:solidFill>
                <a:latin typeface="Aptos"/>
              </a:rPr>
              <a:t>[1] Y. Gong et al., “FigStep: Jailbreaking Large Vision-Language Models via Typographic Visual Prompts,” arXiv:2311.05608, 2023; AAAI 2025 Oral. https://arxiv.org/abs/2311.05608</a:t>
            </a:r>
          </a:p>
        </p:txBody>
      </p:sp>
      <p:sp>
        <p:nvSpPr>
          <p:cNvPr id="8" name="TextBox 7"/>
          <p:cNvSpPr txBox="1"/>
          <p:nvPr/>
        </p:nvSpPr>
        <p:spPr>
          <a:xfrm>
            <a:off x="777240" y="2130552"/>
            <a:ext cx="10652760" cy="612648"/>
          </a:xfrm>
          <a:prstGeom prst="rect">
            <a:avLst/>
          </a:prstGeom>
          <a:noFill/>
        </p:spPr>
        <p:txBody>
          <a:bodyPr wrap="square" lIns="27432" tIns="18288" rIns="27432" bIns="18288" anchor="t">
            <a:spAutoFit/>
          </a:bodyPr>
          <a:lstStyle/>
          <a:p>
            <a:pPr algn="l"/>
            <a:r>
              <a:rPr sz="1100" b="0">
                <a:solidFill>
                  <a:srgbClr val="2D2D2D"/>
                </a:solidFill>
                <a:latin typeface="Aptos"/>
              </a:rPr>
              <a:t>[2] X. Hu, D. Liu, H. Li, X. Huang, and J. Shao, “VLSBench: Unveiling Visual Leakage in Multimodal Safety,” in Proc. ACL, 2025, pp. 8285–8316, doi: 10.18653/v1/2025.acl-long.405.</a:t>
            </a:r>
          </a:p>
        </p:txBody>
      </p:sp>
      <p:sp>
        <p:nvSpPr>
          <p:cNvPr id="9" name="TextBox 8"/>
          <p:cNvSpPr txBox="1"/>
          <p:nvPr/>
        </p:nvSpPr>
        <p:spPr>
          <a:xfrm>
            <a:off x="777240" y="2816352"/>
            <a:ext cx="10652760" cy="612648"/>
          </a:xfrm>
          <a:prstGeom prst="rect">
            <a:avLst/>
          </a:prstGeom>
          <a:noFill/>
        </p:spPr>
        <p:txBody>
          <a:bodyPr wrap="square" lIns="27432" tIns="18288" rIns="27432" bIns="18288" anchor="t">
            <a:spAutoFit/>
          </a:bodyPr>
          <a:lstStyle/>
          <a:p>
            <a:pPr algn="l"/>
            <a:r>
              <a:rPr sz="1100" b="0">
                <a:solidFill>
                  <a:srgbClr val="2D2D2D"/>
                </a:solidFill>
                <a:latin typeface="Aptos"/>
              </a:rPr>
              <a:t>[3] B. Zheng et al., “USB: A Comprehensive and Unified Safety Evaluation Benchmark for Multimodal Large Language Models,” in Proc. ACL, 2026, pp. 21184–21211, doi: 10.18653/v1/2026.acl-long.970.</a:t>
            </a:r>
          </a:p>
        </p:txBody>
      </p:sp>
      <p:sp>
        <p:nvSpPr>
          <p:cNvPr id="10" name="TextBox 9"/>
          <p:cNvSpPr txBox="1"/>
          <p:nvPr/>
        </p:nvSpPr>
        <p:spPr>
          <a:xfrm>
            <a:off x="777240" y="3502152"/>
            <a:ext cx="10652760" cy="612648"/>
          </a:xfrm>
          <a:prstGeom prst="rect">
            <a:avLst/>
          </a:prstGeom>
          <a:noFill/>
        </p:spPr>
        <p:txBody>
          <a:bodyPr wrap="square" lIns="27432" tIns="18288" rIns="27432" bIns="18288" anchor="t">
            <a:spAutoFit/>
          </a:bodyPr>
          <a:lstStyle/>
          <a:p>
            <a:pPr algn="l"/>
            <a:r>
              <a:rPr sz="1100" b="0">
                <a:solidFill>
                  <a:srgbClr val="2D2D2D"/>
                </a:solidFill>
                <a:latin typeface="Aptos"/>
              </a:rPr>
              <a:t>[4] X. Wang et al., “PolyJailbreak: Cross-Modal Jailbreaking Attacks on Black-Box Multimodal LLMs,” IEEE Trans. Dependable Secure Comput., 2026, doi: 10.1109/TDSC.2026.3707228.</a:t>
            </a:r>
          </a:p>
        </p:txBody>
      </p:sp>
      <p:sp>
        <p:nvSpPr>
          <p:cNvPr id="11" name="TextBox 10"/>
          <p:cNvSpPr txBox="1"/>
          <p:nvPr/>
        </p:nvSpPr>
        <p:spPr>
          <a:xfrm>
            <a:off x="777240" y="4187952"/>
            <a:ext cx="10652760" cy="612648"/>
          </a:xfrm>
          <a:prstGeom prst="rect">
            <a:avLst/>
          </a:prstGeom>
          <a:noFill/>
        </p:spPr>
        <p:txBody>
          <a:bodyPr wrap="square" lIns="27432" tIns="18288" rIns="27432" bIns="18288" anchor="t">
            <a:spAutoFit/>
          </a:bodyPr>
          <a:lstStyle/>
          <a:p>
            <a:pPr algn="l"/>
            <a:r>
              <a:rPr sz="1100" b="0" dirty="0">
                <a:solidFill>
                  <a:srgbClr val="2D2D2D"/>
                </a:solidFill>
                <a:latin typeface="Aptos"/>
              </a:rPr>
              <a:t>[11] Y. Li et al., “Images are Achilles’ Heel of Alignment: Exploiting Visual Vulnerabilities for Jailbreaking Multimodal Large Language Models,” in Proc. ECCV, 2024. https://</a:t>
            </a:r>
            <a:r>
              <a:rPr sz="1100" b="0" dirty="0" err="1">
                <a:solidFill>
                  <a:srgbClr val="2D2D2D"/>
                </a:solidFill>
                <a:latin typeface="Aptos"/>
              </a:rPr>
              <a:t>arxiv.org</a:t>
            </a:r>
            <a:r>
              <a:rPr sz="1100" b="0" dirty="0">
                <a:solidFill>
                  <a:srgbClr val="2D2D2D"/>
                </a:solidFill>
                <a:latin typeface="Aptos"/>
              </a:rPr>
              <a:t>/abs/2403.09792</a:t>
            </a:r>
          </a:p>
        </p:txBody>
      </p:sp>
      <p:sp>
        <p:nvSpPr>
          <p:cNvPr id="12" name="TextBox 11"/>
          <p:cNvSpPr txBox="1"/>
          <p:nvPr/>
        </p:nvSpPr>
        <p:spPr>
          <a:xfrm>
            <a:off x="777240" y="4873752"/>
            <a:ext cx="10652760" cy="612648"/>
          </a:xfrm>
          <a:prstGeom prst="rect">
            <a:avLst/>
          </a:prstGeom>
          <a:noFill/>
        </p:spPr>
        <p:txBody>
          <a:bodyPr wrap="square" lIns="27432" tIns="18288" rIns="27432" bIns="18288" anchor="t">
            <a:spAutoFit/>
          </a:bodyPr>
          <a:lstStyle/>
          <a:p>
            <a:pPr algn="l"/>
            <a:r>
              <a:rPr sz="1100" b="0" dirty="0">
                <a:solidFill>
                  <a:srgbClr val="2D2D2D"/>
                </a:solidFill>
                <a:latin typeface="Aptos"/>
              </a:rPr>
              <a:t>[12] W. Luo et al., “</a:t>
            </a:r>
            <a:r>
              <a:rPr sz="1100" b="0" dirty="0" err="1">
                <a:solidFill>
                  <a:srgbClr val="2D2D2D"/>
                </a:solidFill>
                <a:latin typeface="Aptos"/>
              </a:rPr>
              <a:t>JailBreakV</a:t>
            </a:r>
            <a:r>
              <a:rPr sz="1100" b="0" dirty="0">
                <a:solidFill>
                  <a:srgbClr val="2D2D2D"/>
                </a:solidFill>
                <a:latin typeface="Aptos"/>
              </a:rPr>
              <a:t>: A Benchmark for Assessing the Robustness of Multimodal Large Language Models against Jailbreak Attacks,” arXiv:2404.03027, 2024; COLM 2024.</a:t>
            </a:r>
          </a:p>
        </p:txBody>
      </p:sp>
      <p:sp>
        <p:nvSpPr>
          <p:cNvPr id="13" name="TextBox 12"/>
          <p:cNvSpPr txBox="1"/>
          <p:nvPr/>
        </p:nvSpPr>
        <p:spPr>
          <a:xfrm>
            <a:off x="777240" y="5559552"/>
            <a:ext cx="10652760" cy="612648"/>
          </a:xfrm>
          <a:prstGeom prst="rect">
            <a:avLst/>
          </a:prstGeom>
          <a:noFill/>
        </p:spPr>
        <p:txBody>
          <a:bodyPr wrap="square" lIns="27432" tIns="18288" rIns="27432" bIns="18288" anchor="t">
            <a:spAutoFit/>
          </a:bodyPr>
          <a:lstStyle/>
          <a:p>
            <a:pPr algn="l"/>
            <a:r>
              <a:rPr sz="1100" b="0" dirty="0">
                <a:solidFill>
                  <a:srgbClr val="2D2D2D"/>
                </a:solidFill>
                <a:latin typeface="Aptos"/>
              </a:rPr>
              <a:t>[13] S. Wang et al., “Safe Inputs but Unsafe Output: Benchmarking Cross-modality Safety Alignment of Large Vision-Language Models,” in Findings of NAACL, 2025, pp. 3563–3605, </a:t>
            </a:r>
            <a:r>
              <a:rPr sz="1100" b="0" dirty="0" err="1">
                <a:solidFill>
                  <a:srgbClr val="2D2D2D"/>
                </a:solidFill>
                <a:latin typeface="Aptos"/>
              </a:rPr>
              <a:t>doi</a:t>
            </a:r>
            <a:r>
              <a:rPr sz="1100" b="0" dirty="0">
                <a:solidFill>
                  <a:srgbClr val="2D2D2D"/>
                </a:solidFill>
                <a:latin typeface="Aptos"/>
              </a:rPr>
              <a:t>: 10.18653/v1/2025.findings-naacl.198.</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3931920" cy="228600"/>
          </a:xfrm>
          <a:prstGeom prst="rect">
            <a:avLst/>
          </a:prstGeom>
          <a:noFill/>
        </p:spPr>
        <p:txBody>
          <a:bodyPr wrap="square" lIns="27432" tIns="18288" rIns="27432" bIns="18288" anchor="t">
            <a:spAutoFit/>
          </a:bodyPr>
          <a:lstStyle/>
          <a:p>
            <a:pPr algn="l"/>
            <a:r>
              <a:rPr sz="900" b="1">
                <a:solidFill>
                  <a:srgbClr val="4B4B4B"/>
                </a:solidFill>
                <a:latin typeface="Aptos"/>
              </a:rPr>
              <a:t>REFERENCES</a:t>
            </a:r>
          </a:p>
        </p:txBody>
      </p:sp>
      <p:sp>
        <p:nvSpPr>
          <p:cNvPr id="3" name="TextBox 2"/>
          <p:cNvSpPr txBox="1"/>
          <p:nvPr/>
        </p:nvSpPr>
        <p:spPr>
          <a:xfrm>
            <a:off x="566928" y="566928"/>
            <a:ext cx="10972800" cy="548640"/>
          </a:xfrm>
          <a:prstGeom prst="rect">
            <a:avLst/>
          </a:prstGeom>
          <a:noFill/>
        </p:spPr>
        <p:txBody>
          <a:bodyPr wrap="square" lIns="27432" tIns="18288" rIns="27432" bIns="18288" anchor="t">
            <a:spAutoFit/>
          </a:bodyPr>
          <a:lstStyle/>
          <a:p>
            <a:pPr algn="l"/>
            <a:r>
              <a:rPr sz="2500" b="1">
                <a:solidFill>
                  <a:srgbClr val="232323"/>
                </a:solidFill>
                <a:latin typeface="Aptos"/>
              </a:rPr>
              <a:t>References | Alignment methods</a:t>
            </a:r>
          </a:p>
        </p:txBody>
      </p:sp>
      <p:sp>
        <p:nvSpPr>
          <p:cNvPr id="4" name="Rectangle 3"/>
          <p:cNvSpPr/>
          <p:nvPr/>
        </p:nvSpPr>
        <p:spPr>
          <a:xfrm>
            <a:off x="566928" y="1243584"/>
            <a:ext cx="11018520" cy="16459"/>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492240"/>
            <a:ext cx="10789920" cy="182880"/>
          </a:xfrm>
          <a:prstGeom prst="rect">
            <a:avLst/>
          </a:prstGeom>
          <a:noFill/>
        </p:spPr>
        <p:txBody>
          <a:bodyPr wrap="square" lIns="27432" tIns="18288" rIns="27432" bIns="18288" anchor="t">
            <a:spAutoFit/>
          </a:bodyPr>
          <a:lstStyle/>
          <a:p>
            <a:pPr algn="l"/>
            <a:r>
              <a:rPr sz="800" b="0">
                <a:solidFill>
                  <a:srgbClr val="696969"/>
                </a:solidFill>
                <a:latin typeface="Aptos"/>
              </a:rPr>
              <a:t>Primary records [5]–[10]</a:t>
            </a:r>
          </a:p>
        </p:txBody>
      </p:sp>
      <p:sp>
        <p:nvSpPr>
          <p:cNvPr id="7" name="TextBox 6"/>
          <p:cNvSpPr txBox="1"/>
          <p:nvPr/>
        </p:nvSpPr>
        <p:spPr>
          <a:xfrm>
            <a:off x="777240" y="1444752"/>
            <a:ext cx="10652760" cy="726948"/>
          </a:xfrm>
          <a:prstGeom prst="rect">
            <a:avLst/>
          </a:prstGeom>
          <a:noFill/>
        </p:spPr>
        <p:txBody>
          <a:bodyPr wrap="square" lIns="27432" tIns="18288" rIns="27432" bIns="18288" anchor="t">
            <a:spAutoFit/>
          </a:bodyPr>
          <a:lstStyle/>
          <a:p>
            <a:pPr algn="l"/>
            <a:r>
              <a:rPr sz="1100" b="0">
                <a:solidFill>
                  <a:srgbClr val="2D2D2D"/>
                </a:solidFill>
                <a:latin typeface="Aptos"/>
              </a:rPr>
              <a:t>[5] Y. Zong, O. Bohdal, T. Yu, Y. Yang, and T. Hospedales, “Safety Fine-Tuning at (Almost) No Cost: A Baseline for Vision Large Language Models,” in Proc. ICML, PMLR, vol. 235, 2024.</a:t>
            </a:r>
          </a:p>
        </p:txBody>
      </p:sp>
      <p:sp>
        <p:nvSpPr>
          <p:cNvPr id="8" name="TextBox 7"/>
          <p:cNvSpPr txBox="1"/>
          <p:nvPr/>
        </p:nvSpPr>
        <p:spPr>
          <a:xfrm>
            <a:off x="777240" y="2244852"/>
            <a:ext cx="10652760" cy="726948"/>
          </a:xfrm>
          <a:prstGeom prst="rect">
            <a:avLst/>
          </a:prstGeom>
          <a:noFill/>
        </p:spPr>
        <p:txBody>
          <a:bodyPr wrap="square" lIns="27432" tIns="18288" rIns="27432" bIns="18288" anchor="t">
            <a:spAutoFit/>
          </a:bodyPr>
          <a:lstStyle/>
          <a:p>
            <a:pPr algn="l"/>
            <a:r>
              <a:rPr sz="1100" b="0">
                <a:solidFill>
                  <a:srgbClr val="2D2D2D"/>
                </a:solidFill>
                <a:latin typeface="Aptos"/>
              </a:rPr>
              <a:t>[6] Y. Zhang et al., “SPA-VL: A Comprehensive Safety Preference Alignment Dataset for Vision Language Models,” in Proc. IEEE/CVF CVPR, 2025, pp. 19867–19878.</a:t>
            </a:r>
          </a:p>
        </p:txBody>
      </p:sp>
      <p:sp>
        <p:nvSpPr>
          <p:cNvPr id="9" name="TextBox 8"/>
          <p:cNvSpPr txBox="1"/>
          <p:nvPr/>
        </p:nvSpPr>
        <p:spPr>
          <a:xfrm>
            <a:off x="777240" y="3044952"/>
            <a:ext cx="10652760" cy="726948"/>
          </a:xfrm>
          <a:prstGeom prst="rect">
            <a:avLst/>
          </a:prstGeom>
          <a:noFill/>
        </p:spPr>
        <p:txBody>
          <a:bodyPr wrap="square" lIns="27432" tIns="18288" rIns="27432" bIns="18288" anchor="t">
            <a:spAutoFit/>
          </a:bodyPr>
          <a:lstStyle/>
          <a:p>
            <a:pPr algn="l"/>
            <a:r>
              <a:rPr sz="1100" b="0">
                <a:solidFill>
                  <a:srgbClr val="2D2D2D"/>
                </a:solidFill>
                <a:latin typeface="Aptos"/>
              </a:rPr>
              <a:t>[7] F. Weng et al., “Adversary-Aware DPO: Enhancing Safety Alignment in Vision Language Models via Adversarial Training,” in Findings of EMNLP, 2025, pp. 13644–13657, doi: 10.18653/v1/2025.findings-emnlp.735.</a:t>
            </a:r>
          </a:p>
        </p:txBody>
      </p:sp>
      <p:sp>
        <p:nvSpPr>
          <p:cNvPr id="10" name="TextBox 9"/>
          <p:cNvSpPr txBox="1"/>
          <p:nvPr/>
        </p:nvSpPr>
        <p:spPr>
          <a:xfrm>
            <a:off x="777240" y="3845052"/>
            <a:ext cx="10652760" cy="726948"/>
          </a:xfrm>
          <a:prstGeom prst="rect">
            <a:avLst/>
          </a:prstGeom>
          <a:noFill/>
        </p:spPr>
        <p:txBody>
          <a:bodyPr wrap="square" lIns="27432" tIns="18288" rIns="27432" bIns="18288" anchor="t">
            <a:spAutoFit/>
          </a:bodyPr>
          <a:lstStyle/>
          <a:p>
            <a:pPr algn="l"/>
            <a:r>
              <a:rPr sz="1100" b="0">
                <a:solidFill>
                  <a:srgbClr val="2D2D2D"/>
                </a:solidFill>
                <a:latin typeface="Aptos"/>
              </a:rPr>
              <a:t>[8] Y. Lee et al., “HoliSafe: Holistic Safety Benchmarking and Modeling with Safety Meta Token for Vision-Language Model,” in Proc. IEEE/CVF CVPR Findings, 2026, pp. 5989–5998. arXiv:2506.04704.</a:t>
            </a:r>
          </a:p>
        </p:txBody>
      </p:sp>
      <p:sp>
        <p:nvSpPr>
          <p:cNvPr id="11" name="TextBox 10"/>
          <p:cNvSpPr txBox="1"/>
          <p:nvPr/>
        </p:nvSpPr>
        <p:spPr>
          <a:xfrm>
            <a:off x="777240" y="4645152"/>
            <a:ext cx="10652760" cy="726948"/>
          </a:xfrm>
          <a:prstGeom prst="rect">
            <a:avLst/>
          </a:prstGeom>
          <a:noFill/>
        </p:spPr>
        <p:txBody>
          <a:bodyPr wrap="square" lIns="27432" tIns="18288" rIns="27432" bIns="18288" anchor="t">
            <a:spAutoFit/>
          </a:bodyPr>
          <a:lstStyle/>
          <a:p>
            <a:pPr algn="l"/>
            <a:r>
              <a:rPr sz="1100" b="0">
                <a:solidFill>
                  <a:srgbClr val="2D2D2D"/>
                </a:solidFill>
                <a:latin typeface="Aptos"/>
              </a:rPr>
              <a:t>[9] Y. Zhang, J. Li, L. Cai, and G. Li, “DAVSP: Safety Alignment for Large Vision-Language Models via Deep Aligned Visual Safety Prompt,” in Proc. AAAI, vol. 40, no. 44, 2026, pp. 38111–38119, doi: 10.1609/aaai.v40i44.41149.</a:t>
            </a:r>
          </a:p>
        </p:txBody>
      </p:sp>
      <p:sp>
        <p:nvSpPr>
          <p:cNvPr id="12" name="TextBox 11"/>
          <p:cNvSpPr txBox="1"/>
          <p:nvPr/>
        </p:nvSpPr>
        <p:spPr>
          <a:xfrm>
            <a:off x="777240" y="5445252"/>
            <a:ext cx="10652760" cy="726948"/>
          </a:xfrm>
          <a:prstGeom prst="rect">
            <a:avLst/>
          </a:prstGeom>
          <a:noFill/>
        </p:spPr>
        <p:txBody>
          <a:bodyPr wrap="square" lIns="27432" tIns="18288" rIns="27432" bIns="18288" anchor="t">
            <a:spAutoFit/>
          </a:bodyPr>
          <a:lstStyle/>
          <a:p>
            <a:pPr algn="l"/>
            <a:r>
              <a:rPr sz="1100" b="0">
                <a:solidFill>
                  <a:srgbClr val="2D2D2D"/>
                </a:solidFill>
                <a:latin typeface="Aptos"/>
              </a:rPr>
              <a:t>[10] M. Wen, K. Yang, X. Chen, J. Zhang, D. Han, S. Cui, and Y. Xu, “Pragma-VL: Towards a Pragmatic Arbitration of Safety and Helpfulness in MLLMs,” in Proc. ICLR, 2026.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067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907</TotalTime>
  <Words>18669</Words>
  <Application>Microsoft Macintosh PowerPoint</Application>
  <PresentationFormat>Widescreen</PresentationFormat>
  <Paragraphs>1459</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Aryaman Dev</cp:lastModifiedBy>
  <cp:revision>66</cp:revision>
  <dcterms:created xsi:type="dcterms:W3CDTF">2013-01-27T09:14:16Z</dcterms:created>
  <dcterms:modified xsi:type="dcterms:W3CDTF">2026-10-01T19:12:58Z</dcterms:modified>
  <cp:category/>
</cp:coreProperties>
</file>
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3" r:id="rId2"/>
    <p:sldId id="274" r:id="rId3"/>
    <p:sldId id="258" r:id="rId4"/>
    <p:sldId id="263" r:id="rId5"/>
    <p:sldId id="264" r:id="rId6"/>
    <p:sldId id="271" r:id="rId7"/>
    <p:sldId id="275" r:id="rId8"/>
    <p:sldId id="280" r:id="rId9"/>
    <p:sldId id="281" r:id="rId10"/>
    <p:sldId id="265" r:id="rId11"/>
    <p:sldId id="282" r:id="rId12"/>
    <p:sldId id="286" r:id="rId13"/>
    <p:sldId id="279" r:id="rId14"/>
    <p:sldId id="284" r:id="rId15"/>
    <p:sldId id="283" r:id="rId16"/>
    <p:sldId id="276" r:id="rId17"/>
    <p:sldId id="278" r:id="rId18"/>
    <p:sldId id="266" r:id="rId19"/>
    <p:sldId id="267" r:id="rId20"/>
    <p:sldId id="272" r:id="rId21"/>
    <p:sldId id="270" r:id="rId22"/>
    <p:sldId id="262" r:id="rId23"/>
    <p:sldId id="269" r:id="rId24"/>
    <p:sldId id="277" r:id="rId25"/>
    <p:sldId id="25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2"/>
    <p:restoredTop sz="83073"/>
  </p:normalViewPr>
  <p:slideViewPr>
    <p:cSldViewPr snapToGrid="0">
      <p:cViewPr>
        <p:scale>
          <a:sx n="120" d="100"/>
          <a:sy n="120" d="100"/>
        </p:scale>
        <p:origin x="1352" y="192"/>
      </p:cViewPr>
      <p:guideLst/>
    </p:cSldViewPr>
  </p:slideViewPr>
  <p:outlineViewPr>
    <p:cViewPr>
      <p:scale>
        <a:sx n="33" d="100"/>
        <a:sy n="33" d="100"/>
      </p:scale>
      <p:origin x="0" y="-8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53D2F-2A8E-F54C-AF1C-966729616C92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9DB53-8153-CC4A-A2C1-32F9B57AB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18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Question: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"Why not just use gradient clipping instead of sample selection?"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Defense (Slide 2 &amp; Bach et al. Table 6)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Gradient clipping only rescales the step size ($|\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{L}| \le c$), but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preserves the exact direction of the update vector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a sample's gradient direction points straight out of the safety basin, clipping simply takes smaller steps in that harmful direction—leaving ASR at ~31% even at aggressive clipping ($c=0.5$). Median sample selection removes the destabilizing samples entirely.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9DB53-8153-CC4A-A2C1-32F9B57AB1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07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lives in a flat basin with sharp step-function collapse boundaries. Large, unconstrained parameter steps abruptly push the model across the basin edge into high ASR regime</a:t>
            </a:r>
            <a:endParaRPr lang="en-US" b="1" dirty="0"/>
          </a:p>
          <a:p>
            <a:pPr marL="228600" indent="-228600">
              <a:buAutoNum type="arabicPeriod"/>
            </a:pPr>
            <a:endParaRPr lang="en-US" b="1" dirty="0"/>
          </a:p>
          <a:p>
            <a:pPr marL="228600" indent="-228600">
              <a:buAutoNum type="arabicPeriod"/>
            </a:pPr>
            <a:r>
              <a:rPr lang="en-US" b="1" dirty="0"/>
              <a:t>The Rankings Are perfectly Consistent</a:t>
            </a:r>
            <a:r>
              <a:rPr lang="en-US" dirty="0"/>
              <a:t> 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the </a:t>
            </a:r>
            <a:r>
              <a:rPr lang="en-US" i="1" dirty="0"/>
              <a:t>relative ranking</a:t>
            </a:r>
            <a:r>
              <a:rPr lang="en-US" dirty="0"/>
              <a:t> of the models' safety remains exactly the same in both dimensions:</a:t>
            </a:r>
          </a:p>
          <a:p>
            <a:pPr lvl="0"/>
            <a:r>
              <a:rPr lang="en-US" b="1" dirty="0"/>
              <a:t>Llama 3</a:t>
            </a:r>
            <a:r>
              <a:rPr lang="en-US" dirty="0"/>
              <a:t> (1D: 90.40 | 2D: 77.83)</a:t>
            </a:r>
          </a:p>
          <a:p>
            <a:pPr lvl="0"/>
            <a:r>
              <a:rPr lang="en-US" b="1" dirty="0"/>
              <a:t>Llama 2</a:t>
            </a:r>
            <a:r>
              <a:rPr lang="en-US" dirty="0"/>
              <a:t> (1D: 85.32 | 2D: 73.26)</a:t>
            </a:r>
          </a:p>
          <a:p>
            <a:pPr lvl="0"/>
            <a:r>
              <a:rPr lang="en-US" b="1" dirty="0"/>
              <a:t>Mistral</a:t>
            </a:r>
            <a:r>
              <a:rPr lang="en-US" dirty="0"/>
              <a:t> (1D: 82.04 | 2D: 68.87)</a:t>
            </a:r>
          </a:p>
          <a:p>
            <a:pPr lvl="0"/>
            <a:r>
              <a:rPr lang="en-US" b="1" dirty="0"/>
              <a:t>Vicuna</a:t>
            </a:r>
            <a:r>
              <a:rPr lang="en-US" dirty="0"/>
              <a:t> (1D: 77.37 | 2D: 64.45)</a:t>
            </a:r>
          </a:p>
          <a:p>
            <a:endParaRPr lang="en-US" b="1" dirty="0"/>
          </a:p>
          <a:p>
            <a:r>
              <a:rPr lang="en-US" b="1" dirty="0"/>
              <a:t>2. 1D is a Faster, Sufficient Metric</a:t>
            </a:r>
            <a:r>
              <a:rPr lang="en-US" dirty="0"/>
              <a:t> Because the rankings hold steady regardless of whether you test in 1D or 2D, </a:t>
            </a:r>
          </a:p>
          <a:p>
            <a:endParaRPr lang="en-US" dirty="0"/>
          </a:p>
          <a:p>
            <a:r>
              <a:rPr lang="en-US" dirty="0"/>
              <a:t>the authors conclude that calculating the 1D score is sufficient for measuring a model's robustness. </a:t>
            </a:r>
          </a:p>
          <a:p>
            <a:r>
              <a:rPr lang="en-US" dirty="0"/>
              <a:t>Mapping out a 2D surface requires significantly more computational power and time. </a:t>
            </a:r>
          </a:p>
          <a:p>
            <a:r>
              <a:rPr lang="en-US" dirty="0"/>
              <a:t>Since the 1D VISAGE score accurately reflects the same relative safety without the heavy computational cost, it acts as a highly practical, faster metric for evaluating safety risks before you fine-tune a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9DB53-8153-CC4A-A2C1-32F9B57AB1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43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two are complementary, not redundant: MMHal-Bench = open-ended severity; POPE = targeted binary existence check.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VLM dataset is chosen to test the same capability axis in the multimodal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9DB53-8153-CC4A-A2C1-32F9B57AB1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42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Question: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"Why separate Projector Gradients ($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G_i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^{(P)}$) from Language 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Gradients ($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G_i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^{(L)}$)?"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Defense (Slide 11 &amp; Slide 18)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Text LLMs only experience textual format mismatch. VLMs experience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cross-modal tension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—where dense visual features from the projector collide with language priors. Tracking them separately allows us to diagnose whether alignment drift is caused by visual grounding conflicts or conversational formatting.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9DB53-8153-CC4A-A2C1-32F9B57AB1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08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Question: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"Why select Moderate-$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G_i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(closest to median) rather than Low-$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G_i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$?"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Defense (Slide 13 &amp; Bach et al. Table 2)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Low-$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samples represent trivial, low-information examples that the model already knows; training on Low-$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preserves safety but stalls downstream task adaptation. Moderate-$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strikes the optimal Pareto trade-off: sufficient gradient signal for new task acquisition while avoiding the extreme-gradient outliers that breach safety basins.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9DB53-8153-CC4A-A2C1-32F9B57AB1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9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1374-F0A3-0722-7088-6F3D75BBE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F462A-E1A5-90FF-496D-C90DC39DE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5EFE0-1849-E1F2-DDE3-8C01C307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E10C6-2300-B300-BB4C-AA9345FE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7B6C9-EE28-C99C-3CDD-FEF693E8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8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18B49-5B5A-231A-26C7-418356FA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8F5AB-9C64-4CC4-F53C-6B3AFCE5E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8BF55-A5A0-5CB7-5AF5-ECAB7BB66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BAAAA-4E25-E8F2-8422-A8503179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65A04-A6A5-8CE3-6BF3-06D3C132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0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3AF6-7DC0-D51A-EF5B-426AA0C5E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809A6-DCD2-AC9C-794D-ED0028F00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2F0BA-D4E5-2743-FDE5-2563DECD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A5BFB-4BCC-92E7-B9A3-C5F8C8512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6E882-9FE7-3861-D715-81A2F98F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586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7C33-826A-757A-C280-E79900D7E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7292E-E111-E054-58E3-BA4E282F5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F760B-3E17-E481-D185-166FC7520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17FCB-17A7-50CF-1A42-51B93CEED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EA1D5-516B-6E57-8DA8-AFB4F0FF1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9B13B-596F-3434-BFD4-C6343353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62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FA36D-4EEE-7F7A-40B9-3F8056088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2164D-C170-19B8-DEE2-CE0D09810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F4F78-EFBC-1F7F-9A51-9329D4459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33521-93A2-C989-853D-79BECEC1A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7862B-5142-714B-31BC-50F1F5E32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301FCE-3B32-F499-CEB5-FFBF1F5E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771657-1F01-D06C-FA17-C9A2BA59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A97603-9FC7-AEA1-F346-3B63E9C8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6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FC2C-6290-28A9-F337-7B23BBD8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00399-FCE0-2A43-1133-47601894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1FB330-AB24-7E9A-562D-102114E7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93AA0-7C6B-54FA-3044-A0202667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57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F07C3-AD3C-ED53-975D-4518A902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5D012-E73A-A2A8-D3B5-3A45E0794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262DE-BADE-67AE-6E4D-4A790C3C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0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1CC3-0ECD-CB56-C9FF-8C7BB42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75338-17B9-3171-2E9D-866532DDD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8B15B-6FD7-8F39-D5C8-31C0C3713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8529F-4108-4AB1-202A-C46E56D88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48084-463B-FF56-92D4-9D9958C32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E147B-0C79-53D5-7DEC-88F53558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49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6395-F90E-C19E-536D-5D16B4EBC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ECFBD8-C6CE-A201-3469-AA92DD8B3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0F736-BDC0-3438-A6FA-E80BC2082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A685C-BDF8-3E50-EB29-869C50ACD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022EE-90A6-5A0E-2B24-72AC33E5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3790D-09BA-BD09-0D40-9A816329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8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AFFD7-7325-1FDF-2993-FADE5F0C0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E44E1-8493-624B-AF36-3A23CD26E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8C7EB-7B42-480E-EA8E-245577E4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F4FE0-48D1-D5B8-D367-F9E91218E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1467-BA5F-5BB1-6A1D-3138C950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9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37F0B-0D39-9261-D50F-A5C7460AE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8BD07-3364-3A33-1F54-BFCEF218E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51380-6F0E-9A92-EEB1-BF0EB3E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AAA2-9DBC-7832-8AA2-7B4EC259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FDDDD-1D58-0A23-6ADA-CD23DD6D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11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DBA3A-B045-D28F-4B30-61AC21CA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7DEC9-82A8-AAB4-841E-B4DE4A680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F3EC7-9DC4-D9DB-73FB-5FCC7F2DDE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BB986-C15E-3641-85E6-3B9AC9D6217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AD910-2E8C-8F32-35BD-80FEE50EC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0A84F-7B81-FA9E-10E3-1C5792225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A9A68-503D-8649-84EB-CBFCAC4EC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5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604.17215v1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405.13581v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hyperlink" Target="https://arxiv.org/abs/2406.0614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305.10355" TargetMode="External"/><Relationship Id="rId13" Type="http://schemas.openxmlformats.org/officeDocument/2006/relationships/hyperlink" Target="https://arxiv.org/abs/2007.00398" TargetMode="External"/><Relationship Id="rId3" Type="http://schemas.openxmlformats.org/officeDocument/2006/relationships/hyperlink" Target="https://arxiv.org/pdf/2311.17600" TargetMode="External"/><Relationship Id="rId7" Type="http://schemas.openxmlformats.org/officeDocument/2006/relationships/hyperlink" Target="https://arxiv.org/abs/2309.14525" TargetMode="External"/><Relationship Id="rId12" Type="http://schemas.openxmlformats.org/officeDocument/2006/relationships/hyperlink" Target="https://arxiv.org/abs/2102.0954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02.04249" TargetMode="External"/><Relationship Id="rId11" Type="http://schemas.openxmlformats.org/officeDocument/2006/relationships/hyperlink" Target="https://www.nature.com/articles/sdata2018251" TargetMode="External"/><Relationship Id="rId5" Type="http://schemas.openxmlformats.org/officeDocument/2006/relationships/hyperlink" Target="https://arxiv.org/pdf/2404.03027" TargetMode="External"/><Relationship Id="rId10" Type="http://schemas.openxmlformats.org/officeDocument/2006/relationships/hyperlink" Target="https://arxiv.org/abs/2310.02255" TargetMode="External"/><Relationship Id="rId4" Type="http://schemas.openxmlformats.org/officeDocument/2006/relationships/hyperlink" Target="https://arxiv.org/pdf/2311.05608" TargetMode="External"/><Relationship Id="rId9" Type="http://schemas.openxmlformats.org/officeDocument/2006/relationships/hyperlink" Target="https://arxiv.org/abs/2304.08485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arxiv.org/abs/2405.1358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8.01263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2401.12915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0.02255" TargetMode="External"/><Relationship Id="rId2" Type="http://schemas.openxmlformats.org/officeDocument/2006/relationships/hyperlink" Target="https://arxiv.org/abs/2304.0848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007.00398" TargetMode="External"/><Relationship Id="rId5" Type="http://schemas.openxmlformats.org/officeDocument/2006/relationships/hyperlink" Target="https://arxiv.org/abs/2102.09542" TargetMode="External"/><Relationship Id="rId4" Type="http://schemas.openxmlformats.org/officeDocument/2006/relationships/hyperlink" Target="https://www.nature.com/articles/sdata2018251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file:////abs/2407.21783%3fchatId=01a0a6c8-e9b0-770e-a277-3e3bb6f9a722" TargetMode="External"/><Relationship Id="rId2" Type="http://schemas.openxmlformats.org/officeDocument/2006/relationships/hyperlink" Target="file:///abs/2407.21783%3fchatId=01a0a6c8-e9b0-770e-a277-3e3bb6f9a72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dirty="0"/>
              <a:t>Continual Safety Alignment in Vision-Language Models</a:t>
            </a:r>
          </a:p>
          <a:p>
            <a:pPr>
              <a:spcBef>
                <a:spcPts val="600"/>
              </a:spcBef>
              <a:defRPr sz="2600" b="1">
                <a:solidFill>
                  <a:srgbClr val="38BDF8"/>
                </a:solidFill>
              </a:defRPr>
            </a:pPr>
            <a:r>
              <a:rPr dirty="0"/>
              <a:t>via Multimodal Gradient-Based Sample Selection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rPr dirty="0"/>
              <a:t>Extending Continual Safety Alignment (Bach et al., 2026) to Multimodal Architectures</a:t>
            </a:r>
            <a:r>
              <a:rPr lang="en-US" dirty="0"/>
              <a:t> (</a:t>
            </a:r>
            <a:r>
              <a:rPr lang="en-US" i="1" dirty="0">
                <a:hlinkClick r:id="rId2"/>
              </a:rPr>
              <a:t>https://arxiv.org/abs/2604.17215v1</a:t>
            </a:r>
            <a:r>
              <a:rPr lang="en-US" i="1" dirty="0"/>
              <a:t>)</a:t>
            </a:r>
            <a:endParaRPr dirty="0"/>
          </a:p>
          <a:p>
            <a:pPr>
              <a:spcBef>
                <a:spcPts val="2000"/>
              </a:spcBef>
              <a:defRPr sz="1200">
                <a:solidFill>
                  <a:srgbClr val="F8FAFC"/>
                </a:solidFill>
              </a:defRPr>
            </a:pPr>
            <a:r>
              <a:rPr dirty="0"/>
              <a:t>Researcher: Aryaman Singh Dev   |   Advisor: Prof. Thao Minh Le   |   Penn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 dirty="0"/>
              <a:t>RESEARCH PROPOSAL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rPr dirty="0"/>
              <a:t>The Problem: Alignment Drift in Continual Fine-Tuning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rPr sz="1700" dirty="0"/>
              <a:t>1. Confirmed in Text LLMs (Bach et al., 2026)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Benign fine-tuning unintentionally erodes safety guardrails as a structural property.</a:t>
            </a:r>
            <a:br>
              <a:rPr sz="1700" dirty="0">
                <a:solidFill>
                  <a:schemeClr val="bg1"/>
                </a:solidFill>
              </a:rPr>
            </a:br>
            <a:br>
              <a:rPr sz="1700" dirty="0">
                <a:solidFill>
                  <a:schemeClr val="bg1"/>
                </a:solidFill>
              </a:rPr>
            </a:br>
            <a:r>
              <a:rPr sz="1700" dirty="0">
                <a:solidFill>
                  <a:schemeClr val="bg1"/>
                </a:solidFill>
              </a:rPr>
              <a:t>• High-gradient samples drive elastic reversion toward unaligned pretraining distributions.</a:t>
            </a:r>
            <a:br>
              <a:rPr sz="1700" dirty="0">
                <a:solidFill>
                  <a:schemeClr val="bg1"/>
                </a:solidFill>
              </a:rPr>
            </a:br>
            <a:br>
              <a:rPr sz="1700" dirty="0">
                <a:solidFill>
                  <a:schemeClr val="bg1"/>
                </a:solidFill>
              </a:rPr>
            </a:br>
            <a:r>
              <a:rPr sz="1700" dirty="0">
                <a:solidFill>
                  <a:schemeClr val="bg1"/>
                </a:solidFill>
              </a:rPr>
              <a:t>• Standard remedies like gradient clipping fail (ASR remains ~31%</a:t>
            </a:r>
            <a:r>
              <a:rPr lang="en-US" sz="1700" dirty="0">
                <a:solidFill>
                  <a:schemeClr val="bg1"/>
                </a:solidFill>
              </a:rPr>
              <a:t> at clip=0.5</a:t>
            </a:r>
            <a:r>
              <a:rPr sz="1700" dirty="0">
                <a:solidFill>
                  <a:schemeClr val="bg1"/>
                </a:solidFill>
              </a:rPr>
              <a:t>), because clipping dampens step size without altering alignment-reversing directions.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rPr sz="1700" dirty="0"/>
              <a:t>2. Our Research Question for VLMs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sz="1700" dirty="0">
                <a:solidFill>
                  <a:schemeClr val="bg1"/>
                </a:solidFill>
              </a:rPr>
              <a:t>• Does the same mechanism govern Vision-Language Models?</a:t>
            </a:r>
            <a:br>
              <a:rPr sz="1700" dirty="0">
                <a:solidFill>
                  <a:schemeClr val="bg1"/>
                </a:solidFill>
              </a:rPr>
            </a:br>
            <a:br>
              <a:rPr sz="1700" dirty="0">
                <a:solidFill>
                  <a:schemeClr val="bg1"/>
                </a:solidFill>
              </a:rPr>
            </a:br>
            <a:r>
              <a:rPr sz="1700" dirty="0">
                <a:solidFill>
                  <a:schemeClr val="bg1"/>
                </a:solidFill>
              </a:rPr>
              <a:t>• Bach et al. explicitly leave this open (Limitations): 'Extending gradient-based selection to VLMs requires further investigation.'</a:t>
            </a:r>
            <a:br>
              <a:rPr sz="1700" dirty="0">
                <a:solidFill>
                  <a:schemeClr val="bg1"/>
                </a:solidFill>
              </a:rPr>
            </a:br>
            <a:br>
              <a:rPr sz="1700" dirty="0">
                <a:solidFill>
                  <a:schemeClr val="bg1"/>
                </a:solidFill>
              </a:rPr>
            </a:br>
            <a:r>
              <a:rPr sz="1700" dirty="0">
                <a:solidFill>
                  <a:schemeClr val="bg1"/>
                </a:solidFill>
              </a:rPr>
              <a:t>• The Multimodal Attack Surface: Unlike text LLMs, VLMs introduce an unprotected visual channel where attackers bypass text guardrails via visual features (</a:t>
            </a:r>
            <a:r>
              <a:rPr sz="1700" dirty="0">
                <a:solidFill>
                  <a:schemeClr val="bg1"/>
                </a:solidFill>
                <a:hlinkClick r:id="rId3"/>
              </a:rPr>
              <a:t>Nie et al., 2024</a:t>
            </a:r>
            <a:r>
              <a:rPr sz="1700" dirty="0">
                <a:solidFill>
                  <a:schemeClr val="bg1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03C15-834E-FA90-3ABB-768A1289E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Elasticity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A700798-FD00-1A29-4D10-FF1E243BE5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089905" y="127427"/>
            <a:ext cx="3831454" cy="6603145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2C2B1A9-610E-35CD-43CF-FDCA3EC5B3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" y="1474788"/>
            <a:ext cx="3670300" cy="431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C3ABD4-7748-9C15-A626-6E488CF32D81}"/>
                  </a:ext>
                </a:extLst>
              </p:cNvPr>
              <p:cNvSpPr txBox="1"/>
              <p:nvPr/>
            </p:nvSpPr>
            <p:spPr>
              <a:xfrm>
                <a:off x="635619" y="2185639"/>
                <a:ext cx="7089483" cy="3741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(</a:t>
                </a:r>
                <a:r>
                  <a:rPr lang="en-US" i="1" dirty="0">
                    <a:hlinkClick r:id="rId4"/>
                  </a:rPr>
                  <a:t>Ji et al., 2024</a:t>
                </a:r>
                <a:r>
                  <a:rPr lang="en-US" i="1" dirty="0"/>
                  <a:t>) shows that LLMs exhibit elasticity: a tendency to revert toward pretrained distributions during fine-tuning because the massive pretraining corpora exerts stronger influence than smaller alignment datasets.</a:t>
                </a:r>
                <a:endParaRPr lang="en-US" dirty="0"/>
              </a:p>
              <a:p>
                <a:pPr lvl="0"/>
                <a:endParaRPr lang="en-US" b="0" i="1" dirty="0">
                  <a:effectLst/>
                  <a:latin typeface="Cambria Math" panose="02040503050406030204" pitchFamily="18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𝑒𝑙𝑎𝑠𝑡𝑖𝑐</m:t>
                        </m:r>
                      </m:sub>
                    </m:sSub>
                  </m:oMath>
                </a14:m>
                <a:r>
                  <a:rPr lang="en-US" dirty="0"/>
                  <a:t>​ is the strength of the dataset’s tendency to pull the model toward its own behavior.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size of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model’s current output distribution.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behavioral or token distribution represented by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measures how different the model’s current behavior is from that dataset’s distribution.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Since </a:t>
                </a:r>
                <a:r>
                  <a:rPr lang="en-US" dirty="0">
                    <a:effectLst/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|≫</m:t>
                    </m:r>
                    <m:r>
                      <m:rPr>
                        <m:nor/>
                      </m:rPr>
                      <a:rPr lang="en-US" i="0" dirty="0" smtClean="0">
                        <a:effectLst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(pre-trained vs aligned data) =&gt; </a:t>
                </a:r>
                <a:r>
                  <a:rPr lang="en-US" b="1" dirty="0"/>
                  <a:t>Elastic reversion</a:t>
                </a:r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C3ABD4-7748-9C15-A626-6E488CF32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19" y="2185639"/>
                <a:ext cx="7089483" cy="3741922"/>
              </a:xfrm>
              <a:prstGeom prst="rect">
                <a:avLst/>
              </a:prstGeom>
              <a:blipFill>
                <a:blip r:embed="rId5"/>
                <a:stretch>
                  <a:fillRect l="-536" t="-1017" r="-1250" b="-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631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A57B2-64B5-4F61-52CF-D8E4F47FC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VISAGE: Volumetric Index for Safety Alignment Guided by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BECBD-5F96-9EC6-8B2A-2E013ED05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976" y="1690688"/>
            <a:ext cx="6121023" cy="43513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3BB2B1-9FCA-57DA-103A-259C01F47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206" y="6136359"/>
            <a:ext cx="6299200" cy="495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D46C9-FD09-0459-370A-80228699CD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895" y="2032671"/>
                <a:ext cx="5694207" cy="4351338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1800" i="1" dirty="0"/>
                  <a:t>A critical empirical finding is that safety basins have sharp boundaries: safety exhibits </a:t>
                </a:r>
                <a:r>
                  <a:rPr lang="en-US" sz="1800" i="1" u="sng" dirty="0"/>
                  <a:t>step-function collapse</a:t>
                </a:r>
                <a:r>
                  <a:rPr lang="en-US" sz="1800" i="1" dirty="0"/>
                  <a:t> when crossing the boundary, with minimal graceful degradation. This geometry makes large parameter updates particularly dangerous.</a:t>
                </a:r>
                <a:endParaRPr lang="en-US" sz="1800" b="1" dirty="0"/>
              </a:p>
              <a:p>
                <a:pPr lvl="0"/>
                <a:r>
                  <a:rPr lang="en-US" sz="1800" b="1" dirty="0"/>
                  <a:t>The Safety Basin:</a:t>
                </a:r>
                <a:r>
                  <a:rPr lang="en-US" sz="1800" dirty="0"/>
                  <a:t> the average depth of a local region in the model's parameter space where the model remains safe.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𝑡ℎ𝑟𝑒𝑠ℎ𝑜𝑙𝑑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𝑐𝑜𝑛𝑛𝑒𝑐𝑡𝑒𝑑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𝑡𝑜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𝑎𝑙𝑖𝑔𝑛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lvl="0"/>
                <a:r>
                  <a:rPr lang="en-US" sz="1800" dirty="0"/>
                  <a:t>A higher VISAGE score </a:t>
                </a:r>
              </a:p>
              <a:p>
                <a:pPr lvl="1"/>
                <a:r>
                  <a:rPr lang="en-US" sz="1800" dirty="0"/>
                  <a:t>model is </a:t>
                </a:r>
                <a:r>
                  <a:rPr lang="en-US" sz="1800" u="sng" dirty="0"/>
                  <a:t>safe</a:t>
                </a:r>
                <a:r>
                  <a:rPr lang="en-US" sz="1800" dirty="0"/>
                  <a:t> in its current state </a:t>
                </a:r>
              </a:p>
              <a:p>
                <a:pPr lvl="1"/>
                <a:r>
                  <a:rPr lang="en-US" sz="1800" dirty="0"/>
                  <a:t>is also </a:t>
                </a:r>
                <a:r>
                  <a:rPr lang="en-US" sz="1800" u="sng" dirty="0"/>
                  <a:t>highly robust</a:t>
                </a:r>
                <a:r>
                  <a:rPr lang="en-US" sz="1800" dirty="0"/>
                  <a:t> </a:t>
                </a:r>
              </a:p>
              <a:p>
                <a:pPr lvl="1"/>
                <a:r>
                  <a:rPr lang="en-US" sz="1800" u="sng" dirty="0"/>
                  <a:t>less likely</a:t>
                </a:r>
                <a:r>
                  <a:rPr lang="en-US" sz="1800" dirty="0"/>
                  <a:t> to have its safety alignment broken by fine-tuning or adversarial attacks</a:t>
                </a:r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D46C9-FD09-0459-370A-80228699CD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895" y="2032671"/>
                <a:ext cx="5694207" cy="4351338"/>
              </a:xfrm>
              <a:blipFill>
                <a:blip r:embed="rId5"/>
                <a:stretch>
                  <a:fillRect l="-667" t="-872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0952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8E1E6-448A-C9E1-719F-A401F08B6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" y="446567"/>
            <a:ext cx="2850128" cy="6411433"/>
          </a:xfrm>
        </p:spPr>
        <p:txBody>
          <a:bodyPr>
            <a:normAutofit/>
          </a:bodyPr>
          <a:lstStyle/>
          <a:p>
            <a:endParaRPr lang="en-US" sz="2000" i="1" dirty="0"/>
          </a:p>
          <a:p>
            <a:endParaRPr lang="en-US" sz="2000" i="1" dirty="0"/>
          </a:p>
          <a:p>
            <a:r>
              <a:rPr lang="en-US" sz="2000" i="1" dirty="0"/>
              <a:t>Safety / attack success rate (AdvBench, HarmBench)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i="1" dirty="0"/>
              <a:t>Truthfulness /Hallucination (</a:t>
            </a:r>
            <a:r>
              <a:rPr lang="en-US" sz="2000" i="1" dirty="0" err="1"/>
              <a:t>TruthfulQA</a:t>
            </a:r>
            <a:r>
              <a:rPr lang="en-US" sz="2000" i="1" dirty="0"/>
              <a:t>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i="1" dirty="0"/>
              <a:t>Downstream task sequence (Dolly, GSM8K, </a:t>
            </a:r>
            <a:r>
              <a:rPr lang="en-US" sz="2000" i="1" dirty="0" err="1"/>
              <a:t>MedMCQA</a:t>
            </a:r>
            <a:r>
              <a:rPr lang="en-US" sz="2000" i="1" dirty="0"/>
              <a:t>, SQuAD v2)</a:t>
            </a:r>
            <a:br>
              <a:rPr lang="en-US" sz="2000" dirty="0"/>
            </a:br>
            <a:endParaRPr lang="en-US" sz="2000" b="0" i="1" dirty="0">
              <a:latin typeface="Cambria Math" panose="020405030504060302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059CBF-1FE3-21FA-DB88-D55A05500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82182"/>
              </p:ext>
            </p:extLst>
          </p:nvPr>
        </p:nvGraphicFramePr>
        <p:xfrm>
          <a:off x="2711302" y="104234"/>
          <a:ext cx="9375753" cy="6307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0600">
                  <a:extLst>
                    <a:ext uri="{9D8B030D-6E8A-4147-A177-3AD203B41FA5}">
                      <a16:colId xmlns:a16="http://schemas.microsoft.com/office/drawing/2014/main" val="84131304"/>
                    </a:ext>
                  </a:extLst>
                </a:gridCol>
                <a:gridCol w="4656463">
                  <a:extLst>
                    <a:ext uri="{9D8B030D-6E8A-4147-A177-3AD203B41FA5}">
                      <a16:colId xmlns:a16="http://schemas.microsoft.com/office/drawing/2014/main" val="3704352104"/>
                    </a:ext>
                  </a:extLst>
                </a:gridCol>
                <a:gridCol w="2898690">
                  <a:extLst>
                    <a:ext uri="{9D8B030D-6E8A-4147-A177-3AD203B41FA5}">
                      <a16:colId xmlns:a16="http://schemas.microsoft.com/office/drawing/2014/main" val="2113396545"/>
                    </a:ext>
                  </a:extLst>
                </a:gridCol>
              </a:tblGrid>
              <a:tr h="28713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VLM Equivalent</a:t>
                      </a:r>
                      <a:endParaRPr lang="en-US" sz="13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What it is</a:t>
                      </a:r>
                      <a:endParaRPr lang="en-US" sz="13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LLM Equivalent</a:t>
                      </a:r>
                      <a:endParaRPr lang="en-US" sz="13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extLst>
                  <a:ext uri="{0D108BD9-81ED-4DB2-BD59-A6C34878D82A}">
                    <a16:rowId xmlns:a16="http://schemas.microsoft.com/office/drawing/2014/main" val="2281627161"/>
                  </a:ext>
                </a:extLst>
              </a:tr>
              <a:tr h="45999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  <a:hlinkClick r:id="rId3"/>
                        </a:rPr>
                        <a:t>MM-SafetyBench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13 safety-critical scenarios with 5,040 text-image pairs.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AdvBench 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843332"/>
                  </a:ext>
                </a:extLst>
              </a:tr>
              <a:tr h="84089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  <a:hlinkClick r:id="rId4"/>
                        </a:rPr>
                        <a:t>FigStep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Embeds harmful instructions as image text alongside a benign text prompt (preserves diverse attack vectors)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No direct text-only equivalent. </a:t>
                      </a:r>
                      <a:r>
                        <a:rPr lang="en-US" sz="1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Attacks via </a:t>
                      </a:r>
                      <a:r>
                        <a:rPr lang="en-US" sz="13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 OCR channel</a:t>
                      </a:r>
                      <a:r>
                        <a:rPr lang="en-US" sz="1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completely bypasses text safety filters. Distinct attack shape.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extLst>
                  <a:ext uri="{0D108BD9-81ED-4DB2-BD59-A6C34878D82A}">
                    <a16:rowId xmlns:a16="http://schemas.microsoft.com/office/drawing/2014/main" val="3111428272"/>
                  </a:ext>
                </a:extLst>
              </a:tr>
              <a:tr h="84089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  <a:hlinkClick r:id="rId5"/>
                        </a:rPr>
                        <a:t>JailBreakV-28K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Large-scale benchmark with 16 harm scenarios across 28k samples– mixing direct, contextual, and optimization-based attacks.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HarmBench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989123"/>
                  </a:ext>
                </a:extLst>
              </a:tr>
              <a:tr h="65631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  <a:hlinkClick r:id="rId6"/>
                        </a:rPr>
                        <a:t>HarmBench</a:t>
                      </a:r>
                      <a:r>
                        <a:rPr lang="en-US" sz="1300" dirty="0">
                          <a:effectLst/>
                        </a:rPr>
                        <a:t>   (Text Slice)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Text-only attack queries to evaluate vulnerabilities in the VLM's language decoder. </a:t>
                      </a:r>
                      <a:r>
                        <a:rPr lang="en-US" sz="1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510+ queries, Llama-Guard-3-8B judge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HarmBench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275534"/>
                  </a:ext>
                </a:extLst>
              </a:tr>
              <a:tr h="47172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  <a:hlinkClick r:id="rId7"/>
                        </a:rPr>
                        <a:t>MMHal-Bench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Primary open-ended, model-graded hallucination benchmark. 8 question types per image across 12 images types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TruthfulQA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extLst>
                  <a:ext uri="{0D108BD9-81ED-4DB2-BD59-A6C34878D82A}">
                    <a16:rowId xmlns:a16="http://schemas.microsoft.com/office/drawing/2014/main" val="994918729"/>
                  </a:ext>
                </a:extLst>
              </a:tr>
              <a:tr h="65631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  <a:hlinkClick r:id="rId8"/>
                        </a:rPr>
                        <a:t>POPE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Secondary check using simpler yes/no object-hallucination probing.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TruthfulQA (Supplementary signal)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extLst>
                  <a:ext uri="{0D108BD9-81ED-4DB2-BD59-A6C34878D82A}">
                    <a16:rowId xmlns:a16="http://schemas.microsoft.com/office/drawing/2014/main" val="1964099098"/>
                  </a:ext>
                </a:extLst>
              </a:tr>
              <a:tr h="65631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  <a:hlinkClick r:id="rId9"/>
                        </a:rPr>
                        <a:t>LLaVA-Instruct-150K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Benign general visual instruction-following to reduce excessive refusal before task-specific tuning.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Dolly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extLst>
                  <a:ext uri="{0D108BD9-81ED-4DB2-BD59-A6C34878D82A}">
                    <a16:rowId xmlns:a16="http://schemas.microsoft.com/office/drawing/2014/main" val="3498660101"/>
                  </a:ext>
                </a:extLst>
              </a:tr>
              <a:tr h="47172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  <a:hlinkClick r:id="rId10"/>
                        </a:rPr>
                        <a:t>MathVista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Visual mathematical reasoning dataset. 6141 samples from 28 multimodal datasets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GSM8K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extLst>
                  <a:ext uri="{0D108BD9-81ED-4DB2-BD59-A6C34878D82A}">
                    <a16:rowId xmlns:a16="http://schemas.microsoft.com/office/drawing/2014/main" val="2818352052"/>
                  </a:ext>
                </a:extLst>
              </a:tr>
              <a:tr h="47172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  <a:hlinkClick r:id="rId11"/>
                        </a:rPr>
                        <a:t>VQA-RAD</a:t>
                      </a:r>
                      <a:r>
                        <a:rPr lang="en-US" sz="1300" dirty="0">
                          <a:effectLst/>
                        </a:rPr>
                        <a:t> and </a:t>
                      </a:r>
                      <a:r>
                        <a:rPr lang="en-US" sz="1300" dirty="0">
                          <a:effectLst/>
                          <a:hlinkClick r:id="rId12"/>
                        </a:rPr>
                        <a:t>SLAKE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Medical visual question answering dataset. ~315 images, 3.5k Q/A pairs AND ~642 images, 14k Q/A pairs</a:t>
                      </a: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MedMCQA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extLst>
                  <a:ext uri="{0D108BD9-81ED-4DB2-BD59-A6C34878D82A}">
                    <a16:rowId xmlns:a16="http://schemas.microsoft.com/office/drawing/2014/main" val="2998575470"/>
                  </a:ext>
                </a:extLst>
              </a:tr>
              <a:tr h="47172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  <a:hlinkClick r:id="rId13"/>
                        </a:rPr>
                        <a:t>DocVQA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50k Document image reading comprehension and QA, 12k+ document images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SQuAD v2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152" marR="53152" marT="35434" marB="35434" anchor="ctr"/>
                </a:tc>
                <a:extLst>
                  <a:ext uri="{0D108BD9-81ED-4DB2-BD59-A6C34878D82A}">
                    <a16:rowId xmlns:a16="http://schemas.microsoft.com/office/drawing/2014/main" val="3855445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97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907CC4-E2B9-D899-4267-450CADF785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281257"/>
              </p:ext>
            </p:extLst>
          </p:nvPr>
        </p:nvGraphicFramePr>
        <p:xfrm>
          <a:off x="838200" y="1861508"/>
          <a:ext cx="105156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1498">
                  <a:extLst>
                    <a:ext uri="{9D8B030D-6E8A-4147-A177-3AD203B41FA5}">
                      <a16:colId xmlns:a16="http://schemas.microsoft.com/office/drawing/2014/main" val="4189825901"/>
                    </a:ext>
                  </a:extLst>
                </a:gridCol>
                <a:gridCol w="6804102">
                  <a:extLst>
                    <a:ext uri="{9D8B030D-6E8A-4147-A177-3AD203B41FA5}">
                      <a16:colId xmlns:a16="http://schemas.microsoft.com/office/drawing/2014/main" val="26374134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Attack surface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8413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 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HarmBench</a:t>
                      </a:r>
                      <a:r>
                        <a:rPr lang="en-US" dirty="0"/>
                        <a:t> or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AdvBench</a:t>
                      </a:r>
                      <a:r>
                        <a:rPr lang="en-US" dirty="0"/>
                        <a:t> prompts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206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Image-text rendering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FigStep</a:t>
                      </a:r>
                      <a:r>
                        <a:rPr lang="en-US" dirty="0"/>
                        <a:t>-style image instructions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822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Visual semantic 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FF"/>
                          </a:highlight>
                        </a:rPr>
                        <a:t>MM-</a:t>
                      </a:r>
                      <a:r>
                        <a:rPr lang="en-US" dirty="0" err="1">
                          <a:highlight>
                            <a:srgbClr val="00FFFF"/>
                          </a:highlight>
                        </a:rPr>
                        <a:t>SafetyBench</a:t>
                      </a:r>
                      <a:endParaRPr lang="en-US" dirty="0">
                        <a:highlight>
                          <a:srgbClr val="00FFFF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280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Optimization or jailbreak 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bg1"/>
                          </a:solidFill>
                          <a:highlight>
                            <a:srgbClr val="0000FF"/>
                          </a:highlight>
                        </a:rPr>
                        <a:t>JailBreakV</a:t>
                      </a:r>
                      <a:r>
                        <a:rPr lang="en-US" dirty="0"/>
                        <a:t>-style attacks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619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Cross-modal conflict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benign text + harmful image, or vice versa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377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OCR pathway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harmful text rendered in different fonts, layouts, or rotations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81912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D31BD8-F71C-B534-8B4B-7ECEF6D71B30}"/>
                  </a:ext>
                </a:extLst>
              </p:cNvPr>
              <p:cNvSpPr txBox="1"/>
              <p:nvPr/>
            </p:nvSpPr>
            <p:spPr>
              <a:xfrm>
                <a:off x="838200" y="4709713"/>
                <a:ext cx="10913236" cy="1776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You should not rely on one aggregate ASR. </a:t>
                </a:r>
              </a:p>
              <a:p>
                <a:r>
                  <a:rPr lang="en-US" dirty="0"/>
                  <a:t>Report:</a:t>
                </a:r>
              </a:p>
              <a:p>
                <a:r>
                  <a:rPr lang="en-US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𝐴𝑆𝑅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𝑡𝑒𝑥𝑡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𝐴𝑆𝑅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𝑖𝑚𝑎𝑔𝑒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𝐴𝑆𝑅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𝑐𝑟𝑜𝑠𝑠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𝐴𝑆𝑅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This can reveal cases where text safety remains stable while visual safety collapses.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D31BD8-F71C-B534-8B4B-7ECEF6D71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09713"/>
                <a:ext cx="10913236" cy="1776897"/>
              </a:xfrm>
              <a:prstGeom prst="rect">
                <a:avLst/>
              </a:prstGeom>
              <a:blipFill>
                <a:blip r:embed="rId2"/>
                <a:stretch>
                  <a:fillRect l="-581" t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FFDFE4F3-9CEB-C5F3-D6F1-D4DD94BC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39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VLM Attack Surface &amp; Multi-Channel Evaluation</a:t>
            </a:r>
          </a:p>
        </p:txBody>
      </p:sp>
    </p:spTree>
    <p:extLst>
      <p:ext uri="{BB962C8B-B14F-4D97-AF65-F5344CB8AC3E}">
        <p14:creationId xmlns:p14="http://schemas.microsoft.com/office/powerpoint/2010/main" val="1733051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0CBAC-B704-C8B2-8011-1EAF5BAB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SOTA Baseline</a:t>
            </a:r>
            <a:br>
              <a:rPr lang="en-US" dirty="0"/>
            </a:br>
            <a:r>
              <a:rPr lang="en-US" sz="2200" b="1" dirty="0"/>
              <a:t>Reference</a:t>
            </a:r>
            <a:r>
              <a:rPr lang="en-US" sz="2200" dirty="0"/>
              <a:t>: Nie et al., </a:t>
            </a:r>
            <a:r>
              <a:rPr lang="en-US" sz="2200" i="1" dirty="0"/>
              <a:t>Safety Alignment for Vision Language Models</a:t>
            </a:r>
            <a:r>
              <a:rPr lang="en-US" sz="2200" dirty="0"/>
              <a:t>, </a:t>
            </a:r>
            <a:r>
              <a:rPr lang="en-US" sz="2200" dirty="0">
                <a:hlinkClick r:id="rId2"/>
              </a:rPr>
              <a:t>arXiv:2405.13581</a:t>
            </a:r>
            <a:r>
              <a:rPr lang="en-US" sz="2200" dirty="0"/>
              <a:t> (</a:t>
            </a:r>
            <a:r>
              <a:rPr lang="en-US" sz="2200" dirty="0" err="1"/>
              <a:t>SafeVLM</a:t>
            </a:r>
            <a:r>
              <a:rPr lang="en-US" sz="2200" dirty="0"/>
              <a:t>)</a:t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14885-503F-904D-D78D-ACE126D9A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777"/>
            <a:ext cx="4775791" cy="370330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500" b="1" dirty="0"/>
              <a:t>What </a:t>
            </a:r>
            <a:r>
              <a:rPr lang="en-US" sz="2500" b="1" dirty="0" err="1"/>
              <a:t>SafeVLM</a:t>
            </a:r>
            <a:r>
              <a:rPr lang="en-US" sz="2500" b="1" dirty="0"/>
              <a:t> Does (The Architectural Approach)</a:t>
            </a:r>
            <a:r>
              <a:rPr lang="en-US" sz="2500" dirty="0"/>
              <a:t>:</a:t>
            </a:r>
          </a:p>
          <a:p>
            <a:r>
              <a:rPr lang="en-US" sz="2500" dirty="0"/>
              <a:t>Adds custom modules: </a:t>
            </a:r>
          </a:p>
          <a:p>
            <a:pPr lvl="1"/>
            <a:r>
              <a:rPr lang="en-US" sz="2500" b="1" dirty="0"/>
              <a:t>Safety Projector</a:t>
            </a:r>
            <a:r>
              <a:rPr lang="en-US" sz="2500" dirty="0"/>
              <a:t>, </a:t>
            </a:r>
          </a:p>
          <a:p>
            <a:pPr lvl="1"/>
            <a:r>
              <a:rPr lang="en-US" sz="2500" b="1" dirty="0"/>
              <a:t>Safety Tokens</a:t>
            </a:r>
            <a:r>
              <a:rPr lang="en-US" sz="2500" dirty="0"/>
              <a:t>, and </a:t>
            </a:r>
          </a:p>
          <a:p>
            <a:pPr lvl="1"/>
            <a:r>
              <a:rPr lang="en-US" sz="2500" b="1" dirty="0"/>
              <a:t>Safety Head</a:t>
            </a:r>
            <a:r>
              <a:rPr lang="en-US" sz="2500" dirty="0"/>
              <a:t>.</a:t>
            </a:r>
          </a:p>
          <a:p>
            <a:r>
              <a:rPr lang="en-US" sz="2500" dirty="0"/>
              <a:t>Requires a complex two-stage training process and alters model inference topology.</a:t>
            </a:r>
          </a:p>
          <a:p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64CBB-9C9A-6BAE-9C13-932555561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236" y="1825624"/>
            <a:ext cx="6723682" cy="404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8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F84E9-FE22-29EB-318B-1B4126DF7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SafeVLM</a:t>
            </a:r>
            <a:r>
              <a:rPr lang="en-US" sz="4000" dirty="0"/>
              <a:t> Empirical Results: Safety Scores &amp; Over-Refusal Trade-offs (Tables 3 &amp; 4).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49E44C-8089-4F4A-B619-20F6FCB22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3600" y="1910652"/>
            <a:ext cx="6103088" cy="3036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CB9A95-76B3-DB53-3661-DAA54B8C1C51}"/>
              </a:ext>
            </a:extLst>
          </p:cNvPr>
          <p:cNvSpPr txBox="1"/>
          <p:nvPr/>
        </p:nvSpPr>
        <p:spPr>
          <a:xfrm rot="10800000" flipV="1">
            <a:off x="1084521" y="5843735"/>
            <a:ext cx="10269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Proves pre-trained projectors lack safety alignment, but architectural defense incurs high inference overhead and false refusals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9D45F3-C124-0D9E-F368-EA0CA80EA4F2}"/>
              </a:ext>
            </a:extLst>
          </p:cNvPr>
          <p:cNvSpPr txBox="1"/>
          <p:nvPr/>
        </p:nvSpPr>
        <p:spPr>
          <a:xfrm>
            <a:off x="-42530" y="2229000"/>
            <a:ext cx="664534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b="1" dirty="0"/>
              <a:t>Their Results on LLaVA-v1.5-7B</a:t>
            </a:r>
          </a:p>
          <a:p>
            <a:pPr lvl="1"/>
            <a:r>
              <a:rPr lang="en-US" sz="2000" dirty="0"/>
              <a:t>AdvBench (Vanilla ASR):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Reduced from </a:t>
            </a:r>
            <a:r>
              <a:rPr lang="en-US" sz="2000" b="1" dirty="0"/>
              <a:t>6.45% -&gt; 1.72%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AdvBench (Suffix Injection):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Reduced from </a:t>
            </a:r>
            <a:r>
              <a:rPr lang="en-US" sz="2000" b="1" dirty="0"/>
              <a:t>78.27% -&gt; 67.56%</a:t>
            </a:r>
            <a:r>
              <a:rPr lang="en-US" sz="2000" dirty="0"/>
              <a:t>.</a:t>
            </a:r>
          </a:p>
          <a:p>
            <a:pPr lvl="1"/>
            <a:r>
              <a:rPr lang="en-US" sz="2000" dirty="0">
                <a:hlinkClick r:id="rId3"/>
              </a:rPr>
              <a:t>XSTest</a:t>
            </a:r>
            <a:r>
              <a:rPr lang="en-US" sz="2000" dirty="0"/>
              <a:t> Unsafe Rate: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Dropped from </a:t>
            </a:r>
            <a:r>
              <a:rPr lang="en-US" sz="2000" b="1" dirty="0"/>
              <a:t>26.50% -&gt; 7.46%</a:t>
            </a:r>
            <a:r>
              <a:rPr lang="en-US" sz="2000" dirty="0"/>
              <a:t> </a:t>
            </a:r>
          </a:p>
          <a:p>
            <a:pPr lvl="2"/>
            <a:r>
              <a:rPr lang="en-US" sz="2000" dirty="0"/>
              <a:t>(shows significant over-refusal / false refusal risk).</a:t>
            </a:r>
          </a:p>
          <a:p>
            <a:pPr lvl="1"/>
            <a:r>
              <a:rPr lang="en-US" sz="2000" dirty="0">
                <a:hlinkClick r:id="rId4"/>
              </a:rPr>
              <a:t>RTVLM</a:t>
            </a:r>
            <a:r>
              <a:rPr lang="en-US" sz="2000" dirty="0"/>
              <a:t> Safety Score: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Increased from </a:t>
            </a:r>
            <a:r>
              <a:rPr lang="en-US" sz="2000" b="1" dirty="0"/>
              <a:t>6.27 -&gt; 8.26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48547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8EFA-31B0-E84F-0173-D8473AF4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VLM extension: Methodology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EC580CF-8972-3C14-C5B7-2B5D36DA53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i="1" dirty="0"/>
                  <a:t>We formalize </a:t>
                </a:r>
                <a:r>
                  <a:rPr lang="en-US" b="1" i="1" dirty="0"/>
                  <a:t>Continual Safety Alignment for VLMs </a:t>
                </a:r>
                <a:r>
                  <a:rPr lang="en-US" i="1" dirty="0"/>
                  <a:t>across a sequence of T multimodal tasks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i="1" dirty="0"/>
                  <a:t>} </a:t>
                </a:r>
              </a:p>
              <a:p>
                <a:r>
                  <a:rPr lang="en-US" i="1" dirty="0"/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 smtClean="0"/>
                          <m:t>​=</m:t>
                        </m:r>
                        <m:r>
                          <m:rPr>
                            <m:nor/>
                          </m:rPr>
                          <a:rPr lang="en-US" i="0" smtClean="0">
                            <a:effectLst/>
                          </a:rPr>
                          <m:t>​</m:t>
                        </m:r>
                        <m:r>
                          <m:rPr>
                            <m:nor/>
                          </m:rPr>
                          <a:rPr lang="en-US" b="0" i="0" smtClean="0">
                            <a:effectLst/>
                          </a:rPr>
                          <m:t>{(</m:t>
                        </m:r>
                        <m:sSubSup>
                          <m:sSubSupPr>
                            <m:ctrl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b="0" i="0" smtClean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)}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b="0" i="1" dirty="0">
                    <a:effectLst/>
                  </a:rPr>
                  <a:t> contains visual inputs, text instructions, and target responses</a:t>
                </a:r>
                <a:endParaRPr lang="en-US" dirty="0"/>
              </a:p>
              <a:p>
                <a:r>
                  <a:rPr lang="en-US" dirty="0"/>
                  <a:t>For a VLM, replace the language-model parameters with multimodal parameters: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𝑉𝐿𝑀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𝑒𝑛𝑐𝑜𝑑𝑒𝑟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𝑝𝑟𝑜𝑗𝑒𝑐𝑡𝑜𝑟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𝐿𝑜𝑅𝐴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training only adaptors: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𝐿𝑜𝑅𝐴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𝑝𝑟𝑜𝑗𝑒𝑐𝑡𝑜𝑟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With a vision encoder and base language model frozen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=&gt;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𝑽𝑳𝑴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𝒂𝒓𝒈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𝒎𝒊𝒏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𝑽𝑳𝑴</m:t>
                        </m:r>
                      </m:sup>
                    </m:sSubSup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𝒊𝒎𝒂𝒈𝒆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𝒕𝒆𝒙𝒕</m:t>
                            </m:r>
                          </m:sup>
                        </m:sSubSup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  </m:t>
                    </m:r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𝑽𝑳𝑴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𝝐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𝑽𝑳𝑴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EC580CF-8972-3C14-C5B7-2B5D36DA53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296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B462-42C4-2314-875E-46B725A0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VLM extension: Methodology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FC7C30-0F3E-CEF9-6D57-C1FB25C6E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Text-only LLMs,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calculated across LLM parameters or </a:t>
                </a:r>
                <a:r>
                  <a:rPr lang="en-US" dirty="0" err="1"/>
                  <a:t>LoRA</a:t>
                </a:r>
                <a:r>
                  <a:rPr lang="en-US" dirty="0"/>
                  <a:t> parameters. </a:t>
                </a:r>
              </a:p>
              <a:p>
                <a:r>
                  <a:rPr lang="en-US" i="1" u="sng" dirty="0"/>
                  <a:t>Modification</a:t>
                </a:r>
                <a:r>
                  <a:rPr lang="en-US" dirty="0"/>
                  <a:t> In VLMs, you have three distinct module groups:</a:t>
                </a:r>
              </a:p>
              <a:p>
                <a:pPr lvl="1"/>
                <a:r>
                  <a:rPr lang="en-US" dirty="0"/>
                  <a:t>Vision Encoder (usually frozen during </a:t>
                </a:r>
                <a:r>
                  <a:rPr lang="en-US" dirty="0" err="1"/>
                  <a:t>LoRA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Vision-Language Projector / Connector (trainable cross-attention or MLP)</a:t>
                </a:r>
              </a:p>
              <a:p>
                <a:pPr lvl="1"/>
                <a:r>
                  <a:rPr lang="en-US" dirty="0"/>
                  <a:t>Language Model Backbone (trainable </a:t>
                </a:r>
                <a:r>
                  <a:rPr lang="en-US" dirty="0" err="1"/>
                  <a:t>LoRA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If you compute gradients across everything, the vision encoder’s </a:t>
                </a:r>
                <a:r>
                  <a:rPr lang="en-US" u="sng" dirty="0"/>
                  <a:t>high visual variance will completely swamp the gradient norm with image noise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FC7C30-0F3E-CEF9-6D57-C1FB25C6E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682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FCDCC-409C-4947-1151-59107443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EDAB-794B-245E-1C94-1D66E0F2A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VLM extension: Methodology</a:t>
            </a:r>
            <a:br>
              <a:rPr lang="en-US" dirty="0"/>
            </a:br>
            <a:r>
              <a:rPr lang="en-US" sz="2000" dirty="0"/>
              <a:t>Our 3 novel gradient attribution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1F76EF5-433D-5B81-5FF9-F00BD01474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81963"/>
                <a:ext cx="10515600" cy="4284921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lvl="0"/>
                <a:r>
                  <a:rPr lang="en-US" sz="2400" b="1" dirty="0"/>
                  <a:t>Our Adaptation</a:t>
                </a:r>
                <a:r>
                  <a:rPr lang="en-US" sz="2400" dirty="0"/>
                  <a:t>: We freeze the Vision Encoder and formulate </a:t>
                </a:r>
                <a:r>
                  <a:rPr lang="en-US" sz="2400" b="1" dirty="0"/>
                  <a:t>3 distinct gradient attribution modes</a:t>
                </a:r>
                <a:r>
                  <a:rPr lang="en-US" sz="2400" dirty="0"/>
                  <a:t>: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US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sSub>
                                  <m:sSub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𝐿𝑜𝑅𝐴</m:t>
                                    </m:r>
                                  </m:sub>
                                </m:sSub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||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0" i="1" dirty="0">
                    <a:latin typeface="Cambria Math" panose="02040503050406030204" pitchFamily="18" charset="0"/>
                  </a:rPr>
                  <a:t>			</a:t>
                </a:r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(Language: Evaluates whether alignment drift is driven by conversational response priors in the language model.)</a:t>
                </a:r>
                <a14:m/>
              </a:p>
              <a:p>
                <a:pPr lvl="1"/>
                <a:r>
                  <a:rPr lang="en-US" sz="2000" dirty="0"/>
                  <a:t>                      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(Projector: Evaluates whether drift is driven by cross-modal feature warping justified by </a:t>
                </a:r>
                <a:r>
                  <a:rPr lang="en-US" sz="2000" dirty="0" err="1"/>
                  <a:t>SafeVLM’s</a:t>
                </a:r>
                <a:r>
                  <a:rPr lang="en-US" sz="2000" dirty="0"/>
                  <a:t> finding that pre-trained projectors lack safety alignment)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000" dirty="0"/>
                  <a:t>                                      </a:t>
                </a:r>
              </a:p>
              <a:p>
                <a:pPr marL="457200" lvl="1" indent="0">
                  <a:buNone/>
                </a:pPr>
                <a:r>
                  <a:rPr lang="en-US" sz="2100" dirty="0"/>
                  <a:t>(Joint: combines both VLM signals with a balancing scalar)</a:t>
                </a:r>
              </a:p>
              <a:p>
                <a:pPr marL="0" indent="0">
                  <a:buNone/>
                </a:pPr>
                <a:endParaRPr lang="en-US" sz="25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1F76EF5-433D-5B81-5FF9-F00BD01474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81963"/>
                <a:ext cx="10515600" cy="4284921"/>
              </a:xfrm>
              <a:blipFill>
                <a:blip r:embed="rId3"/>
                <a:stretch>
                  <a:fillRect l="-844" t="-20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68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91F86-4EC1-7ABB-DB86-99D196F0D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6B9C-35FB-B7C2-5052-17C3DAF23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VLM extension: Methodology</a:t>
            </a:r>
            <a:br>
              <a:rPr lang="en-US" dirty="0"/>
            </a:br>
            <a:r>
              <a:rPr lang="en-US" sz="2000" dirty="0"/>
              <a:t>Language </a:t>
            </a:r>
            <a:r>
              <a:rPr lang="en-US" sz="2000" dirty="0" err="1"/>
              <a:t>LoRA</a:t>
            </a:r>
            <a:r>
              <a:rPr lang="en-US" sz="2000" dirty="0"/>
              <a:t>, Projector, Joint Multimodal Tension, Length normalization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6285845-0A2A-C172-1E17-D250F9B307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6149"/>
                <a:ext cx="10515600" cy="4976037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+…+</m:t>
                        </m:r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dirty="0"/>
                  <a:t>This is the L2 norm (magnitude). It gives one single number showing how hard the language decoder is being pushed.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+…+</m:t>
                        </m:r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dirty="0"/>
                  <a:t>Shows how hard the visual-to-language bridge is being pushed by this image. </a:t>
                </a:r>
                <a:r>
                  <a:rPr lang="en-US" sz="1600" i="1" dirty="0">
                    <a:latin typeface="Cambria Math" panose="02040503050406030204" pitchFamily="18" charset="0"/>
                  </a:rPr>
                  <a:t>	</a:t>
                </a:r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 </m:t>
                            </m:r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dirty="0"/>
                  <a:t>combining both tensions into one overall VLM score. </a:t>
                </a:r>
                <a:r>
                  <a:rPr lang="en-US" sz="1600" i="1" dirty="0">
                    <a:latin typeface="Cambria Math" panose="02040503050406030204" pitchFamily="18" charset="0"/>
                  </a:rPr>
                  <a:t>	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𝑁𝑜𝑟𝑚𝑎𝑙𝑖𝑧𝑒𝑑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num>
                      <m:den>
                        <m:rad>
                          <m:radPr>
                            <m:degHide m:val="on"/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𝑡𝑎𝑟𝑔𝑒𝑡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𝑡𝑜𝑘𝑒𝑛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𝑐𝑜𝑢𝑛𝑡</m:t>
                            </m:r>
                          </m:e>
                        </m:rad>
                      </m:den>
                    </m:f>
                    <m:r>
                      <m:rPr>
                        <m:nor/>
                      </m:rPr>
                      <a:rPr lang="en-US" sz="2200" b="1" i="0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US" sz="1800" b="1" dirty="0"/>
                      <m:t>gradient per token</m:t>
                    </m:r>
                    <m:r>
                      <m:rPr>
                        <m:nor/>
                      </m:rPr>
                      <a:rPr lang="en-US" sz="1800" b="0" i="0" dirty="0" smtClean="0"/>
                      <m:t>)</m:t>
                    </m:r>
                  </m:oMath>
                </a14:m>
                <a:endParaRPr lang="en-US" sz="1800" dirty="0"/>
              </a:p>
              <a:p>
                <a:pPr lvl="2"/>
                <a:r>
                  <a:rPr lang="en-US" dirty="0"/>
                  <a:t>Prevents long answers from getting high scores just because they have more words. </a:t>
                </a:r>
              </a:p>
              <a:p>
                <a:pPr lvl="2"/>
                <a:r>
                  <a:rPr lang="en-US" dirty="0"/>
                  <a:t>WHY? - Eg, Sample A = yes, Sample B = 300 words. Even if both samples are equally safe and happy, Sample B will naturally have a much larger gradient norm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simply because you are adding up 300 gradient vectors instead of 1</a:t>
                </a:r>
              </a:p>
              <a:p>
                <a:pPr lvl="2"/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5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6285845-0A2A-C172-1E17-D250F9B307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6149"/>
                <a:ext cx="10515600" cy="4976037"/>
              </a:xfrm>
              <a:blipFill>
                <a:blip r:embed="rId2"/>
                <a:stretch>
                  <a:fillRect l="-724" b="-15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426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38E0-B7FF-08FA-3BFF-B8571C348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CC33-D36D-7059-0D78-0EE05BDA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VLM extension: Methodology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A08AF0-BA06-C145-2142-38004BF950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4763"/>
                <a:ext cx="10515600" cy="5178056"/>
              </a:xfrm>
            </p:spPr>
            <p:txBody>
              <a:bodyPr>
                <a:noAutofit/>
              </a:bodyPr>
              <a:lstStyle/>
              <a:p>
                <a:r>
                  <a:rPr lang="en-US" sz="1800" dirty="0"/>
                  <a:t>Also record the combined norm: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p>
                    </m:sSubSup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US" sz="18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8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𝐿𝑀</m:t>
                                        </m:r>
                                      </m:e>
                                      <m:sub>
                                        <m:r>
                                          <a:rPr lang="en-US" sz="18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𝐿𝑜𝑅𝐴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𝑝𝑟𝑜𝑗𝑒𝑐𝑡𝑜𝑟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 ||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/>
              </a:p>
              <a:p>
                <a:r>
                  <a:rPr lang="en-US" sz="1800" dirty="0"/>
                  <a:t>One total norm will not know which mechanism is responsible =&gt; a high gradient could be caused by:</a:t>
                </a:r>
              </a:p>
              <a:p>
                <a:pPr lvl="1"/>
                <a:r>
                  <a:rPr lang="en-US" sz="1800" dirty="0"/>
                  <a:t>a text-output format mismatch</a:t>
                </a:r>
              </a:p>
              <a:p>
                <a:pPr lvl="1"/>
                <a:r>
                  <a:rPr lang="en-US" sz="1800" dirty="0"/>
                  <a:t>an image that is difficult to interpret</a:t>
                </a:r>
              </a:p>
              <a:p>
                <a:pPr lvl="1"/>
                <a:r>
                  <a:rPr lang="en-US" sz="1800" dirty="0"/>
                  <a:t>a poorly grounded visual representation</a:t>
                </a:r>
              </a:p>
              <a:p>
                <a:pPr lvl="1"/>
                <a:r>
                  <a:rPr lang="en-US" sz="1800" dirty="0"/>
                  <a:t>an unusually long target</a:t>
                </a:r>
              </a:p>
              <a:p>
                <a:r>
                  <a:rPr lang="en-US" sz="1800" dirty="0"/>
                  <a:t>Examples groups for first set: </a:t>
                </a:r>
              </a:p>
              <a:p>
                <a:pPr lvl="1"/>
                <a:r>
                  <a:rPr lang="en-US" sz="1800" dirty="0"/>
                  <a:t>Low-G: lowest 20%</a:t>
                </a:r>
              </a:p>
              <a:p>
                <a:pPr lvl="1"/>
                <a:r>
                  <a:rPr lang="en-US" sz="1800" dirty="0"/>
                  <a:t>Moderate-G: samples closest to the median</a:t>
                </a:r>
              </a:p>
              <a:p>
                <a:pPr lvl="1"/>
                <a:r>
                  <a:rPr lang="en-US" sz="1800" dirty="0"/>
                  <a:t>High-G: highest 20%</a:t>
                </a:r>
              </a:p>
              <a:p>
                <a:pPr lvl="1"/>
                <a:r>
                  <a:rPr lang="en-US" sz="1800" dirty="0"/>
                  <a:t>Random: random 20%</a:t>
                </a:r>
              </a:p>
              <a:p>
                <a:pPr lvl="1"/>
                <a:r>
                  <a:rPr lang="en-US" sz="1800" dirty="0"/>
                  <a:t>All: all available samples</a:t>
                </a:r>
              </a:p>
              <a:p>
                <a:r>
                  <a:rPr lang="en-US" sz="1800" dirty="0"/>
                  <a:t>The method is not simply </a:t>
                </a:r>
                <a:r>
                  <a:rPr lang="en-US" sz="1800" u="sng" dirty="0"/>
                  <a:t>take the lowest gradients</a:t>
                </a:r>
                <a:r>
                  <a:rPr lang="en-US" sz="1800" dirty="0"/>
                  <a:t>. It first </a:t>
                </a:r>
                <a:r>
                  <a:rPr lang="en-US" sz="1800" i="1" dirty="0"/>
                  <a:t>removes extreme-loss</a:t>
                </a:r>
                <a:r>
                  <a:rPr lang="en-US" sz="1800" dirty="0"/>
                  <a:t> examples, </a:t>
                </a:r>
                <a:r>
                  <a:rPr lang="en-US" sz="1800" i="1" dirty="0"/>
                  <a:t>computes gradient norms </a:t>
                </a:r>
                <a:r>
                  <a:rPr lang="en-US" sz="1800" dirty="0"/>
                  <a:t>on the remaining candidates, and </a:t>
                </a:r>
                <a:r>
                  <a:rPr lang="en-US" sz="1800" i="1" dirty="0"/>
                  <a:t>selects samples nearest the median gradient norm</a:t>
                </a:r>
                <a:r>
                  <a:rPr lang="en-US" sz="1800" dirty="0"/>
                  <a:t>.</a:t>
                </a:r>
              </a:p>
              <a:p>
                <a:pPr lvl="1"/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A08AF0-BA06-C145-2142-38004BF950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4763"/>
                <a:ext cx="10515600" cy="5178056"/>
              </a:xfrm>
              <a:blipFill>
                <a:blip r:embed="rId3"/>
                <a:stretch>
                  <a:fillRect l="-483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499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985A-023C-E6A1-5689-2A98642C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AB10-9820-56FD-405D-1B1878AF8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818"/>
            <a:ext cx="10515600" cy="1325563"/>
          </a:xfrm>
        </p:spPr>
        <p:txBody>
          <a:bodyPr/>
          <a:lstStyle/>
          <a:p>
            <a:r>
              <a:rPr lang="en-US" dirty="0"/>
              <a:t>VLM extension: Methodology</a:t>
            </a:r>
            <a:br>
              <a:rPr lang="en-US" dirty="0"/>
            </a:br>
            <a:r>
              <a:rPr lang="en-US" sz="2000" dirty="0"/>
              <a:t>Our 3 novel gradient attribution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AB4C0B5-FEC5-AF9B-97B6-CB12E40E30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77656"/>
                <a:ext cx="10515600" cy="3402418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In VLMs, the input contains visual tokens that must be </a:t>
                </a:r>
                <a:r>
                  <a:rPr lang="en-US" sz="2400" u="sng" dirty="0"/>
                  <a:t>strict label-masked </a:t>
                </a:r>
                <a:r>
                  <a:rPr lang="en-US" sz="2400" dirty="0"/>
                  <a:t>to </a:t>
                </a:r>
                <a14:m>
                  <m:oMath xmlns:m="http://schemas.openxmlformats.org/officeDocument/2006/math">
                    <m:r>
                      <a:rPr lang="en-US" sz="2400" b="1" i="0" u="sng" smtClean="0">
                        <a:latin typeface="Cambria Math" panose="02040503050406030204" pitchFamily="18" charset="0"/>
                      </a:rPr>
                      <m:t>𝐥𝐚𝐛𝐞𝐥</m:t>
                    </m:r>
                    <m:r>
                      <a:rPr lang="en-US" sz="2400" b="1" i="0" u="sng" smtClean="0">
                        <a:latin typeface="Cambria Math" panose="02040503050406030204" pitchFamily="18" charset="0"/>
                      </a:rPr>
                      <m:t>= −</m:t>
                    </m:r>
                    <m:r>
                      <a:rPr lang="en-US" sz="2400" b="1" i="1" u="sng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in </a:t>
                </a:r>
                <a:r>
                  <a:rPr lang="en-US" sz="2400" dirty="0" err="1"/>
                  <a:t>PyTorch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CrossEntropyLoss</a:t>
                </a:r>
                <a:r>
                  <a:rPr lang="en-US" sz="2400" dirty="0"/>
                  <a:t> (visual patch tokens masked from loss) on </a:t>
                </a:r>
                <a:r>
                  <a:rPr lang="en-US" sz="2400" b="1" dirty="0"/>
                  <a:t>every single image patch token</a:t>
                </a:r>
                <a:r>
                  <a:rPr lang="en-US" sz="2400" dirty="0"/>
                  <a:t> and on the prompt text. </a:t>
                </a:r>
              </a:p>
              <a:p>
                <a:r>
                  <a:rPr lang="en-US" sz="2400" dirty="0"/>
                  <a:t>Prevents the gradient from being dominated by image reconstruction (visual features) loss instead of task-response alignment.</a:t>
                </a:r>
              </a:p>
              <a:p>
                <a:pPr lvl="0"/>
                <a:r>
                  <a:rPr lang="en-US" sz="2400" b="1" dirty="0"/>
                  <a:t>The Result</a:t>
                </a:r>
                <a:r>
                  <a:rPr lang="en-US" sz="2400" dirty="0"/>
                  <a:t>: Gradients are computed strictly on the target answer tokens, meaning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measures true instruction alignment rather than image pixel noise.</a:t>
                </a:r>
              </a:p>
              <a:p>
                <a:endParaRPr lang="en-US" sz="2400" dirty="0"/>
              </a:p>
              <a:p>
                <a:pPr lvl="0"/>
                <a:endParaRPr lang="en-US" sz="24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AB4C0B5-FEC5-AF9B-97B6-CB12E40E30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77656"/>
                <a:ext cx="10515600" cy="3402418"/>
              </a:xfrm>
              <a:blipFill>
                <a:blip r:embed="rId2"/>
                <a:stretch>
                  <a:fillRect l="-844" t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0816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1599-AE09-9A0A-18D7-73A07461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Plan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8B8829-ED3E-7C2C-64DD-EA95DC1D76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243329"/>
              </p:ext>
            </p:extLst>
          </p:nvPr>
        </p:nvGraphicFramePr>
        <p:xfrm>
          <a:off x="542259" y="1541721"/>
          <a:ext cx="11217350" cy="5019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220">
                  <a:extLst>
                    <a:ext uri="{9D8B030D-6E8A-4147-A177-3AD203B41FA5}">
                      <a16:colId xmlns:a16="http://schemas.microsoft.com/office/drawing/2014/main" val="3644407037"/>
                    </a:ext>
                  </a:extLst>
                </a:gridCol>
                <a:gridCol w="2147777">
                  <a:extLst>
                    <a:ext uri="{9D8B030D-6E8A-4147-A177-3AD203B41FA5}">
                      <a16:colId xmlns:a16="http://schemas.microsoft.com/office/drawing/2014/main" val="3634236375"/>
                    </a:ext>
                  </a:extLst>
                </a:gridCol>
                <a:gridCol w="2541181">
                  <a:extLst>
                    <a:ext uri="{9D8B030D-6E8A-4147-A177-3AD203B41FA5}">
                      <a16:colId xmlns:a16="http://schemas.microsoft.com/office/drawing/2014/main" val="231008248"/>
                    </a:ext>
                  </a:extLst>
                </a:gridCol>
                <a:gridCol w="3625702">
                  <a:extLst>
                    <a:ext uri="{9D8B030D-6E8A-4147-A177-3AD203B41FA5}">
                      <a16:colId xmlns:a16="http://schemas.microsoft.com/office/drawing/2014/main" val="2725156156"/>
                    </a:ext>
                  </a:extLst>
                </a:gridCol>
                <a:gridCol w="2243470">
                  <a:extLst>
                    <a:ext uri="{9D8B030D-6E8A-4147-A177-3AD203B41FA5}">
                      <a16:colId xmlns:a16="http://schemas.microsoft.com/office/drawing/2014/main" val="1030989632"/>
                    </a:ext>
                  </a:extLst>
                </a:gridCol>
              </a:tblGrid>
              <a:tr h="276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Stage</a:t>
                      </a:r>
                      <a:endParaRPr lang="en-US" sz="120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LLM Task</a:t>
                      </a:r>
                      <a:endParaRPr lang="en-US" sz="120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Our VLM Equivalent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Reasoning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Citation</a:t>
                      </a:r>
                      <a:endParaRPr lang="en-US" sz="120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34030133"/>
                  </a:ext>
                </a:extLst>
              </a:tr>
              <a:tr h="9689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Dolly (15K instruction following)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u="none" strike="noStrike">
                          <a:effectLst/>
                          <a:hlinkClick r:id="rId2"/>
                        </a:rPr>
                        <a:t>LLaVA-Instruct-150K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General visual instruction following , same role as Dolly (reduces refusal before task-specific tuning). Benign, diverse, general purpose.</a:t>
                      </a:r>
                      <a:endParaRPr lang="en-US" sz="120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u="none" strike="noStrike" dirty="0">
                          <a:effectLst/>
                          <a:hlinkClick r:id="rId2"/>
                        </a:rPr>
                        <a:t>Liu et al., arXiv:2304.08485</a:t>
                      </a:r>
                      <a:endParaRPr lang="en-US" sz="120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580673292"/>
                  </a:ext>
                </a:extLst>
              </a:tr>
              <a:tr h="11421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GSM8K (math word problems)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u="none" strike="noStrike">
                          <a:effectLst/>
                          <a:hlinkClick r:id="rId3"/>
                        </a:rPr>
                        <a:t>MathVista</a:t>
                      </a:r>
                      <a:r>
                        <a:rPr lang="en-US" sz="1200">
                          <a:effectLst/>
                        </a:rPr>
                        <a:t> (6,141 problems)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Visual-mathematical reasoning from charts, diagrams, geometry. Direct multimodal analog to GSM8K. 6,141 problems</a:t>
                      </a:r>
                      <a:endParaRPr lang="en-US" sz="120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u="none" strike="noStrike">
                          <a:effectLst/>
                          <a:hlinkClick r:id="rId3"/>
                        </a:rPr>
                        <a:t>Lu et al., arXiv:2310.02255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340270408"/>
                  </a:ext>
                </a:extLst>
              </a:tr>
              <a:tr h="11421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MedMCQA (medical MCQ)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u="none" strike="noStrike" dirty="0">
                          <a:effectLst/>
                          <a:hlinkClick r:id="rId4"/>
                        </a:rPr>
                        <a:t>VQA-RAD</a:t>
                      </a:r>
                      <a:r>
                        <a:rPr lang="en-US" sz="1200" dirty="0">
                          <a:effectLst/>
                        </a:rPr>
                        <a:t> (kept for held-out evaluation) or </a:t>
                      </a:r>
                      <a:r>
                        <a:rPr lang="en-US" sz="1200" u="none" strike="noStrike" dirty="0">
                          <a:effectLst/>
                          <a:hlinkClick r:id="rId5"/>
                        </a:rPr>
                        <a:t>SLAKE</a:t>
                      </a:r>
                      <a:r>
                        <a:rPr lang="en-US" sz="1200" dirty="0">
                          <a:effectLst/>
                        </a:rPr>
                        <a:t> (preferred for training)</a:t>
                      </a:r>
                      <a:endParaRPr lang="en-US" sz="120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Clinical image understanding: radiology, pathology. VQA-RAD = radiology QA pairs. 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SLAKE = bilingual medical VQA </a:t>
                      </a:r>
                      <a:endParaRPr lang="en-US" sz="120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u="none" strike="noStrike">
                          <a:effectLst/>
                          <a:hlinkClick r:id="rId4"/>
                        </a:rPr>
                        <a:t>Lau et al., Nature Scientific Data 2018</a:t>
                      </a:r>
                      <a:r>
                        <a:rPr lang="en-US" sz="1200">
                          <a:effectLst/>
                        </a:rPr>
                        <a:t>; </a:t>
                      </a:r>
                      <a:r>
                        <a:rPr lang="en-US" sz="1200" u="none" strike="noStrike">
                          <a:effectLst/>
                          <a:hlinkClick r:id="rId5"/>
                        </a:rPr>
                        <a:t>Liu et al., arXiv:2102.09542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182963597"/>
                  </a:ext>
                </a:extLst>
              </a:tr>
              <a:tr h="14884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SQuAD v2 (reading comprehension)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u="none" strike="noStrike">
                          <a:effectLst/>
                          <a:hlinkClick r:id="rId6"/>
                        </a:rPr>
                        <a:t>DocVQA</a:t>
                      </a:r>
                      <a:r>
                        <a:rPr lang="en-US" sz="1200">
                          <a:effectLst/>
                        </a:rPr>
                        <a:t> (~50,000 Q&amp;A pairs)</a:t>
                      </a:r>
                      <a:endParaRPr lang="en-US" sz="1200" b="0" i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Dense document OCR and layout reasoning. Directly tests extractive reading comprehension on visual documents, same capability as SQuAD v2. ~50,000 </a:t>
                      </a:r>
                      <a:endParaRPr lang="en-US" sz="120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u="none" strike="noStrike" dirty="0">
                          <a:effectLst/>
                          <a:hlinkClick r:id="rId6"/>
                        </a:rPr>
                        <a:t>Mathew et al., arXiv:2007.00398</a:t>
                      </a:r>
                      <a:endParaRPr lang="en-US" sz="1200" b="0" i="0" dirty="0">
                        <a:solidFill>
                          <a:srgbClr val="CCCCCC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16579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938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FDCA3-29A9-685C-B512-00C14560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Plan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43870-9F61-A12C-A20F-73A9AA6719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b="1" dirty="0"/>
                  <a:t>Colab T4: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i="1" dirty="0"/>
                  <a:t>Model:</a:t>
                </a:r>
                <a:r>
                  <a:rPr lang="en-US" dirty="0"/>
                  <a:t> Qwen2-VL-2B-Instruct (4-bit </a:t>
                </a:r>
                <a:r>
                  <a:rPr lang="en-US" dirty="0" err="1"/>
                  <a:t>QLoRA</a:t>
                </a:r>
                <a:r>
                  <a:rPr lang="en-US" dirty="0"/>
                  <a:t>, frozen </a:t>
                </a:r>
                <a:r>
                  <a:rPr lang="en-US" dirty="0" err="1"/>
                  <a:t>ViT</a:t>
                </a:r>
                <a:r>
                  <a:rPr lang="en-US" dirty="0"/>
                  <a:t>).</a:t>
                </a:r>
              </a:p>
              <a:p>
                <a:pPr lvl="2"/>
                <a:r>
                  <a:rPr lang="en-US" i="1" dirty="0"/>
                  <a:t>Pilot Run:</a:t>
                </a:r>
                <a:r>
                  <a:rPr lang="en-US" dirty="0"/>
                  <a:t> 1 task (LLaVA-Instruct-150K subset, N=1,000).</a:t>
                </a:r>
              </a:p>
              <a:p>
                <a:pPr lvl="2"/>
                <a:r>
                  <a:rPr lang="en-US" i="1" dirty="0"/>
                  <a:t>Core Hypothesis Test:</a:t>
                </a:r>
                <a:r>
                  <a:rPr lang="en-US" dirty="0"/>
                  <a:t> Does High-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induce higher ASR than Moderate-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on FigStep and MM-</a:t>
                </a:r>
                <a:r>
                  <a:rPr lang="en-US" dirty="0" err="1"/>
                  <a:t>SafetyBench</a:t>
                </a:r>
                <a:r>
                  <a:rPr lang="en-US" dirty="0"/>
                  <a:t>?</a:t>
                </a:r>
              </a:p>
              <a:p>
                <a:pPr lvl="2"/>
                <a:r>
                  <a:rPr lang="en-US" i="1" dirty="0"/>
                  <a:t>Audit:</a:t>
                </a:r>
                <a:r>
                  <a:rPr lang="en-US" dirty="0"/>
                  <a:t> Log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𝒗𝒔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   </m:t>
                    </m:r>
                    <m:sSubSup>
                      <m:sSub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 distributions.</a:t>
                </a:r>
              </a:p>
              <a:p>
                <a:pPr lvl="1"/>
                <a:r>
                  <a:rPr lang="en-US" b="1" dirty="0"/>
                  <a:t>PSU Campus Cluster: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Run full 4-task continual pipeline across 3 random seeds.</a:t>
                </a:r>
              </a:p>
              <a:p>
                <a:pPr lvl="2"/>
                <a:r>
                  <a:rPr lang="en-US" dirty="0"/>
                  <a:t>Evaluate full benchmark suite (MM-</a:t>
                </a:r>
                <a:r>
                  <a:rPr lang="en-US" dirty="0" err="1"/>
                  <a:t>SafetyBench</a:t>
                </a:r>
                <a:r>
                  <a:rPr lang="en-US" dirty="0"/>
                  <a:t>, FigStep, JailBreakV-28K, </a:t>
                </a:r>
                <a:r>
                  <a:rPr lang="en-US" dirty="0" err="1"/>
                  <a:t>MMHal</a:t>
                </a:r>
                <a:r>
                  <a:rPr lang="en-US" dirty="0"/>
                  <a:t>-Bench).</a:t>
                </a:r>
              </a:p>
              <a:p>
                <a:pPr lvl="2"/>
                <a:r>
                  <a:rPr lang="en-US" dirty="0"/>
                  <a:t>Execute ablation over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𝑙𝑎𝑛𝑔𝑢𝑎𝑔𝑒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𝐿𝑜𝑅𝐴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𝑎𝑙𝑜𝑛𝑒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,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𝑝𝑟𝑜𝑗𝑒𝑐𝑡𝑜𝑟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𝑎𝑙𝑜𝑛𝑒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𝑗𝑜𝑖𝑛𝑡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𝑎𝑡𝑡𝑟𝑖𝑏𝑢𝑡𝑖𝑜𝑛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𝑱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43870-9F61-A12C-A20F-73A9AA6719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614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1FF1-6CC1-E94F-ED78-FA4D3A458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Plan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B2E59-E0EB-A0D9-15A8-B15D87217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lvl="0"/>
                <a:r>
                  <a:rPr lang="en-US" b="1" dirty="0"/>
                  <a:t>Model Selection:</a:t>
                </a:r>
                <a:r>
                  <a:rPr lang="en-US" dirty="0"/>
                  <a:t> Qwen2-VL-2B-Instruct shares the Qwen family architecture analyzed in the paper and keeps memory requirements low.</a:t>
                </a:r>
              </a:p>
              <a:p>
                <a:pPr lvl="0"/>
                <a:r>
                  <a:rPr lang="en-US" b="1" dirty="0" err="1"/>
                  <a:t>LoRA</a:t>
                </a:r>
                <a:r>
                  <a:rPr lang="en-US" b="1" dirty="0"/>
                  <a:t> Strategy:</a:t>
                </a:r>
                <a:r>
                  <a:rPr lang="en-US" dirty="0"/>
                  <a:t> Target q_proj, v_proj, k_proj, o_proj, and gate_proj, up_proj, down_proj in the LLM backbone with r=16,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=32.</a:t>
                </a:r>
              </a:p>
              <a:p>
                <a:pPr lvl="0"/>
                <a:r>
                  <a:rPr lang="en-US" b="1" dirty="0"/>
                  <a:t>Phase 2 Proof-of-Concept Target: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Base Model: Qwen2-VL-2B-Instruct.</a:t>
                </a:r>
              </a:p>
              <a:p>
                <a:pPr lvl="1"/>
                <a:r>
                  <a:rPr lang="en-US" dirty="0"/>
                  <a:t>Dataset: Single task (e.g., 2,000 samples of LLaVA-Instruct-150K or MathVista).</a:t>
                </a:r>
              </a:p>
              <a:p>
                <a:pPr lvl="1"/>
                <a:r>
                  <a:rPr lang="en-US" dirty="0"/>
                  <a:t>Metric to record: ASR on a subset of MM-</a:t>
                </a:r>
                <a:r>
                  <a:rPr lang="en-US" dirty="0" err="1"/>
                  <a:t>SafetyBench</a:t>
                </a:r>
                <a:r>
                  <a:rPr lang="en-US" dirty="0"/>
                  <a:t> + Task Accuracy before vs. after fine-tuning using: </a:t>
                </a:r>
              </a:p>
              <a:p>
                <a:pPr lvl="2"/>
                <a:r>
                  <a:rPr lang="en-US" dirty="0"/>
                  <a:t>Standard Fine-Tuning (All samples)</a:t>
                </a:r>
              </a:p>
              <a:p>
                <a:pPr lvl="2"/>
                <a:r>
                  <a:rPr lang="en-US" dirty="0"/>
                  <a:t>Random Selection (20% samples)</a:t>
                </a:r>
              </a:p>
              <a:p>
                <a:pPr lvl="2"/>
                <a:r>
                  <a:rPr lang="en-US" dirty="0"/>
                  <a:t>Moderate-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Selection (Ours, 20% closest to median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i="1" dirty="0"/>
                  <a:t>Success Criterion:</a:t>
                </a:r>
                <a:r>
                  <a:rPr lang="en-US" dirty="0"/>
                  <a:t> Confirming that Moderate-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preserves lower ASR than Standard/Random fine-tuning while keeping comparable task performance on the VLM.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B2E59-E0EB-A0D9-15A8-B15D87217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616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324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E99C-3A20-0B25-75DE-3FB7C2A2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0B8B8-3386-07D0-93A3-A747B9CC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Modifications for VLMs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962E7-360F-9A2D-FAD2-00EF6AF01C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1171"/>
                <a:ext cx="10515600" cy="493170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Disentangling Modality Tension (Format Mismatch vs. Visual Cross-Attention)</a:t>
                </a:r>
              </a:p>
              <a:p>
                <a:r>
                  <a:rPr lang="en-US" dirty="0"/>
                  <a:t>The original paper identified high-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samples in text LLMs as format mismatches (e.g., short classification targets vs. verbose aligned outputs). </a:t>
                </a:r>
              </a:p>
              <a:p>
                <a:r>
                  <a:rPr lang="en-US" dirty="0"/>
                  <a:t>In VLMs, high gradients arise from two distinct sources:</a:t>
                </a:r>
              </a:p>
              <a:p>
                <a:pPr lvl="1"/>
                <a:r>
                  <a:rPr lang="en-US" dirty="0"/>
                  <a:t>Output format mismatch (same as LLMs).</a:t>
                </a:r>
              </a:p>
              <a:p>
                <a:pPr lvl="1"/>
                <a:r>
                  <a:rPr lang="en-US" dirty="0"/>
                  <a:t>Visual grounding conflict: Complex images with dense visual information generate high gradient norms because the vision connector projections collide with LLM text priors.</a:t>
                </a:r>
              </a:p>
              <a:p>
                <a:r>
                  <a:rPr lang="en-US" i="1" dirty="0"/>
                  <a:t>Improvement:</a:t>
                </a:r>
                <a:r>
                  <a:rPr lang="en-US" dirty="0"/>
                  <a:t> Track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split by token types if possible, or log sample image complexity (e.g., image resolution, object count) during your Phase 2 audit to see if Moderate-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filtering preferentially removes complex visual scenes or standard format mismatches.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962E7-360F-9A2D-FAD2-00EF6AF01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1171"/>
                <a:ext cx="10515600" cy="4931704"/>
              </a:xfrm>
              <a:blipFill>
                <a:blip r:embed="rId2"/>
                <a:stretch>
                  <a:fillRect l="-1086" t="-2308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097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A2B5-C69D-FF1A-D7CB-FC0EEDFE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6676C-84DD-4677-1EDD-56B0BE36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Modifications for VLMs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4EE44-FE1C-52E2-78C8-6349F83EC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Safety Judges for VLMs</a:t>
            </a:r>
          </a:p>
          <a:p>
            <a:r>
              <a:rPr lang="en-US" dirty="0"/>
              <a:t>Potentially using </a:t>
            </a:r>
            <a:r>
              <a:rPr lang="en-US" u="sng" dirty="0"/>
              <a:t>Llama-Guard-3-8B</a:t>
            </a:r>
            <a:r>
              <a:rPr lang="en-US" dirty="0"/>
              <a:t> on the VLM's generated </a:t>
            </a:r>
            <a:r>
              <a:rPr lang="en-US" b="1" dirty="0"/>
              <a:t>text responses</a:t>
            </a:r>
            <a:r>
              <a:rPr lang="en-US" dirty="0"/>
              <a:t> for measuring safety output. </a:t>
            </a:r>
          </a:p>
          <a:p>
            <a:r>
              <a:rPr lang="en-US" dirty="0"/>
              <a:t>For </a:t>
            </a:r>
            <a:r>
              <a:rPr lang="en-US" u="sng" dirty="0"/>
              <a:t>visual jailbreak attacks </a:t>
            </a:r>
            <a:r>
              <a:rPr lang="en-US" dirty="0"/>
              <a:t>(FigStep, MM-</a:t>
            </a:r>
            <a:r>
              <a:rPr lang="en-US" dirty="0" err="1"/>
              <a:t>SafetyBench</a:t>
            </a:r>
            <a:r>
              <a:rPr lang="en-US" dirty="0"/>
              <a:t>), the judge model evaluates the </a:t>
            </a:r>
            <a:r>
              <a:rPr lang="en-US" i="1" dirty="0"/>
              <a:t>final generated text output </a:t>
            </a:r>
            <a:r>
              <a:rPr lang="en-US" dirty="0"/>
              <a:t>against the intended </a:t>
            </a:r>
            <a:r>
              <a:rPr lang="en-US" i="1" dirty="0"/>
              <a:t>harmful query embedded in the prompt/image</a:t>
            </a:r>
            <a:r>
              <a:rPr lang="en-US" dirty="0"/>
              <a:t>, not just the raw text prompt.</a:t>
            </a:r>
          </a:p>
        </p:txBody>
      </p:sp>
    </p:spTree>
    <p:extLst>
      <p:ext uri="{BB962C8B-B14F-4D97-AF65-F5344CB8AC3E}">
        <p14:creationId xmlns:p14="http://schemas.microsoft.com/office/powerpoint/2010/main" val="1183157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F6DE1-5130-249D-DABD-8895C3C5D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829" y="512956"/>
            <a:ext cx="10628971" cy="604396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text-only judge can evaluate the generated answer, but it may not understand:</a:t>
            </a:r>
          </a:p>
          <a:p>
            <a:pPr lvl="1"/>
            <a:r>
              <a:rPr lang="en-US" dirty="0"/>
              <a:t>what </a:t>
            </a:r>
            <a:r>
              <a:rPr lang="en-US" u="sng" dirty="0"/>
              <a:t>harmful instruction</a:t>
            </a:r>
            <a:r>
              <a:rPr lang="en-US" dirty="0"/>
              <a:t> was embedded in the </a:t>
            </a:r>
            <a:r>
              <a:rPr lang="en-US" u="sng" dirty="0"/>
              <a:t>image</a:t>
            </a:r>
            <a:endParaRPr lang="en-US" dirty="0"/>
          </a:p>
          <a:p>
            <a:pPr lvl="1"/>
            <a:r>
              <a:rPr lang="en-US" dirty="0"/>
              <a:t>whether the model followed or ignored the </a:t>
            </a:r>
            <a:r>
              <a:rPr lang="en-US" u="sng" dirty="0"/>
              <a:t>visual instruction</a:t>
            </a:r>
          </a:p>
          <a:p>
            <a:pPr lvl="1"/>
            <a:r>
              <a:rPr lang="en-US" dirty="0"/>
              <a:t>whether the model </a:t>
            </a:r>
            <a:r>
              <a:rPr lang="en-US" u="sng" dirty="0"/>
              <a:t>misread the image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whether the answer is </a:t>
            </a:r>
            <a:r>
              <a:rPr lang="en-US" u="sng" dirty="0"/>
              <a:t>harmful only</a:t>
            </a:r>
            <a:r>
              <a:rPr lang="en-US" dirty="0"/>
              <a:t> in relation to the </a:t>
            </a:r>
            <a:r>
              <a:rPr lang="en-US" u="sng" dirty="0"/>
              <a:t>image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a two-stage evaluation:</a:t>
            </a:r>
          </a:p>
          <a:p>
            <a:pPr marL="0" indent="0">
              <a:buNone/>
            </a:pPr>
            <a:r>
              <a:rPr lang="en-US" dirty="0"/>
              <a:t>Stage 1: Automatic judge</a:t>
            </a:r>
          </a:p>
          <a:p>
            <a:pPr marL="0" indent="0">
              <a:buNone/>
            </a:pPr>
            <a:r>
              <a:rPr lang="en-US" dirty="0"/>
              <a:t>- response safety classification</a:t>
            </a:r>
          </a:p>
          <a:p>
            <a:pPr marL="0" indent="0">
              <a:buNone/>
            </a:pPr>
            <a:r>
              <a:rPr lang="en-US" dirty="0"/>
              <a:t>- refusal/compliance label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Store the raw response for every attack, not only the judge score.</a:t>
            </a:r>
          </a:p>
          <a:p>
            <a:r>
              <a:rPr lang="en-US" dirty="0"/>
              <a:t>Also report refusal quality. A model that refuses every visual question may have low ASR but poor usefulness. Pair safety with capability:</a:t>
            </a:r>
          </a:p>
          <a:p>
            <a:pPr marL="0" indent="0">
              <a:buNone/>
            </a:pPr>
            <a:r>
              <a:rPr lang="en-US" dirty="0"/>
              <a:t>			Safety utility tradeoff = </a:t>
            </a:r>
            <a:r>
              <a:rPr lang="en-US" i="1" dirty="0"/>
              <a:t>(Low ASR, High </a:t>
            </a:r>
            <a:r>
              <a:rPr lang="en-US" i="1" dirty="0" err="1"/>
              <a:t>TaskScore</a:t>
            </a:r>
            <a:r>
              <a:rPr lang="en-US" i="1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CF2FF-2665-85C7-E21C-A91BE42809B2}"/>
              </a:ext>
            </a:extLst>
          </p:cNvPr>
          <p:cNvSpPr txBox="1"/>
          <p:nvPr/>
        </p:nvSpPr>
        <p:spPr>
          <a:xfrm>
            <a:off x="6253046" y="2568562"/>
            <a:ext cx="51007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Stage 2: Manual audit</a:t>
            </a:r>
          </a:p>
          <a:p>
            <a:r>
              <a:rPr lang="en-US" sz="2200" dirty="0"/>
              <a:t>- attack recognized</a:t>
            </a:r>
          </a:p>
          <a:p>
            <a:r>
              <a:rPr lang="en-US" sz="2200" dirty="0"/>
              <a:t>- harmful request followed</a:t>
            </a:r>
          </a:p>
          <a:p>
            <a:r>
              <a:rPr lang="en-US" sz="2200" dirty="0"/>
              <a:t>- visual content understood</a:t>
            </a:r>
          </a:p>
          <a:p>
            <a:r>
              <a:rPr lang="en-US" sz="2200" dirty="0"/>
              <a:t>- partial compliance</a:t>
            </a:r>
          </a:p>
          <a:p>
            <a:r>
              <a:rPr lang="en-US" sz="2200" dirty="0"/>
              <a:t>- hallucination</a:t>
            </a:r>
          </a:p>
        </p:txBody>
      </p:sp>
    </p:spTree>
    <p:extLst>
      <p:ext uri="{BB962C8B-B14F-4D97-AF65-F5344CB8AC3E}">
        <p14:creationId xmlns:p14="http://schemas.microsoft.com/office/powerpoint/2010/main" val="654896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1EBE1-1326-6D51-5C64-0309D484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647B2-2682-FD7C-7FA4-C3004AE28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attacker may provide:</a:t>
            </a:r>
          </a:p>
          <a:p>
            <a:pPr lvl="1"/>
            <a:r>
              <a:rPr lang="en-US" dirty="0"/>
              <a:t>a harmful text prompt;</a:t>
            </a:r>
          </a:p>
          <a:p>
            <a:pPr lvl="1"/>
            <a:r>
              <a:rPr lang="en-US" dirty="0"/>
              <a:t>a harmful instruction embedded in an image;</a:t>
            </a:r>
          </a:p>
          <a:p>
            <a:pPr lvl="1"/>
            <a:r>
              <a:rPr lang="en-US" dirty="0"/>
              <a:t>a benign text prompt paired with a malicious image;</a:t>
            </a:r>
          </a:p>
          <a:p>
            <a:pPr lvl="1"/>
            <a:r>
              <a:rPr lang="en-US" dirty="0"/>
              <a:t>a benign image paired with a harmful text prompt;</a:t>
            </a:r>
          </a:p>
          <a:p>
            <a:pPr lvl="1"/>
            <a:r>
              <a:rPr lang="en-US" dirty="0"/>
              <a:t>an image containing typography, screenshots, diagrams, or rendered text;</a:t>
            </a:r>
          </a:p>
          <a:p>
            <a:pPr lvl="1"/>
            <a:r>
              <a:rPr lang="en-US" dirty="0"/>
              <a:t>a jailbreak-style multimodal prompt.</a:t>
            </a:r>
          </a:p>
          <a:p>
            <a:r>
              <a:rPr lang="en-US" dirty="0"/>
              <a:t>The attacker does </a:t>
            </a:r>
            <a:r>
              <a:rPr lang="en-US" b="1" dirty="0"/>
              <a:t>not</a:t>
            </a:r>
            <a:r>
              <a:rPr lang="en-US" dirty="0"/>
              <a:t> modify model weights during evaluation unless you explicitly study adversarial fine-tuning.</a:t>
            </a:r>
          </a:p>
          <a:p>
            <a:r>
              <a:rPr lang="en-US" dirty="0"/>
              <a:t>Then organize attacks by attack surface. Attack evaluation must isolate </a:t>
            </a:r>
            <a:r>
              <a:rPr lang="en-US" u="sng" dirty="0"/>
              <a:t>visual vs. textual channels </a:t>
            </a:r>
            <a:r>
              <a:rPr lang="en-US" dirty="0"/>
              <a:t>to detect modality-specific alignment collapse.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941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0538-C112-891E-FFF3-38916FE8D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45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Critical Metrics, Datasets, and Observability Checklist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1F373E92-35C4-5643-B60A-5623B524383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59796315"/>
                  </p:ext>
                </p:extLst>
              </p:nvPr>
            </p:nvGraphicFramePr>
            <p:xfrm>
              <a:off x="838200" y="2022859"/>
              <a:ext cx="10515601" cy="452287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994452">
                      <a:extLst>
                        <a:ext uri="{9D8B030D-6E8A-4147-A177-3AD203B41FA5}">
                          <a16:colId xmlns:a16="http://schemas.microsoft.com/office/drawing/2014/main" val="1029749850"/>
                        </a:ext>
                      </a:extLst>
                    </a:gridCol>
                    <a:gridCol w="2613991">
                      <a:extLst>
                        <a:ext uri="{9D8B030D-6E8A-4147-A177-3AD203B41FA5}">
                          <a16:colId xmlns:a16="http://schemas.microsoft.com/office/drawing/2014/main" val="583479626"/>
                        </a:ext>
                      </a:extLst>
                    </a:gridCol>
                    <a:gridCol w="5907158">
                      <a:extLst>
                        <a:ext uri="{9D8B030D-6E8A-4147-A177-3AD203B41FA5}">
                          <a16:colId xmlns:a16="http://schemas.microsoft.com/office/drawing/2014/main" val="481430174"/>
                        </a:ext>
                      </a:extLst>
                    </a:gridCol>
                  </a:tblGrid>
                  <a:tr h="17760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effectLst/>
                            </a:rPr>
                            <a:t>Dimension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effectLst/>
                            </a:rPr>
                            <a:t>Metric / Signal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effectLst/>
                            </a:rPr>
                            <a:t>Execution in Paper</a:t>
                          </a: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2152233871"/>
                      </a:ext>
                    </a:extLst>
                  </a:tr>
                  <a:tr h="57721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Safety Preservation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ASR (Attack Success Rate)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Tested on AdvBench &amp; HarmBench via </a:t>
                          </a:r>
                          <a:r>
                            <a:rPr lang="en-US" sz="1500" dirty="0">
                              <a:effectLst/>
                              <a:hlinkClick r:id="rId2"/>
                            </a:rPr>
                            <a:t>Llama-Guard-3-8B</a:t>
                          </a:r>
                          <a:r>
                            <a:rPr lang="en-US" sz="1500" dirty="0">
                              <a:effectLst/>
                            </a:rPr>
                            <a:t> (evaluates refusal vs. harmful execution).</a:t>
                          </a: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906943349"/>
                      </a:ext>
                    </a:extLst>
                  </a:tr>
                  <a:tr h="84362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sz="1500" dirty="0">
                            <a:effectLst/>
                          </a:endParaRP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VISAGE Volumetric Score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Perturbs parameters across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sz="1500" dirty="0">
                              <a:effectLst/>
                            </a:rPr>
                            <a:t> random directions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US" sz="1500" dirty="0">
                              <a:effectLst/>
                            </a:rPr>
                            <a:t> at varying scalar steps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US" sz="1500" dirty="0">
                            <a:effectLst/>
                          </a:endParaRP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2407891244"/>
                      </a:ext>
                    </a:extLst>
                  </a:tr>
                  <a:tr h="57721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Continual Dynamics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Backward Transfer (BWT)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                          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𝐵𝑊𝑇</m:t>
                              </m:r>
                              <m:r>
                                <a:rPr lang="en-US" sz="15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f>
                                <m:fPr>
                                  <m:ctrlP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 (</m:t>
                                      </m:r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endParaRPr lang="en-US" sz="1500" dirty="0">
                            <a:effectLst/>
                          </a:endParaRPr>
                        </a:p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Measures retention of past tasks</a:t>
                          </a: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4225148866"/>
                      </a:ext>
                    </a:extLst>
                  </a:tr>
                  <a:tr h="57721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sz="1500" dirty="0">
                            <a:effectLst/>
                          </a:endParaRP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Forgetting Measure (FM)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𝐹𝑀</m:t>
                                    </m:r>
                                  </m:e>
                                  <m:sub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15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e>
                                  <m:sub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∈{1…</m:t>
                                    </m:r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−1}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(</m:t>
                                    </m:r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15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5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15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15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500" dirty="0">
                            <a:effectLst/>
                          </a:endParaRPr>
                        </a:p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Quantifies peak-to-final accuracy drop</a:t>
                          </a: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76421461"/>
                      </a:ext>
                    </a:extLst>
                  </a:tr>
                  <a:tr h="4440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sz="1500">
                            <a:effectLst/>
                          </a:endParaRP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Task Interference Matrix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Off-diagonal accuracy changes when learning Task B after Task A</a:t>
                          </a: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2913944564"/>
                      </a:ext>
                    </a:extLst>
                  </a:tr>
                  <a:tr h="71042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Data Diagnostics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KL Divergence Shifts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Measure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𝐾𝐿</m:t>
                                  </m:r>
                                </m:sub>
                              </m:sSub>
                              <m:r>
                                <a:rPr lang="en-US" sz="1500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1500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500" i="1" dirty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 dirty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𝑝𝑟𝑒𝑡𝑟𝑎𝑖𝑛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1500" b="0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500" dirty="0">
                              <a:effectLst/>
                            </a:rPr>
                            <a:t> vs.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𝐾𝐿</m:t>
                                  </m:r>
                                </m:sub>
                              </m:sSub>
                              <m:r>
                                <a:rPr lang="en-US" sz="1500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1500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500" i="1" dirty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 dirty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500" b="0" i="1" dirty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𝑎𝑙𝑖𝑔𝑛𝑒𝑑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1500" b="0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500" dirty="0">
                            <a:effectLst/>
                          </a:endParaRP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1946688723"/>
                      </a:ext>
                    </a:extLst>
                  </a:tr>
                  <a:tr h="4440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sz="1500">
                            <a:effectLst/>
                          </a:endParaRP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Sample Audits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Log per-sample token lengths, losses, and gradients to inspect filtered items.</a:t>
                          </a: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7559471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1F373E92-35C4-5643-B60A-5623B524383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59796315"/>
                  </p:ext>
                </p:extLst>
              </p:nvPr>
            </p:nvGraphicFramePr>
            <p:xfrm>
              <a:off x="838200" y="2022859"/>
              <a:ext cx="10515601" cy="452287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994452">
                      <a:extLst>
                        <a:ext uri="{9D8B030D-6E8A-4147-A177-3AD203B41FA5}">
                          <a16:colId xmlns:a16="http://schemas.microsoft.com/office/drawing/2014/main" val="1029749850"/>
                        </a:ext>
                      </a:extLst>
                    </a:gridCol>
                    <a:gridCol w="2613991">
                      <a:extLst>
                        <a:ext uri="{9D8B030D-6E8A-4147-A177-3AD203B41FA5}">
                          <a16:colId xmlns:a16="http://schemas.microsoft.com/office/drawing/2014/main" val="583479626"/>
                        </a:ext>
                      </a:extLst>
                    </a:gridCol>
                    <a:gridCol w="5907158">
                      <a:extLst>
                        <a:ext uri="{9D8B030D-6E8A-4147-A177-3AD203B41FA5}">
                          <a16:colId xmlns:a16="http://schemas.microsoft.com/office/drawing/2014/main" val="481430174"/>
                        </a:ext>
                      </a:extLst>
                    </a:gridCol>
                  </a:tblGrid>
                  <a:tr h="27300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effectLst/>
                            </a:rPr>
                            <a:t>Dimension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effectLst/>
                            </a:rPr>
                            <a:t>Metric / Signal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effectLst/>
                            </a:rPr>
                            <a:t>Execution in Paper</a:t>
                          </a: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2152233871"/>
                      </a:ext>
                    </a:extLst>
                  </a:tr>
                  <a:tr h="57721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Safety Preservation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ASR (Attack Success Rate)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Tested on AdvBench &amp; HarmBench via </a:t>
                          </a:r>
                          <a:r>
                            <a:rPr lang="en-US" sz="1500">
                              <a:effectLst/>
                              <a:hlinkClick r:id="rId3"/>
                            </a:rPr>
                            <a:t>Llama-Guard-3-8B</a:t>
                          </a:r>
                          <a:r>
                            <a:rPr lang="en-US" sz="1500">
                              <a:effectLst/>
                            </a:rPr>
                            <a:t> (evaluates refusal vs. harmful execution).</a:t>
                          </a: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906943349"/>
                      </a:ext>
                    </a:extLst>
                  </a:tr>
                  <a:tr h="84362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sz="1500" dirty="0">
                            <a:effectLst/>
                          </a:endParaRP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VISAGE Volumetric Score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401" marR="44401" marT="22201" marB="22201" anchor="ctr">
                        <a:blipFill>
                          <a:blip r:embed="rId4"/>
                          <a:stretch>
                            <a:fillRect l="-78112" t="-104478" r="-215" b="-3432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7891244"/>
                      </a:ext>
                    </a:extLst>
                  </a:tr>
                  <a:tr h="595773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Continual Dynamics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Backward Transfer (BWT)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401" marR="44401" marT="22201" marB="22201" anchor="ctr">
                        <a:blipFill>
                          <a:blip r:embed="rId4"/>
                          <a:stretch>
                            <a:fillRect l="-78112" t="-291489" r="-215" b="-3893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5148866"/>
                      </a:ext>
                    </a:extLst>
                  </a:tr>
                  <a:tr h="57721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sz="1500" dirty="0">
                            <a:effectLst/>
                          </a:endParaRP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Forgetting Measure (FM)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401" marR="44401" marT="22201" marB="22201" anchor="ctr">
                        <a:blipFill>
                          <a:blip r:embed="rId4"/>
                          <a:stretch>
                            <a:fillRect l="-78112" t="-408889" r="-215" b="-3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421461"/>
                      </a:ext>
                    </a:extLst>
                  </a:tr>
                  <a:tr h="4440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sz="1500">
                            <a:effectLst/>
                          </a:endParaRP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Task Interference Matrix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Off-diagonal accuracy changes when learning Task B after Task A</a:t>
                          </a: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2913944564"/>
                      </a:ext>
                    </a:extLst>
                  </a:tr>
                  <a:tr h="71042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Data Diagnostics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KL Divergence Shifts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401" marR="44401" marT="22201" marB="22201" anchor="ctr">
                        <a:blipFill>
                          <a:blip r:embed="rId4"/>
                          <a:stretch>
                            <a:fillRect l="-78112" t="-471429" r="-215" b="-839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6688723"/>
                      </a:ext>
                    </a:extLst>
                  </a:tr>
                  <a:tr h="50160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n-US" sz="1500">
                            <a:effectLst/>
                          </a:endParaRP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Sample Audits</a:t>
                          </a:r>
                        </a:p>
                      </a:txBody>
                      <a:tcPr marL="44401" marR="44401" marT="22201" marB="2220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effectLst/>
                            </a:rPr>
                            <a:t>Log per-sample token lengths, losses, and gradients to inspect filtered items.</a:t>
                          </a:r>
                        </a:p>
                      </a:txBody>
                      <a:tcPr marL="44401" marR="44401" marT="22201" marB="22201" anchor="ctr"/>
                    </a:tc>
                    <a:extLst>
                      <a:ext uri="{0D108BD9-81ED-4DB2-BD59-A6C34878D82A}">
                        <a16:rowId xmlns:a16="http://schemas.microsoft.com/office/drawing/2014/main" val="7559471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2931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5D7CD1E-DE90-7758-3526-FB8EC890A9F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87317185"/>
                  </p:ext>
                </p:extLst>
              </p:nvPr>
            </p:nvGraphicFramePr>
            <p:xfrm>
              <a:off x="729975" y="530088"/>
              <a:ext cx="10732049" cy="57978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564370">
                      <a:extLst>
                        <a:ext uri="{9D8B030D-6E8A-4147-A177-3AD203B41FA5}">
                          <a16:colId xmlns:a16="http://schemas.microsoft.com/office/drawing/2014/main" val="1129933266"/>
                        </a:ext>
                      </a:extLst>
                    </a:gridCol>
                    <a:gridCol w="7167679">
                      <a:extLst>
                        <a:ext uri="{9D8B030D-6E8A-4147-A177-3AD203B41FA5}">
                          <a16:colId xmlns:a16="http://schemas.microsoft.com/office/drawing/2014/main" val="4025157441"/>
                        </a:ext>
                      </a:extLst>
                    </a:gridCol>
                  </a:tblGrid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 b="1" dirty="0"/>
                            <a:t>Baseline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 b="1" dirty="0"/>
                            <a:t>What it tests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848487683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Standard fine-tuning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Unconstrained safety degradation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2928132990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Random 20% selection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Benefit of using fewer samples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4152340430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 dirty="0"/>
                            <a:t>Low-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700" dirty="0"/>
                            <a:t>selection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Safety-first end of gradient spectrum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2757604680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 dirty="0"/>
                            <a:t>High-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700" dirty="0"/>
                            <a:t>selection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Whether high gradients are specifically harmful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507392895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 dirty="0"/>
                            <a:t>Moderate-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700" dirty="0"/>
                            <a:t>selection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Proposed method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981507709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Gradient clipping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Whether magnitude control is sufficient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531759583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KL regularization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Whether behavioral anchoring prevents drift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2760848690"/>
                      </a:ext>
                    </a:extLst>
                  </a:tr>
                  <a:tr h="81169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 dirty="0"/>
                            <a:t>EWC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Whether generic continual-learning regularization is enough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039665056"/>
                      </a:ext>
                    </a:extLst>
                  </a:tr>
                  <a:tr h="81169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LoRA/adapter baseline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Whether parameter-efficient tuning alone preserves safety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711828682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Safety-preserving VLM method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 dirty="0"/>
                            <a:t>Comparison with multimodal safety-specific SOTA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2152810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5D7CD1E-DE90-7758-3526-FB8EC890A9F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87317185"/>
                  </p:ext>
                </p:extLst>
              </p:nvPr>
            </p:nvGraphicFramePr>
            <p:xfrm>
              <a:off x="729975" y="530088"/>
              <a:ext cx="10732049" cy="57978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564370">
                      <a:extLst>
                        <a:ext uri="{9D8B030D-6E8A-4147-A177-3AD203B41FA5}">
                          <a16:colId xmlns:a16="http://schemas.microsoft.com/office/drawing/2014/main" val="1129933266"/>
                        </a:ext>
                      </a:extLst>
                    </a:gridCol>
                    <a:gridCol w="7167679">
                      <a:extLst>
                        <a:ext uri="{9D8B030D-6E8A-4147-A177-3AD203B41FA5}">
                          <a16:colId xmlns:a16="http://schemas.microsoft.com/office/drawing/2014/main" val="4025157441"/>
                        </a:ext>
                      </a:extLst>
                    </a:gridCol>
                  </a:tblGrid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 b="1" dirty="0"/>
                            <a:t>Baseline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 b="1" dirty="0"/>
                            <a:t>What it tests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848487683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Standard fine-tuning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Unconstrained safety degradation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2928132990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Random 20% selection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Benefit of using fewer samples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4152340430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027" marR="87027" marT="43513" marB="43513" anchor="ctr">
                        <a:blipFill>
                          <a:blip r:embed="rId2"/>
                          <a:stretch>
                            <a:fillRect l="-356" t="-300000" r="-201423" b="-848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Safety-first end of gradient spectrum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2757604680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027" marR="87027" marT="43513" marB="43513" anchor="ctr">
                        <a:blipFill>
                          <a:blip r:embed="rId2"/>
                          <a:stretch>
                            <a:fillRect l="-356" t="-411111" r="-201423" b="-77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Whether high gradients are specifically harmful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507392895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027" marR="87027" marT="43513" marB="43513" anchor="ctr">
                        <a:blipFill>
                          <a:blip r:embed="rId2"/>
                          <a:stretch>
                            <a:fillRect l="-356" t="-497297" r="-201423" b="-65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Proposed method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981507709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Gradient clipping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Whether magnitude control is sufficient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531759583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KL regularization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Whether behavioral anchoring prevents drift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2760848690"/>
                      </a:ext>
                    </a:extLst>
                  </a:tr>
                  <a:tr h="81169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 dirty="0"/>
                            <a:t>EWC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Whether generic continual-learning regularization is enough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039665056"/>
                      </a:ext>
                    </a:extLst>
                  </a:tr>
                  <a:tr h="81169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LoRA/adapter baseline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Whether parameter-efficient tuning alone preserves safety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711828682"/>
                      </a:ext>
                    </a:extLst>
                  </a:tr>
                  <a:tr h="4638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/>
                            <a:t>Safety-preserving VLM method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700" dirty="0"/>
                            <a:t>Comparison with multimodal safety-specific SOTA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2152810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49557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1B61-C7DC-8A42-40D3-F76C4BE46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Open Research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87FB2-0D27-3E65-5D42-9296B35020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pPr lvl="0"/>
                <a:r>
                  <a:rPr lang="en-US" b="1" dirty="0"/>
                  <a:t>What We Know (LLMs):</a:t>
                </a:r>
                <a:r>
                  <a:rPr lang="en-US" dirty="0"/>
                  <a:t> High-gradient samples are format mismatches that drive elastic reversion out of safety basins; median filtering preserves alignment without extra safety data.</a:t>
                </a:r>
              </a:p>
              <a:p>
                <a:pPr lvl="0"/>
                <a:r>
                  <a:rPr lang="en-US" b="1" dirty="0"/>
                  <a:t>What We Are Testing (VLMs):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Does multimodal gradient selection preserve VLM safety across both text and visual jailbreaks?</a:t>
                </a:r>
              </a:p>
              <a:p>
                <a:pPr lvl="1"/>
                <a:r>
                  <a:rPr lang="en-US" dirty="0"/>
                  <a:t>Does tension concentrate in the language </a:t>
                </a:r>
                <a:r>
                  <a:rPr lang="en-US" dirty="0" err="1"/>
                  <a:t>LoRA</a:t>
                </a:r>
                <a:r>
                  <a:rPr lang="en-US" dirty="0"/>
                  <a:t> weights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] or the cross-modal projector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]?</a:t>
                </a:r>
              </a:p>
              <a:p>
                <a:pPr lvl="1"/>
                <a:r>
                  <a:rPr lang="en-US" dirty="0"/>
                  <a:t>Can we eliminate catastrophic forgetting in continual VLM domain adaptation with zero architecture overhead?</a:t>
                </a:r>
              </a:p>
              <a:p>
                <a:pPr lvl="1"/>
                <a:r>
                  <a:rPr lang="en-US" dirty="0"/>
                  <a:t>Can data-centric median filtering achieve competitive safety retention against architectural approaches like </a:t>
                </a:r>
                <a:r>
                  <a:rPr lang="en-US" dirty="0" err="1"/>
                  <a:t>SafeVLM</a:t>
                </a:r>
                <a:r>
                  <a:rPr lang="en-US" dirty="0"/>
                  <a:t> without inference penalties?</a:t>
                </a:r>
              </a:p>
              <a:p>
                <a:pPr lvl="1"/>
                <a:r>
                  <a:rPr lang="en-US" dirty="0"/>
                  <a:t>Does high-gradient sample selection drive safety basin collapse in multimodal models as it does in text LLMs?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87FB2-0D27-3E65-5D42-9296B35020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65" t="-2439" r="-1086" b="-1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744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85C9-AA46-3844-0896-79B16685A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92862-AF62-F5B9-0A2F-9F18D0757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357"/>
            <a:ext cx="10515600" cy="476560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Bach et al. (arXiv:2604.17215)</a:t>
            </a:r>
          </a:p>
          <a:p>
            <a:r>
              <a:rPr lang="en-US" dirty="0"/>
              <a:t>Ji et al. (arXiv:2406.06144)</a:t>
            </a:r>
          </a:p>
          <a:p>
            <a:r>
              <a:rPr lang="en-US" dirty="0"/>
              <a:t>Peng et al. (arXiv:2405.17374)</a:t>
            </a:r>
          </a:p>
          <a:p>
            <a:r>
              <a:rPr lang="en-US" dirty="0"/>
              <a:t>MM-</a:t>
            </a:r>
            <a:r>
              <a:rPr lang="en-US" dirty="0" err="1"/>
              <a:t>SafetyBench</a:t>
            </a:r>
            <a:endParaRPr lang="en-US" dirty="0"/>
          </a:p>
          <a:p>
            <a:r>
              <a:rPr lang="en-US" dirty="0"/>
              <a:t>FigStep</a:t>
            </a:r>
          </a:p>
          <a:p>
            <a:r>
              <a:rPr lang="en-US" dirty="0"/>
              <a:t>SaLORA</a:t>
            </a:r>
          </a:p>
          <a:p>
            <a:r>
              <a:rPr lang="en-US" dirty="0"/>
              <a:t>LARF</a:t>
            </a:r>
          </a:p>
          <a:p>
            <a:r>
              <a:rPr lang="en-US" dirty="0"/>
              <a:t>EWC</a:t>
            </a:r>
          </a:p>
          <a:p>
            <a:r>
              <a:rPr lang="en-US" dirty="0" err="1"/>
              <a:t>VLGuard</a:t>
            </a:r>
            <a:endParaRPr lang="en-US" dirty="0"/>
          </a:p>
          <a:p>
            <a:r>
              <a:rPr lang="en-US" dirty="0" err="1"/>
              <a:t>LLaVA</a:t>
            </a:r>
            <a:endParaRPr lang="en-US" dirty="0"/>
          </a:p>
          <a:p>
            <a:r>
              <a:rPr lang="en-US" dirty="0"/>
              <a:t>MathVista</a:t>
            </a:r>
          </a:p>
          <a:p>
            <a:r>
              <a:rPr lang="en-US" dirty="0" err="1"/>
              <a:t>vLLM</a:t>
            </a:r>
            <a:r>
              <a:rPr lang="en-US" dirty="0"/>
              <a:t> Engine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56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1815</TotalTime>
  <Words>3263</Words>
  <Application>Microsoft Macintosh PowerPoint</Application>
  <PresentationFormat>Widescreen</PresentationFormat>
  <Paragraphs>346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-apple-system</vt:lpstr>
      <vt:lpstr>Aptos</vt:lpstr>
      <vt:lpstr>Aptos Display</vt:lpstr>
      <vt:lpstr>Arial</vt:lpstr>
      <vt:lpstr>Cambria Math</vt:lpstr>
      <vt:lpstr>Google Sans Text</vt:lpstr>
      <vt:lpstr>Office Theme</vt:lpstr>
      <vt:lpstr>PowerPoint Presentation</vt:lpstr>
      <vt:lpstr>PowerPoint Presentation</vt:lpstr>
      <vt:lpstr>LLM Elasticity </vt:lpstr>
      <vt:lpstr>VISAGE: Volumetric Index for Safety Alignment Guided by Explanation</vt:lpstr>
      <vt:lpstr>PowerPoint Presentation</vt:lpstr>
      <vt:lpstr>VLM Attack Surface &amp; Multi-Channel Evaluation</vt:lpstr>
      <vt:lpstr>SOTA Baseline Reference: Nie et al., Safety Alignment for Vision Language Models, arXiv:2405.13581 (SafeVLM) </vt:lpstr>
      <vt:lpstr>SafeVLM Empirical Results: Safety Scores &amp; Over-Refusal Trade-offs (Tables 3 &amp; 4).</vt:lpstr>
      <vt:lpstr>VLM extension: Methodology</vt:lpstr>
      <vt:lpstr>VLM extension: Methodology</vt:lpstr>
      <vt:lpstr>VLM extension: Methodology Our 3 novel gradient attribution models</vt:lpstr>
      <vt:lpstr>VLM extension: Methodology Language LoRA, Projector, Joint Multimodal Tension, Length normalization </vt:lpstr>
      <vt:lpstr>VLM extension: Methodology</vt:lpstr>
      <vt:lpstr>VLM extension: Methodology Our 3 novel gradient attribution models</vt:lpstr>
      <vt:lpstr>Execution Plan</vt:lpstr>
      <vt:lpstr>Implementation Plan</vt:lpstr>
      <vt:lpstr>Implementation Plan</vt:lpstr>
      <vt:lpstr>Modifications for VLMs</vt:lpstr>
      <vt:lpstr>Modifications for VLMs</vt:lpstr>
      <vt:lpstr>PowerPoint Presentation</vt:lpstr>
      <vt:lpstr>Threat Model</vt:lpstr>
      <vt:lpstr>Critical Metrics, Datasets, and Observability Checklist</vt:lpstr>
      <vt:lpstr>PowerPoint Presentation</vt:lpstr>
      <vt:lpstr>Summary and Open Research questions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Aryaman Dev</dc:creator>
  <cp:lastModifiedBy>Aryaman Dev</cp:lastModifiedBy>
  <cp:revision>7</cp:revision>
  <dcterms:created xsi:type="dcterms:W3CDTF">2026-09-15T19:14:23Z</dcterms:created>
  <dcterms:modified xsi:type="dcterms:W3CDTF">2026-09-18T00:11:45Z</dcterms:modified>
</cp:coreProperties>
</file>